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  <ns0:embeddedFont>
      <ns0:font typeface="Space Grotesk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fc540b9b-4636-42e4-a135-72178a21ceea.fntdata" /><ns0:Relationship Id="rIdFont21" Type="http://schemas.openxmlformats.org/officeDocument/2006/relationships/font" Target="fonts/6864ab2a-52f0-4615-a52b-e2033acb7ea1.fntdata" /><ns0:Relationship Id="rIdFont22" Type="http://schemas.openxmlformats.org/officeDocument/2006/relationships/font" Target="fonts/006c4a78-8f56-4bfa-837b-7cddb531127c.fntdata" /><ns0:Relationship Id="rIdFont23" Type="http://schemas.openxmlformats.org/officeDocument/2006/relationships/font" Target="fonts/db218160-03ad-4a22-85fd-0b66e8e311d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702373"/>
            <a:ext cx="109728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702373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526827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Space Grotesk"/>
              </a:rPr>
              <a:t>MASTER DEGREE THESIS | ARTIFICIAL INTELLIGENCE AND ROBOTICS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50677"/>
            <a:ext cx="9101137" cy="1708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Multi-agent Decision Support System for Space Mission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87973"/>
            <a:ext cx="676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Designing FUNES: Foresight Understanding for Nominal and Emergency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940498"/>
            <a:ext cx="2166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Candidate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140523"/>
            <a:ext cx="2166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Antonio Lissa Lattanzio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4940498"/>
            <a:ext cx="4012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Supervisors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7950" y="5140523"/>
            <a:ext cx="4012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Prof. Danilo Comminiello, Daniele Baldassini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8937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28937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28937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24212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24212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24212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OPERATIONAL CONTEXT [1/2]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Ground Segment Heterogeneity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33787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Distributed Subsystems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76687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Operations span SCC, MPC, TT&amp;C, Flight Dynamics, and MMC across facilities like Fucino.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33787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Asynchronous Data Streams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76687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Information is fragmented across telemetry, logs, ticketing systems, and procedural manuals.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33787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Contingency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76687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Operators must correlate conflicting evidence under strict time constraints during anomalies.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95975" y="2906166"/>
            <a:ext cx="5686425" cy="2055316"/>
          </a:xfrm>
          <a:prstGeom prst="roundRect">
            <a:avLst>
              <a:gd name="adj" fmla="val 74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860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6147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4341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OPERATIONAL CONTEXT [2/2]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The Mission Manager's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258591"/>
            <a:ext cx="5076825" cy="81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0F172A"/>
                </a:solidFill>
                <a:latin typeface="Space Grotesk"/>
              </a:rPr>
              <a:t>"Information distribution across isolated sources places a severe cognitive burden on mission operators."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4228058"/>
            <a:ext cx="50768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Requirement: An intelligent intermediary layer to unify data and assist rapid decision-making.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27860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36147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" y="444341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2786062"/>
            <a:ext cx="58882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Situational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043237"/>
            <a:ext cx="45815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Supervising overall mission execution and tracking spacecraft health across nominal states.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3614737"/>
            <a:ext cx="58882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Contingency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3871912"/>
            <a:ext cx="45815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Directing anomaly resolution and coordinating multi-disciplinary operational teams.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4443412"/>
            <a:ext cx="58882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Cognitive Overload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4700587"/>
            <a:ext cx="45815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High manual effort required to aggregate fragmented evidence across diverse software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8937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28937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28937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24212"/>
            <a:ext cx="2857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24212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24212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MOTIVATIONS [1/2]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Limitations of General-Purpose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33787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Context Overload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76687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Feeding entire operational dumps into a single LLM degrades attention and retrieval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33787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Hallucination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76687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Unverified generation without structured grounding is hazardous in critical mission contexts.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33787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Missing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76687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Existing prototypes lack multi-agent planning and tool-based evidence cross-correlation.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3804"/>
            <a:ext cx="5334000" cy="1760041"/>
          </a:xfrm>
          <a:prstGeom prst="roundRect">
            <a:avLst>
              <a:gd name="adj" fmla="val 86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53804"/>
            <a:ext cx="5334000" cy="1760041"/>
          </a:xfrm>
          <a:prstGeom prst="roundRect">
            <a:avLst>
              <a:gd name="adj" fmla="val 86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96704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396704"/>
            <a:ext cx="2190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MOTIVATIONS [2/2]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Thesis Objectives &amp; Proposed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368129"/>
            <a:ext cx="6175771" cy="24765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Core Research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68179"/>
            <a:ext cx="48006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Develop an evidence-driven control and orchestration layer around Large Language Models to structure operational information acquisition, retrieval, and synthesis.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368129"/>
            <a:ext cx="5629275" cy="247650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The FUNES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768179"/>
            <a:ext cx="48006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 multi-agent architecture combining hybrid RAG (dense + sparse), graph-based orchestration (LangGraph), and tool-based evidence refinement.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69443"/>
            <a:ext cx="3505200" cy="1528762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69443"/>
            <a:ext cx="3505200" cy="1528762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9443"/>
            <a:ext cx="3505200" cy="1528762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PROOF OF CONCEPT [1/2]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Storage Manager &amp; Hybrid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45668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Ingestion &amp; Chunking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79043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Removes headers/footers, extracts structured metadata, and applies SHA-1 hashing for deduplication.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45668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Dual Search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79043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Combines dense vector search (ChromaDB) with sparse lexical search (BM25) for high recall.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45668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Reciprocal Rank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79043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Merges candidate results via RRF and re-ranks passages using a Cross-Encoder (BGE-reranker-base).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4187"/>
            <a:ext cx="350520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24187"/>
            <a:ext cx="350520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24200"/>
            <a:ext cx="350520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PROOF OF CONCEPT [2/2]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AI Manager &amp; Graph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300412"/>
            <a:ext cx="369093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Space Grotesk"/>
              </a:rPr>
              <a:t>01. 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67188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Information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967162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Decides which tools and operational sources to query based on user query intent.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300412"/>
            <a:ext cx="369093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Space Grotesk"/>
              </a:rPr>
              <a:t>02. Synthesizer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67188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Evidence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967162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Constructs structured operational recommendations from retrieved evidence fragments.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400425"/>
            <a:ext cx="369093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Space Grotesk"/>
              </a:rPr>
              <a:t>03. Critic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71900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Iterative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67175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Evaluates completeness and triggers plan refinement if additional tools are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8943"/>
            <a:ext cx="5334000" cy="1909762"/>
          </a:xfrm>
          <a:prstGeom prst="roundRect">
            <a:avLst>
              <a:gd name="adj" fmla="val 79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76575"/>
            <a:ext cx="5334000" cy="1714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26606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419475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Experimental Setup &amp;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298031"/>
            <a:ext cx="6175771" cy="24765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Evaluation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98081"/>
            <a:ext cx="4800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Simulates 3 Ground Stations (GS-01, GS-02, GS-03) and 4 Satellites (SAT-01 to SAT-04).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193381"/>
            <a:ext cx="4800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Injected anomalies: degraded inter-station links, high latency, and antenna unavailability (GS-01/ANT-02).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390900"/>
            <a:ext cx="5629275" cy="24765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Benchmark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790950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20 total questions across three tiers: 10 Easy, 6 Medium, 4 Hard.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095750"/>
            <a:ext cx="4800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Evaluated against baseline: Llama 3.3 70B Instruct operating directly on complete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95975" y="3009900"/>
            <a:ext cx="5686425" cy="1847850"/>
          </a:xfrm>
          <a:prstGeom prst="roundRect">
            <a:avLst>
              <a:gd name="adj" fmla="val 824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81325"/>
            <a:ext cx="4981575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29075"/>
            <a:ext cx="4981575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RESULT DISCUSSION [1/2]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Overall Performance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3362325"/>
            <a:ext cx="5943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5803D"/>
                </a:solidFill>
                <a:latin typeface="Space Grotesk"/>
              </a:rPr>
              <a:t>+26.9 Percentage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819525"/>
            <a:ext cx="50768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66534"/>
                </a:solidFill>
                <a:latin typeface="Inter"/>
              </a:rPr>
              <a:t>Explicit information planning, hybrid retrieval, and orchestration dramatically improve operational reasoning compared to raw context 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286125"/>
            <a:ext cx="22502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FUNES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7225" y="3219450"/>
            <a:ext cx="117157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Space Grotesk"/>
              </a:rPr>
              <a:t>89.9%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333875"/>
            <a:ext cx="28098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Baseline (Llama 3.3 70B)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700" y="4267200"/>
            <a:ext cx="11811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64748B"/>
                </a:solidFill>
                <a:latin typeface="Space Grotesk"/>
              </a:rPr>
              <a:t>63.0%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5125"/>
            <a:ext cx="5334000" cy="20574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05125"/>
            <a:ext cx="5334000" cy="20574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48025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48025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RESULT DISCUSSION [2/2]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Where FUNES Helps &amp; Where It Struggles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219450"/>
            <a:ext cx="6175771" cy="24765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5803D"/>
                </a:solidFill>
                <a:latin typeface="Space Grotesk"/>
              </a:rPr>
              <a:t>Major 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195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Retrieval-Oriented Tasks: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Highest gains achieved when fetching specific multi-source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1910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Noise Filtering: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Eliminates distractor passages before reaching the core reasoning LLM.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219450"/>
            <a:ext cx="5629275" cy="24765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2410C"/>
                </a:solidFill>
                <a:latin typeface="Space Grotesk"/>
              </a:rPr>
              <a:t>Identified Bottlenecks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6195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Complex Reasoning: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Retrieved evidence is sometimes not fully translated into final recommendations.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1910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Synthesis Gap: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Orchestration retrieves correct data, but synthesizer formatting needs refinement.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4656"/>
            <a:ext cx="3505200" cy="1938337"/>
          </a:xfrm>
          <a:prstGeom prst="roundRect">
            <a:avLst>
              <a:gd name="adj" fmla="val 5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4656"/>
            <a:ext cx="3505200" cy="1938337"/>
          </a:xfrm>
          <a:prstGeom prst="roundRect">
            <a:avLst>
              <a:gd name="adj" fmla="val 5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64656"/>
            <a:ext cx="3505200" cy="1938337"/>
          </a:xfrm>
          <a:prstGeom prst="roundRect">
            <a:avLst>
              <a:gd name="adj" fmla="val 5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59931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59931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59931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Significant System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69506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Complex Reasoning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83831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Difficulty in multi-step causal deduction when synthesizing high-difficulty operational queries.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69506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Latency Trade-offs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83831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Multi-agent graph orchestration and re-ranking introduce computational overhead during live queries.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69506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Static Scenario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83831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Evaluated on a simulated ground segment dataset rather than real-time live telemetry streams.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4656"/>
            <a:ext cx="3505200" cy="1938337"/>
          </a:xfrm>
          <a:prstGeom prst="roundRect">
            <a:avLst>
              <a:gd name="adj" fmla="val 58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4656"/>
            <a:ext cx="3505200" cy="1938337"/>
          </a:xfrm>
          <a:prstGeom prst="roundRect">
            <a:avLst>
              <a:gd name="adj" fmla="val 58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64656"/>
            <a:ext cx="3505200" cy="1938337"/>
          </a:xfrm>
          <a:prstGeom prst="roundRect">
            <a:avLst>
              <a:gd name="adj" fmla="val 58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59931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59931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59931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Future Research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69506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Advanced Reasoning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83831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Integrating reasoning-optimized models (e.g., o1/o3 architectures) for improved synthesis.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69506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Real-Time Telemetry Streaming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83831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Transitioning from static document retrieval to live telemetry ingestion and event streaming.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69506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Operational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83831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Conducting user studies and live trials with professional mission managers at space centres.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32979" y="2947987"/>
            <a:ext cx="832604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Space Grotesk"/>
              </a:rPr>
              <a:t>Thank You for Your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0593" y="3681412"/>
            <a:ext cx="2690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