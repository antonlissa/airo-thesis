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1.xml" ContentType="application/vnd.openxmlformats-officedocument.presentationml.comments+xml"/>
  <Override PartName="/ppt/notesSlides/notesSlide4.xml" ContentType="application/vnd.openxmlformats-officedocument.presentationml.notesSlide+xml"/>
  <Override PartName="/ppt/comments/comment2.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351" r:id="rId3"/>
    <p:sldId id="327" r:id="rId4"/>
    <p:sldId id="352" r:id="rId5"/>
    <p:sldId id="328" r:id="rId6"/>
    <p:sldId id="354" r:id="rId7"/>
    <p:sldId id="332" r:id="rId8"/>
    <p:sldId id="355" r:id="rId9"/>
    <p:sldId id="279" r:id="rId10"/>
    <p:sldId id="401" r:id="rId11"/>
    <p:sldId id="393" r:id="rId12"/>
    <p:sldId id="356" r:id="rId13"/>
    <p:sldId id="324" r:id="rId14"/>
    <p:sldId id="381" r:id="rId15"/>
    <p:sldId id="395" r:id="rId16"/>
    <p:sldId id="402" r:id="rId17"/>
    <p:sldId id="396" r:id="rId18"/>
    <p:sldId id="403" r:id="rId19"/>
    <p:sldId id="357" r:id="rId20"/>
    <p:sldId id="398" r:id="rId21"/>
    <p:sldId id="399" r:id="rId22"/>
    <p:sldId id="400" r:id="rId23"/>
    <p:sldId id="360" r:id="rId24"/>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ndy Rosettini" initials="WR" lastIdx="2" clrIdx="0">
    <p:extLst>
      <p:ext uri="{19B8F6BF-5375-455C-9EA6-DF929625EA0E}">
        <p15:presenceInfo xmlns:p15="http://schemas.microsoft.com/office/powerpoint/2012/main" userId="S::Rosettini.2150048@studenti.uniroma1.it::5a731347-898b-4581-9e3d-594f5d22a839" providerId="AD"/>
      </p:ext>
    </p:extLst>
  </p:cmAuthor>
  <p:cmAuthor id="2" name="Antonio Lissa Lattanzio" initials="ALL" lastIdx="8" clrIdx="1">
    <p:extLst>
      <p:ext uri="{19B8F6BF-5375-455C-9EA6-DF929625EA0E}">
        <p15:presenceInfo xmlns:p15="http://schemas.microsoft.com/office/powerpoint/2012/main" userId="S-1-5-21-199485690-3798236883-1769567645-5861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2B2A"/>
    <a:srgbClr val="802B2B"/>
    <a:srgbClr val="590302"/>
    <a:srgbClr val="8F3432"/>
    <a:srgbClr val="9537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9" d="100"/>
          <a:sy n="159" d="100"/>
        </p:scale>
        <p:origin x="979" y="10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it-IT" sz="1200" baseline="0" dirty="0"/>
              <a:t>Results by Task </a:t>
            </a:r>
            <a:r>
              <a:rPr lang="it-IT" sz="1200" baseline="0" dirty="0" err="1"/>
              <a:t>Complexity</a:t>
            </a:r>
            <a:r>
              <a:rPr lang="it-IT" sz="1200" baseline="0" dirty="0"/>
              <a:t> (%)</a:t>
            </a:r>
            <a:endParaRPr lang="it-IT" sz="1200" dirty="0"/>
          </a:p>
        </c:rich>
      </c:tx>
      <c:layout>
        <c:manualLayout>
          <c:xMode val="edge"/>
          <c:yMode val="edge"/>
          <c:x val="0.25084656041895648"/>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plotArea>
      <c:layout>
        <c:manualLayout>
          <c:layoutTarget val="inner"/>
          <c:xMode val="edge"/>
          <c:yMode val="edge"/>
          <c:x val="0.12488491407220904"/>
          <c:y val="0.17819125895875171"/>
          <c:w val="0.8453794056870334"/>
          <c:h val="0.54838564913926524"/>
        </c:manualLayout>
      </c:layout>
      <c:barChart>
        <c:barDir val="col"/>
        <c:grouping val="clustered"/>
        <c:varyColors val="0"/>
        <c:ser>
          <c:idx val="0"/>
          <c:order val="0"/>
          <c:tx>
            <c:strRef>
              <c:f>Foglio1!$B$1</c:f>
              <c:strCache>
                <c:ptCount val="1"/>
                <c:pt idx="0">
                  <c:v>FUNES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Foglio1!$A$2:$A$4</c:f>
              <c:strCache>
                <c:ptCount val="3"/>
                <c:pt idx="0">
                  <c:v>Easy</c:v>
                </c:pt>
                <c:pt idx="1">
                  <c:v>Medium</c:v>
                </c:pt>
                <c:pt idx="2">
                  <c:v>Hard</c:v>
                </c:pt>
              </c:strCache>
            </c:strRef>
          </c:cat>
          <c:val>
            <c:numRef>
              <c:f>Foglio1!$B$2:$B$4</c:f>
              <c:numCache>
                <c:formatCode>General</c:formatCode>
                <c:ptCount val="3"/>
                <c:pt idx="0">
                  <c:v>96</c:v>
                </c:pt>
                <c:pt idx="1">
                  <c:v>87</c:v>
                </c:pt>
                <c:pt idx="2">
                  <c:v>86</c:v>
                </c:pt>
              </c:numCache>
            </c:numRef>
          </c:val>
          <c:extLst>
            <c:ext xmlns:c16="http://schemas.microsoft.com/office/drawing/2014/chart" uri="{C3380CC4-5D6E-409C-BE32-E72D297353CC}">
              <c16:uniqueId val="{00000000-8788-4B50-B590-06E6B881C16E}"/>
            </c:ext>
          </c:extLst>
        </c:ser>
        <c:ser>
          <c:idx val="1"/>
          <c:order val="1"/>
          <c:tx>
            <c:strRef>
              <c:f>Foglio1!$C$1</c:f>
              <c:strCache>
                <c:ptCount val="1"/>
                <c:pt idx="0">
                  <c:v>Llama</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Foglio1!$A$2:$A$4</c:f>
              <c:strCache>
                <c:ptCount val="3"/>
                <c:pt idx="0">
                  <c:v>Easy</c:v>
                </c:pt>
                <c:pt idx="1">
                  <c:v>Medium</c:v>
                </c:pt>
                <c:pt idx="2">
                  <c:v>Hard</c:v>
                </c:pt>
              </c:strCache>
            </c:strRef>
          </c:cat>
          <c:val>
            <c:numRef>
              <c:f>Foglio1!$C$2:$C$4</c:f>
              <c:numCache>
                <c:formatCode>General</c:formatCode>
                <c:ptCount val="3"/>
                <c:pt idx="0">
                  <c:v>46</c:v>
                </c:pt>
                <c:pt idx="1">
                  <c:v>72</c:v>
                </c:pt>
                <c:pt idx="2">
                  <c:v>74</c:v>
                </c:pt>
              </c:numCache>
            </c:numRef>
          </c:val>
          <c:extLst>
            <c:ext xmlns:c16="http://schemas.microsoft.com/office/drawing/2014/chart" uri="{C3380CC4-5D6E-409C-BE32-E72D297353CC}">
              <c16:uniqueId val="{00000001-8788-4B50-B590-06E6B881C16E}"/>
            </c:ext>
          </c:extLst>
        </c:ser>
        <c:dLbls>
          <c:showLegendKey val="0"/>
          <c:showVal val="0"/>
          <c:showCatName val="0"/>
          <c:showSerName val="0"/>
          <c:showPercent val="0"/>
          <c:showBubbleSize val="0"/>
        </c:dLbls>
        <c:gapWidth val="219"/>
        <c:overlap val="-27"/>
        <c:axId val="560901647"/>
        <c:axId val="74138399"/>
      </c:barChart>
      <c:catAx>
        <c:axId val="560901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74138399"/>
        <c:crosses val="autoZero"/>
        <c:auto val="1"/>
        <c:lblAlgn val="ctr"/>
        <c:lblOffset val="100"/>
        <c:noMultiLvlLbl val="0"/>
      </c:catAx>
      <c:valAx>
        <c:axId val="74138399"/>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5609016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it-IT" sz="1200" dirty="0" err="1"/>
              <a:t>Overall</a:t>
            </a:r>
            <a:r>
              <a:rPr lang="it-IT" sz="1200" baseline="0" dirty="0"/>
              <a:t> Results (%)</a:t>
            </a:r>
            <a:endParaRPr lang="it-IT" sz="1200" dirty="0"/>
          </a:p>
        </c:rich>
      </c:tx>
      <c:layout>
        <c:manualLayout>
          <c:xMode val="edge"/>
          <c:yMode val="edge"/>
          <c:x val="0.15947256509687147"/>
          <c:y val="6.7913550104995946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plotArea>
      <c:layout>
        <c:manualLayout>
          <c:layoutTarget val="inner"/>
          <c:xMode val="edge"/>
          <c:yMode val="edge"/>
          <c:x val="0.22976197812399118"/>
          <c:y val="0.25048373824375364"/>
          <c:w val="0.58975501289867005"/>
          <c:h val="0.51536172170058503"/>
        </c:manualLayout>
      </c:layout>
      <c:barChart>
        <c:barDir val="col"/>
        <c:grouping val="clustered"/>
        <c:varyColors val="0"/>
        <c:ser>
          <c:idx val="0"/>
          <c:order val="0"/>
          <c:tx>
            <c:strRef>
              <c:f>Foglio1!$B$1</c:f>
              <c:strCache>
                <c:ptCount val="1"/>
                <c:pt idx="0">
                  <c:v>FUNES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c:f>
              <c:strCache>
                <c:ptCount val="1"/>
                <c:pt idx="0">
                  <c:v>Overall result</c:v>
                </c:pt>
              </c:strCache>
            </c:strRef>
          </c:cat>
          <c:val>
            <c:numRef>
              <c:f>Foglio1!$B$2</c:f>
              <c:numCache>
                <c:formatCode>General</c:formatCode>
                <c:ptCount val="1"/>
                <c:pt idx="0">
                  <c:v>90</c:v>
                </c:pt>
              </c:numCache>
            </c:numRef>
          </c:val>
          <c:extLst>
            <c:ext xmlns:c16="http://schemas.microsoft.com/office/drawing/2014/chart" uri="{C3380CC4-5D6E-409C-BE32-E72D297353CC}">
              <c16:uniqueId val="{00000000-F82D-46C7-BDC4-368B9EEB381B}"/>
            </c:ext>
          </c:extLst>
        </c:ser>
        <c:ser>
          <c:idx val="1"/>
          <c:order val="1"/>
          <c:tx>
            <c:strRef>
              <c:f>Foglio1!$C$1</c:f>
              <c:strCache>
                <c:ptCount val="1"/>
                <c:pt idx="0">
                  <c:v>Llama</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Foglio1!$A$2</c:f>
              <c:strCache>
                <c:ptCount val="1"/>
                <c:pt idx="0">
                  <c:v>Overall result</c:v>
                </c:pt>
              </c:strCache>
            </c:strRef>
          </c:cat>
          <c:val>
            <c:numRef>
              <c:f>Foglio1!$C$2</c:f>
              <c:numCache>
                <c:formatCode>General</c:formatCode>
                <c:ptCount val="1"/>
                <c:pt idx="0">
                  <c:v>63</c:v>
                </c:pt>
              </c:numCache>
            </c:numRef>
          </c:val>
          <c:extLst>
            <c:ext xmlns:c16="http://schemas.microsoft.com/office/drawing/2014/chart" uri="{C3380CC4-5D6E-409C-BE32-E72D297353CC}">
              <c16:uniqueId val="{00000001-F82D-46C7-BDC4-368B9EEB381B}"/>
            </c:ext>
          </c:extLst>
        </c:ser>
        <c:dLbls>
          <c:showLegendKey val="0"/>
          <c:showVal val="0"/>
          <c:showCatName val="0"/>
          <c:showSerName val="0"/>
          <c:showPercent val="0"/>
          <c:showBubbleSize val="0"/>
        </c:dLbls>
        <c:gapWidth val="219"/>
        <c:overlap val="-27"/>
        <c:axId val="748663887"/>
        <c:axId val="668043631"/>
      </c:barChart>
      <c:catAx>
        <c:axId val="748663887"/>
        <c:scaling>
          <c:orientation val="minMax"/>
        </c:scaling>
        <c:delete val="1"/>
        <c:axPos val="b"/>
        <c:numFmt formatCode="General" sourceLinked="1"/>
        <c:majorTickMark val="out"/>
        <c:minorTickMark val="none"/>
        <c:tickLblPos val="nextTo"/>
        <c:crossAx val="668043631"/>
        <c:crosses val="autoZero"/>
        <c:auto val="1"/>
        <c:lblAlgn val="ctr"/>
        <c:lblOffset val="100"/>
        <c:noMultiLvlLbl val="0"/>
      </c:catAx>
      <c:valAx>
        <c:axId val="668043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748663887"/>
        <c:crosses val="autoZero"/>
        <c:crossBetween val="between"/>
      </c:valAx>
      <c:spPr>
        <a:noFill/>
        <a:ln>
          <a:noFill/>
        </a:ln>
        <a:effectLst/>
      </c:spPr>
    </c:plotArea>
    <c:legend>
      <c:legendPos val="r"/>
      <c:layout>
        <c:manualLayout>
          <c:xMode val="edge"/>
          <c:yMode val="edge"/>
          <c:x val="0.20334217743572289"/>
          <c:y val="0.77049216120855957"/>
          <c:w val="0.63869646260403312"/>
          <c:h val="0.2209417418070170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it-IT"/>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2" dt="2026-10-19T11:03:59.193" idx="1">
    <p:pos x="10" y="10"/>
    <p:text>The overall results indicate that funes provides a substantial improvement in the evaluation score f the proposed benchmark. The baseline receives the full 24K token context with all the avaiable informations, thus the performance difference cannot be attributed to the baseline lacking access to specific pieces of informations. The results indicate that providing the full context to a general purpose LLM  does not always result in the most effective use of it.
The improvement is consistent with the hypothesis that selective information restrieval and filtering is highly effective. 
The result is also consistent with the main objective of the proposed architecture: information flow control.
The aggregate comparison does not allow to establish the contribution of each architectural component since no ablation study was conducted.</p:text>
    <p:extLst>
      <p:ext uri="{C676402C-5697-4E1C-873F-D02D1690AC5C}">
        <p15:threadingInfo xmlns:p15="http://schemas.microsoft.com/office/powerpoint/2012/main" timeZoneBias="-120"/>
      </p:ext>
    </p:extLst>
  </p:cm>
  <p:cm authorId="2" dt="2026-10-19T11:11:24.034" idx="2">
    <p:pos x="10" y="106"/>
    <p:text>The largest performance different is observed for the easy task result.</p:text>
    <p:extLst>
      <p:ext uri="{C676402C-5697-4E1C-873F-D02D1690AC5C}">
        <p15:threadingInfo xmlns:p15="http://schemas.microsoft.com/office/powerpoint/2012/main" timeZoneBias="-120">
          <p15:parentCm authorId="2" idx="1"/>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6-10-19T11:12:10.796" idx="3">
    <p:pos x="10" y="10"/>
    <p:text>For the Q5 the baseline produced an incorrect count of 32 passages, and included other irrelevant informations like the network status, tickets and proposed actions. Thus the question was incorrectly interpretated and fileld with irrelevant comtext.
FUNES instead provided a more coincise answer with the correct count of passages and informations related to them.
This suggest that for retrieval oriented questions the the availability of the full context does not lead to the use of the relevant informations and can lead to errors.</p:text>
    <p:extLst>
      <p:ext uri="{C676402C-5697-4E1C-873F-D02D1690AC5C}">
        <p15:threadingInfo xmlns:p15="http://schemas.microsoft.com/office/powerpoint/2012/main" timeZoneBias="-120"/>
      </p:ext>
    </p:extLst>
  </p:cm>
  <p:cm authorId="2" dt="2026-10-19T11:17:33.338" idx="4">
    <p:pos x="10" y="106"/>
    <p:text>In Q11 the baseline correctly identified the connectivity issue of GS-01/ANT-02, but extended the explanations to the status of ANT-03 without sufficient evidence that this condition was responsible for station level degraded status.</p:text>
    <p:extLst>
      <p:ext uri="{C676402C-5697-4E1C-873F-D02D1690AC5C}">
        <p15:threadingInfo xmlns:p15="http://schemas.microsoft.com/office/powerpoint/2012/main" timeZoneBias="-120">
          <p15:parentCm authorId="2" idx="3"/>
        </p15:threadingInfo>
      </p:ext>
    </p:extLst>
  </p:cm>
  <p:cm authorId="2" dt="2026-10-19T11:54:29.336" idx="8">
    <p:pos x="10" y="202"/>
    <p:text>In Q19 the judge penalizes FUNES for failing to provide the specific datetimes of the activities. This implies that retrieving the correct data does not alwaysguarantee that the final synthesis stage will fully exploit the available evidence.</p:text>
    <p:extLst>
      <p:ext uri="{C676402C-5697-4E1C-873F-D02D1690AC5C}">
        <p15:threadingInfo xmlns:p15="http://schemas.microsoft.com/office/powerpoint/2012/main" timeZoneBias="-120">
          <p15:parentCm authorId="2" idx="3"/>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78A6E14B-A849-425A-B41B-03349DE57C16}" type="datetimeFigureOut">
              <a:t>19/10/2026</a:t>
            </a:fld>
            <a:endParaRPr lang="en-US"/>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C7114311-0793-4092-B8E1-5884292E5B92}" type="slidenum">
              <a:t>‹N›</a:t>
            </a:fld>
            <a:endParaRPr lang="en-US"/>
          </a:p>
        </p:txBody>
      </p:sp>
    </p:spTree>
    <p:extLst>
      <p:ext uri="{BB962C8B-B14F-4D97-AF65-F5344CB8AC3E}">
        <p14:creationId xmlns:p14="http://schemas.microsoft.com/office/powerpoint/2010/main" val="2269558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15</a:t>
            </a:fld>
            <a:endParaRPr lang="it-IT"/>
          </a:p>
        </p:txBody>
      </p:sp>
    </p:spTree>
    <p:extLst>
      <p:ext uri="{BB962C8B-B14F-4D97-AF65-F5344CB8AC3E}">
        <p14:creationId xmlns:p14="http://schemas.microsoft.com/office/powerpoint/2010/main" val="3723721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16</a:t>
            </a:fld>
            <a:endParaRPr lang="it-IT"/>
          </a:p>
        </p:txBody>
      </p:sp>
    </p:spTree>
    <p:extLst>
      <p:ext uri="{BB962C8B-B14F-4D97-AF65-F5344CB8AC3E}">
        <p14:creationId xmlns:p14="http://schemas.microsoft.com/office/powerpoint/2010/main" val="2669104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17</a:t>
            </a:fld>
            <a:endParaRPr lang="it-IT"/>
          </a:p>
        </p:txBody>
      </p:sp>
    </p:spTree>
    <p:extLst>
      <p:ext uri="{BB962C8B-B14F-4D97-AF65-F5344CB8AC3E}">
        <p14:creationId xmlns:p14="http://schemas.microsoft.com/office/powerpoint/2010/main" val="3826769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18</a:t>
            </a:fld>
            <a:endParaRPr lang="it-IT"/>
          </a:p>
        </p:txBody>
      </p:sp>
    </p:spTree>
    <p:extLst>
      <p:ext uri="{BB962C8B-B14F-4D97-AF65-F5344CB8AC3E}">
        <p14:creationId xmlns:p14="http://schemas.microsoft.com/office/powerpoint/2010/main" val="3260867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20</a:t>
            </a:fld>
            <a:endParaRPr lang="it-IT"/>
          </a:p>
        </p:txBody>
      </p:sp>
    </p:spTree>
    <p:extLst>
      <p:ext uri="{BB962C8B-B14F-4D97-AF65-F5344CB8AC3E}">
        <p14:creationId xmlns:p14="http://schemas.microsoft.com/office/powerpoint/2010/main" val="3476253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21</a:t>
            </a:fld>
            <a:endParaRPr lang="it-IT"/>
          </a:p>
        </p:txBody>
      </p:sp>
    </p:spTree>
    <p:extLst>
      <p:ext uri="{BB962C8B-B14F-4D97-AF65-F5344CB8AC3E}">
        <p14:creationId xmlns:p14="http://schemas.microsoft.com/office/powerpoint/2010/main" val="3843185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C7114311-0793-4092-B8E1-5884292E5B92}" type="slidenum">
              <a:rPr lang="it-IT" smtClean="0"/>
              <a:t>22</a:t>
            </a:fld>
            <a:endParaRPr lang="it-IT"/>
          </a:p>
        </p:txBody>
      </p:sp>
    </p:spTree>
    <p:extLst>
      <p:ext uri="{BB962C8B-B14F-4D97-AF65-F5344CB8AC3E}">
        <p14:creationId xmlns:p14="http://schemas.microsoft.com/office/powerpoint/2010/main" val="19999615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760085" cy="3240405"/>
          </a:xfrm>
          <a:custGeom>
            <a:avLst/>
            <a:gdLst/>
            <a:ahLst/>
            <a:cxnLst/>
            <a:rect l="l" t="t" r="r" b="b"/>
            <a:pathLst>
              <a:path w="5760085" h="3240405">
                <a:moveTo>
                  <a:pt x="5759996" y="0"/>
                </a:moveTo>
                <a:lnTo>
                  <a:pt x="0" y="0"/>
                </a:lnTo>
                <a:lnTo>
                  <a:pt x="0" y="3239998"/>
                </a:lnTo>
                <a:lnTo>
                  <a:pt x="5759996" y="3239998"/>
                </a:lnTo>
                <a:lnTo>
                  <a:pt x="5759996" y="0"/>
                </a:lnTo>
                <a:close/>
              </a:path>
            </a:pathLst>
          </a:custGeom>
          <a:solidFill>
            <a:srgbClr val="812433"/>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345579" y="3"/>
            <a:ext cx="518378" cy="617051"/>
          </a:xfrm>
          <a:prstGeom prst="rect">
            <a:avLst/>
          </a:prstGeom>
        </p:spPr>
      </p:pic>
      <p:sp>
        <p:nvSpPr>
          <p:cNvPr id="2" name="Holder 2"/>
          <p:cNvSpPr>
            <a:spLocks noGrp="1"/>
          </p:cNvSpPr>
          <p:nvPr>
            <p:ph type="ctrTitle"/>
          </p:nvPr>
        </p:nvSpPr>
        <p:spPr>
          <a:xfrm>
            <a:off x="369760" y="939316"/>
            <a:ext cx="5020945" cy="970280"/>
          </a:xfrm>
          <a:prstGeom prst="rect">
            <a:avLst/>
          </a:prstGeom>
        </p:spPr>
        <p:txBody>
          <a:bodyPr wrap="square" lIns="0" tIns="0" rIns="0" bIns="0">
            <a:spAutoFit/>
          </a:bodyPr>
          <a:lstStyle>
            <a:lvl1pPr>
              <a:defRPr sz="1400" b="1" i="0">
                <a:solidFill>
                  <a:srgbClr val="812433"/>
                </a:solidFill>
                <a:latin typeface="Calibri"/>
                <a:cs typeface="Calibri"/>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200" b="1" i="0">
                <a:solidFill>
                  <a:schemeClr val="bg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10/19/2026</a:t>
            </a:fld>
            <a:endParaRPr lang="en-US"/>
          </a:p>
        </p:txBody>
      </p:sp>
      <p:sp>
        <p:nvSpPr>
          <p:cNvPr id="6" name="Holder 6"/>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812433"/>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1" i="0">
                <a:solidFill>
                  <a:schemeClr val="bg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10/19/2026</a:t>
            </a:fld>
            <a:endParaRPr lang="en-US"/>
          </a:p>
        </p:txBody>
      </p:sp>
      <p:sp>
        <p:nvSpPr>
          <p:cNvPr id="6" name="Holder 6"/>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812433"/>
                </a:solidFill>
                <a:latin typeface="Calibri"/>
                <a:cs typeface="Calibri"/>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10/19/2026</a:t>
            </a:fld>
            <a:endParaRPr lang="en-US"/>
          </a:p>
        </p:txBody>
      </p:sp>
      <p:sp>
        <p:nvSpPr>
          <p:cNvPr id="7" name="Holder 7"/>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225575" y="-25"/>
            <a:ext cx="2534420" cy="3240024"/>
          </a:xfrm>
          <a:prstGeom prst="rect">
            <a:avLst/>
          </a:prstGeom>
        </p:spPr>
      </p:pic>
      <p:sp>
        <p:nvSpPr>
          <p:cNvPr id="17" name="bg object 17"/>
          <p:cNvSpPr/>
          <p:nvPr/>
        </p:nvSpPr>
        <p:spPr>
          <a:xfrm>
            <a:off x="0" y="940600"/>
            <a:ext cx="3588385" cy="1249045"/>
          </a:xfrm>
          <a:custGeom>
            <a:avLst/>
            <a:gdLst/>
            <a:ahLst/>
            <a:cxnLst/>
            <a:rect l="l" t="t" r="r" b="b"/>
            <a:pathLst>
              <a:path w="3588385" h="1249045">
                <a:moveTo>
                  <a:pt x="3588130" y="0"/>
                </a:moveTo>
                <a:lnTo>
                  <a:pt x="0" y="0"/>
                </a:lnTo>
                <a:lnTo>
                  <a:pt x="0" y="1248486"/>
                </a:lnTo>
                <a:lnTo>
                  <a:pt x="3588130" y="1248486"/>
                </a:lnTo>
                <a:lnTo>
                  <a:pt x="3588130"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1" i="0">
                <a:solidFill>
                  <a:srgbClr val="812433"/>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10/19/2026</a:t>
            </a:fld>
            <a:endParaRPr lang="en-US"/>
          </a:p>
        </p:txBody>
      </p:sp>
      <p:sp>
        <p:nvSpPr>
          <p:cNvPr id="5" name="Holder 5"/>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10/19/2026</a:t>
            </a:fld>
            <a:endParaRPr lang="en-US"/>
          </a:p>
        </p:txBody>
      </p:sp>
      <p:sp>
        <p:nvSpPr>
          <p:cNvPr id="4" name="Holder 4"/>
          <p:cNvSpPr>
            <a:spLocks noGrp="1"/>
          </p:cNvSpPr>
          <p:nvPr>
            <p:ph type="sldNum" sz="quarter" idx="7"/>
          </p:nvPr>
        </p:nvSpPr>
        <p:spPr/>
        <p:txBody>
          <a:bodyPr lIns="0" tIns="0" rIns="0" bIns="0"/>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2089424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2258718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164617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5765800" cy="3244850"/>
          </a:xfrm>
          <a:prstGeom prst="rect">
            <a:avLst/>
          </a:prstGeom>
        </p:spPr>
      </p:pic>
      <p:sp>
        <p:nvSpPr>
          <p:cNvPr id="3" name="Shape 0"/>
          <p:cNvSpPr/>
          <p:nvPr/>
        </p:nvSpPr>
        <p:spPr>
          <a:xfrm>
            <a:off x="0" y="0"/>
            <a:ext cx="5765800" cy="324485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1010842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562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a:xfrm>
            <a:off x="288290" y="3017710"/>
            <a:ext cx="1326134" cy="276999"/>
          </a:xfrm>
        </p:spPr>
        <p:txBody>
          <a:bodyPr rtlCol="0"/>
          <a:lstStyle/>
          <a:p>
            <a:pPr rtl="0"/>
            <a:fld id="{05A4C22A-DE1A-451D-93AE-EA558C0F4942}" type="datetime1">
              <a:rPr lang="it-IT" noProof="0" smtClean="0"/>
              <a:t>19/10/2026</a:t>
            </a:fld>
            <a:endParaRPr lang="it-IT" noProof="0"/>
          </a:p>
        </p:txBody>
      </p:sp>
      <p:sp>
        <p:nvSpPr>
          <p:cNvPr id="3" name="Segnaposto piè di pagina 2"/>
          <p:cNvSpPr>
            <a:spLocks noGrp="1"/>
          </p:cNvSpPr>
          <p:nvPr>
            <p:ph type="ftr" sz="quarter" idx="11"/>
          </p:nvPr>
        </p:nvSpPr>
        <p:spPr>
          <a:xfrm>
            <a:off x="1960372" y="3017710"/>
            <a:ext cx="1845056" cy="276999"/>
          </a:xfrm>
        </p:spPr>
        <p:txBody>
          <a:bodyPr rtlCol="0"/>
          <a:lstStyle/>
          <a:p>
            <a:pPr rtl="0"/>
            <a:endParaRPr lang="it-IT" noProof="0"/>
          </a:p>
        </p:txBody>
      </p:sp>
      <p:sp>
        <p:nvSpPr>
          <p:cNvPr id="4" name="Segnaposto numero diapositiva 3"/>
          <p:cNvSpPr>
            <a:spLocks noGrp="1"/>
          </p:cNvSpPr>
          <p:nvPr>
            <p:ph type="sldNum" sz="quarter" idx="12"/>
          </p:nvPr>
        </p:nvSpPr>
        <p:spPr>
          <a:xfrm>
            <a:off x="321894" y="3016594"/>
            <a:ext cx="273684" cy="123111"/>
          </a:xfrm>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40255016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5765800" cy="3244850"/>
          </a:xfrm>
          <a:prstGeom prst="rect">
            <a:avLst/>
          </a:prstGeom>
          <a:solidFill>
            <a:srgbClr val="EFEFEF"/>
          </a:solidFill>
          <a:ln/>
        </p:spPr>
      </p:sp>
      <p:sp>
        <p:nvSpPr>
          <p:cNvPr id="3" name="Shape 1"/>
          <p:cNvSpPr/>
          <p:nvPr/>
        </p:nvSpPr>
        <p:spPr>
          <a:xfrm>
            <a:off x="0" y="0"/>
            <a:ext cx="5765800" cy="324485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5059899" y="3055567"/>
            <a:ext cx="678874" cy="162243"/>
          </a:xfrm>
          <a:prstGeom prst="rect">
            <a:avLst/>
          </a:prstGeom>
        </p:spPr>
      </p:pic>
    </p:spTree>
    <p:extLst>
      <p:ext uri="{BB962C8B-B14F-4D97-AF65-F5344CB8AC3E}">
        <p14:creationId xmlns:p14="http://schemas.microsoft.com/office/powerpoint/2010/main" val="95566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rtlCol="0"/>
          <a:lstStyle/>
          <a:p>
            <a:pPr rtl="0"/>
            <a:r>
              <a:rPr lang="it-IT" noProof="0"/>
              <a:t>Fare clic per modificare lo stile del titolo</a:t>
            </a:r>
          </a:p>
        </p:txBody>
      </p:sp>
      <p:sp>
        <p:nvSpPr>
          <p:cNvPr id="3" name="Segnaposto data 2"/>
          <p:cNvSpPr>
            <a:spLocks noGrp="1"/>
          </p:cNvSpPr>
          <p:nvPr>
            <p:ph type="dt" sz="half" idx="10"/>
          </p:nvPr>
        </p:nvSpPr>
        <p:spPr/>
        <p:txBody>
          <a:bodyPr rtlCol="0"/>
          <a:lstStyle/>
          <a:p>
            <a:pPr rtl="0"/>
            <a:fld id="{6E20A04D-C6B1-464E-A9D6-9B6756A0049A}" type="datetime1">
              <a:rPr lang="it-IT" noProof="0" smtClean="0"/>
              <a:t>19/10/2026</a:t>
            </a:fld>
            <a:endParaRPr lang="it-IT" noProof="0"/>
          </a:p>
        </p:txBody>
      </p:sp>
      <p:sp>
        <p:nvSpPr>
          <p:cNvPr id="4" name="Segnaposto piè di pagina 3"/>
          <p:cNvSpPr>
            <a:spLocks noGrp="1"/>
          </p:cNvSpPr>
          <p:nvPr>
            <p:ph type="ftr" sz="quarter" idx="11"/>
          </p:nvPr>
        </p:nvSpPr>
        <p:spPr/>
        <p:txBody>
          <a:bodyPr rtlCol="0"/>
          <a:lstStyle/>
          <a:p>
            <a:pPr rtl="0"/>
            <a:endParaRPr lang="it-IT" noProof="0"/>
          </a:p>
        </p:txBody>
      </p:sp>
      <p:sp>
        <p:nvSpPr>
          <p:cNvPr id="5" name="Segnaposto numero diapositiva 4"/>
          <p:cNvSpPr>
            <a:spLocks noGrp="1"/>
          </p:cNvSpPr>
          <p:nvPr>
            <p:ph type="sldNum" sz="quarter" idx="12"/>
          </p:nvPr>
        </p:nvSpPr>
        <p:spPr/>
        <p:txBody>
          <a:bodyPr rtlCol="0"/>
          <a:lstStyle/>
          <a:p>
            <a:pPr rtl="0"/>
            <a:fld id="{6D22F896-40B5-4ADD-8801-0D06FADFA095}" type="slidenum">
              <a:rPr lang="it-IT" noProof="0" smtClean="0"/>
              <a:t>‹N›</a:t>
            </a:fld>
            <a:endParaRPr lang="it-IT" noProof="0"/>
          </a:p>
        </p:txBody>
      </p:sp>
    </p:spTree>
    <p:extLst>
      <p:ext uri="{BB962C8B-B14F-4D97-AF65-F5344CB8AC3E}">
        <p14:creationId xmlns:p14="http://schemas.microsoft.com/office/powerpoint/2010/main" val="2014108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3">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CF0B1-5FBF-6F99-DA2D-C2AE165C78B8}"/>
              </a:ext>
            </a:extLst>
          </p:cNvPr>
          <p:cNvSpPr>
            <a:spLocks noGrp="1"/>
          </p:cNvSpPr>
          <p:nvPr>
            <p:ph type="title" hasCustomPrompt="1"/>
          </p:nvPr>
        </p:nvSpPr>
        <p:spPr>
          <a:xfrm>
            <a:off x="369642" y="133124"/>
            <a:ext cx="5033543" cy="432647"/>
          </a:xfrm>
        </p:spPr>
        <p:txBody>
          <a:bodyPr/>
          <a:lstStyle>
            <a:lvl1pPr>
              <a:defRPr cap="all" baseline="0"/>
            </a:lvl1pPr>
          </a:lstStyle>
          <a:p>
            <a:r>
              <a:rPr lang="en-US" b="0">
                <a:solidFill>
                  <a:schemeClr val="bg1"/>
                </a:solidFill>
              </a:rPr>
              <a:t>CLICK TO ADD TITLE</a:t>
            </a:r>
            <a:endParaRPr lang="en-US">
              <a:solidFill>
                <a:schemeClr val="bg1"/>
              </a:solidFill>
            </a:endParaRPr>
          </a:p>
        </p:txBody>
      </p:sp>
      <p:sp>
        <p:nvSpPr>
          <p:cNvPr id="23" name="Rectangle 22">
            <a:extLst>
              <a:ext uri="{FF2B5EF4-FFF2-40B4-BE49-F238E27FC236}">
                <a16:creationId xmlns:a16="http://schemas.microsoft.com/office/drawing/2014/main" id="{D19906B8-0130-4CE3-A402-AD14F694B174}"/>
              </a:ext>
              <a:ext uri="{C183D7F6-B498-43B3-948B-1728B52AA6E4}">
                <adec:decorative xmlns:adec="http://schemas.microsoft.com/office/drawing/2017/decorative" val="1"/>
              </a:ext>
            </a:extLst>
          </p:cNvPr>
          <p:cNvSpPr/>
          <p:nvPr userDrawn="1"/>
        </p:nvSpPr>
        <p:spPr>
          <a:xfrm>
            <a:off x="368291" y="632590"/>
            <a:ext cx="5029219" cy="2401357"/>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51"/>
          </a:p>
        </p:txBody>
      </p:sp>
      <p:sp>
        <p:nvSpPr>
          <p:cNvPr id="7" name="Text Placeholder 6">
            <a:extLst>
              <a:ext uri="{FF2B5EF4-FFF2-40B4-BE49-F238E27FC236}">
                <a16:creationId xmlns:a16="http://schemas.microsoft.com/office/drawing/2014/main" id="{B5DEA1F5-0E0B-B85B-D1EB-BEBCBED6E5B8}"/>
              </a:ext>
            </a:extLst>
          </p:cNvPr>
          <p:cNvSpPr>
            <a:spLocks noGrp="1"/>
          </p:cNvSpPr>
          <p:nvPr>
            <p:ph type="body" sz="quarter" idx="10" hasCustomPrompt="1"/>
          </p:nvPr>
        </p:nvSpPr>
        <p:spPr>
          <a:xfrm>
            <a:off x="473495"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2" name="Text Placeholder 6">
            <a:extLst>
              <a:ext uri="{FF2B5EF4-FFF2-40B4-BE49-F238E27FC236}">
                <a16:creationId xmlns:a16="http://schemas.microsoft.com/office/drawing/2014/main" id="{0927EF45-A807-DB68-1EE5-226052417123}"/>
              </a:ext>
            </a:extLst>
          </p:cNvPr>
          <p:cNvSpPr>
            <a:spLocks noGrp="1"/>
          </p:cNvSpPr>
          <p:nvPr>
            <p:ph type="body" sz="quarter" idx="15" hasCustomPrompt="1"/>
          </p:nvPr>
        </p:nvSpPr>
        <p:spPr>
          <a:xfrm>
            <a:off x="473495"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25" name="Text Placeholder 24">
            <a:extLst>
              <a:ext uri="{FF2B5EF4-FFF2-40B4-BE49-F238E27FC236}">
                <a16:creationId xmlns:a16="http://schemas.microsoft.com/office/drawing/2014/main" id="{D0FD1A64-5429-B203-D1FD-902607CD1A09}"/>
              </a:ext>
            </a:extLst>
          </p:cNvPr>
          <p:cNvSpPr>
            <a:spLocks noGrp="1"/>
          </p:cNvSpPr>
          <p:nvPr>
            <p:ph type="body" sz="quarter" idx="30" hasCustomPrompt="1"/>
          </p:nvPr>
        </p:nvSpPr>
        <p:spPr>
          <a:xfrm>
            <a:off x="384276"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6" name="Picture Placeholder 5">
            <a:extLst>
              <a:ext uri="{FF2B5EF4-FFF2-40B4-BE49-F238E27FC236}">
                <a16:creationId xmlns:a16="http://schemas.microsoft.com/office/drawing/2014/main" id="{A2EC95D5-1A0A-6660-B6C6-30CA65A39383}"/>
              </a:ext>
            </a:extLst>
          </p:cNvPr>
          <p:cNvSpPr>
            <a:spLocks noGrp="1"/>
          </p:cNvSpPr>
          <p:nvPr>
            <p:ph type="pic" sz="quarter" idx="25"/>
          </p:nvPr>
        </p:nvSpPr>
        <p:spPr>
          <a:xfrm>
            <a:off x="710752" y="2611117"/>
            <a:ext cx="324326" cy="324485"/>
          </a:xfrm>
        </p:spPr>
        <p:txBody>
          <a:bodyPr>
            <a:normAutofit/>
          </a:bodyPr>
          <a:lstStyle>
            <a:lvl1pPr marL="0" indent="0" algn="ctr">
              <a:buNone/>
              <a:defRPr sz="473"/>
            </a:lvl1pPr>
          </a:lstStyle>
          <a:p>
            <a:endParaRPr lang="en-US"/>
          </a:p>
        </p:txBody>
      </p:sp>
      <p:sp>
        <p:nvSpPr>
          <p:cNvPr id="8" name="Text Placeholder 6">
            <a:extLst>
              <a:ext uri="{FF2B5EF4-FFF2-40B4-BE49-F238E27FC236}">
                <a16:creationId xmlns:a16="http://schemas.microsoft.com/office/drawing/2014/main" id="{C99194BA-C71C-FB82-7058-42ECFE165A71}"/>
              </a:ext>
            </a:extLst>
          </p:cNvPr>
          <p:cNvSpPr>
            <a:spLocks noGrp="1"/>
          </p:cNvSpPr>
          <p:nvPr>
            <p:ph type="body" sz="quarter" idx="11" hasCustomPrompt="1"/>
          </p:nvPr>
        </p:nvSpPr>
        <p:spPr>
          <a:xfrm>
            <a:off x="1482510"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3" name="Text Placeholder 6">
            <a:extLst>
              <a:ext uri="{FF2B5EF4-FFF2-40B4-BE49-F238E27FC236}">
                <a16:creationId xmlns:a16="http://schemas.microsoft.com/office/drawing/2014/main" id="{1C9BA2BC-110F-DB84-10C1-221D101343C3}"/>
              </a:ext>
            </a:extLst>
          </p:cNvPr>
          <p:cNvSpPr>
            <a:spLocks noGrp="1"/>
          </p:cNvSpPr>
          <p:nvPr>
            <p:ph type="body" sz="quarter" idx="16" hasCustomPrompt="1"/>
          </p:nvPr>
        </p:nvSpPr>
        <p:spPr>
          <a:xfrm>
            <a:off x="1482510"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26" name="Text Placeholder 25">
            <a:extLst>
              <a:ext uri="{FF2B5EF4-FFF2-40B4-BE49-F238E27FC236}">
                <a16:creationId xmlns:a16="http://schemas.microsoft.com/office/drawing/2014/main" id="{7D9324C6-8649-EB3C-8916-E1EA3B89150F}"/>
              </a:ext>
            </a:extLst>
          </p:cNvPr>
          <p:cNvSpPr>
            <a:spLocks noGrp="1"/>
          </p:cNvSpPr>
          <p:nvPr>
            <p:ph type="body" sz="quarter" idx="31" hasCustomPrompt="1"/>
          </p:nvPr>
        </p:nvSpPr>
        <p:spPr>
          <a:xfrm>
            <a:off x="1389307"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28" name="Picture Placeholder 5">
            <a:extLst>
              <a:ext uri="{FF2B5EF4-FFF2-40B4-BE49-F238E27FC236}">
                <a16:creationId xmlns:a16="http://schemas.microsoft.com/office/drawing/2014/main" id="{FF90473A-C83D-5DEA-ED9A-7152AD2E5AFD}"/>
              </a:ext>
            </a:extLst>
          </p:cNvPr>
          <p:cNvSpPr>
            <a:spLocks noGrp="1"/>
          </p:cNvSpPr>
          <p:nvPr>
            <p:ph type="pic" sz="quarter" idx="26"/>
          </p:nvPr>
        </p:nvSpPr>
        <p:spPr>
          <a:xfrm>
            <a:off x="1721253" y="2611117"/>
            <a:ext cx="324326" cy="324485"/>
          </a:xfrm>
        </p:spPr>
        <p:txBody>
          <a:bodyPr>
            <a:normAutofit/>
          </a:bodyPr>
          <a:lstStyle>
            <a:lvl1pPr marL="0" indent="0" algn="ctr">
              <a:buNone/>
              <a:defRPr sz="473"/>
            </a:lvl1pPr>
          </a:lstStyle>
          <a:p>
            <a:endParaRPr lang="en-US"/>
          </a:p>
        </p:txBody>
      </p:sp>
      <p:sp>
        <p:nvSpPr>
          <p:cNvPr id="9" name="Text Placeholder 6">
            <a:extLst>
              <a:ext uri="{FF2B5EF4-FFF2-40B4-BE49-F238E27FC236}">
                <a16:creationId xmlns:a16="http://schemas.microsoft.com/office/drawing/2014/main" id="{3E9B7D98-8661-78D4-B906-E82F8AA1DBF2}"/>
              </a:ext>
            </a:extLst>
          </p:cNvPr>
          <p:cNvSpPr>
            <a:spLocks noGrp="1"/>
          </p:cNvSpPr>
          <p:nvPr>
            <p:ph type="body" sz="quarter" idx="12" hasCustomPrompt="1"/>
          </p:nvPr>
        </p:nvSpPr>
        <p:spPr>
          <a:xfrm>
            <a:off x="2490515"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4" name="Text Placeholder 6">
            <a:extLst>
              <a:ext uri="{FF2B5EF4-FFF2-40B4-BE49-F238E27FC236}">
                <a16:creationId xmlns:a16="http://schemas.microsoft.com/office/drawing/2014/main" id="{42B64643-487D-62DA-ED87-8BFFC06F474A}"/>
              </a:ext>
            </a:extLst>
          </p:cNvPr>
          <p:cNvSpPr>
            <a:spLocks noGrp="1"/>
          </p:cNvSpPr>
          <p:nvPr>
            <p:ph type="body" sz="quarter" idx="17" hasCustomPrompt="1"/>
          </p:nvPr>
        </p:nvSpPr>
        <p:spPr>
          <a:xfrm>
            <a:off x="2490515"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27" name="Text Placeholder 26">
            <a:extLst>
              <a:ext uri="{FF2B5EF4-FFF2-40B4-BE49-F238E27FC236}">
                <a16:creationId xmlns:a16="http://schemas.microsoft.com/office/drawing/2014/main" id="{4179D1CF-4097-FC8C-51C1-CE6ECEE017BD}"/>
              </a:ext>
            </a:extLst>
          </p:cNvPr>
          <p:cNvSpPr>
            <a:spLocks noGrp="1"/>
          </p:cNvSpPr>
          <p:nvPr>
            <p:ph type="body" sz="quarter" idx="32" hasCustomPrompt="1"/>
          </p:nvPr>
        </p:nvSpPr>
        <p:spPr>
          <a:xfrm>
            <a:off x="2394338"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29" name="Picture Placeholder 5">
            <a:extLst>
              <a:ext uri="{FF2B5EF4-FFF2-40B4-BE49-F238E27FC236}">
                <a16:creationId xmlns:a16="http://schemas.microsoft.com/office/drawing/2014/main" id="{022FCC6D-3088-C2FB-FC8F-E636A7F53A13}"/>
              </a:ext>
            </a:extLst>
          </p:cNvPr>
          <p:cNvSpPr>
            <a:spLocks noGrp="1"/>
          </p:cNvSpPr>
          <p:nvPr>
            <p:ph type="pic" sz="quarter" idx="27"/>
          </p:nvPr>
        </p:nvSpPr>
        <p:spPr>
          <a:xfrm>
            <a:off x="2718484" y="2611117"/>
            <a:ext cx="324326" cy="324485"/>
          </a:xfrm>
        </p:spPr>
        <p:txBody>
          <a:bodyPr>
            <a:normAutofit/>
          </a:bodyPr>
          <a:lstStyle>
            <a:lvl1pPr marL="0" indent="0" algn="ctr">
              <a:buNone/>
              <a:defRPr sz="473"/>
            </a:lvl1pPr>
          </a:lstStyle>
          <a:p>
            <a:endParaRPr lang="en-US"/>
          </a:p>
        </p:txBody>
      </p:sp>
      <p:sp>
        <p:nvSpPr>
          <p:cNvPr id="10" name="Text Placeholder 6">
            <a:extLst>
              <a:ext uri="{FF2B5EF4-FFF2-40B4-BE49-F238E27FC236}">
                <a16:creationId xmlns:a16="http://schemas.microsoft.com/office/drawing/2014/main" id="{4D3EA25A-8DAD-D356-C0BA-9C67D9A4279F}"/>
              </a:ext>
            </a:extLst>
          </p:cNvPr>
          <p:cNvSpPr>
            <a:spLocks noGrp="1"/>
          </p:cNvSpPr>
          <p:nvPr>
            <p:ph type="body" sz="quarter" idx="13" hasCustomPrompt="1"/>
          </p:nvPr>
        </p:nvSpPr>
        <p:spPr>
          <a:xfrm>
            <a:off x="3480311"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5" name="Text Placeholder 6">
            <a:extLst>
              <a:ext uri="{FF2B5EF4-FFF2-40B4-BE49-F238E27FC236}">
                <a16:creationId xmlns:a16="http://schemas.microsoft.com/office/drawing/2014/main" id="{3BB83F7C-5495-8D46-6D74-3F64F38469B4}"/>
              </a:ext>
            </a:extLst>
          </p:cNvPr>
          <p:cNvSpPr>
            <a:spLocks noGrp="1"/>
          </p:cNvSpPr>
          <p:nvPr>
            <p:ph type="body" sz="quarter" idx="18" hasCustomPrompt="1"/>
          </p:nvPr>
        </p:nvSpPr>
        <p:spPr>
          <a:xfrm>
            <a:off x="3480311"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32" name="Text Placeholder 31">
            <a:extLst>
              <a:ext uri="{FF2B5EF4-FFF2-40B4-BE49-F238E27FC236}">
                <a16:creationId xmlns:a16="http://schemas.microsoft.com/office/drawing/2014/main" id="{6806C076-7B20-8C54-8D7C-15B7E32E8B60}"/>
              </a:ext>
            </a:extLst>
          </p:cNvPr>
          <p:cNvSpPr>
            <a:spLocks noGrp="1"/>
          </p:cNvSpPr>
          <p:nvPr>
            <p:ph type="body" sz="quarter" idx="33" hasCustomPrompt="1"/>
          </p:nvPr>
        </p:nvSpPr>
        <p:spPr>
          <a:xfrm>
            <a:off x="3399369"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30" name="Picture Placeholder 5">
            <a:extLst>
              <a:ext uri="{FF2B5EF4-FFF2-40B4-BE49-F238E27FC236}">
                <a16:creationId xmlns:a16="http://schemas.microsoft.com/office/drawing/2014/main" id="{3F3E8A8F-E827-C446-AF20-B093FE645711}"/>
              </a:ext>
            </a:extLst>
          </p:cNvPr>
          <p:cNvSpPr>
            <a:spLocks noGrp="1"/>
          </p:cNvSpPr>
          <p:nvPr>
            <p:ph type="pic" sz="quarter" idx="28"/>
          </p:nvPr>
        </p:nvSpPr>
        <p:spPr>
          <a:xfrm>
            <a:off x="3656912" y="2611117"/>
            <a:ext cx="324326" cy="324485"/>
          </a:xfrm>
        </p:spPr>
        <p:txBody>
          <a:bodyPr>
            <a:normAutofit/>
          </a:bodyPr>
          <a:lstStyle>
            <a:lvl1pPr marL="0" indent="0" algn="ctr">
              <a:buNone/>
              <a:defRPr sz="473"/>
            </a:lvl1pPr>
          </a:lstStyle>
          <a:p>
            <a:endParaRPr lang="en-US"/>
          </a:p>
        </p:txBody>
      </p:sp>
      <p:sp>
        <p:nvSpPr>
          <p:cNvPr id="11" name="Text Placeholder 6">
            <a:extLst>
              <a:ext uri="{FF2B5EF4-FFF2-40B4-BE49-F238E27FC236}">
                <a16:creationId xmlns:a16="http://schemas.microsoft.com/office/drawing/2014/main" id="{9926F0D6-3D6F-CF88-7E9C-73E88C5C4B26}"/>
              </a:ext>
            </a:extLst>
          </p:cNvPr>
          <p:cNvSpPr>
            <a:spLocks noGrp="1"/>
          </p:cNvSpPr>
          <p:nvPr>
            <p:ph type="body" sz="quarter" idx="14" hasCustomPrompt="1"/>
          </p:nvPr>
        </p:nvSpPr>
        <p:spPr>
          <a:xfrm>
            <a:off x="4488957" y="764155"/>
            <a:ext cx="680279" cy="211011"/>
          </a:xfrm>
        </p:spPr>
        <p:txBody>
          <a:bodyPr anchor="b">
            <a:normAutofit/>
          </a:bodyPr>
          <a:lstStyle>
            <a:lvl1pPr marL="0" indent="0">
              <a:buNone/>
              <a:defRPr sz="662"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ADD TEXT</a:t>
            </a:r>
          </a:p>
        </p:txBody>
      </p:sp>
      <p:sp>
        <p:nvSpPr>
          <p:cNvPr id="16" name="Text Placeholder 6">
            <a:extLst>
              <a:ext uri="{FF2B5EF4-FFF2-40B4-BE49-F238E27FC236}">
                <a16:creationId xmlns:a16="http://schemas.microsoft.com/office/drawing/2014/main" id="{A285DCD4-48AB-6937-6F44-D27E776530CD}"/>
              </a:ext>
            </a:extLst>
          </p:cNvPr>
          <p:cNvSpPr>
            <a:spLocks noGrp="1"/>
          </p:cNvSpPr>
          <p:nvPr>
            <p:ph type="body" sz="quarter" idx="19" hasCustomPrompt="1"/>
          </p:nvPr>
        </p:nvSpPr>
        <p:spPr>
          <a:xfrm>
            <a:off x="4488957" y="959343"/>
            <a:ext cx="680279" cy="310125"/>
          </a:xfrm>
        </p:spPr>
        <p:txBody>
          <a:bodyPr lIns="91440" tIns="0" rIns="91440" bIns="0" anchor="t">
            <a:noAutofit/>
          </a:bodyPr>
          <a:lstStyle>
            <a:lvl1pPr marL="0" indent="0">
              <a:buNone/>
              <a:defRPr sz="2554" b="1" cap="all" baseline="0">
                <a:latin typeface="+mn-lt"/>
              </a:defRPr>
            </a:lvl1pPr>
            <a:lvl2pPr marL="216210" indent="0">
              <a:buNone/>
              <a:defRPr b="1">
                <a:latin typeface="+mj-lt"/>
              </a:defRPr>
            </a:lvl2pPr>
            <a:lvl3pPr marL="432420" indent="0">
              <a:buNone/>
              <a:defRPr b="1">
                <a:latin typeface="+mj-lt"/>
              </a:defRPr>
            </a:lvl3pPr>
            <a:lvl4pPr marL="648630" indent="0">
              <a:buNone/>
              <a:defRPr b="1">
                <a:latin typeface="+mj-lt"/>
              </a:defRPr>
            </a:lvl4pPr>
            <a:lvl5pPr marL="864840" indent="0">
              <a:buNone/>
              <a:defRPr b="1">
                <a:latin typeface="+mj-lt"/>
              </a:defRPr>
            </a:lvl5pPr>
          </a:lstStyle>
          <a:p>
            <a:pPr lvl="0"/>
            <a:r>
              <a:rPr lang="en-US"/>
              <a:t>00</a:t>
            </a:r>
          </a:p>
        </p:txBody>
      </p:sp>
      <p:sp>
        <p:nvSpPr>
          <p:cNvPr id="33" name="Text Placeholder 32">
            <a:extLst>
              <a:ext uri="{FF2B5EF4-FFF2-40B4-BE49-F238E27FC236}">
                <a16:creationId xmlns:a16="http://schemas.microsoft.com/office/drawing/2014/main" id="{8550EAA6-FAF3-B60B-E55B-E2D09B5B32C7}"/>
              </a:ext>
            </a:extLst>
          </p:cNvPr>
          <p:cNvSpPr>
            <a:spLocks noGrp="1"/>
          </p:cNvSpPr>
          <p:nvPr>
            <p:ph type="body" sz="quarter" idx="34" hasCustomPrompt="1"/>
          </p:nvPr>
        </p:nvSpPr>
        <p:spPr>
          <a:xfrm>
            <a:off x="4404400" y="1211411"/>
            <a:ext cx="977094" cy="1279578"/>
          </a:xfrm>
          <a:custGeom>
            <a:avLst/>
            <a:gdLst>
              <a:gd name="connsiteX0" fmla="*/ 0 w 2066101"/>
              <a:gd name="connsiteY0" fmla="*/ 0 h 2704392"/>
              <a:gd name="connsiteX1" fmla="*/ 2066101 w 2066101"/>
              <a:gd name="connsiteY1" fmla="*/ 0 h 2704392"/>
              <a:gd name="connsiteX2" fmla="*/ 2066101 w 2066101"/>
              <a:gd name="connsiteY2" fmla="*/ 2704392 h 2704392"/>
              <a:gd name="connsiteX3" fmla="*/ 0 w 2066101"/>
              <a:gd name="connsiteY3" fmla="*/ 2704392 h 2704392"/>
            </a:gdLst>
            <a:ahLst/>
            <a:cxnLst>
              <a:cxn ang="0">
                <a:pos x="connsiteX0" y="connsiteY0"/>
              </a:cxn>
              <a:cxn ang="0">
                <a:pos x="connsiteX1" y="connsiteY1"/>
              </a:cxn>
              <a:cxn ang="0">
                <a:pos x="connsiteX2" y="connsiteY2"/>
              </a:cxn>
              <a:cxn ang="0">
                <a:pos x="connsiteX3" y="connsiteY3"/>
              </a:cxn>
            </a:cxnLst>
            <a:rect l="l" t="t" r="r" b="b"/>
            <a:pathLst>
              <a:path w="2066101" h="2704392">
                <a:moveTo>
                  <a:pt x="0" y="0"/>
                </a:moveTo>
                <a:lnTo>
                  <a:pt x="2066101" y="0"/>
                </a:lnTo>
                <a:lnTo>
                  <a:pt x="2066101" y="2704392"/>
                </a:lnTo>
                <a:lnTo>
                  <a:pt x="0" y="2704392"/>
                </a:lnTo>
                <a:close/>
              </a:path>
            </a:pathLst>
          </a:custGeom>
          <a:solidFill>
            <a:schemeClr val="tx1">
              <a:lumMod val="75000"/>
              <a:lumOff val="25000"/>
            </a:schemeClr>
          </a:solidFill>
          <a:ln>
            <a:noFill/>
          </a:ln>
          <a:effectLst>
            <a:outerShdw blurRad="50800" dist="508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92608" tIns="822960" rtlCol="0" anchor="t">
            <a:normAutofit/>
          </a:bodyPr>
          <a:lstStyle>
            <a:lvl1pPr marL="0" indent="0" algn="l">
              <a:buFont typeface="Arial" panose="020B0604020202020204" pitchFamily="34" charset="0"/>
              <a:buNone/>
              <a:defRPr lang="en-US" sz="567" dirty="0">
                <a:solidFill>
                  <a:schemeClr val="lt1"/>
                </a:solidFill>
              </a:defRPr>
            </a:lvl1pPr>
          </a:lstStyle>
          <a:p>
            <a:pPr marL="0" lvl="0" algn="ctr"/>
            <a:r>
              <a:rPr lang="en-US"/>
              <a:t>Add text here</a:t>
            </a:r>
          </a:p>
        </p:txBody>
      </p:sp>
      <p:sp>
        <p:nvSpPr>
          <p:cNvPr id="31" name="Picture Placeholder 5">
            <a:extLst>
              <a:ext uri="{FF2B5EF4-FFF2-40B4-BE49-F238E27FC236}">
                <a16:creationId xmlns:a16="http://schemas.microsoft.com/office/drawing/2014/main" id="{BF1B1D02-C803-3AEC-B070-F54F61C0ED50}"/>
              </a:ext>
            </a:extLst>
          </p:cNvPr>
          <p:cNvSpPr>
            <a:spLocks noGrp="1"/>
          </p:cNvSpPr>
          <p:nvPr>
            <p:ph type="pic" sz="quarter" idx="29"/>
          </p:nvPr>
        </p:nvSpPr>
        <p:spPr>
          <a:xfrm>
            <a:off x="4722555" y="2611117"/>
            <a:ext cx="324326" cy="324485"/>
          </a:xfrm>
        </p:spPr>
        <p:txBody>
          <a:bodyPr>
            <a:normAutofit/>
          </a:bodyPr>
          <a:lstStyle>
            <a:lvl1pPr marL="0" indent="0" algn="ctr">
              <a:buNone/>
              <a:defRPr sz="473"/>
            </a:lvl1pPr>
          </a:lstStyle>
          <a:p>
            <a:endParaRPr lang="en-US"/>
          </a:p>
        </p:txBody>
      </p:sp>
      <p:cxnSp>
        <p:nvCxnSpPr>
          <p:cNvPr id="3" name="Straight Connector 2">
            <a:extLst>
              <a:ext uri="{FF2B5EF4-FFF2-40B4-BE49-F238E27FC236}">
                <a16:creationId xmlns:a16="http://schemas.microsoft.com/office/drawing/2014/main" id="{73030AAA-2CDD-F298-9062-1132B681919B}"/>
              </a:ext>
              <a:ext uri="{C183D7F6-B498-43B3-948B-1728B52AA6E4}">
                <adec:decorative xmlns:adec="http://schemas.microsoft.com/office/drawing/2017/decorative" val="1"/>
              </a:ext>
            </a:extLst>
          </p:cNvPr>
          <p:cNvCxnSpPr>
            <a:cxnSpLocks/>
          </p:cNvCxnSpPr>
          <p:nvPr userDrawn="1"/>
        </p:nvCxnSpPr>
        <p:spPr>
          <a:xfrm>
            <a:off x="1381158"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46D0763-9E6E-FF42-0267-56F3338C0975}"/>
              </a:ext>
              <a:ext uri="{C183D7F6-B498-43B3-948B-1728B52AA6E4}">
                <adec:decorative xmlns:adec="http://schemas.microsoft.com/office/drawing/2017/decorative" val="1"/>
              </a:ext>
            </a:extLst>
          </p:cNvPr>
          <p:cNvCxnSpPr>
            <a:cxnSpLocks/>
          </p:cNvCxnSpPr>
          <p:nvPr userDrawn="1"/>
        </p:nvCxnSpPr>
        <p:spPr>
          <a:xfrm>
            <a:off x="3387792"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F6EBB92-E236-06E9-FC5C-300CD3E9807D}"/>
              </a:ext>
              <a:ext uri="{C183D7F6-B498-43B3-948B-1728B52AA6E4}">
                <adec:decorative xmlns:adec="http://schemas.microsoft.com/office/drawing/2017/decorative" val="1"/>
              </a:ext>
            </a:extLst>
          </p:cNvPr>
          <p:cNvCxnSpPr>
            <a:cxnSpLocks/>
          </p:cNvCxnSpPr>
          <p:nvPr userDrawn="1"/>
        </p:nvCxnSpPr>
        <p:spPr>
          <a:xfrm>
            <a:off x="4390732"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49919DC-1013-927F-4E81-1EBFB7517122}"/>
              </a:ext>
              <a:ext uri="{C183D7F6-B498-43B3-948B-1728B52AA6E4}">
                <adec:decorative xmlns:adec="http://schemas.microsoft.com/office/drawing/2017/decorative" val="1"/>
              </a:ext>
            </a:extLst>
          </p:cNvPr>
          <p:cNvCxnSpPr>
            <a:cxnSpLocks/>
          </p:cNvCxnSpPr>
          <p:nvPr userDrawn="1"/>
        </p:nvCxnSpPr>
        <p:spPr>
          <a:xfrm>
            <a:off x="2385605" y="635630"/>
            <a:ext cx="0" cy="23952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CFA93D-825C-5D1C-6391-7C5F1C82D4B0}"/>
              </a:ext>
              <a:ext uri="{C183D7F6-B498-43B3-948B-1728B52AA6E4}">
                <adec:decorative xmlns:adec="http://schemas.microsoft.com/office/drawing/2017/decorative" val="1"/>
              </a:ext>
            </a:extLst>
          </p:cNvPr>
          <p:cNvCxnSpPr/>
          <p:nvPr userDrawn="1"/>
        </p:nvCxnSpPr>
        <p:spPr>
          <a:xfrm flipV="1">
            <a:off x="363966" y="2554712"/>
            <a:ext cx="503354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826202"/>
      </p:ext>
    </p:extLst>
  </p:cSld>
  <p:clrMapOvr>
    <a:masterClrMapping/>
  </p:clrMapOvr>
  <p:extLst>
    <p:ext uri="{DCECCB84-F9BA-43D5-87BE-67443E8EF086}">
      <p15:sldGuideLst xmlns:p15="http://schemas.microsoft.com/office/powerpoint/2012/main">
        <p15:guide id="1" orient="horz" pos="1022" userDrawn="1">
          <p15:clr>
            <a:srgbClr val="FBAE40"/>
          </p15:clr>
        </p15:guide>
        <p15:guide id="2" pos="181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6" cstate="print"/>
          <a:stretch>
            <a:fillRect/>
          </a:stretch>
        </p:blipFill>
        <p:spPr>
          <a:xfrm>
            <a:off x="345579" y="3"/>
            <a:ext cx="518378" cy="617051"/>
          </a:xfrm>
          <a:prstGeom prst="rect">
            <a:avLst/>
          </a:prstGeom>
        </p:spPr>
      </p:pic>
      <p:sp>
        <p:nvSpPr>
          <p:cNvPr id="2" name="Holder 2"/>
          <p:cNvSpPr>
            <a:spLocks noGrp="1"/>
          </p:cNvSpPr>
          <p:nvPr>
            <p:ph type="title"/>
          </p:nvPr>
        </p:nvSpPr>
        <p:spPr>
          <a:xfrm>
            <a:off x="1067295" y="252930"/>
            <a:ext cx="2432685" cy="369570"/>
          </a:xfrm>
          <a:prstGeom prst="rect">
            <a:avLst/>
          </a:prstGeom>
        </p:spPr>
        <p:txBody>
          <a:bodyPr wrap="square" lIns="0" tIns="0" rIns="0" bIns="0">
            <a:spAutoFit/>
          </a:bodyPr>
          <a:lstStyle>
            <a:lvl1pPr>
              <a:defRPr sz="1400" b="1" i="0">
                <a:solidFill>
                  <a:srgbClr val="812433"/>
                </a:solidFill>
                <a:latin typeface="Calibri"/>
                <a:cs typeface="Calibri"/>
              </a:defRPr>
            </a:lvl1pPr>
          </a:lstStyle>
          <a:p>
            <a:endParaRPr/>
          </a:p>
        </p:txBody>
      </p:sp>
      <p:sp>
        <p:nvSpPr>
          <p:cNvPr id="3" name="Holder 3"/>
          <p:cNvSpPr>
            <a:spLocks noGrp="1"/>
          </p:cNvSpPr>
          <p:nvPr>
            <p:ph type="body" idx="1"/>
          </p:nvPr>
        </p:nvSpPr>
        <p:spPr>
          <a:xfrm>
            <a:off x="347294" y="656118"/>
            <a:ext cx="5071211" cy="2200275"/>
          </a:xfrm>
          <a:prstGeom prst="rect">
            <a:avLst/>
          </a:prstGeom>
        </p:spPr>
        <p:txBody>
          <a:bodyPr wrap="square" lIns="0" tIns="0" rIns="0" bIns="0">
            <a:spAutoFit/>
          </a:bodyPr>
          <a:lstStyle>
            <a:lvl1pPr>
              <a:defRPr sz="1200" b="1" i="0">
                <a:solidFill>
                  <a:schemeClr val="bg1"/>
                </a:solidFill>
                <a:latin typeface="Calibri"/>
                <a:cs typeface="Calibri"/>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10/19/2026</a:t>
            </a:fld>
            <a:endParaRPr lang="en-US"/>
          </a:p>
        </p:txBody>
      </p:sp>
      <p:sp>
        <p:nvSpPr>
          <p:cNvPr id="6" name="Holder 6"/>
          <p:cNvSpPr>
            <a:spLocks noGrp="1"/>
          </p:cNvSpPr>
          <p:nvPr>
            <p:ph type="sldNum" sz="quarter" idx="7"/>
          </p:nvPr>
        </p:nvSpPr>
        <p:spPr>
          <a:xfrm>
            <a:off x="321894" y="3016594"/>
            <a:ext cx="273684" cy="154305"/>
          </a:xfrm>
          <a:prstGeom prst="rect">
            <a:avLst/>
          </a:prstGeom>
        </p:spPr>
        <p:txBody>
          <a:bodyPr wrap="square" lIns="0" tIns="0" rIns="0" bIns="0">
            <a:spAutoFit/>
          </a:bodyPr>
          <a:lstStyle>
            <a:lvl1pPr>
              <a:defRPr sz="800" b="0" i="0">
                <a:solidFill>
                  <a:srgbClr val="3F3F3F"/>
                </a:solidFill>
                <a:latin typeface="Calibri"/>
                <a:cs typeface="Calibri"/>
              </a:defRPr>
            </a:lvl1pPr>
          </a:lstStyle>
          <a:p>
            <a:pPr marL="38100">
              <a:lnSpc>
                <a:spcPct val="100000"/>
              </a:lnSpc>
              <a:spcBef>
                <a:spcPts val="105"/>
              </a:spcBef>
            </a:pPr>
            <a:fld id="{81D60167-4931-47E6-BA6A-407CBD079E47}" type="slidenum">
              <a:rPr spc="-20" dirty="0">
                <a:solidFill>
                  <a:srgbClr val="FFFFFF"/>
                </a:solidFill>
              </a:rPr>
              <a:t>‹N›</a:t>
            </a:fld>
            <a:r>
              <a:rPr spc="-20">
                <a:solidFill>
                  <a:srgbClr val="FFFFFF"/>
                </a:solidFill>
              </a:rPr>
              <a:t>/27</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72" r:id="rId12"/>
    <p:sldLayoutId id="2147483673" r:id="rId13"/>
    <p:sldLayoutId id="2147483674" r:id="rId14"/>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hyperlink" Target="https://blog.csdn.net/FrontAI/article/details/16041890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comments" Target="../comments/comment1.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149" y="641165"/>
            <a:ext cx="3096260" cy="419923"/>
          </a:xfrm>
          <a:prstGeom prst="rect">
            <a:avLst/>
          </a:prstGeom>
        </p:spPr>
        <p:txBody>
          <a:bodyPr vert="horz" wrap="square" lIns="0" tIns="57785" rIns="0" bIns="0" rtlCol="0" anchor="t">
            <a:spAutoFit/>
          </a:bodyPr>
          <a:lstStyle/>
          <a:p>
            <a:pPr marL="12700" marR="5080">
              <a:lnSpc>
                <a:spcPts val="1350"/>
              </a:lnSpc>
              <a:spcBef>
                <a:spcPts val="455"/>
              </a:spcBef>
            </a:pPr>
            <a:r>
              <a:rPr spc="-10" dirty="0"/>
              <a:t>Multi-</a:t>
            </a:r>
            <a:r>
              <a:rPr dirty="0"/>
              <a:t>Agent</a:t>
            </a:r>
            <a:r>
              <a:rPr spc="65" dirty="0"/>
              <a:t> </a:t>
            </a:r>
            <a:r>
              <a:rPr lang="it-IT" dirty="0" err="1"/>
              <a:t>Decision</a:t>
            </a:r>
            <a:r>
              <a:rPr lang="it-IT" dirty="0"/>
              <a:t> Support System for Space Mission Operations</a:t>
            </a:r>
            <a:endParaRPr lang="en-US" spc="15" dirty="0">
              <a:ea typeface="Calibri"/>
            </a:endParaRPr>
          </a:p>
        </p:txBody>
      </p:sp>
      <p:sp>
        <p:nvSpPr>
          <p:cNvPr id="3" name="object 3"/>
          <p:cNvSpPr txBox="1"/>
          <p:nvPr/>
        </p:nvSpPr>
        <p:spPr>
          <a:xfrm>
            <a:off x="361149" y="1376632"/>
            <a:ext cx="1551305" cy="515782"/>
          </a:xfrm>
          <a:prstGeom prst="rect">
            <a:avLst/>
          </a:prstGeom>
        </p:spPr>
        <p:txBody>
          <a:bodyPr vert="horz" wrap="square" lIns="0" tIns="6350" rIns="0" bIns="0" rtlCol="0" anchor="t">
            <a:spAutoFit/>
          </a:bodyPr>
          <a:lstStyle/>
          <a:p>
            <a:pPr marL="12700" marR="5080">
              <a:lnSpc>
                <a:spcPct val="130100"/>
              </a:lnSpc>
              <a:spcBef>
                <a:spcPts val="50"/>
              </a:spcBef>
            </a:pPr>
            <a:r>
              <a:rPr sz="900" spc="-10" dirty="0">
                <a:solidFill>
                  <a:srgbClr val="812433"/>
                </a:solidFill>
                <a:latin typeface="Calibri"/>
                <a:cs typeface="Calibri"/>
              </a:rPr>
              <a:t>Master’s</a:t>
            </a:r>
            <a:r>
              <a:rPr sz="900" spc="-15" dirty="0">
                <a:solidFill>
                  <a:srgbClr val="812433"/>
                </a:solidFill>
                <a:latin typeface="Calibri"/>
                <a:cs typeface="Calibri"/>
              </a:rPr>
              <a:t> </a:t>
            </a:r>
            <a:r>
              <a:rPr sz="900" dirty="0">
                <a:solidFill>
                  <a:srgbClr val="812433"/>
                </a:solidFill>
                <a:latin typeface="Calibri"/>
                <a:cs typeface="Calibri"/>
              </a:rPr>
              <a:t>Degree</a:t>
            </a:r>
            <a:r>
              <a:rPr sz="900" spc="-20" dirty="0">
                <a:solidFill>
                  <a:srgbClr val="812433"/>
                </a:solidFill>
                <a:latin typeface="Calibri"/>
                <a:cs typeface="Calibri"/>
              </a:rPr>
              <a:t> </a:t>
            </a:r>
            <a:r>
              <a:rPr sz="900" dirty="0">
                <a:solidFill>
                  <a:srgbClr val="812433"/>
                </a:solidFill>
                <a:latin typeface="Calibri"/>
                <a:cs typeface="Calibri"/>
              </a:rPr>
              <a:t>in</a:t>
            </a:r>
            <a:r>
              <a:rPr sz="900" spc="-15" dirty="0">
                <a:solidFill>
                  <a:srgbClr val="812433"/>
                </a:solidFill>
                <a:latin typeface="Calibri"/>
                <a:cs typeface="Calibri"/>
              </a:rPr>
              <a:t> </a:t>
            </a:r>
            <a:r>
              <a:rPr lang="it-IT" sz="900" spc="-10" dirty="0">
                <a:solidFill>
                  <a:srgbClr val="812433"/>
                </a:solidFill>
                <a:latin typeface="Calibri"/>
                <a:cs typeface="Calibri"/>
              </a:rPr>
              <a:t>AI &amp; </a:t>
            </a:r>
            <a:r>
              <a:rPr lang="it-IT" sz="900" spc="-10" dirty="0" err="1">
                <a:solidFill>
                  <a:srgbClr val="812433"/>
                </a:solidFill>
                <a:latin typeface="Calibri"/>
                <a:cs typeface="Calibri"/>
              </a:rPr>
              <a:t>Robotics</a:t>
            </a:r>
            <a:r>
              <a:rPr sz="900" spc="500" dirty="0">
                <a:solidFill>
                  <a:srgbClr val="812433"/>
                </a:solidFill>
                <a:latin typeface="Calibri"/>
                <a:cs typeface="Calibri"/>
              </a:rPr>
              <a:t> </a:t>
            </a:r>
            <a:r>
              <a:rPr lang="it-IT" sz="800" b="1" dirty="0">
                <a:latin typeface="Calibri"/>
                <a:cs typeface="Calibri"/>
              </a:rPr>
              <a:t>Antonio Lissa Lattanzio </a:t>
            </a:r>
            <a:r>
              <a:rPr sz="800" spc="-10" dirty="0">
                <a:latin typeface="Calibri"/>
                <a:cs typeface="Calibri"/>
              </a:rPr>
              <a:t>(215</a:t>
            </a:r>
            <a:r>
              <a:rPr lang="it-IT" sz="800" spc="-10" dirty="0">
                <a:latin typeface="Calibri"/>
                <a:cs typeface="Calibri"/>
              </a:rPr>
              <a:t>4208</a:t>
            </a:r>
            <a:r>
              <a:rPr sz="800" spc="-10" dirty="0">
                <a:latin typeface="Calibri"/>
                <a:cs typeface="Calibri"/>
              </a:rPr>
              <a:t>)</a:t>
            </a:r>
            <a:endParaRPr sz="800" dirty="0">
              <a:latin typeface="Calibri"/>
              <a:cs typeface="Calibri"/>
            </a:endParaRPr>
          </a:p>
          <a:p>
            <a:pPr marL="12700">
              <a:lnSpc>
                <a:spcPct val="100000"/>
              </a:lnSpc>
              <a:spcBef>
                <a:spcPts val="595"/>
              </a:spcBef>
            </a:pPr>
            <a:r>
              <a:rPr sz="600" dirty="0">
                <a:latin typeface="Calibri"/>
                <a:cs typeface="Calibri"/>
              </a:rPr>
              <a:t>Academic</a:t>
            </a:r>
            <a:r>
              <a:rPr sz="600" spc="-20" dirty="0">
                <a:latin typeface="Calibri"/>
                <a:cs typeface="Calibri"/>
              </a:rPr>
              <a:t> </a:t>
            </a:r>
            <a:r>
              <a:rPr sz="600" spc="-10" dirty="0">
                <a:latin typeface="Calibri"/>
                <a:cs typeface="Calibri"/>
              </a:rPr>
              <a:t>Year</a:t>
            </a:r>
            <a:r>
              <a:rPr sz="600" spc="-15" dirty="0">
                <a:latin typeface="Calibri"/>
                <a:cs typeface="Calibri"/>
              </a:rPr>
              <a:t> </a:t>
            </a:r>
            <a:r>
              <a:rPr sz="600" spc="-10" dirty="0">
                <a:latin typeface="Calibri"/>
                <a:cs typeface="Calibri"/>
              </a:rPr>
              <a:t>202</a:t>
            </a:r>
            <a:r>
              <a:rPr lang="it-IT" sz="600" spc="-10" dirty="0">
                <a:latin typeface="Calibri"/>
                <a:cs typeface="Calibri"/>
              </a:rPr>
              <a:t>5</a:t>
            </a:r>
            <a:r>
              <a:rPr sz="600" spc="-10" dirty="0">
                <a:latin typeface="Calibri"/>
                <a:cs typeface="Calibri"/>
              </a:rPr>
              <a:t>/202</a:t>
            </a:r>
            <a:r>
              <a:rPr lang="it-IT" sz="600" spc="-10" dirty="0">
                <a:latin typeface="Calibri"/>
                <a:cs typeface="Calibri"/>
              </a:rPr>
              <a:t>6</a:t>
            </a:r>
            <a:endParaRPr sz="600" dirty="0">
              <a:latin typeface="Calibri"/>
              <a:cs typeface="Calibri"/>
            </a:endParaRPr>
          </a:p>
        </p:txBody>
      </p:sp>
      <p:sp>
        <p:nvSpPr>
          <p:cNvPr id="4" name="TextBox 3">
            <a:extLst>
              <a:ext uri="{FF2B5EF4-FFF2-40B4-BE49-F238E27FC236}">
                <a16:creationId xmlns:a16="http://schemas.microsoft.com/office/drawing/2014/main" id="{CA7B287B-7242-39E5-4FBC-6D822E97A784}"/>
              </a:ext>
            </a:extLst>
          </p:cNvPr>
          <p:cNvSpPr txBox="1"/>
          <p:nvPr/>
        </p:nvSpPr>
        <p:spPr>
          <a:xfrm>
            <a:off x="225940" y="2679485"/>
            <a:ext cx="15919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t>Advisor</a:t>
            </a:r>
            <a:r>
              <a:rPr lang="en-US" sz="600" dirty="0"/>
              <a:t> </a:t>
            </a:r>
          </a:p>
          <a:p>
            <a:r>
              <a:rPr lang="en-US" sz="600" dirty="0"/>
              <a:t>Prof. Danilo </a:t>
            </a:r>
            <a:r>
              <a:rPr lang="en-US" sz="600" dirty="0" err="1"/>
              <a:t>Comminiello</a:t>
            </a:r>
            <a:endParaRPr lang="en-US" sz="600" dirty="0">
              <a:solidFill>
                <a:srgbClr val="000000"/>
              </a:solidFill>
            </a:endParaRPr>
          </a:p>
        </p:txBody>
      </p:sp>
      <p:sp>
        <p:nvSpPr>
          <p:cNvPr id="5" name="TextBox 4">
            <a:extLst>
              <a:ext uri="{FF2B5EF4-FFF2-40B4-BE49-F238E27FC236}">
                <a16:creationId xmlns:a16="http://schemas.microsoft.com/office/drawing/2014/main" id="{6E0C9956-11E6-C3CD-2301-BD9071AC965F}"/>
              </a:ext>
            </a:extLst>
          </p:cNvPr>
          <p:cNvSpPr txBox="1"/>
          <p:nvPr/>
        </p:nvSpPr>
        <p:spPr>
          <a:xfrm>
            <a:off x="1706038" y="2679542"/>
            <a:ext cx="1357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t>Co-Advisor</a:t>
            </a:r>
            <a:endParaRPr lang="en-US" sz="600" b="1" dirty="0">
              <a:solidFill>
                <a:srgbClr val="000000"/>
              </a:solidFill>
            </a:endParaRPr>
          </a:p>
          <a:p>
            <a:r>
              <a:rPr lang="en-US" sz="600" dirty="0"/>
              <a:t>Daniele </a:t>
            </a:r>
            <a:r>
              <a:rPr lang="en-US" sz="600" dirty="0" err="1"/>
              <a:t>Baldassini</a:t>
            </a:r>
            <a:endParaRPr lang="en-US" sz="600" dirty="0">
              <a:solidFill>
                <a:srgbClr val="000000"/>
              </a:solidFill>
            </a:endParaRPr>
          </a:p>
        </p:txBody>
      </p:sp>
      <p:pic>
        <p:nvPicPr>
          <p:cNvPr id="7" name="Immagine 6">
            <a:extLst>
              <a:ext uri="{FF2B5EF4-FFF2-40B4-BE49-F238E27FC236}">
                <a16:creationId xmlns:a16="http://schemas.microsoft.com/office/drawing/2014/main" id="{6A88D24B-1374-44BC-BCD4-84EC2AF0D4D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729" t="36380" r="7653" b="43546"/>
          <a:stretch/>
        </p:blipFill>
        <p:spPr>
          <a:xfrm>
            <a:off x="361149" y="192660"/>
            <a:ext cx="1274985" cy="313593"/>
          </a:xfrm>
          <a:prstGeom prst="rect">
            <a:avLst/>
          </a:prstGeom>
        </p:spPr>
      </p:pic>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531172-F094-0E42-2F93-64AA2DC8F070}"/>
              </a:ext>
            </a:extLst>
          </p:cNvPr>
          <p:cNvGrpSpPr/>
          <p:nvPr/>
        </p:nvGrpSpPr>
        <p:grpSpPr>
          <a:xfrm>
            <a:off x="660207" y="1248423"/>
            <a:ext cx="4170592" cy="1303011"/>
            <a:chOff x="1683152" y="2210302"/>
            <a:chExt cx="8818873" cy="2755265"/>
          </a:xfrm>
        </p:grpSpPr>
        <p:sp>
          <p:nvSpPr>
            <p:cNvPr id="3" name="Shape">
              <a:extLst>
                <a:ext uri="{FF2B5EF4-FFF2-40B4-BE49-F238E27FC236}">
                  <a16:creationId xmlns:a16="http://schemas.microsoft.com/office/drawing/2014/main" id="{0A626A05-316A-3D03-628A-219F80079ABC}"/>
                </a:ext>
              </a:extLst>
            </p:cNvPr>
            <p:cNvSpPr/>
            <p:nvPr/>
          </p:nvSpPr>
          <p:spPr>
            <a:xfrm>
              <a:off x="2492478" y="2210302"/>
              <a:ext cx="1597106"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2">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4" name="Shape">
              <a:extLst>
                <a:ext uri="{FF2B5EF4-FFF2-40B4-BE49-F238E27FC236}">
                  <a16:creationId xmlns:a16="http://schemas.microsoft.com/office/drawing/2014/main" id="{EEFACBA1-2303-B3F1-6EC3-9EFEA7FE5BFA}"/>
                </a:ext>
              </a:extLst>
            </p:cNvPr>
            <p:cNvSpPr/>
            <p:nvPr/>
          </p:nvSpPr>
          <p:spPr>
            <a:xfrm>
              <a:off x="1744883"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 name="Shape">
              <a:extLst>
                <a:ext uri="{FF2B5EF4-FFF2-40B4-BE49-F238E27FC236}">
                  <a16:creationId xmlns:a16="http://schemas.microsoft.com/office/drawing/2014/main" id="{0FD2F78D-3711-CACD-6456-48E84ECC27B3}"/>
                </a:ext>
              </a:extLst>
            </p:cNvPr>
            <p:cNvSpPr/>
            <p:nvPr/>
          </p:nvSpPr>
          <p:spPr>
            <a:xfrm>
              <a:off x="4385565" y="2210302"/>
              <a:ext cx="1597108"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4">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 name="Shape">
              <a:extLst>
                <a:ext uri="{FF2B5EF4-FFF2-40B4-BE49-F238E27FC236}">
                  <a16:creationId xmlns:a16="http://schemas.microsoft.com/office/drawing/2014/main" id="{67357D14-84F5-B9D9-55B5-8A0EA59EF06D}"/>
                </a:ext>
              </a:extLst>
            </p:cNvPr>
            <p:cNvSpPr/>
            <p:nvPr/>
          </p:nvSpPr>
          <p:spPr>
            <a:xfrm>
              <a:off x="3624216"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 name="Shape">
              <a:extLst>
                <a:ext uri="{FF2B5EF4-FFF2-40B4-BE49-F238E27FC236}">
                  <a16:creationId xmlns:a16="http://schemas.microsoft.com/office/drawing/2014/main" id="{386A9F83-B52A-11A7-83E9-A8466509C4EA}"/>
                </a:ext>
              </a:extLst>
            </p:cNvPr>
            <p:cNvSpPr/>
            <p:nvPr/>
          </p:nvSpPr>
          <p:spPr>
            <a:xfrm>
              <a:off x="6258074" y="2210302"/>
              <a:ext cx="1597108"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5">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8" name="Shape">
              <a:extLst>
                <a:ext uri="{FF2B5EF4-FFF2-40B4-BE49-F238E27FC236}">
                  <a16:creationId xmlns:a16="http://schemas.microsoft.com/office/drawing/2014/main" id="{F36A582B-7F1E-9CEC-2D07-3D8E2FA9F203}"/>
                </a:ext>
              </a:extLst>
            </p:cNvPr>
            <p:cNvSpPr/>
            <p:nvPr/>
          </p:nvSpPr>
          <p:spPr>
            <a:xfrm>
              <a:off x="5511011"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 name="Shape">
              <a:extLst>
                <a:ext uri="{FF2B5EF4-FFF2-40B4-BE49-F238E27FC236}">
                  <a16:creationId xmlns:a16="http://schemas.microsoft.com/office/drawing/2014/main" id="{1F696A37-63DF-EF18-0EDD-989700FE75BC}"/>
                </a:ext>
              </a:extLst>
            </p:cNvPr>
            <p:cNvSpPr/>
            <p:nvPr/>
          </p:nvSpPr>
          <p:spPr>
            <a:xfrm>
              <a:off x="8130583" y="2210302"/>
              <a:ext cx="1597108" cy="2755265"/>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3">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 name="Shape">
              <a:extLst>
                <a:ext uri="{FF2B5EF4-FFF2-40B4-BE49-F238E27FC236}">
                  <a16:creationId xmlns:a16="http://schemas.microsoft.com/office/drawing/2014/main" id="{FFB164F3-679E-C00C-76AD-2BB42314CA30}"/>
                </a:ext>
              </a:extLst>
            </p:cNvPr>
            <p:cNvSpPr/>
            <p:nvPr/>
          </p:nvSpPr>
          <p:spPr>
            <a:xfrm>
              <a:off x="7389812"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 name="Shape">
              <a:extLst>
                <a:ext uri="{FF2B5EF4-FFF2-40B4-BE49-F238E27FC236}">
                  <a16:creationId xmlns:a16="http://schemas.microsoft.com/office/drawing/2014/main" id="{CA3413CC-9427-DD1F-9D3B-7DAFDFCB3FCC}"/>
                </a:ext>
              </a:extLst>
            </p:cNvPr>
            <p:cNvSpPr/>
            <p:nvPr/>
          </p:nvSpPr>
          <p:spPr>
            <a:xfrm>
              <a:off x="9257559" y="2210302"/>
              <a:ext cx="1218165" cy="2755265"/>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2" name="Freeform: Shape 11">
              <a:extLst>
                <a:ext uri="{FF2B5EF4-FFF2-40B4-BE49-F238E27FC236}">
                  <a16:creationId xmlns:a16="http://schemas.microsoft.com/office/drawing/2014/main" id="{85C80983-4E71-D0E9-0239-F61A10C5E5FA}"/>
                </a:ext>
              </a:extLst>
            </p:cNvPr>
            <p:cNvSpPr/>
            <p:nvPr/>
          </p:nvSpPr>
          <p:spPr>
            <a:xfrm>
              <a:off x="1884441" y="4104152"/>
              <a:ext cx="757637" cy="830553"/>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3" name="Freeform: Shape 12">
              <a:extLst>
                <a:ext uri="{FF2B5EF4-FFF2-40B4-BE49-F238E27FC236}">
                  <a16:creationId xmlns:a16="http://schemas.microsoft.com/office/drawing/2014/main" id="{87E184C9-1C35-CBE9-01E2-C86A64440F1D}"/>
                </a:ext>
              </a:extLst>
            </p:cNvPr>
            <p:cNvSpPr/>
            <p:nvPr/>
          </p:nvSpPr>
          <p:spPr>
            <a:xfrm>
              <a:off x="3765736" y="4092046"/>
              <a:ext cx="757637" cy="83964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4" name="Freeform: Shape 13">
              <a:extLst>
                <a:ext uri="{FF2B5EF4-FFF2-40B4-BE49-F238E27FC236}">
                  <a16:creationId xmlns:a16="http://schemas.microsoft.com/office/drawing/2014/main" id="{82BEC7CF-FF2B-0E74-7825-39E317D9484C}"/>
                </a:ext>
              </a:extLst>
            </p:cNvPr>
            <p:cNvSpPr/>
            <p:nvPr/>
          </p:nvSpPr>
          <p:spPr>
            <a:xfrm>
              <a:off x="5650896" y="4102138"/>
              <a:ext cx="757637" cy="832066"/>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5" name="Freeform: Shape 14">
              <a:extLst>
                <a:ext uri="{FF2B5EF4-FFF2-40B4-BE49-F238E27FC236}">
                  <a16:creationId xmlns:a16="http://schemas.microsoft.com/office/drawing/2014/main" id="{45087047-6811-DECA-445A-971696D4826B}"/>
                </a:ext>
              </a:extLst>
            </p:cNvPr>
            <p:cNvSpPr/>
            <p:nvPr/>
          </p:nvSpPr>
          <p:spPr>
            <a:xfrm>
              <a:off x="7529448" y="4103675"/>
              <a:ext cx="757637" cy="83091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6" name="Freeform: Shape 15">
              <a:extLst>
                <a:ext uri="{FF2B5EF4-FFF2-40B4-BE49-F238E27FC236}">
                  <a16:creationId xmlns:a16="http://schemas.microsoft.com/office/drawing/2014/main" id="{4D88A354-C177-BBCE-C86B-F9C351E899EF}"/>
                </a:ext>
              </a:extLst>
            </p:cNvPr>
            <p:cNvSpPr/>
            <p:nvPr/>
          </p:nvSpPr>
          <p:spPr>
            <a:xfrm>
              <a:off x="9398384" y="4096334"/>
              <a:ext cx="757637" cy="836421"/>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7" name="Shape">
              <a:extLst>
                <a:ext uri="{FF2B5EF4-FFF2-40B4-BE49-F238E27FC236}">
                  <a16:creationId xmlns:a16="http://schemas.microsoft.com/office/drawing/2014/main" id="{DB845F88-8E4F-B121-E499-5633C00D111F}"/>
                </a:ext>
              </a:extLst>
            </p:cNvPr>
            <p:cNvSpPr/>
            <p:nvPr/>
          </p:nvSpPr>
          <p:spPr>
            <a:xfrm>
              <a:off x="1683152" y="2992229"/>
              <a:ext cx="1301437"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8" name="Shape">
              <a:extLst>
                <a:ext uri="{FF2B5EF4-FFF2-40B4-BE49-F238E27FC236}">
                  <a16:creationId xmlns:a16="http://schemas.microsoft.com/office/drawing/2014/main" id="{626FDCEF-B3C1-7087-DFFD-433A6A8A5289}"/>
                </a:ext>
              </a:extLst>
            </p:cNvPr>
            <p:cNvSpPr/>
            <p:nvPr/>
          </p:nvSpPr>
          <p:spPr>
            <a:xfrm>
              <a:off x="1786037" y="3095116"/>
              <a:ext cx="1109926"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9" name="Shape">
              <a:extLst>
                <a:ext uri="{FF2B5EF4-FFF2-40B4-BE49-F238E27FC236}">
                  <a16:creationId xmlns:a16="http://schemas.microsoft.com/office/drawing/2014/main" id="{FF0C8A74-CB68-0765-B7B4-2003E1969042}"/>
                </a:ext>
              </a:extLst>
            </p:cNvPr>
            <p:cNvSpPr/>
            <p:nvPr/>
          </p:nvSpPr>
          <p:spPr>
            <a:xfrm>
              <a:off x="3583061" y="2992229"/>
              <a:ext cx="1301437"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0" name="Shape">
              <a:extLst>
                <a:ext uri="{FF2B5EF4-FFF2-40B4-BE49-F238E27FC236}">
                  <a16:creationId xmlns:a16="http://schemas.microsoft.com/office/drawing/2014/main" id="{5F2B16CA-A5C6-DD0F-D2C7-603FA3163F04}"/>
                </a:ext>
              </a:extLst>
            </p:cNvPr>
            <p:cNvSpPr/>
            <p:nvPr/>
          </p:nvSpPr>
          <p:spPr>
            <a:xfrm>
              <a:off x="3665370" y="3095116"/>
              <a:ext cx="1109921"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1" name="Shape">
              <a:extLst>
                <a:ext uri="{FF2B5EF4-FFF2-40B4-BE49-F238E27FC236}">
                  <a16:creationId xmlns:a16="http://schemas.microsoft.com/office/drawing/2014/main" id="{ED968B0C-8020-388F-DC3A-81C58552686F}"/>
                </a:ext>
              </a:extLst>
            </p:cNvPr>
            <p:cNvSpPr/>
            <p:nvPr/>
          </p:nvSpPr>
          <p:spPr>
            <a:xfrm>
              <a:off x="5455571" y="2992229"/>
              <a:ext cx="1301435"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2" name="Shape">
              <a:extLst>
                <a:ext uri="{FF2B5EF4-FFF2-40B4-BE49-F238E27FC236}">
                  <a16:creationId xmlns:a16="http://schemas.microsoft.com/office/drawing/2014/main" id="{74D199CC-CFA9-9861-FD41-F7766FC245FB}"/>
                </a:ext>
              </a:extLst>
            </p:cNvPr>
            <p:cNvSpPr/>
            <p:nvPr/>
          </p:nvSpPr>
          <p:spPr>
            <a:xfrm>
              <a:off x="5537880" y="3095116"/>
              <a:ext cx="1109921"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3" name="Shape">
              <a:extLst>
                <a:ext uri="{FF2B5EF4-FFF2-40B4-BE49-F238E27FC236}">
                  <a16:creationId xmlns:a16="http://schemas.microsoft.com/office/drawing/2014/main" id="{558296EA-E9C0-3893-9F39-B3EDCE1A85F2}"/>
                </a:ext>
              </a:extLst>
            </p:cNvPr>
            <p:cNvSpPr/>
            <p:nvPr/>
          </p:nvSpPr>
          <p:spPr>
            <a:xfrm>
              <a:off x="7328081" y="2992229"/>
              <a:ext cx="1301435"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4" name="Shape">
              <a:extLst>
                <a:ext uri="{FF2B5EF4-FFF2-40B4-BE49-F238E27FC236}">
                  <a16:creationId xmlns:a16="http://schemas.microsoft.com/office/drawing/2014/main" id="{6B33D7EF-A9B8-C1FA-5D06-3630E097B8F6}"/>
                </a:ext>
              </a:extLst>
            </p:cNvPr>
            <p:cNvSpPr/>
            <p:nvPr/>
          </p:nvSpPr>
          <p:spPr>
            <a:xfrm>
              <a:off x="7430966" y="3095116"/>
              <a:ext cx="1109921" cy="1145533"/>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5" name="Shape">
              <a:extLst>
                <a:ext uri="{FF2B5EF4-FFF2-40B4-BE49-F238E27FC236}">
                  <a16:creationId xmlns:a16="http://schemas.microsoft.com/office/drawing/2014/main" id="{A447F9FC-9FEA-A105-47D0-9C74099CFD7C}"/>
                </a:ext>
              </a:extLst>
            </p:cNvPr>
            <p:cNvSpPr/>
            <p:nvPr/>
          </p:nvSpPr>
          <p:spPr>
            <a:xfrm>
              <a:off x="9200590" y="2992229"/>
              <a:ext cx="1301435" cy="1345131"/>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6" name="Shape">
              <a:extLst>
                <a:ext uri="{FF2B5EF4-FFF2-40B4-BE49-F238E27FC236}">
                  <a16:creationId xmlns:a16="http://schemas.microsoft.com/office/drawing/2014/main" id="{BAB6186A-89C1-03C4-3682-EBCFFC630FA8}"/>
                </a:ext>
              </a:extLst>
            </p:cNvPr>
            <p:cNvSpPr/>
            <p:nvPr/>
          </p:nvSpPr>
          <p:spPr>
            <a:xfrm>
              <a:off x="3192099" y="3486079"/>
              <a:ext cx="234256"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7" name="Shape">
              <a:extLst>
                <a:ext uri="{FF2B5EF4-FFF2-40B4-BE49-F238E27FC236}">
                  <a16:creationId xmlns:a16="http://schemas.microsoft.com/office/drawing/2014/main" id="{7164A9A6-AADC-E1C0-447C-2B37F122309C}"/>
                </a:ext>
              </a:extLst>
            </p:cNvPr>
            <p:cNvSpPr/>
            <p:nvPr/>
          </p:nvSpPr>
          <p:spPr>
            <a:xfrm>
              <a:off x="5064608" y="3486079"/>
              <a:ext cx="234257"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8" name="Shape">
              <a:extLst>
                <a:ext uri="{FF2B5EF4-FFF2-40B4-BE49-F238E27FC236}">
                  <a16:creationId xmlns:a16="http://schemas.microsoft.com/office/drawing/2014/main" id="{5EFA6E09-0ED6-DA54-AD13-F88842DDFCE6}"/>
                </a:ext>
              </a:extLst>
            </p:cNvPr>
            <p:cNvSpPr/>
            <p:nvPr/>
          </p:nvSpPr>
          <p:spPr>
            <a:xfrm>
              <a:off x="6937117" y="3486079"/>
              <a:ext cx="234256"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29" name="Shape">
              <a:extLst>
                <a:ext uri="{FF2B5EF4-FFF2-40B4-BE49-F238E27FC236}">
                  <a16:creationId xmlns:a16="http://schemas.microsoft.com/office/drawing/2014/main" id="{E0822CC8-F5A2-F232-4A01-802281BE2E38}"/>
                </a:ext>
              </a:extLst>
            </p:cNvPr>
            <p:cNvSpPr/>
            <p:nvPr/>
          </p:nvSpPr>
          <p:spPr>
            <a:xfrm>
              <a:off x="8809626" y="3486079"/>
              <a:ext cx="234256" cy="314248"/>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grpSp>
      <p:sp>
        <p:nvSpPr>
          <p:cNvPr id="30" name="TextBox 29">
            <a:extLst>
              <a:ext uri="{FF2B5EF4-FFF2-40B4-BE49-F238E27FC236}">
                <a16:creationId xmlns:a16="http://schemas.microsoft.com/office/drawing/2014/main" id="{C6513D7C-D60D-A759-F385-71585EA38056}"/>
              </a:ext>
            </a:extLst>
          </p:cNvPr>
          <p:cNvSpPr txBox="1"/>
          <p:nvPr/>
        </p:nvSpPr>
        <p:spPr>
          <a:xfrm>
            <a:off x="789990" y="1795910"/>
            <a:ext cx="369613" cy="276999"/>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31" name="TextBox 30">
            <a:extLst>
              <a:ext uri="{FF2B5EF4-FFF2-40B4-BE49-F238E27FC236}">
                <a16:creationId xmlns:a16="http://schemas.microsoft.com/office/drawing/2014/main" id="{61ACD215-A8D4-492F-00AD-BABAAA6A35BA}"/>
              </a:ext>
            </a:extLst>
          </p:cNvPr>
          <p:cNvSpPr txBox="1"/>
          <p:nvPr/>
        </p:nvSpPr>
        <p:spPr>
          <a:xfrm>
            <a:off x="1720269" y="1323879"/>
            <a:ext cx="487650"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sp>
        <p:nvSpPr>
          <p:cNvPr id="32" name="TextBox 31">
            <a:extLst>
              <a:ext uri="{FF2B5EF4-FFF2-40B4-BE49-F238E27FC236}">
                <a16:creationId xmlns:a16="http://schemas.microsoft.com/office/drawing/2014/main" id="{95852DC9-4098-E355-8F85-74BFAABA76EF}"/>
              </a:ext>
            </a:extLst>
          </p:cNvPr>
          <p:cNvSpPr txBox="1"/>
          <p:nvPr/>
        </p:nvSpPr>
        <p:spPr>
          <a:xfrm>
            <a:off x="2576516" y="1785961"/>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sp>
        <p:nvSpPr>
          <p:cNvPr id="33" name="TextBox 32">
            <a:extLst>
              <a:ext uri="{FF2B5EF4-FFF2-40B4-BE49-F238E27FC236}">
                <a16:creationId xmlns:a16="http://schemas.microsoft.com/office/drawing/2014/main" id="{D23DB38D-17D7-E499-93E4-85F2CE2D3336}"/>
              </a:ext>
            </a:extLst>
          </p:cNvPr>
          <p:cNvSpPr txBox="1"/>
          <p:nvPr/>
        </p:nvSpPr>
        <p:spPr>
          <a:xfrm>
            <a:off x="4463847" y="1325076"/>
            <a:ext cx="370656"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grpSp>
        <p:nvGrpSpPr>
          <p:cNvPr id="34" name="Group 33">
            <a:extLst>
              <a:ext uri="{FF2B5EF4-FFF2-40B4-BE49-F238E27FC236}">
                <a16:creationId xmlns:a16="http://schemas.microsoft.com/office/drawing/2014/main" id="{5331E06A-BED7-749B-F2C4-B211A4825A85}"/>
              </a:ext>
            </a:extLst>
          </p:cNvPr>
          <p:cNvGrpSpPr/>
          <p:nvPr/>
        </p:nvGrpSpPr>
        <p:grpSpPr>
          <a:xfrm>
            <a:off x="245275" y="2643365"/>
            <a:ext cx="1089430" cy="400403"/>
            <a:chOff x="332933" y="2620027"/>
            <a:chExt cx="2926083" cy="846667"/>
          </a:xfrm>
        </p:grpSpPr>
        <p:sp>
          <p:nvSpPr>
            <p:cNvPr id="35" name="TextBox 34">
              <a:extLst>
                <a:ext uri="{FF2B5EF4-FFF2-40B4-BE49-F238E27FC236}">
                  <a16:creationId xmlns:a16="http://schemas.microsoft.com/office/drawing/2014/main" id="{0AF60371-0B5D-D2E5-3640-3117396A3F97}"/>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noProof="1"/>
                <a:t>Operative Context</a:t>
              </a:r>
            </a:p>
          </p:txBody>
        </p:sp>
        <p:sp>
          <p:nvSpPr>
            <p:cNvPr id="36" name="TextBox 35">
              <a:extLst>
                <a:ext uri="{FF2B5EF4-FFF2-40B4-BE49-F238E27FC236}">
                  <a16:creationId xmlns:a16="http://schemas.microsoft.com/office/drawing/2014/main" id="{0768B416-7E8F-1A2B-6E54-5576C5549B58}"/>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37" name="TextBox 36">
            <a:extLst>
              <a:ext uri="{FF2B5EF4-FFF2-40B4-BE49-F238E27FC236}">
                <a16:creationId xmlns:a16="http://schemas.microsoft.com/office/drawing/2014/main" id="{0D1EB1DE-A344-48F5-AA52-053BAD085BF3}"/>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39" name="TextBox 38">
            <a:extLst>
              <a:ext uri="{FF2B5EF4-FFF2-40B4-BE49-F238E27FC236}">
                <a16:creationId xmlns:a16="http://schemas.microsoft.com/office/drawing/2014/main" id="{187DA2CC-0034-16D2-6AC9-26A85AC90BDA}"/>
              </a:ext>
            </a:extLst>
          </p:cNvPr>
          <p:cNvSpPr txBox="1"/>
          <p:nvPr/>
        </p:nvSpPr>
        <p:spPr>
          <a:xfrm>
            <a:off x="4245974" y="2588081"/>
            <a:ext cx="1089429" cy="48224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Limitations and Future Work</a:t>
            </a:r>
            <a:endParaRPr lang="en-US" sz="1100" dirty="0"/>
          </a:p>
        </p:txBody>
      </p:sp>
      <p:grpSp>
        <p:nvGrpSpPr>
          <p:cNvPr id="41" name="Group 40">
            <a:extLst>
              <a:ext uri="{FF2B5EF4-FFF2-40B4-BE49-F238E27FC236}">
                <a16:creationId xmlns:a16="http://schemas.microsoft.com/office/drawing/2014/main" id="{DEE8C409-B6E1-7F00-E057-2D50153214C5}"/>
              </a:ext>
            </a:extLst>
          </p:cNvPr>
          <p:cNvGrpSpPr/>
          <p:nvPr/>
        </p:nvGrpSpPr>
        <p:grpSpPr>
          <a:xfrm>
            <a:off x="1482835" y="722003"/>
            <a:ext cx="1376480" cy="640848"/>
            <a:chOff x="332936" y="2111597"/>
            <a:chExt cx="3697066" cy="1355097"/>
          </a:xfrm>
        </p:grpSpPr>
        <p:sp>
          <p:nvSpPr>
            <p:cNvPr id="42" name="TextBox 41">
              <a:extLst>
                <a:ext uri="{FF2B5EF4-FFF2-40B4-BE49-F238E27FC236}">
                  <a16:creationId xmlns:a16="http://schemas.microsoft.com/office/drawing/2014/main" id="{F16E3BA6-2315-B6BD-844B-3E46EB2A698A}"/>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43" name="TextBox 42">
              <a:extLst>
                <a:ext uri="{FF2B5EF4-FFF2-40B4-BE49-F238E27FC236}">
                  <a16:creationId xmlns:a16="http://schemas.microsoft.com/office/drawing/2014/main" id="{15A5A5F8-3CB2-1D26-6E82-1B6C30EF3B5D}"/>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44" name="TextBox 43">
            <a:extLst>
              <a:ext uri="{FF2B5EF4-FFF2-40B4-BE49-F238E27FC236}">
                <a16:creationId xmlns:a16="http://schemas.microsoft.com/office/drawing/2014/main" id="{E70EDB18-CB83-88DC-6B14-9FF034087B96}"/>
              </a:ext>
            </a:extLst>
          </p:cNvPr>
          <p:cNvSpPr txBox="1"/>
          <p:nvPr/>
        </p:nvSpPr>
        <p:spPr>
          <a:xfrm>
            <a:off x="3438475" y="1803604"/>
            <a:ext cx="362694"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45" name="Shape">
            <a:extLst>
              <a:ext uri="{FF2B5EF4-FFF2-40B4-BE49-F238E27FC236}">
                <a16:creationId xmlns:a16="http://schemas.microsoft.com/office/drawing/2014/main" id="{D39CF3D5-EB2D-5E50-7563-A8E6E4434738}"/>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46" name="TextBox 45">
            <a:extLst>
              <a:ext uri="{FF2B5EF4-FFF2-40B4-BE49-F238E27FC236}">
                <a16:creationId xmlns:a16="http://schemas.microsoft.com/office/drawing/2014/main" id="{9234A480-39B0-42BB-CFE4-B29EDE0F1622}"/>
              </a:ext>
            </a:extLst>
          </p:cNvPr>
          <p:cNvSpPr txBox="1"/>
          <p:nvPr/>
        </p:nvSpPr>
        <p:spPr>
          <a:xfrm>
            <a:off x="1687762" y="1811299"/>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47" name="TextBox 46">
            <a:extLst>
              <a:ext uri="{FF2B5EF4-FFF2-40B4-BE49-F238E27FC236}">
                <a16:creationId xmlns:a16="http://schemas.microsoft.com/office/drawing/2014/main" id="{3E1D4EA8-96A7-7C0E-1C77-AF14F10D009E}"/>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
        <p:nvSpPr>
          <p:cNvPr id="49" name="TextBox 48">
            <a:extLst>
              <a:ext uri="{FF2B5EF4-FFF2-40B4-BE49-F238E27FC236}">
                <a16:creationId xmlns:a16="http://schemas.microsoft.com/office/drawing/2014/main" id="{7A91A24B-0C39-65F5-7979-E9B90F08C6D6}"/>
              </a:ext>
            </a:extLst>
          </p:cNvPr>
          <p:cNvSpPr txBox="1"/>
          <p:nvPr/>
        </p:nvSpPr>
        <p:spPr>
          <a:xfrm>
            <a:off x="869002" y="114827"/>
            <a:ext cx="2882900" cy="307777"/>
          </a:xfrm>
          <a:prstGeom prst="rect">
            <a:avLst/>
          </a:prstGeom>
          <a:noFill/>
        </p:spPr>
        <p:txBody>
          <a:bodyPr wrap="square">
            <a:spAutoFit/>
          </a:bodyPr>
          <a:lstStyle/>
          <a:p>
            <a:r>
              <a:rPr lang="en-US" sz="1400" b="1" dirty="0">
                <a:solidFill>
                  <a:srgbClr val="953735"/>
                </a:solidFill>
                <a:latin typeface="Calibri"/>
                <a:ea typeface="Calibri"/>
                <a:cs typeface="Calibri"/>
              </a:rPr>
              <a:t>Presentation Outline</a:t>
            </a:r>
            <a:endParaRPr lang="en-US" sz="1400" dirty="0"/>
          </a:p>
        </p:txBody>
      </p:sp>
    </p:spTree>
    <p:extLst>
      <p:ext uri="{BB962C8B-B14F-4D97-AF65-F5344CB8AC3E}">
        <p14:creationId xmlns:p14="http://schemas.microsoft.com/office/powerpoint/2010/main" val="2859005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6D54FDD-7F6F-CA73-489C-569D69D3F4D3}"/>
              </a:ext>
            </a:extLst>
          </p:cNvPr>
          <p:cNvSpPr/>
          <p:nvPr/>
        </p:nvSpPr>
        <p:spPr>
          <a:xfrm>
            <a:off x="1013267" y="270137"/>
            <a:ext cx="4204012" cy="253943"/>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1990"/>
              </a:lnSpc>
              <a:buNone/>
            </a:pPr>
            <a:r>
              <a:rPr lang="en-US" sz="1400" b="1" dirty="0">
                <a:solidFill>
                  <a:schemeClr val="accent2">
                    <a:lumMod val="76000"/>
                  </a:schemeClr>
                </a:solidFill>
                <a:ea typeface="Tomorrow Semi Bold" pitchFamily="34" charset="-122"/>
                <a:cs typeface="Tomorrow Semi Bold" pitchFamily="34" charset="-120"/>
              </a:rPr>
              <a:t>Ground Segment Organization</a:t>
            </a:r>
            <a:endParaRPr lang="en-US" sz="1400" b="1" dirty="0">
              <a:solidFill>
                <a:schemeClr val="accent2">
                  <a:lumMod val="76000"/>
                </a:schemeClr>
              </a:solidFill>
            </a:endParaRPr>
          </a:p>
        </p:txBody>
      </p:sp>
      <p:sp>
        <p:nvSpPr>
          <p:cNvPr id="2" name="CasellaDiTesto 1">
            <a:extLst>
              <a:ext uri="{FF2B5EF4-FFF2-40B4-BE49-F238E27FC236}">
                <a16:creationId xmlns:a16="http://schemas.microsoft.com/office/drawing/2014/main" id="{29B7B780-6653-4596-BD16-31F25D642964}"/>
              </a:ext>
            </a:extLst>
          </p:cNvPr>
          <p:cNvSpPr txBox="1"/>
          <p:nvPr/>
        </p:nvSpPr>
        <p:spPr>
          <a:xfrm>
            <a:off x="165142" y="755374"/>
            <a:ext cx="4115229" cy="938719"/>
          </a:xfrm>
          <a:prstGeom prst="rect">
            <a:avLst/>
          </a:prstGeom>
          <a:noFill/>
        </p:spPr>
        <p:txBody>
          <a:bodyPr wrap="none" rtlCol="0">
            <a:spAutoFit/>
          </a:bodyPr>
          <a:lstStyle/>
          <a:p>
            <a:pPr marL="285750" indent="-285750">
              <a:spcAft>
                <a:spcPts val="300"/>
              </a:spcAft>
              <a:buFont typeface="Arial" panose="020B0604020202020204" pitchFamily="34" charset="0"/>
              <a:buChar char="•"/>
            </a:pPr>
            <a:r>
              <a:rPr lang="it-IT" sz="900" b="1" dirty="0">
                <a:latin typeface="+mn-lt"/>
              </a:rPr>
              <a:t>Satellite Control Center: </a:t>
            </a:r>
            <a:r>
              <a:rPr lang="it-IT" sz="900" dirty="0" err="1">
                <a:latin typeface="+mn-lt"/>
              </a:rPr>
              <a:t>spacecraft</a:t>
            </a:r>
            <a:r>
              <a:rPr lang="it-IT" sz="900" dirty="0">
                <a:latin typeface="+mn-lt"/>
              </a:rPr>
              <a:t> monitoring and </a:t>
            </a:r>
            <a:r>
              <a:rPr lang="it-IT" sz="900" dirty="0" err="1">
                <a:latin typeface="+mn-lt"/>
              </a:rPr>
              <a:t>command</a:t>
            </a:r>
            <a:r>
              <a:rPr lang="it-IT" sz="900" dirty="0">
                <a:latin typeface="+mn-lt"/>
              </a:rPr>
              <a:t> </a:t>
            </a:r>
            <a:r>
              <a:rPr lang="it-IT" sz="900" dirty="0" err="1">
                <a:latin typeface="+mn-lt"/>
              </a:rPr>
              <a:t>execution</a:t>
            </a:r>
            <a:r>
              <a:rPr lang="it-IT" sz="900" dirty="0">
                <a:latin typeface="+mn-lt"/>
              </a:rPr>
              <a:t>.</a:t>
            </a:r>
          </a:p>
          <a:p>
            <a:pPr marL="285750" indent="-285750">
              <a:spcAft>
                <a:spcPts val="300"/>
              </a:spcAft>
              <a:buFont typeface="Arial" panose="020B0604020202020204" pitchFamily="34" charset="0"/>
              <a:buChar char="•"/>
            </a:pPr>
            <a:r>
              <a:rPr lang="it-IT" sz="900" b="1" dirty="0">
                <a:latin typeface="+mn-lt"/>
              </a:rPr>
              <a:t>Mission Planning Center: </a:t>
            </a:r>
            <a:r>
              <a:rPr lang="it-IT" sz="900" dirty="0">
                <a:latin typeface="+mn-lt"/>
              </a:rPr>
              <a:t>planning of </a:t>
            </a:r>
            <a:r>
              <a:rPr lang="it-IT" sz="900" dirty="0" err="1">
                <a:latin typeface="+mn-lt"/>
              </a:rPr>
              <a:t>operational</a:t>
            </a:r>
            <a:r>
              <a:rPr lang="it-IT" sz="900" dirty="0">
                <a:latin typeface="+mn-lt"/>
              </a:rPr>
              <a:t> activities and mission tasks.</a:t>
            </a:r>
          </a:p>
          <a:p>
            <a:pPr marL="285750" indent="-285750">
              <a:spcAft>
                <a:spcPts val="300"/>
              </a:spcAft>
              <a:buFont typeface="Arial" panose="020B0604020202020204" pitchFamily="34" charset="0"/>
              <a:buChar char="•"/>
            </a:pPr>
            <a:r>
              <a:rPr lang="it-IT" sz="900" b="1" dirty="0">
                <a:latin typeface="+mn-lt"/>
              </a:rPr>
              <a:t>TT&amp;C: </a:t>
            </a:r>
            <a:r>
              <a:rPr lang="it-IT" sz="900" dirty="0" err="1">
                <a:latin typeface="+mn-lt"/>
              </a:rPr>
              <a:t>telemetry</a:t>
            </a:r>
            <a:r>
              <a:rPr lang="it-IT" sz="900" dirty="0">
                <a:latin typeface="+mn-lt"/>
              </a:rPr>
              <a:t> </a:t>
            </a:r>
            <a:r>
              <a:rPr lang="it-IT" sz="900" dirty="0" err="1">
                <a:latin typeface="+mn-lt"/>
              </a:rPr>
              <a:t>acquisition</a:t>
            </a:r>
            <a:r>
              <a:rPr lang="it-IT" sz="900" dirty="0">
                <a:latin typeface="+mn-lt"/>
              </a:rPr>
              <a:t>, </a:t>
            </a:r>
            <a:r>
              <a:rPr lang="it-IT" sz="900" dirty="0" err="1">
                <a:latin typeface="+mn-lt"/>
              </a:rPr>
              <a:t>spacecraft</a:t>
            </a:r>
            <a:r>
              <a:rPr lang="it-IT" sz="900" dirty="0">
                <a:latin typeface="+mn-lt"/>
              </a:rPr>
              <a:t> tracking and </a:t>
            </a:r>
            <a:r>
              <a:rPr lang="it-IT" sz="900" dirty="0" err="1">
                <a:latin typeface="+mn-lt"/>
              </a:rPr>
              <a:t>command</a:t>
            </a:r>
            <a:r>
              <a:rPr lang="it-IT" sz="900" dirty="0">
                <a:latin typeface="+mn-lt"/>
              </a:rPr>
              <a:t> uplink</a:t>
            </a:r>
          </a:p>
          <a:p>
            <a:pPr marL="285750" indent="-285750">
              <a:spcAft>
                <a:spcPts val="300"/>
              </a:spcAft>
              <a:buFont typeface="Arial" panose="020B0604020202020204" pitchFamily="34" charset="0"/>
              <a:buChar char="•"/>
            </a:pPr>
            <a:r>
              <a:rPr lang="it-IT" sz="900" b="1" dirty="0">
                <a:latin typeface="+mn-lt"/>
              </a:rPr>
              <a:t>Flight Dynamics: </a:t>
            </a:r>
            <a:r>
              <a:rPr lang="it-IT" sz="900" dirty="0" err="1">
                <a:latin typeface="+mn-lt"/>
              </a:rPr>
              <a:t>orbit</a:t>
            </a:r>
            <a:r>
              <a:rPr lang="it-IT" sz="900" dirty="0">
                <a:latin typeface="+mn-lt"/>
              </a:rPr>
              <a:t> </a:t>
            </a:r>
            <a:r>
              <a:rPr lang="it-IT" sz="900" dirty="0" err="1">
                <a:latin typeface="+mn-lt"/>
              </a:rPr>
              <a:t>determination</a:t>
            </a:r>
            <a:r>
              <a:rPr lang="it-IT" sz="900" dirty="0">
                <a:latin typeface="+mn-lt"/>
              </a:rPr>
              <a:t>, </a:t>
            </a:r>
            <a:r>
              <a:rPr lang="it-IT" sz="900" dirty="0" err="1">
                <a:latin typeface="+mn-lt"/>
              </a:rPr>
              <a:t>maneuver</a:t>
            </a:r>
            <a:r>
              <a:rPr lang="it-IT" sz="900" dirty="0">
                <a:latin typeface="+mn-lt"/>
              </a:rPr>
              <a:t> planning and </a:t>
            </a:r>
            <a:r>
              <a:rPr lang="it-IT" sz="900" dirty="0" err="1">
                <a:latin typeface="+mn-lt"/>
              </a:rPr>
              <a:t>analysis</a:t>
            </a:r>
            <a:r>
              <a:rPr lang="it-IT" sz="900" dirty="0">
                <a:latin typeface="+mn-lt"/>
              </a:rPr>
              <a:t>.</a:t>
            </a:r>
          </a:p>
          <a:p>
            <a:pPr marL="285750" indent="-285750">
              <a:spcAft>
                <a:spcPts val="300"/>
              </a:spcAft>
              <a:buFont typeface="Arial" panose="020B0604020202020204" pitchFamily="34" charset="0"/>
              <a:buChar char="•"/>
            </a:pPr>
            <a:r>
              <a:rPr lang="it-IT" sz="900" dirty="0">
                <a:latin typeface="+mn-lt"/>
              </a:rPr>
              <a:t>...</a:t>
            </a:r>
          </a:p>
        </p:txBody>
      </p:sp>
      <p:sp>
        <p:nvSpPr>
          <p:cNvPr id="4" name="CasellaDiTesto 3">
            <a:extLst>
              <a:ext uri="{FF2B5EF4-FFF2-40B4-BE49-F238E27FC236}">
                <a16:creationId xmlns:a16="http://schemas.microsoft.com/office/drawing/2014/main" id="{4535B321-102B-4295-A8A6-8ADC654285E3}"/>
              </a:ext>
            </a:extLst>
          </p:cNvPr>
          <p:cNvSpPr txBox="1"/>
          <p:nvPr/>
        </p:nvSpPr>
        <p:spPr>
          <a:xfrm>
            <a:off x="382392" y="1763405"/>
            <a:ext cx="2865632" cy="507831"/>
          </a:xfrm>
          <a:prstGeom prst="rect">
            <a:avLst/>
          </a:prstGeom>
          <a:noFill/>
        </p:spPr>
        <p:txBody>
          <a:bodyPr wrap="square" rtlCol="0">
            <a:spAutoFit/>
          </a:bodyPr>
          <a:lstStyle/>
          <a:p>
            <a:r>
              <a:rPr lang="it-IT" sz="900" dirty="0" err="1">
                <a:latin typeface="+mn-lt"/>
              </a:rPr>
              <a:t>Although</a:t>
            </a:r>
            <a:r>
              <a:rPr lang="it-IT" sz="900" dirty="0">
                <a:latin typeface="+mn-lt"/>
              </a:rPr>
              <a:t> </a:t>
            </a:r>
            <a:r>
              <a:rPr lang="it-IT" sz="900" dirty="0" err="1">
                <a:latin typeface="+mn-lt"/>
              </a:rPr>
              <a:t>each</a:t>
            </a:r>
            <a:r>
              <a:rPr lang="it-IT" sz="900" dirty="0">
                <a:latin typeface="+mn-lt"/>
              </a:rPr>
              <a:t> system </a:t>
            </a:r>
            <a:r>
              <a:rPr lang="it-IT" sz="900" dirty="0" err="1">
                <a:latin typeface="+mn-lt"/>
              </a:rPr>
              <a:t>performs</a:t>
            </a:r>
            <a:r>
              <a:rPr lang="it-IT" sz="900" dirty="0">
                <a:latin typeface="+mn-lt"/>
              </a:rPr>
              <a:t> a </a:t>
            </a:r>
            <a:r>
              <a:rPr lang="it-IT" sz="900" dirty="0" err="1">
                <a:latin typeface="+mn-lt"/>
              </a:rPr>
              <a:t>well-defined</a:t>
            </a:r>
            <a:r>
              <a:rPr lang="it-IT" sz="900" dirty="0">
                <a:latin typeface="+mn-lt"/>
              </a:rPr>
              <a:t> </a:t>
            </a:r>
            <a:r>
              <a:rPr lang="it-IT" sz="900" dirty="0" err="1">
                <a:latin typeface="+mn-lt"/>
              </a:rPr>
              <a:t>function</a:t>
            </a:r>
            <a:r>
              <a:rPr lang="it-IT" sz="900" dirty="0">
                <a:latin typeface="+mn-lt"/>
              </a:rPr>
              <a:t>, mission </a:t>
            </a:r>
            <a:r>
              <a:rPr lang="it-IT" sz="900" dirty="0" err="1">
                <a:latin typeface="+mn-lt"/>
              </a:rPr>
              <a:t>operations</a:t>
            </a:r>
            <a:r>
              <a:rPr lang="it-IT" sz="900" dirty="0">
                <a:latin typeface="+mn-lt"/>
              </a:rPr>
              <a:t> emerge from </a:t>
            </a:r>
            <a:r>
              <a:rPr lang="it-IT" sz="900" dirty="0" err="1">
                <a:latin typeface="+mn-lt"/>
              </a:rPr>
              <a:t>their</a:t>
            </a:r>
            <a:r>
              <a:rPr lang="it-IT" sz="900" dirty="0">
                <a:latin typeface="+mn-lt"/>
              </a:rPr>
              <a:t> </a:t>
            </a:r>
            <a:r>
              <a:rPr lang="it-IT" sz="900" b="1" dirty="0" err="1">
                <a:latin typeface="+mn-lt"/>
              </a:rPr>
              <a:t>continuous</a:t>
            </a:r>
            <a:r>
              <a:rPr lang="it-IT" sz="900" b="1" dirty="0">
                <a:latin typeface="+mn-lt"/>
              </a:rPr>
              <a:t> interaction</a:t>
            </a:r>
            <a:r>
              <a:rPr lang="it-IT" sz="900" dirty="0">
                <a:latin typeface="+mn-lt"/>
              </a:rPr>
              <a:t>.</a:t>
            </a:r>
          </a:p>
        </p:txBody>
      </p:sp>
      <p:pic>
        <p:nvPicPr>
          <p:cNvPr id="8" name="Immagine 7">
            <a:extLst>
              <a:ext uri="{FF2B5EF4-FFF2-40B4-BE49-F238E27FC236}">
                <a16:creationId xmlns:a16="http://schemas.microsoft.com/office/drawing/2014/main" id="{257A9754-A8CA-41F2-BAF0-6361EB16F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1023" y="1566044"/>
            <a:ext cx="2352633" cy="1322703"/>
          </a:xfrm>
          <a:prstGeom prst="ellipse">
            <a:avLst/>
          </a:prstGeom>
          <a:ln w="190500" cap="rnd">
            <a:no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7" name="Rettangolo con angoli arrotondati 6">
            <a:extLst>
              <a:ext uri="{FF2B5EF4-FFF2-40B4-BE49-F238E27FC236}">
                <a16:creationId xmlns:a16="http://schemas.microsoft.com/office/drawing/2014/main" id="{30FA58B9-709A-4E6D-BE95-AF1997808D81}"/>
              </a:ext>
            </a:extLst>
          </p:cNvPr>
          <p:cNvSpPr/>
          <p:nvPr/>
        </p:nvSpPr>
        <p:spPr>
          <a:xfrm>
            <a:off x="382392" y="2418839"/>
            <a:ext cx="2923633" cy="555874"/>
          </a:xfrm>
          <a:prstGeom prst="roundRect">
            <a:avLst/>
          </a:prstGeom>
          <a:solidFill>
            <a:schemeClr val="accent2">
              <a:lumMod val="20000"/>
              <a:lumOff val="80000"/>
            </a:schemeClr>
          </a:solidFill>
          <a:ln w="12700">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900" b="1" dirty="0">
                <a:solidFill>
                  <a:schemeClr val="tx1"/>
                </a:solidFill>
              </a:rPr>
              <a:t>Mission Manager: </a:t>
            </a:r>
            <a:r>
              <a:rPr lang="it-IT" sz="900" dirty="0">
                <a:solidFill>
                  <a:schemeClr val="tx1"/>
                </a:solidFill>
              </a:rPr>
              <a:t>The </a:t>
            </a:r>
            <a:r>
              <a:rPr lang="it-IT" sz="900" dirty="0" err="1">
                <a:solidFill>
                  <a:schemeClr val="tx1"/>
                </a:solidFill>
              </a:rPr>
              <a:t>person</a:t>
            </a:r>
            <a:r>
              <a:rPr lang="it-IT" sz="900" dirty="0">
                <a:solidFill>
                  <a:schemeClr val="tx1"/>
                </a:solidFill>
              </a:rPr>
              <a:t> </a:t>
            </a:r>
            <a:r>
              <a:rPr lang="it-IT" sz="900" dirty="0" err="1">
                <a:solidFill>
                  <a:schemeClr val="tx1"/>
                </a:solidFill>
              </a:rPr>
              <a:t>responsible</a:t>
            </a:r>
            <a:r>
              <a:rPr lang="it-IT" sz="900" dirty="0">
                <a:solidFill>
                  <a:schemeClr val="tx1"/>
                </a:solidFill>
              </a:rPr>
              <a:t> for </a:t>
            </a:r>
            <a:r>
              <a:rPr lang="it-IT" sz="900" dirty="0" err="1">
                <a:solidFill>
                  <a:schemeClr val="tx1"/>
                </a:solidFill>
              </a:rPr>
              <a:t>supervising</a:t>
            </a:r>
            <a:r>
              <a:rPr lang="it-IT" sz="900" dirty="0">
                <a:solidFill>
                  <a:schemeClr val="tx1"/>
                </a:solidFill>
              </a:rPr>
              <a:t> the overall </a:t>
            </a:r>
            <a:r>
              <a:rPr lang="it-IT" sz="900" dirty="0" err="1">
                <a:solidFill>
                  <a:schemeClr val="tx1"/>
                </a:solidFill>
              </a:rPr>
              <a:t>execution</a:t>
            </a:r>
            <a:r>
              <a:rPr lang="it-IT" sz="900" dirty="0">
                <a:solidFill>
                  <a:schemeClr val="tx1"/>
                </a:solidFill>
              </a:rPr>
              <a:t> and state of the mission.</a:t>
            </a:r>
          </a:p>
        </p:txBody>
      </p:sp>
    </p:spTree>
    <p:extLst>
      <p:ext uri="{BB962C8B-B14F-4D97-AF65-F5344CB8AC3E}">
        <p14:creationId xmlns:p14="http://schemas.microsoft.com/office/powerpoint/2010/main" val="3576859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B7083-B3CD-AEE1-C95C-34864AC227CE}"/>
            </a:ext>
          </a:extLst>
        </p:cNvPr>
        <p:cNvGrpSpPr/>
        <p:nvPr/>
      </p:nvGrpSpPr>
      <p:grpSpPr>
        <a:xfrm>
          <a:off x="0" y="0"/>
          <a:ext cx="0" cy="0"/>
          <a:chOff x="0" y="0"/>
          <a:chExt cx="0" cy="0"/>
        </a:xfrm>
      </p:grpSpPr>
      <p:sp>
        <p:nvSpPr>
          <p:cNvPr id="14" name="Text 0">
            <a:extLst>
              <a:ext uri="{FF2B5EF4-FFF2-40B4-BE49-F238E27FC236}">
                <a16:creationId xmlns:a16="http://schemas.microsoft.com/office/drawing/2014/main" id="{3B19C818-FA4E-1DC6-BB35-844AADE3B17B}"/>
              </a:ext>
            </a:extLst>
          </p:cNvPr>
          <p:cNvSpPr/>
          <p:nvPr/>
        </p:nvSpPr>
        <p:spPr>
          <a:xfrm>
            <a:off x="1076000" y="256315"/>
            <a:ext cx="4449631" cy="476448"/>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1990"/>
              </a:lnSpc>
              <a:buNone/>
            </a:pPr>
            <a:r>
              <a:rPr lang="en-US" sz="1400" b="1" dirty="0">
                <a:solidFill>
                  <a:schemeClr val="accent2">
                    <a:lumMod val="76000"/>
                  </a:schemeClr>
                </a:solidFill>
                <a:ea typeface="Tomorrow Semi Bold" pitchFamily="34" charset="-122"/>
                <a:cs typeface="Tomorrow Semi Bold" pitchFamily="34" charset="-120"/>
              </a:rPr>
              <a:t>Mission Manager’s Role &amp; Challenges</a:t>
            </a:r>
            <a:endParaRPr lang="en-US" sz="1400" b="1" dirty="0">
              <a:solidFill>
                <a:schemeClr val="accent2">
                  <a:lumMod val="76000"/>
                </a:schemeClr>
              </a:solidFill>
            </a:endParaRPr>
          </a:p>
        </p:txBody>
      </p:sp>
      <p:sp>
        <p:nvSpPr>
          <p:cNvPr id="22" name="Text 3">
            <a:extLst>
              <a:ext uri="{FF2B5EF4-FFF2-40B4-BE49-F238E27FC236}">
                <a16:creationId xmlns:a16="http://schemas.microsoft.com/office/drawing/2014/main" id="{5D5AEE96-F21A-823F-7022-C140FA55DA6B}"/>
              </a:ext>
            </a:extLst>
          </p:cNvPr>
          <p:cNvSpPr/>
          <p:nvPr/>
        </p:nvSpPr>
        <p:spPr>
          <a:xfrm>
            <a:off x="844717" y="732763"/>
            <a:ext cx="2081435" cy="169156"/>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ctr">
              <a:lnSpc>
                <a:spcPts val="926"/>
              </a:lnSpc>
              <a:buNone/>
            </a:pPr>
            <a:r>
              <a:rPr lang="en-US" sz="800" b="1" dirty="0">
                <a:latin typeface="Tomorrow Semi Bold"/>
                <a:ea typeface="Tomorrow Semi Bold" pitchFamily="34" charset="-122"/>
                <a:cs typeface="Tomorrow Semi Bold" pitchFamily="34" charset="-120"/>
              </a:rPr>
              <a:t>Situational Awareness</a:t>
            </a:r>
            <a:endParaRPr lang="en-US" sz="800" b="1" dirty="0">
              <a:latin typeface="Tomorrow Semi Bold"/>
            </a:endParaRPr>
          </a:p>
        </p:txBody>
      </p:sp>
      <p:sp>
        <p:nvSpPr>
          <p:cNvPr id="24" name="Text 4">
            <a:extLst>
              <a:ext uri="{FF2B5EF4-FFF2-40B4-BE49-F238E27FC236}">
                <a16:creationId xmlns:a16="http://schemas.microsoft.com/office/drawing/2014/main" id="{E939039B-2D4B-88C8-8CA5-8E5F8109F530}"/>
              </a:ext>
            </a:extLst>
          </p:cNvPr>
          <p:cNvSpPr/>
          <p:nvPr/>
        </p:nvSpPr>
        <p:spPr>
          <a:xfrm>
            <a:off x="852158" y="936914"/>
            <a:ext cx="2130219" cy="850349"/>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171450" indent="-171450">
              <a:lnSpc>
                <a:spcPts val="946"/>
              </a:lnSpc>
              <a:spcAft>
                <a:spcPts val="300"/>
              </a:spcAft>
              <a:buFont typeface="Arial" panose="020B0604020202020204" pitchFamily="34" charset="0"/>
              <a:buChar char="•"/>
            </a:pPr>
            <a:r>
              <a:rPr lang="en-US" sz="800" dirty="0"/>
              <a:t>Supervising mission execution and anomaly responses.</a:t>
            </a:r>
          </a:p>
          <a:p>
            <a:pPr marL="171450" indent="-171450">
              <a:lnSpc>
                <a:spcPts val="946"/>
              </a:lnSpc>
              <a:spcAft>
                <a:spcPts val="300"/>
              </a:spcAft>
              <a:buFont typeface="Arial" panose="020B0604020202020204" pitchFamily="34" charset="0"/>
              <a:buChar char="•"/>
            </a:pPr>
            <a:r>
              <a:rPr lang="en-US" sz="800" dirty="0"/>
              <a:t>Operational events evaluation.</a:t>
            </a:r>
          </a:p>
          <a:p>
            <a:pPr marL="171450" indent="-171450">
              <a:lnSpc>
                <a:spcPts val="946"/>
              </a:lnSpc>
              <a:spcAft>
                <a:spcPts val="300"/>
              </a:spcAft>
              <a:buFont typeface="Arial" panose="020B0604020202020204" pitchFamily="34" charset="0"/>
              <a:buChar char="•"/>
            </a:pPr>
            <a:r>
              <a:rPr lang="en-US" sz="800" dirty="0"/>
              <a:t>Response coordination of different teams.</a:t>
            </a:r>
          </a:p>
          <a:p>
            <a:pPr marL="171450" indent="-171450">
              <a:lnSpc>
                <a:spcPts val="946"/>
              </a:lnSpc>
              <a:spcAft>
                <a:spcPts val="300"/>
              </a:spcAft>
              <a:buFont typeface="Arial" panose="020B0604020202020204" pitchFamily="34" charset="0"/>
              <a:buChar char="•"/>
            </a:pPr>
            <a:r>
              <a:rPr lang="en-US" sz="800" dirty="0"/>
              <a:t>Support of decision-making during nominal and contingency scenarios.</a:t>
            </a:r>
          </a:p>
        </p:txBody>
      </p:sp>
      <p:sp>
        <p:nvSpPr>
          <p:cNvPr id="32" name="Text 7">
            <a:extLst>
              <a:ext uri="{FF2B5EF4-FFF2-40B4-BE49-F238E27FC236}">
                <a16:creationId xmlns:a16="http://schemas.microsoft.com/office/drawing/2014/main" id="{49CB2644-B405-0CB4-D642-A699C6B5522D}"/>
              </a:ext>
            </a:extLst>
          </p:cNvPr>
          <p:cNvSpPr/>
          <p:nvPr/>
        </p:nvSpPr>
        <p:spPr>
          <a:xfrm>
            <a:off x="3126796" y="725356"/>
            <a:ext cx="2070420" cy="169156"/>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ctr">
              <a:lnSpc>
                <a:spcPts val="926"/>
              </a:lnSpc>
              <a:buNone/>
            </a:pPr>
            <a:r>
              <a:rPr lang="en-US" sz="800" b="1" dirty="0">
                <a:latin typeface="Tomorrow Semi Bold"/>
                <a:ea typeface="Tomorrow Semi Bold" pitchFamily="34" charset="-122"/>
                <a:cs typeface="Tomorrow Semi Bold" pitchFamily="34" charset="-120"/>
              </a:rPr>
              <a:t>Information Fragmentation</a:t>
            </a:r>
            <a:endParaRPr lang="en-US" sz="800" b="1" dirty="0">
              <a:latin typeface="Tomorrow Semi Bold"/>
            </a:endParaRPr>
          </a:p>
        </p:txBody>
      </p:sp>
      <p:sp>
        <p:nvSpPr>
          <p:cNvPr id="34" name="Text 8">
            <a:extLst>
              <a:ext uri="{FF2B5EF4-FFF2-40B4-BE49-F238E27FC236}">
                <a16:creationId xmlns:a16="http://schemas.microsoft.com/office/drawing/2014/main" id="{89C758DD-68A2-B54B-6945-ECE23CE00C4E}"/>
              </a:ext>
            </a:extLst>
          </p:cNvPr>
          <p:cNvSpPr/>
          <p:nvPr/>
        </p:nvSpPr>
        <p:spPr>
          <a:xfrm>
            <a:off x="3126796" y="930890"/>
            <a:ext cx="2205183" cy="856375"/>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171450" indent="-171450">
              <a:lnSpc>
                <a:spcPts val="946"/>
              </a:lnSpc>
              <a:spcAft>
                <a:spcPts val="300"/>
              </a:spcAft>
              <a:buFont typeface="Arial" panose="020B0604020202020204" pitchFamily="34" charset="0"/>
              <a:buChar char="•"/>
            </a:pPr>
            <a:r>
              <a:rPr lang="en-US" sz="800" dirty="0">
                <a:ea typeface="Tomorrow" pitchFamily="34" charset="-122"/>
                <a:cs typeface="Tomorrow" pitchFamily="34" charset="-120"/>
              </a:rPr>
              <a:t>Integrate </a:t>
            </a:r>
            <a:r>
              <a:rPr lang="en-US" sz="800" dirty="0" err="1">
                <a:ea typeface="Tomorrow" pitchFamily="34" charset="-122"/>
                <a:cs typeface="Tomorrow" pitchFamily="34" charset="-120"/>
              </a:rPr>
              <a:t>informations</a:t>
            </a:r>
            <a:r>
              <a:rPr lang="en-US" sz="800" dirty="0">
                <a:ea typeface="Tomorrow" pitchFamily="34" charset="-122"/>
                <a:cs typeface="Tomorrow" pitchFamily="34" charset="-120"/>
              </a:rPr>
              <a:t> from multiple sources.</a:t>
            </a:r>
          </a:p>
          <a:p>
            <a:pPr marL="171450" indent="-171450">
              <a:lnSpc>
                <a:spcPts val="946"/>
              </a:lnSpc>
              <a:spcAft>
                <a:spcPts val="300"/>
              </a:spcAft>
              <a:buFont typeface="Arial" panose="020B0604020202020204" pitchFamily="34" charset="0"/>
              <a:buChar char="•"/>
            </a:pPr>
            <a:r>
              <a:rPr lang="en-US" sz="800" dirty="0">
                <a:ea typeface="Tomorrow" pitchFamily="34" charset="-122"/>
                <a:cs typeface="Tomorrow" pitchFamily="34" charset="-120"/>
              </a:rPr>
              <a:t>The evidence are heterogeneous, asynchronous, incomplete or even conflicting.</a:t>
            </a:r>
          </a:p>
          <a:p>
            <a:pPr marL="171450" indent="-171450">
              <a:lnSpc>
                <a:spcPts val="946"/>
              </a:lnSpc>
              <a:spcAft>
                <a:spcPts val="300"/>
              </a:spcAft>
              <a:buFont typeface="Arial" panose="020B0604020202020204" pitchFamily="34" charset="0"/>
              <a:buChar char="•"/>
            </a:pPr>
            <a:r>
              <a:rPr lang="en-US" sz="800" dirty="0">
                <a:ea typeface="Tomorrow" pitchFamily="34" charset="-122"/>
                <a:cs typeface="Tomorrow" pitchFamily="34" charset="-120"/>
              </a:rPr>
              <a:t>Rapid identification of important </a:t>
            </a:r>
            <a:r>
              <a:rPr lang="en-US" sz="800" dirty="0" err="1">
                <a:ea typeface="Tomorrow" pitchFamily="34" charset="-122"/>
                <a:cs typeface="Tomorrow" pitchFamily="34" charset="-120"/>
              </a:rPr>
              <a:t>informations</a:t>
            </a:r>
            <a:r>
              <a:rPr lang="en-US" sz="800" dirty="0">
                <a:ea typeface="Tomorrow" pitchFamily="34" charset="-122"/>
                <a:cs typeface="Tomorrow" pitchFamily="34" charset="-120"/>
              </a:rPr>
              <a:t> and their implications.</a:t>
            </a:r>
          </a:p>
          <a:p>
            <a:pPr>
              <a:lnSpc>
                <a:spcPts val="946"/>
              </a:lnSpc>
            </a:pPr>
            <a:endParaRPr lang="en-US" sz="800" dirty="0"/>
          </a:p>
        </p:txBody>
      </p:sp>
      <p:pic>
        <p:nvPicPr>
          <p:cNvPr id="40" name="Image 3" descr="preencoded.png">
            <a:extLst>
              <a:ext uri="{FF2B5EF4-FFF2-40B4-BE49-F238E27FC236}">
                <a16:creationId xmlns:a16="http://schemas.microsoft.com/office/drawing/2014/main" id="{00183E0B-58AB-05AF-E086-C7A15CB80ADA}"/>
              </a:ext>
            </a:extLst>
          </p:cNvPr>
          <p:cNvPicPr>
            <a:picLocks noChangeAspect="1"/>
          </p:cNvPicPr>
          <p:nvPr/>
        </p:nvPicPr>
        <p:blipFill>
          <a:blip r:embed="rId2"/>
          <a:stretch>
            <a:fillRect/>
          </a:stretch>
        </p:blipFill>
        <p:spPr>
          <a:xfrm>
            <a:off x="2532328" y="2245926"/>
            <a:ext cx="102900" cy="128614"/>
          </a:xfrm>
          <a:prstGeom prst="rect">
            <a:avLst/>
          </a:prstGeom>
        </p:spPr>
      </p:pic>
      <p:pic>
        <p:nvPicPr>
          <p:cNvPr id="2050" name="Picture 2" descr="Breach &amp; Attack Simulation, Vulnerability Assessment e Penetration Test nel  Cyber Risk Management - Telsy">
            <a:extLst>
              <a:ext uri="{FF2B5EF4-FFF2-40B4-BE49-F238E27FC236}">
                <a16:creationId xmlns:a16="http://schemas.microsoft.com/office/drawing/2014/main" id="{01A5A82F-5342-1823-D17D-FD3407599D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486" y="1878591"/>
            <a:ext cx="4777782" cy="128180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A62A7C40-F66E-D301-C9E6-4A2D1613A7A8}"/>
              </a:ext>
            </a:extLst>
          </p:cNvPr>
          <p:cNvCxnSpPr>
            <a:cxnSpLocks/>
          </p:cNvCxnSpPr>
          <p:nvPr/>
        </p:nvCxnSpPr>
        <p:spPr>
          <a:xfrm>
            <a:off x="852158" y="901919"/>
            <a:ext cx="2070877"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20A364B8-8841-0B10-2BBE-4875B06C51FB}"/>
              </a:ext>
            </a:extLst>
          </p:cNvPr>
          <p:cNvCxnSpPr>
            <a:cxnSpLocks/>
          </p:cNvCxnSpPr>
          <p:nvPr/>
        </p:nvCxnSpPr>
        <p:spPr>
          <a:xfrm>
            <a:off x="3126796" y="903686"/>
            <a:ext cx="2070420" cy="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6481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596988B2-2CB7-951D-F4EE-448E5A81244B}"/>
              </a:ext>
            </a:extLst>
          </p:cNvPr>
          <p:cNvPicPr>
            <a:picLocks noChangeAspect="1"/>
          </p:cNvPicPr>
          <p:nvPr/>
        </p:nvPicPr>
        <p:blipFill>
          <a:blip r:embed="rId2"/>
          <a:stretch>
            <a:fillRect/>
          </a:stretch>
        </p:blipFill>
        <p:spPr>
          <a:xfrm>
            <a:off x="341853" y="685783"/>
            <a:ext cx="1653149" cy="2482009"/>
          </a:xfrm>
          <a:prstGeom prst="rect">
            <a:avLst/>
          </a:prstGeom>
        </p:spPr>
      </p:pic>
      <p:sp>
        <p:nvSpPr>
          <p:cNvPr id="5" name="Text 0">
            <a:extLst>
              <a:ext uri="{FF2B5EF4-FFF2-40B4-BE49-F238E27FC236}">
                <a16:creationId xmlns:a16="http://schemas.microsoft.com/office/drawing/2014/main" id="{D64030A1-3200-2C2D-FCCE-F484CC1F8003}"/>
              </a:ext>
            </a:extLst>
          </p:cNvPr>
          <p:cNvSpPr/>
          <p:nvPr/>
        </p:nvSpPr>
        <p:spPr>
          <a:xfrm>
            <a:off x="1113506" y="240604"/>
            <a:ext cx="4591721" cy="234802"/>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1852"/>
              </a:lnSpc>
              <a:buNone/>
            </a:pPr>
            <a:r>
              <a:rPr lang="en-US" sz="1400" b="1" dirty="0">
                <a:solidFill>
                  <a:schemeClr val="accent2">
                    <a:lumMod val="76000"/>
                  </a:schemeClr>
                </a:solidFill>
                <a:ea typeface="Tomorrow Semi Bold"/>
                <a:cs typeface="Tomorrow Semi Bold" pitchFamily="34" charset="-120"/>
              </a:rPr>
              <a:t>Research Questions</a:t>
            </a:r>
            <a:endParaRPr lang="en-US" sz="1400" dirty="0">
              <a:solidFill>
                <a:schemeClr val="accent2">
                  <a:lumMod val="76000"/>
                </a:schemeClr>
              </a:solidFill>
              <a:ea typeface="Tomorrow Semi Bold"/>
            </a:endParaRPr>
          </a:p>
        </p:txBody>
      </p:sp>
      <p:sp>
        <p:nvSpPr>
          <p:cNvPr id="7" name="Text 1">
            <a:extLst>
              <a:ext uri="{FF2B5EF4-FFF2-40B4-BE49-F238E27FC236}">
                <a16:creationId xmlns:a16="http://schemas.microsoft.com/office/drawing/2014/main" id="{33E0B1DB-FBA2-4D51-68F5-254A2176135E}"/>
              </a:ext>
            </a:extLst>
          </p:cNvPr>
          <p:cNvSpPr/>
          <p:nvPr/>
        </p:nvSpPr>
        <p:spPr>
          <a:xfrm>
            <a:off x="2426910" y="855247"/>
            <a:ext cx="75639" cy="94548"/>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b="1">
                <a:solidFill>
                  <a:srgbClr val="953734"/>
                </a:solidFill>
                <a:latin typeface="Tomorrow Light"/>
                <a:ea typeface="Tomorrow Light"/>
                <a:cs typeface="Tomorrow Light" pitchFamily="34" charset="-120"/>
              </a:rPr>
              <a:t>01</a:t>
            </a:r>
            <a:endParaRPr lang="en-US" sz="900" b="1">
              <a:solidFill>
                <a:srgbClr val="953734"/>
              </a:solidFill>
              <a:latin typeface="Tomorrow Light"/>
              <a:ea typeface="Tomorrow Light"/>
              <a:cs typeface="Calibri"/>
            </a:endParaRPr>
          </a:p>
        </p:txBody>
      </p:sp>
      <p:sp>
        <p:nvSpPr>
          <p:cNvPr id="9" name="Shape 2">
            <a:extLst>
              <a:ext uri="{FF2B5EF4-FFF2-40B4-BE49-F238E27FC236}">
                <a16:creationId xmlns:a16="http://schemas.microsoft.com/office/drawing/2014/main" id="{A4ACF4AE-5D70-3E16-5911-025A8B20C858}"/>
              </a:ext>
            </a:extLst>
          </p:cNvPr>
          <p:cNvSpPr/>
          <p:nvPr/>
        </p:nvSpPr>
        <p:spPr>
          <a:xfrm>
            <a:off x="2426910" y="974805"/>
            <a:ext cx="3074155" cy="9009"/>
          </a:xfrm>
          <a:prstGeom prst="rect">
            <a:avLst/>
          </a:prstGeom>
          <a:solidFill>
            <a:srgbClr val="1D1D1B"/>
          </a:solidFill>
          <a:ln>
            <a:solidFill>
              <a:srgbClr val="953735"/>
            </a:solidFill>
          </a:ln>
        </p:spPr>
      </p:sp>
      <p:sp>
        <p:nvSpPr>
          <p:cNvPr id="11" name="Text 3">
            <a:extLst>
              <a:ext uri="{FF2B5EF4-FFF2-40B4-BE49-F238E27FC236}">
                <a16:creationId xmlns:a16="http://schemas.microsoft.com/office/drawing/2014/main" id="{056BCD3E-7F40-7169-2212-8989F3F45BD6}"/>
              </a:ext>
            </a:extLst>
          </p:cNvPr>
          <p:cNvSpPr/>
          <p:nvPr/>
        </p:nvSpPr>
        <p:spPr>
          <a:xfrm>
            <a:off x="2426910" y="1030642"/>
            <a:ext cx="1423619" cy="118150"/>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26"/>
              </a:lnSpc>
              <a:buNone/>
            </a:pPr>
            <a:r>
              <a:rPr lang="en-US" sz="1000" b="1" dirty="0">
                <a:solidFill>
                  <a:schemeClr val="accent2">
                    <a:lumMod val="76000"/>
                  </a:schemeClr>
                </a:solidFill>
                <a:latin typeface="+mj-lt"/>
                <a:ea typeface="Tomorrow Semi Bold"/>
                <a:cs typeface="Tomorrow Semi Bold" pitchFamily="34" charset="-120"/>
              </a:rPr>
              <a:t>Autonomous LLM Capabilities</a:t>
            </a:r>
            <a:endParaRPr lang="en-US" sz="1000" b="1" dirty="0">
              <a:solidFill>
                <a:schemeClr val="accent2">
                  <a:lumMod val="76000"/>
                </a:schemeClr>
              </a:solidFill>
              <a:latin typeface="+mj-lt"/>
              <a:ea typeface="Calibri"/>
              <a:cs typeface="Calibri"/>
            </a:endParaRPr>
          </a:p>
        </p:txBody>
      </p:sp>
      <p:sp>
        <p:nvSpPr>
          <p:cNvPr id="13" name="Text 4">
            <a:extLst>
              <a:ext uri="{FF2B5EF4-FFF2-40B4-BE49-F238E27FC236}">
                <a16:creationId xmlns:a16="http://schemas.microsoft.com/office/drawing/2014/main" id="{7BEDE68F-4001-D240-85D9-3917AE8B560F}"/>
              </a:ext>
            </a:extLst>
          </p:cNvPr>
          <p:cNvSpPr/>
          <p:nvPr/>
        </p:nvSpPr>
        <p:spPr>
          <a:xfrm>
            <a:off x="2426910" y="1194167"/>
            <a:ext cx="3074155" cy="363037"/>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dirty="0">
                <a:solidFill>
                  <a:srgbClr val="000000"/>
                </a:solidFill>
                <a:ea typeface="Tomorrow" pitchFamily="34" charset="-122"/>
                <a:cs typeface="Tomorrow" pitchFamily="34" charset="-120"/>
              </a:rPr>
              <a:t>To what extent can Large Language Models autonomously conduct </a:t>
            </a:r>
            <a:r>
              <a:rPr lang="en-US" sz="900" b="1" dirty="0">
                <a:solidFill>
                  <a:srgbClr val="000000"/>
                </a:solidFill>
                <a:ea typeface="Tomorrow" pitchFamily="34" charset="-122"/>
                <a:cs typeface="Tomorrow" pitchFamily="34" charset="-120"/>
              </a:rPr>
              <a:t>cross-domain </a:t>
            </a:r>
            <a:r>
              <a:rPr lang="en-US" sz="900" dirty="0">
                <a:solidFill>
                  <a:srgbClr val="000000"/>
                </a:solidFill>
                <a:ea typeface="Tomorrow" pitchFamily="34" charset="-122"/>
                <a:cs typeface="Tomorrow" pitchFamily="34" charset="-120"/>
              </a:rPr>
              <a:t>reasoning while maintaining </a:t>
            </a:r>
            <a:r>
              <a:rPr lang="en-US" sz="900" b="1" dirty="0">
                <a:solidFill>
                  <a:srgbClr val="000000"/>
                </a:solidFill>
                <a:ea typeface="Tomorrow" pitchFamily="34" charset="-122"/>
                <a:cs typeface="Tomorrow" pitchFamily="34" charset="-120"/>
              </a:rPr>
              <a:t>accuracy and robustness?</a:t>
            </a:r>
            <a:endParaRPr lang="en-US" sz="900" dirty="0">
              <a:solidFill>
                <a:srgbClr val="000000"/>
              </a:solidFill>
              <a:latin typeface="Tomorrow"/>
            </a:endParaRPr>
          </a:p>
        </p:txBody>
      </p:sp>
      <p:sp>
        <p:nvSpPr>
          <p:cNvPr id="15" name="Text 5">
            <a:extLst>
              <a:ext uri="{FF2B5EF4-FFF2-40B4-BE49-F238E27FC236}">
                <a16:creationId xmlns:a16="http://schemas.microsoft.com/office/drawing/2014/main" id="{16C29244-5E39-28FD-889E-E822D8F8A85A}"/>
              </a:ext>
            </a:extLst>
          </p:cNvPr>
          <p:cNvSpPr/>
          <p:nvPr/>
        </p:nvSpPr>
        <p:spPr>
          <a:xfrm>
            <a:off x="2426910" y="1839420"/>
            <a:ext cx="75639" cy="94548"/>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b="1">
                <a:solidFill>
                  <a:srgbClr val="953734"/>
                </a:solidFill>
                <a:latin typeface="Tomorrow Light"/>
                <a:ea typeface="Tomorrow Light"/>
                <a:cs typeface="Tomorrow Light" pitchFamily="34" charset="-120"/>
              </a:rPr>
              <a:t>02</a:t>
            </a:r>
            <a:endParaRPr lang="en-US" sz="700" b="1">
              <a:solidFill>
                <a:srgbClr val="953734"/>
              </a:solidFill>
              <a:latin typeface="Calibri"/>
              <a:ea typeface="Tomorrow Light"/>
              <a:cs typeface="Calibri"/>
            </a:endParaRPr>
          </a:p>
        </p:txBody>
      </p:sp>
      <p:sp>
        <p:nvSpPr>
          <p:cNvPr id="17" name="Shape 6">
            <a:extLst>
              <a:ext uri="{FF2B5EF4-FFF2-40B4-BE49-F238E27FC236}">
                <a16:creationId xmlns:a16="http://schemas.microsoft.com/office/drawing/2014/main" id="{6CADE75B-040C-2B87-67F3-EE9FA6C4480E}"/>
              </a:ext>
            </a:extLst>
          </p:cNvPr>
          <p:cNvSpPr/>
          <p:nvPr/>
        </p:nvSpPr>
        <p:spPr>
          <a:xfrm>
            <a:off x="2426910" y="1958978"/>
            <a:ext cx="3074155" cy="9009"/>
          </a:xfrm>
          <a:prstGeom prst="rect">
            <a:avLst/>
          </a:prstGeom>
          <a:solidFill>
            <a:srgbClr val="C00000"/>
          </a:solidFill>
          <a:ln>
            <a:solidFill>
              <a:srgbClr val="953735"/>
            </a:solidFill>
          </a:ln>
        </p:spPr>
      </p:sp>
      <p:sp>
        <p:nvSpPr>
          <p:cNvPr id="19" name="Text 7">
            <a:extLst>
              <a:ext uri="{FF2B5EF4-FFF2-40B4-BE49-F238E27FC236}">
                <a16:creationId xmlns:a16="http://schemas.microsoft.com/office/drawing/2014/main" id="{C213BDC3-4491-2717-C070-62D56BB9227A}"/>
              </a:ext>
            </a:extLst>
          </p:cNvPr>
          <p:cNvSpPr/>
          <p:nvPr/>
        </p:nvSpPr>
        <p:spPr>
          <a:xfrm>
            <a:off x="2426909" y="2014814"/>
            <a:ext cx="1653149" cy="129505"/>
          </a:xfrm>
          <a:prstGeom prst="rect">
            <a:avLst/>
          </a:prstGeom>
          <a:noFill/>
          <a:ln/>
        </p:spPr>
        <p:txBody>
          <a:bodyPr wrap="non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26"/>
              </a:lnSpc>
              <a:buNone/>
            </a:pPr>
            <a:r>
              <a:rPr lang="en-US" sz="1000" b="1" dirty="0">
                <a:solidFill>
                  <a:srgbClr val="8F3432"/>
                </a:solidFill>
                <a:latin typeface="+mj-lt"/>
                <a:ea typeface="Tomorrow Semi Bold"/>
                <a:cs typeface="Tomorrow Semi Bold" pitchFamily="34" charset="-120"/>
              </a:rPr>
              <a:t>Retrieval Pipeline</a:t>
            </a:r>
            <a:endParaRPr lang="en-US" sz="1000" b="1" dirty="0">
              <a:solidFill>
                <a:srgbClr val="8F3432"/>
              </a:solidFill>
              <a:latin typeface="+mj-lt"/>
              <a:ea typeface="Calibri"/>
              <a:cs typeface="Calibri"/>
            </a:endParaRPr>
          </a:p>
        </p:txBody>
      </p:sp>
      <p:sp>
        <p:nvSpPr>
          <p:cNvPr id="21" name="Text 8">
            <a:extLst>
              <a:ext uri="{FF2B5EF4-FFF2-40B4-BE49-F238E27FC236}">
                <a16:creationId xmlns:a16="http://schemas.microsoft.com/office/drawing/2014/main" id="{33DB51A0-9755-D583-D58D-983949970326}"/>
              </a:ext>
            </a:extLst>
          </p:cNvPr>
          <p:cNvSpPr/>
          <p:nvPr/>
        </p:nvSpPr>
        <p:spPr>
          <a:xfrm>
            <a:off x="2426910" y="2178339"/>
            <a:ext cx="3074155" cy="335650"/>
          </a:xfrm>
          <a:prstGeom prst="rect">
            <a:avLst/>
          </a:prstGeom>
          <a:noFill/>
          <a:ln/>
        </p:spPr>
        <p:txBody>
          <a:bodyPr wrap="square" lIns="0" tIns="0" rIns="0" bIns="0" rtlCol="0" anchor="t"/>
          <a:lstStyle>
            <a:defPPr>
              <a:defRPr lang="en-US"/>
            </a:defPPr>
            <a:lvl1pPr marL="0" algn="l" defTabSz="360365" rtl="0" eaLnBrk="1" latinLnBrk="0" hangingPunct="1">
              <a:defRPr sz="709" kern="1200">
                <a:solidFill>
                  <a:schemeClr val="tx1"/>
                </a:solidFill>
                <a:latin typeface="+mn-lt"/>
                <a:ea typeface="+mn-ea"/>
                <a:cs typeface="+mn-cs"/>
              </a:defRPr>
            </a:lvl1pPr>
            <a:lvl2pPr marL="180183" algn="l" defTabSz="360365" rtl="0" eaLnBrk="1" latinLnBrk="0" hangingPunct="1">
              <a:defRPr sz="709" kern="1200">
                <a:solidFill>
                  <a:schemeClr val="tx1"/>
                </a:solidFill>
                <a:latin typeface="+mn-lt"/>
                <a:ea typeface="+mn-ea"/>
                <a:cs typeface="+mn-cs"/>
              </a:defRPr>
            </a:lvl2pPr>
            <a:lvl3pPr marL="360365" algn="l" defTabSz="360365" rtl="0" eaLnBrk="1" latinLnBrk="0" hangingPunct="1">
              <a:defRPr sz="709" kern="1200">
                <a:solidFill>
                  <a:schemeClr val="tx1"/>
                </a:solidFill>
                <a:latin typeface="+mn-lt"/>
                <a:ea typeface="+mn-ea"/>
                <a:cs typeface="+mn-cs"/>
              </a:defRPr>
            </a:lvl3pPr>
            <a:lvl4pPr marL="540548" algn="l" defTabSz="360365" rtl="0" eaLnBrk="1" latinLnBrk="0" hangingPunct="1">
              <a:defRPr sz="709" kern="1200">
                <a:solidFill>
                  <a:schemeClr val="tx1"/>
                </a:solidFill>
                <a:latin typeface="+mn-lt"/>
                <a:ea typeface="+mn-ea"/>
                <a:cs typeface="+mn-cs"/>
              </a:defRPr>
            </a:lvl4pPr>
            <a:lvl5pPr marL="720730" algn="l" defTabSz="360365" rtl="0" eaLnBrk="1" latinLnBrk="0" hangingPunct="1">
              <a:defRPr sz="709" kern="1200">
                <a:solidFill>
                  <a:schemeClr val="tx1"/>
                </a:solidFill>
                <a:latin typeface="+mn-lt"/>
                <a:ea typeface="+mn-ea"/>
                <a:cs typeface="+mn-cs"/>
              </a:defRPr>
            </a:lvl5pPr>
            <a:lvl6pPr marL="900913" algn="l" defTabSz="360365" rtl="0" eaLnBrk="1" latinLnBrk="0" hangingPunct="1">
              <a:defRPr sz="709" kern="1200">
                <a:solidFill>
                  <a:schemeClr val="tx1"/>
                </a:solidFill>
                <a:latin typeface="+mn-lt"/>
                <a:ea typeface="+mn-ea"/>
                <a:cs typeface="+mn-cs"/>
              </a:defRPr>
            </a:lvl6pPr>
            <a:lvl7pPr marL="1081095" algn="l" defTabSz="360365" rtl="0" eaLnBrk="1" latinLnBrk="0" hangingPunct="1">
              <a:defRPr sz="709" kern="1200">
                <a:solidFill>
                  <a:schemeClr val="tx1"/>
                </a:solidFill>
                <a:latin typeface="+mn-lt"/>
                <a:ea typeface="+mn-ea"/>
                <a:cs typeface="+mn-cs"/>
              </a:defRPr>
            </a:lvl7pPr>
            <a:lvl8pPr marL="1261278" algn="l" defTabSz="360365" rtl="0" eaLnBrk="1" latinLnBrk="0" hangingPunct="1">
              <a:defRPr sz="709" kern="1200">
                <a:solidFill>
                  <a:schemeClr val="tx1"/>
                </a:solidFill>
                <a:latin typeface="+mn-lt"/>
                <a:ea typeface="+mn-ea"/>
                <a:cs typeface="+mn-cs"/>
              </a:defRPr>
            </a:lvl8pPr>
            <a:lvl9pPr marL="1441460" algn="l" defTabSz="360365" rtl="0" eaLnBrk="1" latinLnBrk="0" hangingPunct="1">
              <a:defRPr sz="709" kern="1200">
                <a:solidFill>
                  <a:schemeClr val="tx1"/>
                </a:solidFill>
                <a:latin typeface="+mn-lt"/>
                <a:ea typeface="+mn-ea"/>
                <a:cs typeface="+mn-cs"/>
              </a:defRPr>
            </a:lvl9pPr>
          </a:lstStyle>
          <a:p>
            <a:pPr marL="0" indent="0" algn="l">
              <a:lnSpc>
                <a:spcPts val="946"/>
              </a:lnSpc>
              <a:buNone/>
            </a:pPr>
            <a:r>
              <a:rPr lang="en-US" sz="900" dirty="0">
                <a:solidFill>
                  <a:srgbClr val="000000"/>
                </a:solidFill>
                <a:ea typeface="Tomorrow" pitchFamily="34" charset="-122"/>
                <a:cs typeface="Tomorrow" pitchFamily="34" charset="-120"/>
              </a:rPr>
              <a:t>Can a specialized </a:t>
            </a:r>
            <a:r>
              <a:rPr lang="en-US" sz="900" b="1" dirty="0">
                <a:solidFill>
                  <a:srgbClr val="000000"/>
                </a:solidFill>
                <a:ea typeface="Tomorrow" pitchFamily="34" charset="-122"/>
                <a:cs typeface="Tomorrow" pitchFamily="34" charset="-120"/>
              </a:rPr>
              <a:t>agentic</a:t>
            </a:r>
            <a:r>
              <a:rPr lang="en-US" sz="900" dirty="0">
                <a:solidFill>
                  <a:srgbClr val="000000"/>
                </a:solidFill>
                <a:ea typeface="Tomorrow" pitchFamily="34" charset="-122"/>
                <a:cs typeface="Tomorrow" pitchFamily="34" charset="-120"/>
              </a:rPr>
              <a:t> retrieval pipeline </a:t>
            </a:r>
            <a:r>
              <a:rPr lang="en-US" sz="900" b="1" dirty="0">
                <a:solidFill>
                  <a:srgbClr val="000000"/>
                </a:solidFill>
                <a:ea typeface="Tomorrow" pitchFamily="34" charset="-122"/>
                <a:cs typeface="Tomorrow" pitchFamily="34" charset="-120"/>
              </a:rPr>
              <a:t>improve</a:t>
            </a:r>
            <a:r>
              <a:rPr lang="en-US" sz="900" dirty="0">
                <a:solidFill>
                  <a:srgbClr val="000000"/>
                </a:solidFill>
                <a:ea typeface="Tomorrow" pitchFamily="34" charset="-122"/>
                <a:cs typeface="Tomorrow" pitchFamily="34" charset="-120"/>
              </a:rPr>
              <a:t> the quality of the decision support task compared to a general purpose LLM?</a:t>
            </a:r>
            <a:endParaRPr lang="en-US" sz="800" dirty="0">
              <a:solidFill>
                <a:srgbClr val="000000"/>
              </a:solidFill>
            </a:endParaRPr>
          </a:p>
        </p:txBody>
      </p:sp>
    </p:spTree>
    <p:extLst>
      <p:ext uri="{BB962C8B-B14F-4D97-AF65-F5344CB8AC3E}">
        <p14:creationId xmlns:p14="http://schemas.microsoft.com/office/powerpoint/2010/main" val="1949353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06B17-9768-B209-0488-129AAA34DA63}"/>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0443E9D1-CC86-D2F2-EEFB-93FD26BD75C5}"/>
              </a:ext>
            </a:extLst>
          </p:cNvPr>
          <p:cNvSpPr txBox="1"/>
          <p:nvPr/>
        </p:nvSpPr>
        <p:spPr>
          <a:xfrm>
            <a:off x="869002" y="114827"/>
            <a:ext cx="3748948" cy="307777"/>
          </a:xfrm>
          <a:prstGeom prst="rect">
            <a:avLst/>
          </a:prstGeom>
          <a:noFill/>
        </p:spPr>
        <p:txBody>
          <a:bodyPr wrap="square">
            <a:spAutoFit/>
          </a:bodyPr>
          <a:lstStyle/>
          <a:p>
            <a:r>
              <a:rPr lang="en-US" sz="1400" b="1" dirty="0">
                <a:solidFill>
                  <a:srgbClr val="953735"/>
                </a:solidFill>
                <a:latin typeface="Calibri"/>
                <a:ea typeface="Calibri"/>
                <a:cs typeface="Calibri"/>
              </a:rPr>
              <a:t>Foundation and Existing Approaches</a:t>
            </a:r>
            <a:endParaRPr lang="en-US" sz="1400" dirty="0"/>
          </a:p>
        </p:txBody>
      </p:sp>
      <p:sp>
        <p:nvSpPr>
          <p:cNvPr id="50" name="Shape">
            <a:extLst>
              <a:ext uri="{FF2B5EF4-FFF2-40B4-BE49-F238E27FC236}">
                <a16:creationId xmlns:a16="http://schemas.microsoft.com/office/drawing/2014/main" id="{B0FFCF8B-E40A-45FC-9BE9-6C5AC7590240}"/>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1" name="Shape">
            <a:extLst>
              <a:ext uri="{FF2B5EF4-FFF2-40B4-BE49-F238E27FC236}">
                <a16:creationId xmlns:a16="http://schemas.microsoft.com/office/drawing/2014/main" id="{84C1FF30-2E05-4867-B89D-C73DE2A22231}"/>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2" name="Shape">
            <a:extLst>
              <a:ext uri="{FF2B5EF4-FFF2-40B4-BE49-F238E27FC236}">
                <a16:creationId xmlns:a16="http://schemas.microsoft.com/office/drawing/2014/main" id="{C1B1188E-B26D-43B1-BFFA-955B12FD2CEC}"/>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4">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3" name="Shape">
            <a:extLst>
              <a:ext uri="{FF2B5EF4-FFF2-40B4-BE49-F238E27FC236}">
                <a16:creationId xmlns:a16="http://schemas.microsoft.com/office/drawing/2014/main" id="{A43E6E2F-0B30-4D26-823D-66D58DCB21A2}"/>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4" name="Shape">
            <a:extLst>
              <a:ext uri="{FF2B5EF4-FFF2-40B4-BE49-F238E27FC236}">
                <a16:creationId xmlns:a16="http://schemas.microsoft.com/office/drawing/2014/main" id="{72ACFA31-AF2E-48ED-A13E-661E753AF95E}"/>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5" name="Shape">
            <a:extLst>
              <a:ext uri="{FF2B5EF4-FFF2-40B4-BE49-F238E27FC236}">
                <a16:creationId xmlns:a16="http://schemas.microsoft.com/office/drawing/2014/main" id="{38622F77-BC13-416B-9F65-8AFCB46E0C31}"/>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6" name="Shape">
            <a:extLst>
              <a:ext uri="{FF2B5EF4-FFF2-40B4-BE49-F238E27FC236}">
                <a16:creationId xmlns:a16="http://schemas.microsoft.com/office/drawing/2014/main" id="{1DC1BF6D-1624-4B79-B424-48BA9823EA74}"/>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7" name="Shape">
            <a:extLst>
              <a:ext uri="{FF2B5EF4-FFF2-40B4-BE49-F238E27FC236}">
                <a16:creationId xmlns:a16="http://schemas.microsoft.com/office/drawing/2014/main" id="{A86E7E81-C355-4E92-ABD4-2E4ED7B7ACF1}"/>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8" name="Shape">
            <a:extLst>
              <a:ext uri="{FF2B5EF4-FFF2-40B4-BE49-F238E27FC236}">
                <a16:creationId xmlns:a16="http://schemas.microsoft.com/office/drawing/2014/main" id="{41A8A17A-FAA7-4621-B596-AD4B314A5BBA}"/>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9" name="Freeform: Shape 11">
            <a:extLst>
              <a:ext uri="{FF2B5EF4-FFF2-40B4-BE49-F238E27FC236}">
                <a16:creationId xmlns:a16="http://schemas.microsoft.com/office/drawing/2014/main" id="{97AC11AD-0EC3-4A2D-9C38-E25CE8CF85FA}"/>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0" name="Freeform: Shape 12">
            <a:extLst>
              <a:ext uri="{FF2B5EF4-FFF2-40B4-BE49-F238E27FC236}">
                <a16:creationId xmlns:a16="http://schemas.microsoft.com/office/drawing/2014/main" id="{CEA6ECC3-4B5B-4CFD-876B-49C4EDC28AA7}"/>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1" name="Freeform: Shape 13">
            <a:extLst>
              <a:ext uri="{FF2B5EF4-FFF2-40B4-BE49-F238E27FC236}">
                <a16:creationId xmlns:a16="http://schemas.microsoft.com/office/drawing/2014/main" id="{34B2965F-02F7-4F16-90ED-08969A033032}"/>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2" name="Freeform: Shape 14">
            <a:extLst>
              <a:ext uri="{FF2B5EF4-FFF2-40B4-BE49-F238E27FC236}">
                <a16:creationId xmlns:a16="http://schemas.microsoft.com/office/drawing/2014/main" id="{B3F78951-664E-4A75-80ED-269F44E4CD58}"/>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3" name="Freeform: Shape 15">
            <a:extLst>
              <a:ext uri="{FF2B5EF4-FFF2-40B4-BE49-F238E27FC236}">
                <a16:creationId xmlns:a16="http://schemas.microsoft.com/office/drawing/2014/main" id="{6759C065-224A-4D2A-B325-0566CEAC7923}"/>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4" name="Shape">
            <a:extLst>
              <a:ext uri="{FF2B5EF4-FFF2-40B4-BE49-F238E27FC236}">
                <a16:creationId xmlns:a16="http://schemas.microsoft.com/office/drawing/2014/main" id="{88C69627-7EA4-403E-A47E-7DB46458E32A}"/>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5" name="Shape">
            <a:extLst>
              <a:ext uri="{FF2B5EF4-FFF2-40B4-BE49-F238E27FC236}">
                <a16:creationId xmlns:a16="http://schemas.microsoft.com/office/drawing/2014/main" id="{B7D10978-8629-4BEE-829A-5DD4AB7FFCB9}"/>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6" name="Shape">
            <a:extLst>
              <a:ext uri="{FF2B5EF4-FFF2-40B4-BE49-F238E27FC236}">
                <a16:creationId xmlns:a16="http://schemas.microsoft.com/office/drawing/2014/main" id="{2C885619-9C30-46E2-A419-76C805B46C11}"/>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4"/>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7" name="Shape">
            <a:extLst>
              <a:ext uri="{FF2B5EF4-FFF2-40B4-BE49-F238E27FC236}">
                <a16:creationId xmlns:a16="http://schemas.microsoft.com/office/drawing/2014/main" id="{A8C3DDD8-8961-4C4F-AB44-C15CF0584F61}"/>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8" name="Shape">
            <a:extLst>
              <a:ext uri="{FF2B5EF4-FFF2-40B4-BE49-F238E27FC236}">
                <a16:creationId xmlns:a16="http://schemas.microsoft.com/office/drawing/2014/main" id="{8B721E62-B4F9-4737-B536-FA4ECED063AF}"/>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9" name="Shape">
            <a:extLst>
              <a:ext uri="{FF2B5EF4-FFF2-40B4-BE49-F238E27FC236}">
                <a16:creationId xmlns:a16="http://schemas.microsoft.com/office/drawing/2014/main" id="{B827F09D-5048-4FBB-B2C8-6164B6263CDB}"/>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0" name="Shape">
            <a:extLst>
              <a:ext uri="{FF2B5EF4-FFF2-40B4-BE49-F238E27FC236}">
                <a16:creationId xmlns:a16="http://schemas.microsoft.com/office/drawing/2014/main" id="{85BAA661-C50E-45C9-98DC-EF9EA004A0F7}"/>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1" name="Shape">
            <a:extLst>
              <a:ext uri="{FF2B5EF4-FFF2-40B4-BE49-F238E27FC236}">
                <a16:creationId xmlns:a16="http://schemas.microsoft.com/office/drawing/2014/main" id="{5ED99607-A1BD-454A-B43A-B6EB39757194}"/>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2" name="Shape">
            <a:extLst>
              <a:ext uri="{FF2B5EF4-FFF2-40B4-BE49-F238E27FC236}">
                <a16:creationId xmlns:a16="http://schemas.microsoft.com/office/drawing/2014/main" id="{BEA136D6-9708-47D9-AF33-F0619929B7B3}"/>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3" name="Shape">
            <a:extLst>
              <a:ext uri="{FF2B5EF4-FFF2-40B4-BE49-F238E27FC236}">
                <a16:creationId xmlns:a16="http://schemas.microsoft.com/office/drawing/2014/main" id="{FB413190-DA43-4EA0-BCD9-C0AA91811A86}"/>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4" name="Shape">
            <a:extLst>
              <a:ext uri="{FF2B5EF4-FFF2-40B4-BE49-F238E27FC236}">
                <a16:creationId xmlns:a16="http://schemas.microsoft.com/office/drawing/2014/main" id="{61A7A11A-8E4D-41A2-B144-D7D2348A6D87}"/>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5" name="Shape">
            <a:extLst>
              <a:ext uri="{FF2B5EF4-FFF2-40B4-BE49-F238E27FC236}">
                <a16:creationId xmlns:a16="http://schemas.microsoft.com/office/drawing/2014/main" id="{038883AB-6AE8-4497-9ED8-AB3B3374E65C}"/>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6" name="Shape">
            <a:extLst>
              <a:ext uri="{FF2B5EF4-FFF2-40B4-BE49-F238E27FC236}">
                <a16:creationId xmlns:a16="http://schemas.microsoft.com/office/drawing/2014/main" id="{B99A1FA0-A010-4089-B620-EA58003D3EB5}"/>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7" name="TextBox 29">
            <a:extLst>
              <a:ext uri="{FF2B5EF4-FFF2-40B4-BE49-F238E27FC236}">
                <a16:creationId xmlns:a16="http://schemas.microsoft.com/office/drawing/2014/main" id="{32099392-CB3D-48D7-B5C7-FECAF3B52D26}"/>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78" name="TextBox 30">
            <a:extLst>
              <a:ext uri="{FF2B5EF4-FFF2-40B4-BE49-F238E27FC236}">
                <a16:creationId xmlns:a16="http://schemas.microsoft.com/office/drawing/2014/main" id="{58C1ED4E-EB04-466A-ACDC-A476C4D1249B}"/>
              </a:ext>
            </a:extLst>
          </p:cNvPr>
          <p:cNvSpPr txBox="1"/>
          <p:nvPr/>
        </p:nvSpPr>
        <p:spPr>
          <a:xfrm>
            <a:off x="1720269" y="1323879"/>
            <a:ext cx="487650"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sp>
        <p:nvSpPr>
          <p:cNvPr id="79" name="TextBox 31">
            <a:extLst>
              <a:ext uri="{FF2B5EF4-FFF2-40B4-BE49-F238E27FC236}">
                <a16:creationId xmlns:a16="http://schemas.microsoft.com/office/drawing/2014/main" id="{5E996A40-3223-46E1-93DD-66D32651F58A}"/>
              </a:ext>
            </a:extLst>
          </p:cNvPr>
          <p:cNvSpPr txBox="1"/>
          <p:nvPr/>
        </p:nvSpPr>
        <p:spPr>
          <a:xfrm>
            <a:off x="2576516" y="1785961"/>
            <a:ext cx="337975" cy="261610"/>
          </a:xfrm>
          <a:prstGeom prst="rect">
            <a:avLst/>
          </a:prstGeom>
          <a:solidFill>
            <a:schemeClr val="bg2"/>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dirty="0"/>
              <a:t>03</a:t>
            </a:r>
          </a:p>
        </p:txBody>
      </p:sp>
      <p:grpSp>
        <p:nvGrpSpPr>
          <p:cNvPr id="81" name="Group 33">
            <a:extLst>
              <a:ext uri="{FF2B5EF4-FFF2-40B4-BE49-F238E27FC236}">
                <a16:creationId xmlns:a16="http://schemas.microsoft.com/office/drawing/2014/main" id="{E4005E55-4396-49A0-913A-BFD58F4F47DA}"/>
              </a:ext>
            </a:extLst>
          </p:cNvPr>
          <p:cNvGrpSpPr/>
          <p:nvPr/>
        </p:nvGrpSpPr>
        <p:grpSpPr>
          <a:xfrm>
            <a:off x="245275" y="2643365"/>
            <a:ext cx="1089430" cy="400403"/>
            <a:chOff x="332933" y="2620027"/>
            <a:chExt cx="2926083" cy="846667"/>
          </a:xfrm>
        </p:grpSpPr>
        <p:sp>
          <p:nvSpPr>
            <p:cNvPr id="82" name="TextBox 34">
              <a:extLst>
                <a:ext uri="{FF2B5EF4-FFF2-40B4-BE49-F238E27FC236}">
                  <a16:creationId xmlns:a16="http://schemas.microsoft.com/office/drawing/2014/main" id="{BD52D18C-5980-4D79-85F9-4044B5BB0AB7}"/>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Operative Context</a:t>
              </a:r>
            </a:p>
          </p:txBody>
        </p:sp>
        <p:sp>
          <p:nvSpPr>
            <p:cNvPr id="83" name="TextBox 35">
              <a:extLst>
                <a:ext uri="{FF2B5EF4-FFF2-40B4-BE49-F238E27FC236}">
                  <a16:creationId xmlns:a16="http://schemas.microsoft.com/office/drawing/2014/main" id="{B257DF70-39A9-40E4-A05E-9262A5B97C84}"/>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4" name="TextBox 36">
            <a:extLst>
              <a:ext uri="{FF2B5EF4-FFF2-40B4-BE49-F238E27FC236}">
                <a16:creationId xmlns:a16="http://schemas.microsoft.com/office/drawing/2014/main" id="{BC7D07EF-05AB-4A99-8258-3FA39D4999DB}"/>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85" name="TextBox 38">
            <a:extLst>
              <a:ext uri="{FF2B5EF4-FFF2-40B4-BE49-F238E27FC236}">
                <a16:creationId xmlns:a16="http://schemas.microsoft.com/office/drawing/2014/main" id="{E42B35C2-3CD7-4F10-A5FE-450782541781}"/>
              </a:ext>
            </a:extLst>
          </p:cNvPr>
          <p:cNvSpPr txBox="1"/>
          <p:nvPr/>
        </p:nvSpPr>
        <p:spPr>
          <a:xfrm>
            <a:off x="4245974" y="2588081"/>
            <a:ext cx="1089429" cy="48224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Limitations and Future Work</a:t>
            </a:r>
            <a:endParaRPr lang="en-US" sz="1100" dirty="0"/>
          </a:p>
        </p:txBody>
      </p:sp>
      <p:grpSp>
        <p:nvGrpSpPr>
          <p:cNvPr id="86" name="Group 40">
            <a:extLst>
              <a:ext uri="{FF2B5EF4-FFF2-40B4-BE49-F238E27FC236}">
                <a16:creationId xmlns:a16="http://schemas.microsoft.com/office/drawing/2014/main" id="{96770F31-3FB1-47AE-A26A-53677CD4D272}"/>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EB7047E6-DD19-490A-A543-09EB02CE4840}"/>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b="1" dirty="0">
                  <a:latin typeface="+mj-lt"/>
                  <a:ea typeface="Calibri"/>
                  <a:cs typeface="Calibri"/>
                </a:rPr>
                <a:t>Foundation and Existing Approaches</a:t>
              </a:r>
              <a:endParaRPr lang="en-US" sz="1100" b="1" dirty="0">
                <a:latin typeface="+mj-lt"/>
              </a:endParaRPr>
            </a:p>
          </p:txBody>
        </p:sp>
        <p:sp>
          <p:nvSpPr>
            <p:cNvPr id="88" name="TextBox 42">
              <a:extLst>
                <a:ext uri="{FF2B5EF4-FFF2-40B4-BE49-F238E27FC236}">
                  <a16:creationId xmlns:a16="http://schemas.microsoft.com/office/drawing/2014/main" id="{4E88C763-99A0-4FDB-AE4D-658DF252245F}"/>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9" name="TextBox 43">
            <a:extLst>
              <a:ext uri="{FF2B5EF4-FFF2-40B4-BE49-F238E27FC236}">
                <a16:creationId xmlns:a16="http://schemas.microsoft.com/office/drawing/2014/main" id="{CEDCAD10-921D-400D-BE21-9E0F19DD074B}"/>
              </a:ext>
            </a:extLst>
          </p:cNvPr>
          <p:cNvSpPr txBox="1"/>
          <p:nvPr/>
        </p:nvSpPr>
        <p:spPr>
          <a:xfrm>
            <a:off x="3438475" y="1803604"/>
            <a:ext cx="362694" cy="261610"/>
          </a:xfrm>
          <a:prstGeom prst="rect">
            <a:avLst/>
          </a:prstGeom>
          <a:solidFill>
            <a:schemeClr val="bg2"/>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0" name="Shape">
            <a:extLst>
              <a:ext uri="{FF2B5EF4-FFF2-40B4-BE49-F238E27FC236}">
                <a16:creationId xmlns:a16="http://schemas.microsoft.com/office/drawing/2014/main" id="{20AB7A13-87F2-4FEB-8F9D-46FA11A02530}"/>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91" name="TextBox 45">
            <a:extLst>
              <a:ext uri="{FF2B5EF4-FFF2-40B4-BE49-F238E27FC236}">
                <a16:creationId xmlns:a16="http://schemas.microsoft.com/office/drawing/2014/main" id="{6D9C1BC3-A854-409C-9817-7C1F5D3C5DEE}"/>
              </a:ext>
            </a:extLst>
          </p:cNvPr>
          <p:cNvSpPr txBox="1"/>
          <p:nvPr/>
        </p:nvSpPr>
        <p:spPr>
          <a:xfrm>
            <a:off x="1687762" y="1811299"/>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92" name="TextBox 46">
            <a:extLst>
              <a:ext uri="{FF2B5EF4-FFF2-40B4-BE49-F238E27FC236}">
                <a16:creationId xmlns:a16="http://schemas.microsoft.com/office/drawing/2014/main" id="{ED86F850-1143-4A80-BD07-BAF2B5856991}"/>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
        <p:nvSpPr>
          <p:cNvPr id="47" name="Shape">
            <a:extLst>
              <a:ext uri="{FF2B5EF4-FFF2-40B4-BE49-F238E27FC236}">
                <a16:creationId xmlns:a16="http://schemas.microsoft.com/office/drawing/2014/main" id="{29463D4E-D343-475F-9E1C-B1D5B2970758}"/>
              </a:ext>
            </a:extLst>
          </p:cNvPr>
          <p:cNvSpPr/>
          <p:nvPr/>
        </p:nvSpPr>
        <p:spPr>
          <a:xfrm>
            <a:off x="247700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3" name="Shape">
            <a:extLst>
              <a:ext uri="{FF2B5EF4-FFF2-40B4-BE49-F238E27FC236}">
                <a16:creationId xmlns:a16="http://schemas.microsoft.com/office/drawing/2014/main" id="{69710625-0FEC-40D5-BD8E-157A8F75C2FE}"/>
              </a:ext>
            </a:extLst>
          </p:cNvPr>
          <p:cNvSpPr/>
          <p:nvPr/>
        </p:nvSpPr>
        <p:spPr>
          <a:xfrm>
            <a:off x="337227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4" name="TextBox 31">
            <a:extLst>
              <a:ext uri="{FF2B5EF4-FFF2-40B4-BE49-F238E27FC236}">
                <a16:creationId xmlns:a16="http://schemas.microsoft.com/office/drawing/2014/main" id="{F42E83AA-3769-4E0D-A89B-96FC97115CF7}"/>
              </a:ext>
            </a:extLst>
          </p:cNvPr>
          <p:cNvSpPr txBox="1"/>
          <p:nvPr/>
        </p:nvSpPr>
        <p:spPr>
          <a:xfrm>
            <a:off x="2570346" y="1785961"/>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dirty="0"/>
              <a:t>03</a:t>
            </a:r>
          </a:p>
        </p:txBody>
      </p:sp>
      <p:sp>
        <p:nvSpPr>
          <p:cNvPr id="95" name="TextBox 43">
            <a:extLst>
              <a:ext uri="{FF2B5EF4-FFF2-40B4-BE49-F238E27FC236}">
                <a16:creationId xmlns:a16="http://schemas.microsoft.com/office/drawing/2014/main" id="{F24582C4-9490-45F2-B452-6BD6BD3148F6}"/>
              </a:ext>
            </a:extLst>
          </p:cNvPr>
          <p:cNvSpPr txBox="1"/>
          <p:nvPr/>
        </p:nvSpPr>
        <p:spPr>
          <a:xfrm>
            <a:off x="3432305" y="1803604"/>
            <a:ext cx="362694"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6" name="Shape">
            <a:extLst>
              <a:ext uri="{FF2B5EF4-FFF2-40B4-BE49-F238E27FC236}">
                <a16:creationId xmlns:a16="http://schemas.microsoft.com/office/drawing/2014/main" id="{8496EB34-C1CC-42A2-91E1-0A96C11841A1}"/>
              </a:ext>
            </a:extLst>
          </p:cNvPr>
          <p:cNvSpPr/>
          <p:nvPr/>
        </p:nvSpPr>
        <p:spPr>
          <a:xfrm>
            <a:off x="424998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Tree>
    <p:extLst>
      <p:ext uri="{BB962C8B-B14F-4D97-AF65-F5344CB8AC3E}">
        <p14:creationId xmlns:p14="http://schemas.microsoft.com/office/powerpoint/2010/main" val="826483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A15520-A692-2428-37BF-BE781BB5C1FD}"/>
              </a:ext>
            </a:extLst>
          </p:cNvPr>
          <p:cNvSpPr txBox="1"/>
          <p:nvPr/>
        </p:nvSpPr>
        <p:spPr>
          <a:xfrm>
            <a:off x="1318003" y="188368"/>
            <a:ext cx="392474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812433"/>
                </a:solidFill>
                <a:latin typeface="Calibri"/>
                <a:ea typeface="Calibri"/>
                <a:cs typeface="Calibri"/>
              </a:rPr>
              <a:t>Current SOTA for DSS in space missions</a:t>
            </a:r>
            <a:endParaRPr lang="en-US" dirty="0"/>
          </a:p>
        </p:txBody>
      </p:sp>
      <p:sp>
        <p:nvSpPr>
          <p:cNvPr id="3" name="Rettangolo con angoli arrotondati 2">
            <a:extLst>
              <a:ext uri="{FF2B5EF4-FFF2-40B4-BE49-F238E27FC236}">
                <a16:creationId xmlns:a16="http://schemas.microsoft.com/office/drawing/2014/main" id="{CE6616CA-366A-4F42-8A3A-938A0B000489}"/>
              </a:ext>
            </a:extLst>
          </p:cNvPr>
          <p:cNvSpPr/>
          <p:nvPr/>
        </p:nvSpPr>
        <p:spPr>
          <a:xfrm>
            <a:off x="708843" y="835025"/>
            <a:ext cx="2139950" cy="1225550"/>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5" name="CasellaDiTesto 4">
            <a:extLst>
              <a:ext uri="{FF2B5EF4-FFF2-40B4-BE49-F238E27FC236}">
                <a16:creationId xmlns:a16="http://schemas.microsoft.com/office/drawing/2014/main" id="{24E49A34-0609-4488-8E05-49BE070187A0}"/>
              </a:ext>
            </a:extLst>
          </p:cNvPr>
          <p:cNvSpPr txBox="1"/>
          <p:nvPr/>
        </p:nvSpPr>
        <p:spPr>
          <a:xfrm>
            <a:off x="765993" y="909191"/>
            <a:ext cx="1962150" cy="1231106"/>
          </a:xfrm>
          <a:prstGeom prst="rect">
            <a:avLst/>
          </a:prstGeom>
          <a:noFill/>
        </p:spPr>
        <p:txBody>
          <a:bodyPr wrap="square" rtlCol="0">
            <a:spAutoFit/>
          </a:bodyPr>
          <a:lstStyle/>
          <a:p>
            <a:pPr algn="ctr">
              <a:spcAft>
                <a:spcPts val="300"/>
              </a:spcAft>
            </a:pPr>
            <a:r>
              <a:rPr lang="it-IT" sz="800" b="1" dirty="0" err="1">
                <a:solidFill>
                  <a:schemeClr val="tx1"/>
                </a:solidFill>
                <a:latin typeface="+mn-lt"/>
              </a:rPr>
              <a:t>Kaisheng</a:t>
            </a:r>
            <a:r>
              <a:rPr lang="it-IT" sz="800" b="1" dirty="0">
                <a:solidFill>
                  <a:schemeClr val="tx1"/>
                </a:solidFill>
                <a:latin typeface="+mn-lt"/>
              </a:rPr>
              <a:t> et al. | </a:t>
            </a:r>
            <a:r>
              <a:rPr lang="it-IT" sz="800" b="1" dirty="0" err="1">
                <a:solidFill>
                  <a:schemeClr val="tx1"/>
                </a:solidFill>
                <a:latin typeface="+mn-lt"/>
              </a:rPr>
              <a:t>Autonomous</a:t>
            </a:r>
            <a:r>
              <a:rPr lang="it-IT" sz="800" b="1" dirty="0">
                <a:solidFill>
                  <a:schemeClr val="tx1"/>
                </a:solidFill>
                <a:latin typeface="+mn-lt"/>
              </a:rPr>
              <a:t> EVA [2026] </a:t>
            </a:r>
          </a:p>
          <a:p>
            <a:pPr algn="ctr"/>
            <a:endParaRPr lang="it-IT" sz="800" dirty="0">
              <a:solidFill>
                <a:schemeClr val="tx1"/>
              </a:solidFill>
              <a:latin typeface="+mn-lt"/>
            </a:endParaRPr>
          </a:p>
          <a:p>
            <a:pPr marL="171450" indent="-171450" algn="ctr">
              <a:spcAft>
                <a:spcPts val="300"/>
              </a:spcAft>
              <a:buFont typeface="Arial" panose="020B0604020202020204" pitchFamily="34" charset="0"/>
              <a:buChar char="•"/>
            </a:pPr>
            <a:r>
              <a:rPr lang="it-IT" sz="800" dirty="0">
                <a:solidFill>
                  <a:schemeClr val="tx1"/>
                </a:solidFill>
                <a:latin typeface="+mn-lt"/>
              </a:rPr>
              <a:t>Earth-</a:t>
            </a:r>
            <a:r>
              <a:rPr lang="it-IT" sz="800" dirty="0" err="1">
                <a:solidFill>
                  <a:schemeClr val="tx1"/>
                </a:solidFill>
                <a:latin typeface="+mn-lt"/>
              </a:rPr>
              <a:t>independent</a:t>
            </a:r>
            <a:r>
              <a:rPr lang="it-IT" sz="800" dirty="0">
                <a:solidFill>
                  <a:schemeClr val="tx1"/>
                </a:solidFill>
                <a:latin typeface="+mn-lt"/>
              </a:rPr>
              <a:t> DSS for</a:t>
            </a:r>
            <a:r>
              <a:rPr lang="it-IT" sz="800" b="1" dirty="0">
                <a:solidFill>
                  <a:schemeClr val="tx1"/>
                </a:solidFill>
                <a:latin typeface="+mn-lt"/>
              </a:rPr>
              <a:t> deep </a:t>
            </a:r>
            <a:r>
              <a:rPr lang="it-IT" sz="800" b="1" dirty="0" err="1">
                <a:solidFill>
                  <a:schemeClr val="tx1"/>
                </a:solidFill>
                <a:latin typeface="+mn-lt"/>
              </a:rPr>
              <a:t>space</a:t>
            </a:r>
            <a:r>
              <a:rPr lang="it-IT" sz="800" b="1" dirty="0">
                <a:solidFill>
                  <a:schemeClr val="tx1"/>
                </a:solidFill>
                <a:latin typeface="+mn-lt"/>
              </a:rPr>
              <a:t> </a:t>
            </a:r>
            <a:r>
              <a:rPr lang="it-IT" sz="800" b="1" dirty="0" err="1">
                <a:solidFill>
                  <a:schemeClr val="tx1"/>
                </a:solidFill>
                <a:latin typeface="+mn-lt"/>
              </a:rPr>
              <a:t>operations</a:t>
            </a:r>
            <a:r>
              <a:rPr lang="it-IT" sz="800" dirty="0">
                <a:solidFill>
                  <a:schemeClr val="tx1"/>
                </a:solidFill>
                <a:latin typeface="+mn-lt"/>
              </a:rPr>
              <a:t>.</a:t>
            </a:r>
          </a:p>
          <a:p>
            <a:pPr marL="171450" indent="-171450" algn="ctr">
              <a:spcAft>
                <a:spcPts val="300"/>
              </a:spcAft>
              <a:buFont typeface="Arial" panose="020B0604020202020204" pitchFamily="34" charset="0"/>
              <a:buChar char="•"/>
            </a:pPr>
            <a:r>
              <a:rPr lang="it-IT" sz="800" dirty="0" err="1">
                <a:solidFill>
                  <a:schemeClr val="tx1"/>
                </a:solidFill>
                <a:latin typeface="+mn-lt"/>
              </a:rPr>
              <a:t>Agentic</a:t>
            </a:r>
            <a:r>
              <a:rPr lang="it-IT" sz="800" dirty="0">
                <a:solidFill>
                  <a:schemeClr val="tx1"/>
                </a:solidFill>
                <a:latin typeface="+mn-lt"/>
              </a:rPr>
              <a:t> AI </a:t>
            </a:r>
            <a:r>
              <a:rPr lang="it-IT" sz="800" dirty="0" err="1">
                <a:solidFill>
                  <a:schemeClr val="tx1"/>
                </a:solidFill>
                <a:latin typeface="+mn-lt"/>
              </a:rPr>
              <a:t>integrating</a:t>
            </a:r>
            <a:r>
              <a:rPr lang="it-IT" sz="800" dirty="0">
                <a:solidFill>
                  <a:schemeClr val="tx1"/>
                </a:solidFill>
                <a:latin typeface="+mn-lt"/>
              </a:rPr>
              <a:t> fine-</a:t>
            </a:r>
            <a:r>
              <a:rPr lang="it-IT" sz="800" dirty="0" err="1">
                <a:solidFill>
                  <a:schemeClr val="tx1"/>
                </a:solidFill>
                <a:latin typeface="+mn-lt"/>
              </a:rPr>
              <a:t>tuned</a:t>
            </a:r>
            <a:r>
              <a:rPr lang="it-IT" sz="800" dirty="0">
                <a:solidFill>
                  <a:schemeClr val="tx1"/>
                </a:solidFill>
                <a:latin typeface="+mn-lt"/>
              </a:rPr>
              <a:t> </a:t>
            </a:r>
            <a:r>
              <a:rPr lang="it-IT" sz="800" dirty="0" err="1">
                <a:solidFill>
                  <a:schemeClr val="tx1"/>
                </a:solidFill>
                <a:latin typeface="+mn-lt"/>
              </a:rPr>
              <a:t>LLMs</a:t>
            </a:r>
            <a:r>
              <a:rPr lang="it-IT" sz="800" dirty="0">
                <a:solidFill>
                  <a:schemeClr val="tx1"/>
                </a:solidFill>
                <a:latin typeface="+mn-lt"/>
              </a:rPr>
              <a:t>, RAG and </a:t>
            </a:r>
            <a:r>
              <a:rPr lang="it-IT" sz="800" dirty="0" err="1">
                <a:solidFill>
                  <a:schemeClr val="tx1"/>
                </a:solidFill>
                <a:latin typeface="+mn-lt"/>
              </a:rPr>
              <a:t>physics</a:t>
            </a:r>
            <a:r>
              <a:rPr lang="it-IT" sz="800" dirty="0">
                <a:solidFill>
                  <a:schemeClr val="tx1"/>
                </a:solidFill>
                <a:latin typeface="+mn-lt"/>
              </a:rPr>
              <a:t> </a:t>
            </a:r>
            <a:r>
              <a:rPr lang="it-IT" sz="800" dirty="0" err="1">
                <a:solidFill>
                  <a:schemeClr val="tx1"/>
                </a:solidFill>
                <a:latin typeface="+mn-lt"/>
              </a:rPr>
              <a:t>based</a:t>
            </a:r>
            <a:r>
              <a:rPr lang="it-IT" sz="800" dirty="0">
                <a:solidFill>
                  <a:schemeClr val="tx1"/>
                </a:solidFill>
                <a:latin typeface="+mn-lt"/>
              </a:rPr>
              <a:t> </a:t>
            </a:r>
            <a:r>
              <a:rPr lang="it-IT" sz="800" dirty="0" err="1">
                <a:solidFill>
                  <a:schemeClr val="tx1"/>
                </a:solidFill>
                <a:latin typeface="+mn-lt"/>
              </a:rPr>
              <a:t>simulations</a:t>
            </a:r>
            <a:r>
              <a:rPr lang="it-IT" sz="800" dirty="0">
                <a:solidFill>
                  <a:schemeClr val="tx1"/>
                </a:solidFill>
                <a:latin typeface="+mn-lt"/>
              </a:rPr>
              <a:t>. </a:t>
            </a:r>
          </a:p>
          <a:p>
            <a:endParaRPr lang="it-IT" sz="800" dirty="0">
              <a:latin typeface="+mn-lt"/>
            </a:endParaRPr>
          </a:p>
        </p:txBody>
      </p:sp>
      <p:sp>
        <p:nvSpPr>
          <p:cNvPr id="6" name="Rettangolo con angoli arrotondati 5">
            <a:extLst>
              <a:ext uri="{FF2B5EF4-FFF2-40B4-BE49-F238E27FC236}">
                <a16:creationId xmlns:a16="http://schemas.microsoft.com/office/drawing/2014/main" id="{4EE7423C-8018-496A-AF38-AD834FC6A18E}"/>
              </a:ext>
            </a:extLst>
          </p:cNvPr>
          <p:cNvSpPr/>
          <p:nvPr/>
        </p:nvSpPr>
        <p:spPr>
          <a:xfrm>
            <a:off x="3102793" y="835025"/>
            <a:ext cx="2139950" cy="1225550"/>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7" name="CasellaDiTesto 6">
            <a:extLst>
              <a:ext uri="{FF2B5EF4-FFF2-40B4-BE49-F238E27FC236}">
                <a16:creationId xmlns:a16="http://schemas.microsoft.com/office/drawing/2014/main" id="{34BEBD4D-2115-49E0-9137-8A1AFD73F5B0}"/>
              </a:ext>
            </a:extLst>
          </p:cNvPr>
          <p:cNvSpPr txBox="1"/>
          <p:nvPr/>
        </p:nvSpPr>
        <p:spPr>
          <a:xfrm>
            <a:off x="3159943" y="909191"/>
            <a:ext cx="1962150" cy="1315745"/>
          </a:xfrm>
          <a:prstGeom prst="rect">
            <a:avLst/>
          </a:prstGeom>
          <a:noFill/>
        </p:spPr>
        <p:txBody>
          <a:bodyPr wrap="square" rtlCol="0">
            <a:spAutoFit/>
          </a:bodyPr>
          <a:lstStyle/>
          <a:p>
            <a:pPr algn="ctr">
              <a:spcAft>
                <a:spcPts val="300"/>
              </a:spcAft>
            </a:pPr>
            <a:r>
              <a:rPr lang="it-IT" sz="800" b="1" dirty="0">
                <a:solidFill>
                  <a:schemeClr val="tx1"/>
                </a:solidFill>
                <a:latin typeface="+mn-lt"/>
              </a:rPr>
              <a:t>Maranto et al. | LLMSAT [2024]</a:t>
            </a:r>
          </a:p>
          <a:p>
            <a:pPr algn="ctr"/>
            <a:endParaRPr lang="it-IT" sz="800" dirty="0">
              <a:solidFill>
                <a:schemeClr val="tx1"/>
              </a:solidFill>
              <a:latin typeface="+mn-lt"/>
            </a:endParaRPr>
          </a:p>
          <a:p>
            <a:pPr marL="171450" indent="-171450" algn="ctr">
              <a:spcAft>
                <a:spcPts val="300"/>
              </a:spcAft>
              <a:buFont typeface="Arial" panose="020B0604020202020204" pitchFamily="34" charset="0"/>
              <a:buChar char="•"/>
            </a:pPr>
            <a:r>
              <a:rPr lang="it-IT" sz="800" dirty="0">
                <a:solidFill>
                  <a:schemeClr val="tx1"/>
                </a:solidFill>
                <a:latin typeface="+mn-lt"/>
              </a:rPr>
              <a:t>High-</a:t>
            </a:r>
            <a:r>
              <a:rPr lang="it-IT" sz="800" dirty="0" err="1">
                <a:solidFill>
                  <a:schemeClr val="tx1"/>
                </a:solidFill>
                <a:latin typeface="+mn-lt"/>
              </a:rPr>
              <a:t>level</a:t>
            </a:r>
            <a:r>
              <a:rPr lang="it-IT" sz="800" dirty="0">
                <a:solidFill>
                  <a:schemeClr val="tx1"/>
                </a:solidFill>
                <a:latin typeface="+mn-lt"/>
              </a:rPr>
              <a:t> mission planning and </a:t>
            </a:r>
            <a:r>
              <a:rPr lang="it-IT" sz="800" dirty="0" err="1">
                <a:solidFill>
                  <a:schemeClr val="tx1"/>
                </a:solidFill>
                <a:latin typeface="+mn-lt"/>
              </a:rPr>
              <a:t>decision</a:t>
            </a:r>
            <a:r>
              <a:rPr lang="it-IT" sz="800" dirty="0">
                <a:solidFill>
                  <a:schemeClr val="tx1"/>
                </a:solidFill>
                <a:latin typeface="+mn-lt"/>
              </a:rPr>
              <a:t> support for </a:t>
            </a:r>
            <a:r>
              <a:rPr lang="it-IT" sz="800" b="1" dirty="0" err="1">
                <a:solidFill>
                  <a:schemeClr val="tx1"/>
                </a:solidFill>
                <a:latin typeface="+mn-lt"/>
              </a:rPr>
              <a:t>space</a:t>
            </a:r>
            <a:r>
              <a:rPr lang="it-IT" sz="800" b="1" dirty="0">
                <a:solidFill>
                  <a:schemeClr val="tx1"/>
                </a:solidFill>
                <a:latin typeface="+mn-lt"/>
              </a:rPr>
              <a:t> </a:t>
            </a:r>
            <a:r>
              <a:rPr lang="it-IT" sz="800" b="1" dirty="0" err="1">
                <a:solidFill>
                  <a:schemeClr val="tx1"/>
                </a:solidFill>
                <a:latin typeface="+mn-lt"/>
              </a:rPr>
              <a:t>exploration</a:t>
            </a:r>
            <a:r>
              <a:rPr lang="it-IT" sz="800" dirty="0">
                <a:solidFill>
                  <a:schemeClr val="tx1"/>
                </a:solidFill>
                <a:latin typeface="+mn-lt"/>
              </a:rPr>
              <a:t>.</a:t>
            </a:r>
          </a:p>
          <a:p>
            <a:pPr marL="171450" indent="-171450" algn="ctr">
              <a:spcAft>
                <a:spcPts val="300"/>
              </a:spcAft>
              <a:buFont typeface="Arial" panose="020B0604020202020204" pitchFamily="34" charset="0"/>
              <a:buChar char="•"/>
            </a:pPr>
            <a:r>
              <a:rPr lang="it-IT" sz="800" dirty="0" err="1">
                <a:solidFill>
                  <a:schemeClr val="tx1"/>
                </a:solidFill>
                <a:latin typeface="+mn-lt"/>
              </a:rPr>
              <a:t>Hierarchical</a:t>
            </a:r>
            <a:r>
              <a:rPr lang="it-IT" sz="800" dirty="0">
                <a:solidFill>
                  <a:schemeClr val="tx1"/>
                </a:solidFill>
                <a:latin typeface="+mn-lt"/>
              </a:rPr>
              <a:t> LLM </a:t>
            </a:r>
            <a:r>
              <a:rPr lang="it-IT" sz="800" dirty="0" err="1">
                <a:solidFill>
                  <a:schemeClr val="tx1"/>
                </a:solidFill>
                <a:latin typeface="+mn-lt"/>
              </a:rPr>
              <a:t>integrating</a:t>
            </a:r>
            <a:r>
              <a:rPr lang="it-IT" sz="800" dirty="0">
                <a:solidFill>
                  <a:schemeClr val="tx1"/>
                </a:solidFill>
                <a:latin typeface="+mn-lt"/>
              </a:rPr>
              <a:t> RAG, </a:t>
            </a:r>
            <a:r>
              <a:rPr lang="it-IT" sz="800" dirty="0" err="1">
                <a:solidFill>
                  <a:schemeClr val="tx1"/>
                </a:solidFill>
                <a:latin typeface="+mn-lt"/>
              </a:rPr>
              <a:t>flight</a:t>
            </a:r>
            <a:r>
              <a:rPr lang="it-IT" sz="800" dirty="0">
                <a:solidFill>
                  <a:schemeClr val="tx1"/>
                </a:solidFill>
                <a:latin typeface="+mn-lt"/>
              </a:rPr>
              <a:t>-software </a:t>
            </a:r>
            <a:r>
              <a:rPr lang="it-IT" sz="800" dirty="0" err="1">
                <a:solidFill>
                  <a:schemeClr val="tx1"/>
                </a:solidFill>
                <a:latin typeface="+mn-lt"/>
              </a:rPr>
              <a:t>interfaces</a:t>
            </a:r>
            <a:r>
              <a:rPr lang="it-IT" sz="800" dirty="0">
                <a:solidFill>
                  <a:schemeClr val="tx1"/>
                </a:solidFill>
                <a:latin typeface="+mn-lt"/>
              </a:rPr>
              <a:t> and </a:t>
            </a:r>
            <a:r>
              <a:rPr lang="it-IT" sz="800" dirty="0" err="1">
                <a:solidFill>
                  <a:schemeClr val="tx1"/>
                </a:solidFill>
                <a:latin typeface="+mn-lt"/>
              </a:rPr>
              <a:t>simulation</a:t>
            </a:r>
            <a:r>
              <a:rPr lang="it-IT" sz="800" dirty="0">
                <a:solidFill>
                  <a:schemeClr val="tx1"/>
                </a:solidFill>
                <a:latin typeface="+mn-lt"/>
              </a:rPr>
              <a:t> </a:t>
            </a:r>
            <a:r>
              <a:rPr lang="it-IT" sz="800" dirty="0" err="1">
                <a:solidFill>
                  <a:schemeClr val="tx1"/>
                </a:solidFill>
                <a:latin typeface="+mn-lt"/>
              </a:rPr>
              <a:t>based</a:t>
            </a:r>
            <a:r>
              <a:rPr lang="it-IT" sz="800" dirty="0">
                <a:solidFill>
                  <a:schemeClr val="tx1"/>
                </a:solidFill>
                <a:latin typeface="+mn-lt"/>
              </a:rPr>
              <a:t> planning.</a:t>
            </a:r>
          </a:p>
          <a:p>
            <a:endParaRPr lang="it-IT" sz="800" dirty="0">
              <a:latin typeface="+mn-lt"/>
            </a:endParaRPr>
          </a:p>
        </p:txBody>
      </p:sp>
      <p:sp>
        <p:nvSpPr>
          <p:cNvPr id="8" name="Rettangolo con angoli arrotondati 7">
            <a:extLst>
              <a:ext uri="{FF2B5EF4-FFF2-40B4-BE49-F238E27FC236}">
                <a16:creationId xmlns:a16="http://schemas.microsoft.com/office/drawing/2014/main" id="{DFE8BEB6-FE51-45BB-8EFC-8A4C1B6A25AE}"/>
              </a:ext>
            </a:extLst>
          </p:cNvPr>
          <p:cNvSpPr/>
          <p:nvPr/>
        </p:nvSpPr>
        <p:spPr>
          <a:xfrm>
            <a:off x="708843" y="2181151"/>
            <a:ext cx="4530725" cy="605454"/>
          </a:xfrm>
          <a:prstGeom prst="roundRect">
            <a:avLst/>
          </a:prstGeom>
          <a:solidFill>
            <a:schemeClr val="accent3">
              <a:alpha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300"/>
              </a:spcAft>
            </a:pPr>
            <a:r>
              <a:rPr lang="it-IT" sz="800" b="1" dirty="0" err="1">
                <a:solidFill>
                  <a:schemeClr val="tx1"/>
                </a:solidFill>
              </a:rPr>
              <a:t>Research</a:t>
            </a:r>
            <a:r>
              <a:rPr lang="it-IT" sz="800" b="1" dirty="0">
                <a:solidFill>
                  <a:schemeClr val="tx1"/>
                </a:solidFill>
              </a:rPr>
              <a:t> GAP</a:t>
            </a:r>
          </a:p>
          <a:p>
            <a:pPr algn="ctr">
              <a:spcAft>
                <a:spcPts val="300"/>
              </a:spcAft>
            </a:pPr>
            <a:r>
              <a:rPr lang="it-IT" sz="800" dirty="0" err="1">
                <a:solidFill>
                  <a:schemeClr val="tx1"/>
                </a:solidFill>
              </a:rPr>
              <a:t>Existing</a:t>
            </a:r>
            <a:r>
              <a:rPr lang="it-IT" sz="800" dirty="0">
                <a:solidFill>
                  <a:schemeClr val="tx1"/>
                </a:solidFill>
              </a:rPr>
              <a:t> </a:t>
            </a:r>
            <a:r>
              <a:rPr lang="it-IT" sz="800" dirty="0" err="1">
                <a:solidFill>
                  <a:schemeClr val="tx1"/>
                </a:solidFill>
              </a:rPr>
              <a:t>solutions</a:t>
            </a:r>
            <a:r>
              <a:rPr lang="it-IT" sz="800" dirty="0">
                <a:solidFill>
                  <a:schemeClr val="tx1"/>
                </a:solidFill>
              </a:rPr>
              <a:t> </a:t>
            </a:r>
            <a:r>
              <a:rPr lang="it-IT" sz="800" dirty="0" err="1">
                <a:solidFill>
                  <a:schemeClr val="tx1"/>
                </a:solidFill>
              </a:rPr>
              <a:t>remain</a:t>
            </a:r>
            <a:r>
              <a:rPr lang="it-IT" sz="800" dirty="0">
                <a:solidFill>
                  <a:schemeClr val="tx1"/>
                </a:solidFill>
              </a:rPr>
              <a:t> </a:t>
            </a:r>
            <a:r>
              <a:rPr lang="it-IT" sz="800" b="1" dirty="0">
                <a:solidFill>
                  <a:schemeClr val="tx1"/>
                </a:solidFill>
              </a:rPr>
              <a:t>domain </a:t>
            </a:r>
            <a:r>
              <a:rPr lang="it-IT" sz="800" b="1" dirty="0" err="1">
                <a:solidFill>
                  <a:schemeClr val="tx1"/>
                </a:solidFill>
              </a:rPr>
              <a:t>specific</a:t>
            </a:r>
            <a:r>
              <a:rPr lang="it-IT" sz="800" b="1" dirty="0">
                <a:solidFill>
                  <a:schemeClr val="tx1"/>
                </a:solidFill>
              </a:rPr>
              <a:t> </a:t>
            </a:r>
            <a:r>
              <a:rPr lang="it-IT" sz="800" dirty="0">
                <a:solidFill>
                  <a:schemeClr val="tx1"/>
                </a:solidFill>
              </a:rPr>
              <a:t>and </a:t>
            </a:r>
            <a:r>
              <a:rPr lang="it-IT" sz="800" b="1" dirty="0" err="1">
                <a:solidFill>
                  <a:schemeClr val="tx1"/>
                </a:solidFill>
              </a:rPr>
              <a:t>prototype</a:t>
            </a:r>
            <a:r>
              <a:rPr lang="it-IT" sz="800" b="1" dirty="0">
                <a:solidFill>
                  <a:schemeClr val="tx1"/>
                </a:solidFill>
              </a:rPr>
              <a:t> </a:t>
            </a:r>
            <a:r>
              <a:rPr lang="it-IT" sz="800" b="1" dirty="0" err="1">
                <a:solidFill>
                  <a:schemeClr val="tx1"/>
                </a:solidFill>
              </a:rPr>
              <a:t>oriented</a:t>
            </a:r>
            <a:r>
              <a:rPr lang="it-IT" sz="800" dirty="0">
                <a:solidFill>
                  <a:schemeClr val="tx1"/>
                </a:solidFill>
              </a:rPr>
              <a:t>, with </a:t>
            </a:r>
            <a:r>
              <a:rPr lang="it-IT" sz="800" b="1" dirty="0">
                <a:solidFill>
                  <a:schemeClr val="tx1"/>
                </a:solidFill>
              </a:rPr>
              <a:t>limited </a:t>
            </a:r>
            <a:r>
              <a:rPr lang="it-IT" sz="800" b="1" dirty="0" err="1">
                <a:solidFill>
                  <a:schemeClr val="tx1"/>
                </a:solidFill>
              </a:rPr>
              <a:t>integration</a:t>
            </a:r>
            <a:r>
              <a:rPr lang="it-IT" sz="800" b="1" dirty="0">
                <a:solidFill>
                  <a:schemeClr val="tx1"/>
                </a:solidFill>
              </a:rPr>
              <a:t> </a:t>
            </a:r>
            <a:r>
              <a:rPr lang="it-IT" sz="800" dirty="0">
                <a:solidFill>
                  <a:schemeClr val="tx1"/>
                </a:solidFill>
              </a:rPr>
              <a:t>of </a:t>
            </a:r>
            <a:r>
              <a:rPr lang="it-IT" sz="800" dirty="0" err="1">
                <a:solidFill>
                  <a:schemeClr val="tx1"/>
                </a:solidFill>
              </a:rPr>
              <a:t>heterogeneous</a:t>
            </a:r>
            <a:r>
              <a:rPr lang="it-IT" sz="800" dirty="0">
                <a:solidFill>
                  <a:schemeClr val="tx1"/>
                </a:solidFill>
              </a:rPr>
              <a:t> </a:t>
            </a:r>
            <a:r>
              <a:rPr lang="it-IT" sz="800" dirty="0" err="1">
                <a:solidFill>
                  <a:schemeClr val="tx1"/>
                </a:solidFill>
              </a:rPr>
              <a:t>operational</a:t>
            </a:r>
            <a:r>
              <a:rPr lang="it-IT" sz="800" dirty="0">
                <a:solidFill>
                  <a:schemeClr val="tx1"/>
                </a:solidFill>
              </a:rPr>
              <a:t> data and knowledge.</a:t>
            </a:r>
          </a:p>
        </p:txBody>
      </p:sp>
      <p:cxnSp>
        <p:nvCxnSpPr>
          <p:cNvPr id="10" name="Connettore diritto 9">
            <a:extLst>
              <a:ext uri="{FF2B5EF4-FFF2-40B4-BE49-F238E27FC236}">
                <a16:creationId xmlns:a16="http://schemas.microsoft.com/office/drawing/2014/main" id="{5B787028-E50A-41CD-9526-7EDA67C66F88}"/>
              </a:ext>
            </a:extLst>
          </p:cNvPr>
          <p:cNvCxnSpPr/>
          <p:nvPr/>
        </p:nvCxnSpPr>
        <p:spPr>
          <a:xfrm>
            <a:off x="804093" y="1139825"/>
            <a:ext cx="1971675" cy="0"/>
          </a:xfrm>
          <a:prstGeom prst="line">
            <a:avLst/>
          </a:prstGeom>
        </p:spPr>
        <p:style>
          <a:lnRef idx="1">
            <a:schemeClr val="dk1"/>
          </a:lnRef>
          <a:fillRef idx="0">
            <a:schemeClr val="dk1"/>
          </a:fillRef>
          <a:effectRef idx="0">
            <a:schemeClr val="dk1"/>
          </a:effectRef>
          <a:fontRef idx="minor">
            <a:schemeClr val="tx1"/>
          </a:fontRef>
        </p:style>
      </p:cxnSp>
      <p:cxnSp>
        <p:nvCxnSpPr>
          <p:cNvPr id="11" name="Connettore diritto 10">
            <a:extLst>
              <a:ext uri="{FF2B5EF4-FFF2-40B4-BE49-F238E27FC236}">
                <a16:creationId xmlns:a16="http://schemas.microsoft.com/office/drawing/2014/main" id="{7DF9B02C-DD70-422B-9C4E-270F508E5067}"/>
              </a:ext>
            </a:extLst>
          </p:cNvPr>
          <p:cNvCxnSpPr/>
          <p:nvPr/>
        </p:nvCxnSpPr>
        <p:spPr>
          <a:xfrm>
            <a:off x="3185343" y="1139825"/>
            <a:ext cx="197167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5236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BDBAB-029E-5500-EB43-65EF0A615B5C}"/>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53D708FC-4FE0-4A53-7CD6-4A2294BCF336}"/>
              </a:ext>
            </a:extLst>
          </p:cNvPr>
          <p:cNvSpPr txBox="1"/>
          <p:nvPr/>
        </p:nvSpPr>
        <p:spPr>
          <a:xfrm>
            <a:off x="869002" y="114827"/>
            <a:ext cx="4833362" cy="307777"/>
          </a:xfrm>
          <a:prstGeom prst="rect">
            <a:avLst/>
          </a:prstGeom>
          <a:noFill/>
        </p:spPr>
        <p:txBody>
          <a:bodyPr wrap="square">
            <a:spAutoFit/>
          </a:bodyPr>
          <a:lstStyle/>
          <a:p>
            <a:r>
              <a:rPr lang="en-US" sz="1400" b="1" dirty="0">
                <a:solidFill>
                  <a:srgbClr val="953735"/>
                </a:solidFill>
                <a:latin typeface="Calibri"/>
                <a:ea typeface="Calibri"/>
                <a:cs typeface="Calibri"/>
              </a:rPr>
              <a:t>Proposed system</a:t>
            </a:r>
            <a:endParaRPr lang="en-US" sz="1400" dirty="0"/>
          </a:p>
        </p:txBody>
      </p:sp>
      <p:sp>
        <p:nvSpPr>
          <p:cNvPr id="50" name="Shape">
            <a:extLst>
              <a:ext uri="{FF2B5EF4-FFF2-40B4-BE49-F238E27FC236}">
                <a16:creationId xmlns:a16="http://schemas.microsoft.com/office/drawing/2014/main" id="{D63FAADA-CA51-461D-A739-147A84D30EBA}"/>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1" name="Shape">
            <a:extLst>
              <a:ext uri="{FF2B5EF4-FFF2-40B4-BE49-F238E27FC236}">
                <a16:creationId xmlns:a16="http://schemas.microsoft.com/office/drawing/2014/main" id="{C5A44A9B-B611-4C0F-8691-507EA1CCC007}"/>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2" name="Shape">
            <a:extLst>
              <a:ext uri="{FF2B5EF4-FFF2-40B4-BE49-F238E27FC236}">
                <a16:creationId xmlns:a16="http://schemas.microsoft.com/office/drawing/2014/main" id="{7F574058-D938-43EA-B61C-23DBAFEB2261}"/>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3" name="Shape">
            <a:extLst>
              <a:ext uri="{FF2B5EF4-FFF2-40B4-BE49-F238E27FC236}">
                <a16:creationId xmlns:a16="http://schemas.microsoft.com/office/drawing/2014/main" id="{C4504D77-F28A-44C7-881F-0D6134113B61}"/>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4" name="Shape">
            <a:extLst>
              <a:ext uri="{FF2B5EF4-FFF2-40B4-BE49-F238E27FC236}">
                <a16:creationId xmlns:a16="http://schemas.microsoft.com/office/drawing/2014/main" id="{C6940200-DF6C-480B-B240-CDCC62429EE8}"/>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5">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5" name="Shape">
            <a:extLst>
              <a:ext uri="{FF2B5EF4-FFF2-40B4-BE49-F238E27FC236}">
                <a16:creationId xmlns:a16="http://schemas.microsoft.com/office/drawing/2014/main" id="{CAF2043C-A1FC-4C38-B724-B35D15D7A12F}"/>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6" name="Shape">
            <a:extLst>
              <a:ext uri="{FF2B5EF4-FFF2-40B4-BE49-F238E27FC236}">
                <a16:creationId xmlns:a16="http://schemas.microsoft.com/office/drawing/2014/main" id="{76EF6A27-549E-40E4-838D-9148F7BFAD4B}"/>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7" name="Shape">
            <a:extLst>
              <a:ext uri="{FF2B5EF4-FFF2-40B4-BE49-F238E27FC236}">
                <a16:creationId xmlns:a16="http://schemas.microsoft.com/office/drawing/2014/main" id="{B5FD8CEC-39B5-46F5-97FD-C8EE8619952A}"/>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8" name="Shape">
            <a:extLst>
              <a:ext uri="{FF2B5EF4-FFF2-40B4-BE49-F238E27FC236}">
                <a16:creationId xmlns:a16="http://schemas.microsoft.com/office/drawing/2014/main" id="{9AEB08C6-7647-488F-BEF4-2427143D2CA1}"/>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9" name="Freeform: Shape 11">
            <a:extLst>
              <a:ext uri="{FF2B5EF4-FFF2-40B4-BE49-F238E27FC236}">
                <a16:creationId xmlns:a16="http://schemas.microsoft.com/office/drawing/2014/main" id="{3C88C559-D95E-4E1E-B14A-261372B8062A}"/>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0" name="Freeform: Shape 12">
            <a:extLst>
              <a:ext uri="{FF2B5EF4-FFF2-40B4-BE49-F238E27FC236}">
                <a16:creationId xmlns:a16="http://schemas.microsoft.com/office/drawing/2014/main" id="{A873E1EC-3683-4D5A-8CDD-3DDA4ADFAB98}"/>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1" name="Freeform: Shape 13">
            <a:extLst>
              <a:ext uri="{FF2B5EF4-FFF2-40B4-BE49-F238E27FC236}">
                <a16:creationId xmlns:a16="http://schemas.microsoft.com/office/drawing/2014/main" id="{B6922FAA-BD8B-4B52-AE9B-FC2A23D975C4}"/>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2" name="Freeform: Shape 14">
            <a:extLst>
              <a:ext uri="{FF2B5EF4-FFF2-40B4-BE49-F238E27FC236}">
                <a16:creationId xmlns:a16="http://schemas.microsoft.com/office/drawing/2014/main" id="{D3A39B89-1263-44BE-ACC6-15AE5220956C}"/>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3" name="Freeform: Shape 15">
            <a:extLst>
              <a:ext uri="{FF2B5EF4-FFF2-40B4-BE49-F238E27FC236}">
                <a16:creationId xmlns:a16="http://schemas.microsoft.com/office/drawing/2014/main" id="{8B4D5D00-B5A8-4E4C-AF88-55DB23EC2882}"/>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4" name="Shape">
            <a:extLst>
              <a:ext uri="{FF2B5EF4-FFF2-40B4-BE49-F238E27FC236}">
                <a16:creationId xmlns:a16="http://schemas.microsoft.com/office/drawing/2014/main" id="{15854ADD-0B0E-48F6-9914-4981FFDCB08E}"/>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5" name="Shape">
            <a:extLst>
              <a:ext uri="{FF2B5EF4-FFF2-40B4-BE49-F238E27FC236}">
                <a16:creationId xmlns:a16="http://schemas.microsoft.com/office/drawing/2014/main" id="{DD100861-9E1E-404B-8C6A-9C9FA5CEC44E}"/>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6" name="Shape">
            <a:extLst>
              <a:ext uri="{FF2B5EF4-FFF2-40B4-BE49-F238E27FC236}">
                <a16:creationId xmlns:a16="http://schemas.microsoft.com/office/drawing/2014/main" id="{2DDF2F81-3E5B-4D65-96BE-98B90A54CF1C}"/>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7" name="Shape">
            <a:extLst>
              <a:ext uri="{FF2B5EF4-FFF2-40B4-BE49-F238E27FC236}">
                <a16:creationId xmlns:a16="http://schemas.microsoft.com/office/drawing/2014/main" id="{9309A60F-0116-47FA-A362-B3EC6489AE6E}"/>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8" name="Shape">
            <a:extLst>
              <a:ext uri="{FF2B5EF4-FFF2-40B4-BE49-F238E27FC236}">
                <a16:creationId xmlns:a16="http://schemas.microsoft.com/office/drawing/2014/main" id="{89569F5E-3AFD-429F-9C1A-1E3C80C8579A}"/>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5"/>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9" name="Shape">
            <a:extLst>
              <a:ext uri="{FF2B5EF4-FFF2-40B4-BE49-F238E27FC236}">
                <a16:creationId xmlns:a16="http://schemas.microsoft.com/office/drawing/2014/main" id="{CC9A9436-DABB-4C75-A891-EC246013C98E}"/>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0" name="Shape">
            <a:extLst>
              <a:ext uri="{FF2B5EF4-FFF2-40B4-BE49-F238E27FC236}">
                <a16:creationId xmlns:a16="http://schemas.microsoft.com/office/drawing/2014/main" id="{98F319FB-DF36-4F7C-B517-8DEF00A5DC1F}"/>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1" name="Shape">
            <a:extLst>
              <a:ext uri="{FF2B5EF4-FFF2-40B4-BE49-F238E27FC236}">
                <a16:creationId xmlns:a16="http://schemas.microsoft.com/office/drawing/2014/main" id="{F2096A87-D7DB-49D3-9B10-E8F5E5080FB7}"/>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2" name="Shape">
            <a:extLst>
              <a:ext uri="{FF2B5EF4-FFF2-40B4-BE49-F238E27FC236}">
                <a16:creationId xmlns:a16="http://schemas.microsoft.com/office/drawing/2014/main" id="{55F5B11E-C027-45A7-B3C9-54BC83C01605}"/>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3" name="Shape">
            <a:extLst>
              <a:ext uri="{FF2B5EF4-FFF2-40B4-BE49-F238E27FC236}">
                <a16:creationId xmlns:a16="http://schemas.microsoft.com/office/drawing/2014/main" id="{37470297-237C-46DF-BF60-1C06637EE0D9}"/>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4" name="Shape">
            <a:extLst>
              <a:ext uri="{FF2B5EF4-FFF2-40B4-BE49-F238E27FC236}">
                <a16:creationId xmlns:a16="http://schemas.microsoft.com/office/drawing/2014/main" id="{46559341-5BFC-4DCE-AE34-4567F7BD40CE}"/>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5" name="Shape">
            <a:extLst>
              <a:ext uri="{FF2B5EF4-FFF2-40B4-BE49-F238E27FC236}">
                <a16:creationId xmlns:a16="http://schemas.microsoft.com/office/drawing/2014/main" id="{3F22B2A2-0CBC-413F-B382-98FD30FF09FD}"/>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6" name="Shape">
            <a:extLst>
              <a:ext uri="{FF2B5EF4-FFF2-40B4-BE49-F238E27FC236}">
                <a16:creationId xmlns:a16="http://schemas.microsoft.com/office/drawing/2014/main" id="{FA693E53-A414-4BF0-9FE9-F1CFFD66A0A6}"/>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7" name="TextBox 29">
            <a:extLst>
              <a:ext uri="{FF2B5EF4-FFF2-40B4-BE49-F238E27FC236}">
                <a16:creationId xmlns:a16="http://schemas.microsoft.com/office/drawing/2014/main" id="{788BA6C4-3595-49AE-8E1F-8FE4423CE9E5}"/>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79" name="TextBox 31">
            <a:extLst>
              <a:ext uri="{FF2B5EF4-FFF2-40B4-BE49-F238E27FC236}">
                <a16:creationId xmlns:a16="http://schemas.microsoft.com/office/drawing/2014/main" id="{5193166C-4B86-4502-ACC6-A97220CC3D1C}"/>
              </a:ext>
            </a:extLst>
          </p:cNvPr>
          <p:cNvSpPr txBox="1"/>
          <p:nvPr/>
        </p:nvSpPr>
        <p:spPr>
          <a:xfrm>
            <a:off x="2576516" y="1785961"/>
            <a:ext cx="337975"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grpSp>
        <p:nvGrpSpPr>
          <p:cNvPr id="81" name="Group 33">
            <a:extLst>
              <a:ext uri="{FF2B5EF4-FFF2-40B4-BE49-F238E27FC236}">
                <a16:creationId xmlns:a16="http://schemas.microsoft.com/office/drawing/2014/main" id="{1E1C450E-65F1-4BA8-A607-603E75E8CC0C}"/>
              </a:ext>
            </a:extLst>
          </p:cNvPr>
          <p:cNvGrpSpPr/>
          <p:nvPr/>
        </p:nvGrpSpPr>
        <p:grpSpPr>
          <a:xfrm>
            <a:off x="245275" y="2643365"/>
            <a:ext cx="1089430" cy="400403"/>
            <a:chOff x="332933" y="2620027"/>
            <a:chExt cx="2926083" cy="846667"/>
          </a:xfrm>
        </p:grpSpPr>
        <p:sp>
          <p:nvSpPr>
            <p:cNvPr id="82" name="TextBox 34">
              <a:extLst>
                <a:ext uri="{FF2B5EF4-FFF2-40B4-BE49-F238E27FC236}">
                  <a16:creationId xmlns:a16="http://schemas.microsoft.com/office/drawing/2014/main" id="{9151C725-96F0-4289-A08A-41B41052B996}"/>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Operative Context</a:t>
              </a:r>
            </a:p>
          </p:txBody>
        </p:sp>
        <p:sp>
          <p:nvSpPr>
            <p:cNvPr id="83" name="TextBox 35">
              <a:extLst>
                <a:ext uri="{FF2B5EF4-FFF2-40B4-BE49-F238E27FC236}">
                  <a16:creationId xmlns:a16="http://schemas.microsoft.com/office/drawing/2014/main" id="{59D73C24-C618-4606-BA3A-27F199293A86}"/>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4" name="TextBox 36">
            <a:extLst>
              <a:ext uri="{FF2B5EF4-FFF2-40B4-BE49-F238E27FC236}">
                <a16:creationId xmlns:a16="http://schemas.microsoft.com/office/drawing/2014/main" id="{B6AD38E7-2D3B-4048-B0E5-720CCD72D3AC}"/>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b="1" dirty="0">
                <a:solidFill>
                  <a:srgbClr val="3B3535"/>
                </a:solidFill>
                <a:ea typeface="Sora Semi Bold" pitchFamily="34" charset="-122"/>
                <a:cs typeface="Sora Semi Bold" pitchFamily="34" charset="-120"/>
              </a:rPr>
              <a:t>Proposed System</a:t>
            </a:r>
          </a:p>
        </p:txBody>
      </p:sp>
      <p:sp>
        <p:nvSpPr>
          <p:cNvPr id="85" name="TextBox 38">
            <a:extLst>
              <a:ext uri="{FF2B5EF4-FFF2-40B4-BE49-F238E27FC236}">
                <a16:creationId xmlns:a16="http://schemas.microsoft.com/office/drawing/2014/main" id="{BF060646-F392-40FE-9EE5-C994C1EC970A}"/>
              </a:ext>
            </a:extLst>
          </p:cNvPr>
          <p:cNvSpPr txBox="1"/>
          <p:nvPr/>
        </p:nvSpPr>
        <p:spPr>
          <a:xfrm>
            <a:off x="4245974" y="2588081"/>
            <a:ext cx="1089429" cy="48224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Limitations and Future Work</a:t>
            </a:r>
            <a:endParaRPr lang="en-US" sz="1100" dirty="0"/>
          </a:p>
        </p:txBody>
      </p:sp>
      <p:grpSp>
        <p:nvGrpSpPr>
          <p:cNvPr id="86" name="Group 40">
            <a:extLst>
              <a:ext uri="{FF2B5EF4-FFF2-40B4-BE49-F238E27FC236}">
                <a16:creationId xmlns:a16="http://schemas.microsoft.com/office/drawing/2014/main" id="{A92C83CC-50E1-40F4-A2A4-4D7F56D8474B}"/>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D035D648-B23C-45C9-A078-0786848454EB}"/>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88" name="TextBox 42">
              <a:extLst>
                <a:ext uri="{FF2B5EF4-FFF2-40B4-BE49-F238E27FC236}">
                  <a16:creationId xmlns:a16="http://schemas.microsoft.com/office/drawing/2014/main" id="{61D1E6F6-17EE-46E2-AC38-832A6CA95042}"/>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9" name="TextBox 43">
            <a:extLst>
              <a:ext uri="{FF2B5EF4-FFF2-40B4-BE49-F238E27FC236}">
                <a16:creationId xmlns:a16="http://schemas.microsoft.com/office/drawing/2014/main" id="{703F03B8-2BF8-4A12-97BB-EDC87664AA50}"/>
              </a:ext>
            </a:extLst>
          </p:cNvPr>
          <p:cNvSpPr txBox="1"/>
          <p:nvPr/>
        </p:nvSpPr>
        <p:spPr>
          <a:xfrm>
            <a:off x="3438475" y="1803604"/>
            <a:ext cx="362694"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0" name="Shape">
            <a:extLst>
              <a:ext uri="{FF2B5EF4-FFF2-40B4-BE49-F238E27FC236}">
                <a16:creationId xmlns:a16="http://schemas.microsoft.com/office/drawing/2014/main" id="{E608C453-6424-4559-8DE3-FC6C9DAE63FC}"/>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91" name="TextBox 45">
            <a:extLst>
              <a:ext uri="{FF2B5EF4-FFF2-40B4-BE49-F238E27FC236}">
                <a16:creationId xmlns:a16="http://schemas.microsoft.com/office/drawing/2014/main" id="{175485A2-CBFE-49FA-BDCF-51A3FE6B6001}"/>
              </a:ext>
            </a:extLst>
          </p:cNvPr>
          <p:cNvSpPr txBox="1"/>
          <p:nvPr/>
        </p:nvSpPr>
        <p:spPr>
          <a:xfrm>
            <a:off x="1687762" y="1811299"/>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92" name="TextBox 46">
            <a:extLst>
              <a:ext uri="{FF2B5EF4-FFF2-40B4-BE49-F238E27FC236}">
                <a16:creationId xmlns:a16="http://schemas.microsoft.com/office/drawing/2014/main" id="{D7FA9E16-1299-477B-9973-E5B607820A43}"/>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Tree>
    <p:extLst>
      <p:ext uri="{BB962C8B-B14F-4D97-AF65-F5344CB8AC3E}">
        <p14:creationId xmlns:p14="http://schemas.microsoft.com/office/powerpoint/2010/main" val="3106992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35DB-7A9F-DA9D-F47F-F915A8ECCEFF}"/>
              </a:ext>
            </a:extLst>
          </p:cNvPr>
          <p:cNvSpPr>
            <a:spLocks noGrp="1"/>
          </p:cNvSpPr>
          <p:nvPr>
            <p:ph type="title"/>
          </p:nvPr>
        </p:nvSpPr>
        <p:spPr>
          <a:xfrm>
            <a:off x="1060945" y="240230"/>
            <a:ext cx="4598710" cy="215444"/>
          </a:xfrm>
        </p:spPr>
        <p:txBody>
          <a:bodyPr wrap="square" lIns="0" tIns="0" rIns="0" bIns="0" anchor="t">
            <a:spAutoFit/>
          </a:bodyPr>
          <a:lstStyle/>
          <a:p>
            <a:r>
              <a:rPr lang="en-US" dirty="0">
                <a:ea typeface="Calibri"/>
              </a:rPr>
              <a:t>FUNES System</a:t>
            </a:r>
            <a:endParaRPr lang="en-US" dirty="0"/>
          </a:p>
        </p:txBody>
      </p:sp>
      <p:sp>
        <p:nvSpPr>
          <p:cNvPr id="5" name="CasellaDiTesto 4">
            <a:extLst>
              <a:ext uri="{FF2B5EF4-FFF2-40B4-BE49-F238E27FC236}">
                <a16:creationId xmlns:a16="http://schemas.microsoft.com/office/drawing/2014/main" id="{F9EC3A17-BB72-4A01-9667-F99C01ADBA9F}"/>
              </a:ext>
            </a:extLst>
          </p:cNvPr>
          <p:cNvSpPr txBox="1"/>
          <p:nvPr/>
        </p:nvSpPr>
        <p:spPr>
          <a:xfrm>
            <a:off x="283945" y="802822"/>
            <a:ext cx="2180122" cy="1692771"/>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it-IT" sz="900" dirty="0"/>
              <a:t>The </a:t>
            </a:r>
            <a:r>
              <a:rPr lang="it-IT" sz="900" dirty="0">
                <a:ea typeface="Calibri"/>
              </a:rPr>
              <a:t>FUNES </a:t>
            </a:r>
            <a:r>
              <a:rPr lang="it-IT" sz="900" dirty="0"/>
              <a:t>system </a:t>
            </a:r>
            <a:r>
              <a:rPr lang="it-IT" sz="900" dirty="0" err="1"/>
              <a:t>is</a:t>
            </a:r>
            <a:r>
              <a:rPr lang="it-IT" sz="900" dirty="0"/>
              <a:t> </a:t>
            </a:r>
            <a:r>
              <a:rPr lang="it-IT" sz="900" dirty="0" err="1"/>
              <a:t>designed</a:t>
            </a:r>
            <a:r>
              <a:rPr lang="it-IT" sz="900" dirty="0"/>
              <a:t> to</a:t>
            </a:r>
            <a:r>
              <a:rPr lang="en-US" sz="900" dirty="0"/>
              <a:t> be an </a:t>
            </a:r>
            <a:r>
              <a:rPr lang="en-US" sz="900" b="1" dirty="0"/>
              <a:t>intermediate layer </a:t>
            </a:r>
            <a:r>
              <a:rPr lang="en-US" sz="900" dirty="0"/>
              <a:t>between existing mission operational systems and human operators</a:t>
            </a:r>
            <a:r>
              <a:rPr lang="it-IT" sz="900" dirty="0"/>
              <a:t>.</a:t>
            </a:r>
          </a:p>
          <a:p>
            <a:pPr>
              <a:spcAft>
                <a:spcPts val="300"/>
              </a:spcAft>
            </a:pPr>
            <a:endParaRPr lang="it-IT" sz="900" dirty="0"/>
          </a:p>
          <a:p>
            <a:pPr marL="171450" indent="-171450">
              <a:spcAft>
                <a:spcPts val="300"/>
              </a:spcAft>
              <a:buFont typeface="Arial" panose="020B0604020202020204" pitchFamily="34" charset="0"/>
              <a:buChar char="•"/>
            </a:pPr>
            <a:r>
              <a:rPr lang="en-US" sz="900" dirty="0"/>
              <a:t>It does not replace mission operators, it </a:t>
            </a:r>
            <a:r>
              <a:rPr lang="en-US" sz="900" b="1" dirty="0"/>
              <a:t>supports </a:t>
            </a:r>
            <a:r>
              <a:rPr lang="en-US" sz="900" dirty="0"/>
              <a:t>human decision-making by </a:t>
            </a:r>
            <a:r>
              <a:rPr lang="en-US" sz="900" b="1" dirty="0"/>
              <a:t>improving</a:t>
            </a:r>
            <a:r>
              <a:rPr lang="en-US" sz="900" dirty="0"/>
              <a:t> situational awareness, reducing information fragmentation, and providing </a:t>
            </a:r>
            <a:r>
              <a:rPr lang="en-US" sz="900" b="1" dirty="0"/>
              <a:t>recommendations</a:t>
            </a:r>
            <a:r>
              <a:rPr lang="en-US" sz="900" dirty="0"/>
              <a:t>.</a:t>
            </a:r>
            <a:endParaRPr lang="it-IT" sz="900" dirty="0"/>
          </a:p>
        </p:txBody>
      </p:sp>
      <p:sp>
        <p:nvSpPr>
          <p:cNvPr id="3" name="CasellaDiTesto 2">
            <a:extLst>
              <a:ext uri="{FF2B5EF4-FFF2-40B4-BE49-F238E27FC236}">
                <a16:creationId xmlns:a16="http://schemas.microsoft.com/office/drawing/2014/main" id="{B06CEE30-A6A9-4154-BDA7-BAE54C5131F0}"/>
              </a:ext>
            </a:extLst>
          </p:cNvPr>
          <p:cNvSpPr txBox="1"/>
          <p:nvPr/>
        </p:nvSpPr>
        <p:spPr>
          <a:xfrm>
            <a:off x="4282819" y="347952"/>
            <a:ext cx="819455" cy="169277"/>
          </a:xfrm>
          <a:prstGeom prst="rect">
            <a:avLst/>
          </a:prstGeom>
          <a:noFill/>
          <a:ln>
            <a:solidFill>
              <a:srgbClr val="802B2A"/>
            </a:solidFill>
          </a:ln>
        </p:spPr>
        <p:txBody>
          <a:bodyPr wrap="none" rtlCol="0">
            <a:spAutoFit/>
          </a:bodyPr>
          <a:lstStyle/>
          <a:p>
            <a:r>
              <a:rPr lang="it-IT" sz="500" b="1" dirty="0"/>
              <a:t>Custom RAG system</a:t>
            </a:r>
          </a:p>
        </p:txBody>
      </p:sp>
      <p:cxnSp>
        <p:nvCxnSpPr>
          <p:cNvPr id="7" name="Connettore a gomito 6">
            <a:extLst>
              <a:ext uri="{FF2B5EF4-FFF2-40B4-BE49-F238E27FC236}">
                <a16:creationId xmlns:a16="http://schemas.microsoft.com/office/drawing/2014/main" id="{ECDB4C29-B2BA-433B-8D41-5240B331A959}"/>
              </a:ext>
            </a:extLst>
          </p:cNvPr>
          <p:cNvCxnSpPr>
            <a:stCxn id="3" idx="1"/>
          </p:cNvCxnSpPr>
          <p:nvPr/>
        </p:nvCxnSpPr>
        <p:spPr>
          <a:xfrm rot="10800000" flipV="1">
            <a:off x="4129911" y="432590"/>
            <a:ext cx="152909" cy="152711"/>
          </a:xfrm>
          <a:prstGeom prst="bentConnector3">
            <a:avLst>
              <a:gd name="adj1" fmla="val 100001"/>
            </a:avLst>
          </a:prstGeom>
          <a:ln>
            <a:solidFill>
              <a:srgbClr val="802B2B"/>
            </a:solidFill>
            <a:tailEnd type="triangle"/>
          </a:ln>
        </p:spPr>
        <p:style>
          <a:lnRef idx="1">
            <a:schemeClr val="accent1"/>
          </a:lnRef>
          <a:fillRef idx="0">
            <a:schemeClr val="accent1"/>
          </a:fillRef>
          <a:effectRef idx="0">
            <a:schemeClr val="accent1"/>
          </a:effectRef>
          <a:fontRef idx="minor">
            <a:schemeClr val="tx1"/>
          </a:fontRef>
        </p:style>
      </p:cxnSp>
      <p:sp>
        <p:nvSpPr>
          <p:cNvPr id="9" name="Rettangolo 8">
            <a:extLst>
              <a:ext uri="{FF2B5EF4-FFF2-40B4-BE49-F238E27FC236}">
                <a16:creationId xmlns:a16="http://schemas.microsoft.com/office/drawing/2014/main" id="{A34EE567-11C3-4BE3-A69A-5760D9834772}"/>
              </a:ext>
            </a:extLst>
          </p:cNvPr>
          <p:cNvSpPr/>
          <p:nvPr/>
        </p:nvSpPr>
        <p:spPr>
          <a:xfrm>
            <a:off x="3778218" y="1370071"/>
            <a:ext cx="703384" cy="379361"/>
          </a:xfrm>
          <a:prstGeom prst="rect">
            <a:avLst/>
          </a:prstGeom>
          <a:ln w="12700"/>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it-IT" sz="700" dirty="0"/>
              <a:t>CI-2 AI Module</a:t>
            </a:r>
          </a:p>
        </p:txBody>
      </p:sp>
      <p:sp>
        <p:nvSpPr>
          <p:cNvPr id="10" name="Rettangolo 9">
            <a:extLst>
              <a:ext uri="{FF2B5EF4-FFF2-40B4-BE49-F238E27FC236}">
                <a16:creationId xmlns:a16="http://schemas.microsoft.com/office/drawing/2014/main" id="{6E934243-CBFD-4C5B-8219-883BD0B6EA01}"/>
              </a:ext>
            </a:extLst>
          </p:cNvPr>
          <p:cNvSpPr/>
          <p:nvPr/>
        </p:nvSpPr>
        <p:spPr>
          <a:xfrm>
            <a:off x="2387065" y="1385362"/>
            <a:ext cx="683362" cy="356270"/>
          </a:xfrm>
          <a:prstGeom prst="rect">
            <a:avLst/>
          </a:prstGeom>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it-IT" sz="700" dirty="0"/>
              <a:t>CI-1 Data Processing</a:t>
            </a:r>
          </a:p>
        </p:txBody>
      </p:sp>
      <p:sp>
        <p:nvSpPr>
          <p:cNvPr id="11" name="Rettangolo 10">
            <a:extLst>
              <a:ext uri="{FF2B5EF4-FFF2-40B4-BE49-F238E27FC236}">
                <a16:creationId xmlns:a16="http://schemas.microsoft.com/office/drawing/2014/main" id="{B2437BC2-72F8-47B7-A4CF-5E4CA1250A8E}"/>
              </a:ext>
            </a:extLst>
          </p:cNvPr>
          <p:cNvSpPr/>
          <p:nvPr/>
        </p:nvSpPr>
        <p:spPr>
          <a:xfrm>
            <a:off x="3790451" y="585301"/>
            <a:ext cx="678919" cy="351692"/>
          </a:xfrm>
          <a:prstGeom prst="rect">
            <a:avLst/>
          </a:prstGeom>
          <a:ln w="1270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it-IT" sz="700" dirty="0"/>
              <a:t>CI-5 Storage </a:t>
            </a:r>
          </a:p>
        </p:txBody>
      </p:sp>
      <p:sp>
        <p:nvSpPr>
          <p:cNvPr id="13" name="Rettangolo 12">
            <a:extLst>
              <a:ext uri="{FF2B5EF4-FFF2-40B4-BE49-F238E27FC236}">
                <a16:creationId xmlns:a16="http://schemas.microsoft.com/office/drawing/2014/main" id="{D6FCC3E0-AF1D-40D3-86F4-2F5DDAA472B5}"/>
              </a:ext>
            </a:extLst>
          </p:cNvPr>
          <p:cNvSpPr/>
          <p:nvPr/>
        </p:nvSpPr>
        <p:spPr>
          <a:xfrm>
            <a:off x="3778218" y="2070396"/>
            <a:ext cx="691152" cy="379361"/>
          </a:xfrm>
          <a:prstGeom prst="rect">
            <a:avLst/>
          </a:prstGeom>
          <a:ln w="12700"/>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it-IT" sz="700" dirty="0"/>
              <a:t>CI-3 UI</a:t>
            </a:r>
          </a:p>
        </p:txBody>
      </p:sp>
      <p:sp>
        <p:nvSpPr>
          <p:cNvPr id="14" name="Rettangolo 13">
            <a:extLst>
              <a:ext uri="{FF2B5EF4-FFF2-40B4-BE49-F238E27FC236}">
                <a16:creationId xmlns:a16="http://schemas.microsoft.com/office/drawing/2014/main" id="{1E787124-5DC0-4C48-AB34-7C61462F70F8}"/>
              </a:ext>
            </a:extLst>
          </p:cNvPr>
          <p:cNvSpPr/>
          <p:nvPr/>
        </p:nvSpPr>
        <p:spPr>
          <a:xfrm>
            <a:off x="4845527" y="2070396"/>
            <a:ext cx="717189" cy="379361"/>
          </a:xfrm>
          <a:prstGeom prst="rect">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700" dirty="0"/>
              <a:t>CI-4 </a:t>
            </a:r>
            <a:r>
              <a:rPr lang="it-IT" sz="700" dirty="0" err="1"/>
              <a:t>Config</a:t>
            </a:r>
            <a:r>
              <a:rPr lang="it-IT" sz="700" dirty="0"/>
              <a:t> &amp; Model Management</a:t>
            </a:r>
          </a:p>
        </p:txBody>
      </p:sp>
      <p:cxnSp>
        <p:nvCxnSpPr>
          <p:cNvPr id="16" name="Connettore 2 15">
            <a:extLst>
              <a:ext uri="{FF2B5EF4-FFF2-40B4-BE49-F238E27FC236}">
                <a16:creationId xmlns:a16="http://schemas.microsoft.com/office/drawing/2014/main" id="{196B3579-8F4F-46BB-BD85-7C27AA83C6FD}"/>
              </a:ext>
            </a:extLst>
          </p:cNvPr>
          <p:cNvCxnSpPr>
            <a:cxnSpLocks/>
            <a:stCxn id="10" idx="3"/>
            <a:endCxn id="9" idx="1"/>
          </p:cNvCxnSpPr>
          <p:nvPr/>
        </p:nvCxnSpPr>
        <p:spPr>
          <a:xfrm flipV="1">
            <a:off x="3070427" y="1559752"/>
            <a:ext cx="707791" cy="3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ttore 2 18">
            <a:extLst>
              <a:ext uri="{FF2B5EF4-FFF2-40B4-BE49-F238E27FC236}">
                <a16:creationId xmlns:a16="http://schemas.microsoft.com/office/drawing/2014/main" id="{358551B1-DF4A-4478-A411-27CE3053978E}"/>
              </a:ext>
            </a:extLst>
          </p:cNvPr>
          <p:cNvCxnSpPr/>
          <p:nvPr/>
        </p:nvCxnSpPr>
        <p:spPr>
          <a:xfrm>
            <a:off x="3935993" y="936993"/>
            <a:ext cx="0" cy="433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ttore 2 21">
            <a:extLst>
              <a:ext uri="{FF2B5EF4-FFF2-40B4-BE49-F238E27FC236}">
                <a16:creationId xmlns:a16="http://schemas.microsoft.com/office/drawing/2014/main" id="{D8B29E29-EEBD-4CE6-BDCC-80643E0D14DC}"/>
              </a:ext>
            </a:extLst>
          </p:cNvPr>
          <p:cNvCxnSpPr>
            <a:cxnSpLocks/>
          </p:cNvCxnSpPr>
          <p:nvPr/>
        </p:nvCxnSpPr>
        <p:spPr>
          <a:xfrm>
            <a:off x="3935993" y="1749432"/>
            <a:ext cx="0" cy="320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Connettore 2 23">
            <a:extLst>
              <a:ext uri="{FF2B5EF4-FFF2-40B4-BE49-F238E27FC236}">
                <a16:creationId xmlns:a16="http://schemas.microsoft.com/office/drawing/2014/main" id="{1E0BAEFD-E6F2-4FF8-BB1C-85B804DA5EA6}"/>
              </a:ext>
            </a:extLst>
          </p:cNvPr>
          <p:cNvCxnSpPr>
            <a:cxnSpLocks/>
          </p:cNvCxnSpPr>
          <p:nvPr/>
        </p:nvCxnSpPr>
        <p:spPr>
          <a:xfrm flipV="1">
            <a:off x="4282819" y="1749432"/>
            <a:ext cx="1" cy="320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Connettore 2 26">
            <a:extLst>
              <a:ext uri="{FF2B5EF4-FFF2-40B4-BE49-F238E27FC236}">
                <a16:creationId xmlns:a16="http://schemas.microsoft.com/office/drawing/2014/main" id="{D23F5BEE-0A11-4927-9A45-14E2B8005B7F}"/>
              </a:ext>
            </a:extLst>
          </p:cNvPr>
          <p:cNvCxnSpPr>
            <a:cxnSpLocks/>
            <a:stCxn id="13" idx="3"/>
            <a:endCxn id="14" idx="1"/>
          </p:cNvCxnSpPr>
          <p:nvPr/>
        </p:nvCxnSpPr>
        <p:spPr>
          <a:xfrm>
            <a:off x="4469370" y="2260077"/>
            <a:ext cx="37615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ttore 2 29">
            <a:extLst>
              <a:ext uri="{FF2B5EF4-FFF2-40B4-BE49-F238E27FC236}">
                <a16:creationId xmlns:a16="http://schemas.microsoft.com/office/drawing/2014/main" id="{016C5D55-4E1C-4638-9834-B0DFA6AEC766}"/>
              </a:ext>
            </a:extLst>
          </p:cNvPr>
          <p:cNvCxnSpPr>
            <a:cxnSpLocks/>
          </p:cNvCxnSpPr>
          <p:nvPr/>
        </p:nvCxnSpPr>
        <p:spPr>
          <a:xfrm flipV="1">
            <a:off x="4282819" y="922885"/>
            <a:ext cx="0" cy="451660"/>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33" name="Connettore a gomito 32">
            <a:extLst>
              <a:ext uri="{FF2B5EF4-FFF2-40B4-BE49-F238E27FC236}">
                <a16:creationId xmlns:a16="http://schemas.microsoft.com/office/drawing/2014/main" id="{C53CA2DA-BC4E-44E0-A109-643FC62A32C3}"/>
              </a:ext>
            </a:extLst>
          </p:cNvPr>
          <p:cNvCxnSpPr>
            <a:cxnSpLocks/>
          </p:cNvCxnSpPr>
          <p:nvPr/>
        </p:nvCxnSpPr>
        <p:spPr>
          <a:xfrm rot="16200000" flipH="1">
            <a:off x="3223119" y="1664548"/>
            <a:ext cx="700326" cy="40987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5" name="Connettore a gomito 34">
            <a:extLst>
              <a:ext uri="{FF2B5EF4-FFF2-40B4-BE49-F238E27FC236}">
                <a16:creationId xmlns:a16="http://schemas.microsoft.com/office/drawing/2014/main" id="{53CC80B3-D0A0-4243-94B0-B7CB88613A97}"/>
              </a:ext>
            </a:extLst>
          </p:cNvPr>
          <p:cNvCxnSpPr>
            <a:cxnSpLocks/>
          </p:cNvCxnSpPr>
          <p:nvPr/>
        </p:nvCxnSpPr>
        <p:spPr>
          <a:xfrm rot="5400000" flipH="1" flipV="1">
            <a:off x="3154703" y="930555"/>
            <a:ext cx="842840" cy="415551"/>
          </a:xfrm>
          <a:prstGeom prst="bentConnector3">
            <a:avLst>
              <a:gd name="adj1" fmla="val 99817"/>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37" name="Connettore a gomito 36">
            <a:extLst>
              <a:ext uri="{FF2B5EF4-FFF2-40B4-BE49-F238E27FC236}">
                <a16:creationId xmlns:a16="http://schemas.microsoft.com/office/drawing/2014/main" id="{D602F56D-A425-476C-9CCE-FAFAD17C489E}"/>
              </a:ext>
            </a:extLst>
          </p:cNvPr>
          <p:cNvCxnSpPr>
            <a:cxnSpLocks/>
          </p:cNvCxnSpPr>
          <p:nvPr/>
        </p:nvCxnSpPr>
        <p:spPr>
          <a:xfrm rot="10800000" flipH="1">
            <a:off x="3778218" y="844970"/>
            <a:ext cx="12233" cy="1498930"/>
          </a:xfrm>
          <a:prstGeom prst="bentConnector3">
            <a:avLst>
              <a:gd name="adj1" fmla="val -1868716"/>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43" name="Connettore a gomito 42">
            <a:extLst>
              <a:ext uri="{FF2B5EF4-FFF2-40B4-BE49-F238E27FC236}">
                <a16:creationId xmlns:a16="http://schemas.microsoft.com/office/drawing/2014/main" id="{63362B8B-1155-43E3-B9E7-BA99E733DCC1}"/>
              </a:ext>
            </a:extLst>
          </p:cNvPr>
          <p:cNvCxnSpPr>
            <a:stCxn id="14" idx="0"/>
            <a:endCxn id="9" idx="3"/>
          </p:cNvCxnSpPr>
          <p:nvPr/>
        </p:nvCxnSpPr>
        <p:spPr>
          <a:xfrm rot="16200000" flipV="1">
            <a:off x="4587540" y="1453814"/>
            <a:ext cx="510644" cy="72252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4" name="Connettore a gomito 43">
            <a:extLst>
              <a:ext uri="{FF2B5EF4-FFF2-40B4-BE49-F238E27FC236}">
                <a16:creationId xmlns:a16="http://schemas.microsoft.com/office/drawing/2014/main" id="{AC2475DD-E9EC-4FAD-9000-FFAB773FE92C}"/>
              </a:ext>
            </a:extLst>
          </p:cNvPr>
          <p:cNvCxnSpPr>
            <a:cxnSpLocks/>
            <a:stCxn id="14" idx="0"/>
            <a:endCxn id="11" idx="3"/>
          </p:cNvCxnSpPr>
          <p:nvPr/>
        </p:nvCxnSpPr>
        <p:spPr>
          <a:xfrm rot="16200000" flipV="1">
            <a:off x="4182122" y="1048396"/>
            <a:ext cx="1309249" cy="734752"/>
          </a:xfrm>
          <a:prstGeom prst="bentConnector2">
            <a:avLst/>
          </a:prstGeom>
          <a:ln>
            <a:prstDash val="sysDot"/>
            <a:tailEnd type="triangle"/>
          </a:ln>
        </p:spPr>
        <p:style>
          <a:lnRef idx="1">
            <a:schemeClr val="dk1"/>
          </a:lnRef>
          <a:fillRef idx="0">
            <a:schemeClr val="dk1"/>
          </a:fillRef>
          <a:effectRef idx="0">
            <a:schemeClr val="dk1"/>
          </a:effectRef>
          <a:fontRef idx="minor">
            <a:schemeClr val="tx1"/>
          </a:fontRef>
        </p:style>
      </p:cxnSp>
      <p:cxnSp>
        <p:nvCxnSpPr>
          <p:cNvPr id="48" name="Connettore a gomito 47">
            <a:extLst>
              <a:ext uri="{FF2B5EF4-FFF2-40B4-BE49-F238E27FC236}">
                <a16:creationId xmlns:a16="http://schemas.microsoft.com/office/drawing/2014/main" id="{6990C6C9-FF8A-4D8B-811B-781D1BD0CDCC}"/>
              </a:ext>
            </a:extLst>
          </p:cNvPr>
          <p:cNvCxnSpPr>
            <a:stCxn id="14" idx="2"/>
            <a:endCxn id="10" idx="2"/>
          </p:cNvCxnSpPr>
          <p:nvPr/>
        </p:nvCxnSpPr>
        <p:spPr>
          <a:xfrm rot="5400000" flipH="1">
            <a:off x="3612371" y="858007"/>
            <a:ext cx="708125" cy="2475376"/>
          </a:xfrm>
          <a:prstGeom prst="bentConnector3">
            <a:avLst>
              <a:gd name="adj1" fmla="val -32282"/>
            </a:avLst>
          </a:prstGeom>
          <a:ln>
            <a:tailEnd type="triangle"/>
          </a:ln>
        </p:spPr>
        <p:style>
          <a:lnRef idx="1">
            <a:schemeClr val="dk1"/>
          </a:lnRef>
          <a:fillRef idx="0">
            <a:schemeClr val="dk1"/>
          </a:fillRef>
          <a:effectRef idx="0">
            <a:schemeClr val="dk1"/>
          </a:effectRef>
          <a:fontRef idx="minor">
            <a:schemeClr val="tx1"/>
          </a:fontRef>
        </p:style>
      </p:cxnSp>
      <p:sp>
        <p:nvSpPr>
          <p:cNvPr id="49" name="CasellaDiTesto 48">
            <a:extLst>
              <a:ext uri="{FF2B5EF4-FFF2-40B4-BE49-F238E27FC236}">
                <a16:creationId xmlns:a16="http://schemas.microsoft.com/office/drawing/2014/main" id="{E5A9194C-0973-45FE-9DF6-495C266FA018}"/>
              </a:ext>
            </a:extLst>
          </p:cNvPr>
          <p:cNvSpPr txBox="1"/>
          <p:nvPr/>
        </p:nvSpPr>
        <p:spPr>
          <a:xfrm>
            <a:off x="4612225" y="1369933"/>
            <a:ext cx="575718" cy="169277"/>
          </a:xfrm>
          <a:prstGeom prst="rect">
            <a:avLst/>
          </a:prstGeom>
          <a:noFill/>
        </p:spPr>
        <p:txBody>
          <a:bodyPr wrap="square" rtlCol="0">
            <a:spAutoFit/>
          </a:bodyPr>
          <a:lstStyle/>
          <a:p>
            <a:r>
              <a:rPr lang="it-IT" sz="500" dirty="0"/>
              <a:t>AI </a:t>
            </a:r>
            <a:r>
              <a:rPr lang="it-IT" sz="500" dirty="0" err="1"/>
              <a:t>config</a:t>
            </a:r>
            <a:endParaRPr lang="it-IT" sz="500" dirty="0"/>
          </a:p>
        </p:txBody>
      </p:sp>
      <p:sp>
        <p:nvSpPr>
          <p:cNvPr id="50" name="CasellaDiTesto 49">
            <a:extLst>
              <a:ext uri="{FF2B5EF4-FFF2-40B4-BE49-F238E27FC236}">
                <a16:creationId xmlns:a16="http://schemas.microsoft.com/office/drawing/2014/main" id="{707A5043-ECE3-4B0D-A281-D879E6A773E1}"/>
              </a:ext>
            </a:extLst>
          </p:cNvPr>
          <p:cNvSpPr txBox="1"/>
          <p:nvPr/>
        </p:nvSpPr>
        <p:spPr>
          <a:xfrm>
            <a:off x="4636221" y="607259"/>
            <a:ext cx="575718" cy="169277"/>
          </a:xfrm>
          <a:prstGeom prst="rect">
            <a:avLst/>
          </a:prstGeom>
          <a:noFill/>
        </p:spPr>
        <p:txBody>
          <a:bodyPr wrap="square" rtlCol="0">
            <a:spAutoFit/>
          </a:bodyPr>
          <a:lstStyle/>
          <a:p>
            <a:r>
              <a:rPr lang="it-IT" sz="500" dirty="0"/>
              <a:t>SM </a:t>
            </a:r>
            <a:r>
              <a:rPr lang="it-IT" sz="500" dirty="0" err="1"/>
              <a:t>config</a:t>
            </a:r>
            <a:endParaRPr lang="it-IT" sz="500" dirty="0"/>
          </a:p>
        </p:txBody>
      </p:sp>
      <p:sp>
        <p:nvSpPr>
          <p:cNvPr id="51" name="CasellaDiTesto 50">
            <a:extLst>
              <a:ext uri="{FF2B5EF4-FFF2-40B4-BE49-F238E27FC236}">
                <a16:creationId xmlns:a16="http://schemas.microsoft.com/office/drawing/2014/main" id="{FB605540-A55A-4D58-85C0-FE27C5C44937}"/>
              </a:ext>
            </a:extLst>
          </p:cNvPr>
          <p:cNvSpPr txBox="1"/>
          <p:nvPr/>
        </p:nvSpPr>
        <p:spPr>
          <a:xfrm>
            <a:off x="4446190" y="2126731"/>
            <a:ext cx="575718" cy="246221"/>
          </a:xfrm>
          <a:prstGeom prst="rect">
            <a:avLst/>
          </a:prstGeom>
          <a:noFill/>
        </p:spPr>
        <p:txBody>
          <a:bodyPr wrap="square" rtlCol="0">
            <a:spAutoFit/>
          </a:bodyPr>
          <a:lstStyle/>
          <a:p>
            <a:r>
              <a:rPr lang="it-IT" sz="500" dirty="0" err="1"/>
              <a:t>Config</a:t>
            </a:r>
            <a:r>
              <a:rPr lang="it-IT" sz="500" dirty="0"/>
              <a:t> settings</a:t>
            </a:r>
          </a:p>
        </p:txBody>
      </p:sp>
      <p:sp>
        <p:nvSpPr>
          <p:cNvPr id="52" name="CasellaDiTesto 51">
            <a:extLst>
              <a:ext uri="{FF2B5EF4-FFF2-40B4-BE49-F238E27FC236}">
                <a16:creationId xmlns:a16="http://schemas.microsoft.com/office/drawing/2014/main" id="{9141898E-A64D-46C8-AFF1-D410FBF9FF96}"/>
              </a:ext>
            </a:extLst>
          </p:cNvPr>
          <p:cNvSpPr txBox="1"/>
          <p:nvPr/>
        </p:nvSpPr>
        <p:spPr>
          <a:xfrm>
            <a:off x="3825022" y="2533571"/>
            <a:ext cx="656781" cy="169277"/>
          </a:xfrm>
          <a:prstGeom prst="rect">
            <a:avLst/>
          </a:prstGeom>
          <a:noFill/>
        </p:spPr>
        <p:txBody>
          <a:bodyPr wrap="square" rtlCol="0">
            <a:spAutoFit/>
          </a:bodyPr>
          <a:lstStyle/>
          <a:p>
            <a:r>
              <a:rPr lang="it-IT" sz="500" dirty="0"/>
              <a:t>DPM </a:t>
            </a:r>
            <a:r>
              <a:rPr lang="it-IT" sz="500" dirty="0" err="1"/>
              <a:t>config</a:t>
            </a:r>
            <a:endParaRPr lang="it-IT" sz="500" dirty="0"/>
          </a:p>
        </p:txBody>
      </p:sp>
      <p:sp>
        <p:nvSpPr>
          <p:cNvPr id="53" name="CasellaDiTesto 52">
            <a:extLst>
              <a:ext uri="{FF2B5EF4-FFF2-40B4-BE49-F238E27FC236}">
                <a16:creationId xmlns:a16="http://schemas.microsoft.com/office/drawing/2014/main" id="{2F6B068E-9FB1-4209-8A2F-13B3A4B4B22B}"/>
              </a:ext>
            </a:extLst>
          </p:cNvPr>
          <p:cNvSpPr txBox="1"/>
          <p:nvPr/>
        </p:nvSpPr>
        <p:spPr>
          <a:xfrm>
            <a:off x="4245161" y="1827271"/>
            <a:ext cx="575718" cy="169277"/>
          </a:xfrm>
          <a:prstGeom prst="rect">
            <a:avLst/>
          </a:prstGeom>
          <a:noFill/>
        </p:spPr>
        <p:txBody>
          <a:bodyPr wrap="square" rtlCol="0">
            <a:spAutoFit/>
          </a:bodyPr>
          <a:lstStyle/>
          <a:p>
            <a:r>
              <a:rPr lang="it-IT" sz="500" dirty="0"/>
              <a:t>Queries</a:t>
            </a:r>
          </a:p>
        </p:txBody>
      </p:sp>
      <p:sp>
        <p:nvSpPr>
          <p:cNvPr id="54" name="CasellaDiTesto 53">
            <a:extLst>
              <a:ext uri="{FF2B5EF4-FFF2-40B4-BE49-F238E27FC236}">
                <a16:creationId xmlns:a16="http://schemas.microsoft.com/office/drawing/2014/main" id="{1C927BF8-F710-4204-AC45-89487CA6F8AC}"/>
              </a:ext>
            </a:extLst>
          </p:cNvPr>
          <p:cNvSpPr txBox="1"/>
          <p:nvPr/>
        </p:nvSpPr>
        <p:spPr>
          <a:xfrm>
            <a:off x="3860666" y="1749431"/>
            <a:ext cx="575718" cy="246221"/>
          </a:xfrm>
          <a:prstGeom prst="rect">
            <a:avLst/>
          </a:prstGeom>
          <a:noFill/>
        </p:spPr>
        <p:txBody>
          <a:bodyPr wrap="square" rtlCol="0">
            <a:spAutoFit/>
          </a:bodyPr>
          <a:lstStyle/>
          <a:p>
            <a:r>
              <a:rPr lang="it-IT" sz="500" dirty="0" err="1"/>
              <a:t>Inference</a:t>
            </a:r>
            <a:r>
              <a:rPr lang="it-IT" sz="500" dirty="0"/>
              <a:t> </a:t>
            </a:r>
            <a:r>
              <a:rPr lang="it-IT" sz="500" dirty="0" err="1"/>
              <a:t>results</a:t>
            </a:r>
            <a:endParaRPr lang="it-IT" sz="500" dirty="0"/>
          </a:p>
        </p:txBody>
      </p:sp>
      <p:sp>
        <p:nvSpPr>
          <p:cNvPr id="55" name="CasellaDiTesto 54">
            <a:extLst>
              <a:ext uri="{FF2B5EF4-FFF2-40B4-BE49-F238E27FC236}">
                <a16:creationId xmlns:a16="http://schemas.microsoft.com/office/drawing/2014/main" id="{74F4E444-48D6-47BD-AF64-FDBFA4478873}"/>
              </a:ext>
            </a:extLst>
          </p:cNvPr>
          <p:cNvSpPr txBox="1"/>
          <p:nvPr/>
        </p:nvSpPr>
        <p:spPr>
          <a:xfrm>
            <a:off x="4230983" y="1024323"/>
            <a:ext cx="575718" cy="246221"/>
          </a:xfrm>
          <a:prstGeom prst="rect">
            <a:avLst/>
          </a:prstGeom>
          <a:noFill/>
        </p:spPr>
        <p:txBody>
          <a:bodyPr wrap="square" rtlCol="0">
            <a:spAutoFit/>
          </a:bodyPr>
          <a:lstStyle/>
          <a:p>
            <a:r>
              <a:rPr lang="it-IT" sz="500" dirty="0" err="1"/>
              <a:t>Inference</a:t>
            </a:r>
            <a:r>
              <a:rPr lang="it-IT" sz="500" dirty="0"/>
              <a:t> </a:t>
            </a:r>
            <a:r>
              <a:rPr lang="it-IT" sz="500" dirty="0" err="1"/>
              <a:t>results</a:t>
            </a:r>
            <a:endParaRPr lang="it-IT" sz="500" dirty="0"/>
          </a:p>
        </p:txBody>
      </p:sp>
      <p:sp>
        <p:nvSpPr>
          <p:cNvPr id="56" name="CasellaDiTesto 55">
            <a:extLst>
              <a:ext uri="{FF2B5EF4-FFF2-40B4-BE49-F238E27FC236}">
                <a16:creationId xmlns:a16="http://schemas.microsoft.com/office/drawing/2014/main" id="{15E61EF5-028F-4B7E-A9AE-28930A46F1A1}"/>
              </a:ext>
            </a:extLst>
          </p:cNvPr>
          <p:cNvSpPr txBox="1"/>
          <p:nvPr/>
        </p:nvSpPr>
        <p:spPr>
          <a:xfrm>
            <a:off x="3855021" y="991091"/>
            <a:ext cx="477904" cy="169277"/>
          </a:xfrm>
          <a:prstGeom prst="rect">
            <a:avLst/>
          </a:prstGeom>
          <a:noFill/>
        </p:spPr>
        <p:txBody>
          <a:bodyPr wrap="square" rtlCol="0">
            <a:spAutoFit/>
          </a:bodyPr>
          <a:lstStyle/>
          <a:p>
            <a:r>
              <a:rPr lang="it-IT" sz="500" dirty="0"/>
              <a:t>RAG data</a:t>
            </a:r>
          </a:p>
        </p:txBody>
      </p:sp>
      <p:sp>
        <p:nvSpPr>
          <p:cNvPr id="57" name="CasellaDiTesto 56">
            <a:extLst>
              <a:ext uri="{FF2B5EF4-FFF2-40B4-BE49-F238E27FC236}">
                <a16:creationId xmlns:a16="http://schemas.microsoft.com/office/drawing/2014/main" id="{3749F3AB-029B-409F-BBAA-9D34B07E4B8B}"/>
              </a:ext>
            </a:extLst>
          </p:cNvPr>
          <p:cNvSpPr txBox="1"/>
          <p:nvPr/>
        </p:nvSpPr>
        <p:spPr>
          <a:xfrm>
            <a:off x="3482956" y="1831390"/>
            <a:ext cx="634543" cy="246221"/>
          </a:xfrm>
          <a:prstGeom prst="rect">
            <a:avLst/>
          </a:prstGeom>
          <a:noFill/>
        </p:spPr>
        <p:txBody>
          <a:bodyPr wrap="square" rtlCol="0">
            <a:spAutoFit/>
          </a:bodyPr>
          <a:lstStyle/>
          <a:p>
            <a:r>
              <a:rPr lang="it-IT" sz="500" dirty="0" err="1"/>
              <a:t>Operators</a:t>
            </a:r>
            <a:endParaRPr lang="it-IT" sz="500" dirty="0"/>
          </a:p>
          <a:p>
            <a:r>
              <a:rPr lang="it-IT" sz="500" dirty="0"/>
              <a:t>interactions</a:t>
            </a:r>
          </a:p>
        </p:txBody>
      </p:sp>
      <p:sp>
        <p:nvSpPr>
          <p:cNvPr id="58" name="CasellaDiTesto 57">
            <a:extLst>
              <a:ext uri="{FF2B5EF4-FFF2-40B4-BE49-F238E27FC236}">
                <a16:creationId xmlns:a16="http://schemas.microsoft.com/office/drawing/2014/main" id="{30E4CC19-A5B0-4597-B702-344622C8BBF9}"/>
              </a:ext>
            </a:extLst>
          </p:cNvPr>
          <p:cNvSpPr txBox="1"/>
          <p:nvPr/>
        </p:nvSpPr>
        <p:spPr>
          <a:xfrm>
            <a:off x="2995869" y="1442376"/>
            <a:ext cx="634543" cy="215444"/>
          </a:xfrm>
          <a:prstGeom prst="rect">
            <a:avLst/>
          </a:prstGeom>
          <a:noFill/>
        </p:spPr>
        <p:txBody>
          <a:bodyPr wrap="square" rtlCol="0">
            <a:spAutoFit/>
          </a:bodyPr>
          <a:lstStyle/>
          <a:p>
            <a:r>
              <a:rPr lang="it-IT" sz="400" dirty="0" err="1"/>
              <a:t>Normalized</a:t>
            </a:r>
            <a:r>
              <a:rPr lang="it-IT" sz="400" dirty="0"/>
              <a:t> </a:t>
            </a:r>
          </a:p>
          <a:p>
            <a:r>
              <a:rPr lang="it-IT" sz="400" dirty="0"/>
              <a:t>data</a:t>
            </a:r>
          </a:p>
        </p:txBody>
      </p:sp>
      <p:cxnSp>
        <p:nvCxnSpPr>
          <p:cNvPr id="64" name="Connettore 2 63">
            <a:extLst>
              <a:ext uri="{FF2B5EF4-FFF2-40B4-BE49-F238E27FC236}">
                <a16:creationId xmlns:a16="http://schemas.microsoft.com/office/drawing/2014/main" id="{6BD6B0DD-708E-444E-B9AC-E9139F898622}"/>
              </a:ext>
            </a:extLst>
          </p:cNvPr>
          <p:cNvCxnSpPr>
            <a:cxnSpLocks/>
          </p:cNvCxnSpPr>
          <p:nvPr/>
        </p:nvCxnSpPr>
        <p:spPr>
          <a:xfrm flipH="1">
            <a:off x="2727220" y="1067310"/>
            <a:ext cx="1525" cy="3216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CasellaDiTesto 65">
            <a:extLst>
              <a:ext uri="{FF2B5EF4-FFF2-40B4-BE49-F238E27FC236}">
                <a16:creationId xmlns:a16="http://schemas.microsoft.com/office/drawing/2014/main" id="{9EFBA908-73E8-4E63-9F77-502C23C9F802}"/>
              </a:ext>
            </a:extLst>
          </p:cNvPr>
          <p:cNvSpPr txBox="1"/>
          <p:nvPr/>
        </p:nvSpPr>
        <p:spPr>
          <a:xfrm>
            <a:off x="2413943" y="738219"/>
            <a:ext cx="625274" cy="369332"/>
          </a:xfrm>
          <a:prstGeom prst="rect">
            <a:avLst/>
          </a:prstGeom>
          <a:noFill/>
        </p:spPr>
        <p:txBody>
          <a:bodyPr wrap="square" rtlCol="0">
            <a:spAutoFit/>
          </a:bodyPr>
          <a:lstStyle/>
          <a:p>
            <a:pPr algn="ctr"/>
            <a:r>
              <a:rPr lang="it-IT" sz="600" b="1" dirty="0" err="1"/>
              <a:t>External</a:t>
            </a:r>
            <a:r>
              <a:rPr lang="it-IT" sz="600" b="1" dirty="0"/>
              <a:t> data sources</a:t>
            </a:r>
          </a:p>
        </p:txBody>
      </p:sp>
    </p:spTree>
    <p:extLst>
      <p:ext uri="{BB962C8B-B14F-4D97-AF65-F5344CB8AC3E}">
        <p14:creationId xmlns:p14="http://schemas.microsoft.com/office/powerpoint/2010/main" val="4120668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35DB-7A9F-DA9D-F47F-F915A8ECCEFF}"/>
              </a:ext>
            </a:extLst>
          </p:cNvPr>
          <p:cNvSpPr>
            <a:spLocks noGrp="1"/>
          </p:cNvSpPr>
          <p:nvPr>
            <p:ph type="title"/>
          </p:nvPr>
        </p:nvSpPr>
        <p:spPr>
          <a:xfrm>
            <a:off x="1060945" y="240230"/>
            <a:ext cx="4598710" cy="215444"/>
          </a:xfrm>
        </p:spPr>
        <p:txBody>
          <a:bodyPr wrap="square" lIns="0" tIns="0" rIns="0" bIns="0" anchor="t">
            <a:spAutoFit/>
          </a:bodyPr>
          <a:lstStyle/>
          <a:p>
            <a:r>
              <a:rPr lang="en-US" dirty="0">
                <a:ea typeface="Calibri"/>
              </a:rPr>
              <a:t>FUNES System – PoC Chat capability</a:t>
            </a:r>
            <a:endParaRPr lang="en-US" dirty="0"/>
          </a:p>
        </p:txBody>
      </p:sp>
      <p:pic>
        <p:nvPicPr>
          <p:cNvPr id="1026" name="Picture 2">
            <a:extLst>
              <a:ext uri="{FF2B5EF4-FFF2-40B4-BE49-F238E27FC236}">
                <a16:creationId xmlns:a16="http://schemas.microsoft.com/office/drawing/2014/main" id="{9681C3AE-344A-4E07-8693-CF2B69FF3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945" y="606389"/>
            <a:ext cx="4022398" cy="2431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80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35DB-7A9F-DA9D-F47F-F915A8ECCEFF}"/>
              </a:ext>
            </a:extLst>
          </p:cNvPr>
          <p:cNvSpPr>
            <a:spLocks noGrp="1"/>
          </p:cNvSpPr>
          <p:nvPr>
            <p:ph type="title"/>
          </p:nvPr>
        </p:nvSpPr>
        <p:spPr>
          <a:xfrm>
            <a:off x="1060945" y="240230"/>
            <a:ext cx="4297826" cy="215444"/>
          </a:xfrm>
        </p:spPr>
        <p:txBody>
          <a:bodyPr wrap="square" lIns="0" tIns="0" rIns="0" bIns="0" anchor="t">
            <a:spAutoFit/>
          </a:bodyPr>
          <a:lstStyle/>
          <a:p>
            <a:r>
              <a:rPr lang="en-US" dirty="0">
                <a:ea typeface="Calibri"/>
              </a:rPr>
              <a:t>FUNES PoC - AI Module</a:t>
            </a:r>
            <a:endParaRPr lang="en-US" dirty="0"/>
          </a:p>
        </p:txBody>
      </p:sp>
      <p:pic>
        <p:nvPicPr>
          <p:cNvPr id="4" name="Immagine 3">
            <a:extLst>
              <a:ext uri="{FF2B5EF4-FFF2-40B4-BE49-F238E27FC236}">
                <a16:creationId xmlns:a16="http://schemas.microsoft.com/office/drawing/2014/main" id="{B0395179-CCC3-4D40-8E64-EC8F0D1EC3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5789" y="630455"/>
            <a:ext cx="2730298" cy="2066777"/>
          </a:xfrm>
          <a:prstGeom prst="rect">
            <a:avLst/>
          </a:prstGeom>
        </p:spPr>
      </p:pic>
      <p:sp>
        <p:nvSpPr>
          <p:cNvPr id="5" name="CasellaDiTesto 4">
            <a:extLst>
              <a:ext uri="{FF2B5EF4-FFF2-40B4-BE49-F238E27FC236}">
                <a16:creationId xmlns:a16="http://schemas.microsoft.com/office/drawing/2014/main" id="{38CEDCAD-175F-4CEE-AE11-C75F26B18933}"/>
              </a:ext>
            </a:extLst>
          </p:cNvPr>
          <p:cNvSpPr txBox="1"/>
          <p:nvPr/>
        </p:nvSpPr>
        <p:spPr>
          <a:xfrm>
            <a:off x="336885" y="837398"/>
            <a:ext cx="1891364" cy="1731243"/>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800" b="1" dirty="0"/>
              <a:t>Multi-Agent Graph-Based Architecture (</a:t>
            </a:r>
            <a:r>
              <a:rPr lang="en-US" sz="800" b="1" dirty="0" err="1"/>
              <a:t>LangGraph</a:t>
            </a:r>
            <a:r>
              <a:rPr lang="en-US" sz="800" b="1" dirty="0"/>
              <a:t>):</a:t>
            </a:r>
            <a:r>
              <a:rPr lang="en-US" sz="800" dirty="0"/>
              <a:t> The system decomposes the decision-making process into specialized LLM components, coordinated through a shared execution state.</a:t>
            </a:r>
          </a:p>
          <a:p>
            <a:pPr marL="171450" indent="-171450">
              <a:spcAft>
                <a:spcPts val="300"/>
              </a:spcAft>
              <a:buFont typeface="Arial" panose="020B0604020202020204" pitchFamily="34" charset="0"/>
              <a:buChar char="•"/>
            </a:pPr>
            <a:r>
              <a:rPr lang="en-US" sz="800" b="1" dirty="0"/>
              <a:t>Role Specialization and Separation:</a:t>
            </a:r>
            <a:r>
              <a:rPr lang="en-US" sz="800" dirty="0"/>
              <a:t> Agents are divided into core-orchestration roles and tool-support agents, ensuring </a:t>
            </a:r>
            <a:r>
              <a:rPr lang="en-US" sz="800" u="sng" dirty="0"/>
              <a:t>evidence-grounded</a:t>
            </a:r>
            <a:r>
              <a:rPr lang="en-US" sz="800" dirty="0"/>
              <a:t> assessments with structured JSON outputs.</a:t>
            </a:r>
            <a:endParaRPr lang="it-IT" sz="800" dirty="0"/>
          </a:p>
        </p:txBody>
      </p:sp>
      <p:pic>
        <p:nvPicPr>
          <p:cNvPr id="7" name="Immagine 6">
            <a:extLst>
              <a:ext uri="{FF2B5EF4-FFF2-40B4-BE49-F238E27FC236}">
                <a16:creationId xmlns:a16="http://schemas.microsoft.com/office/drawing/2014/main" id="{0ECD526D-428C-4219-98EB-9700D5590C85}"/>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723836" y="796470"/>
            <a:ext cx="416315" cy="416315"/>
          </a:xfrm>
          <a:prstGeom prst="rect">
            <a:avLst/>
          </a:prstGeom>
        </p:spPr>
      </p:pic>
      <p:sp>
        <p:nvSpPr>
          <p:cNvPr id="3" name="CasellaDiTesto 2">
            <a:extLst>
              <a:ext uri="{FF2B5EF4-FFF2-40B4-BE49-F238E27FC236}">
                <a16:creationId xmlns:a16="http://schemas.microsoft.com/office/drawing/2014/main" id="{A0CB99A1-6994-42EF-8717-ADF97A089450}"/>
              </a:ext>
            </a:extLst>
          </p:cNvPr>
          <p:cNvSpPr txBox="1"/>
          <p:nvPr/>
        </p:nvSpPr>
        <p:spPr>
          <a:xfrm>
            <a:off x="2984029" y="2751157"/>
            <a:ext cx="2340641" cy="307777"/>
          </a:xfrm>
          <a:prstGeom prst="rect">
            <a:avLst/>
          </a:prstGeom>
          <a:noFill/>
        </p:spPr>
        <p:txBody>
          <a:bodyPr wrap="square" rtlCol="0">
            <a:spAutoFit/>
          </a:bodyPr>
          <a:lstStyle/>
          <a:p>
            <a:pPr algn="ctr"/>
            <a:r>
              <a:rPr lang="it-IT" sz="700" dirty="0" err="1"/>
              <a:t>Every</a:t>
            </a:r>
            <a:r>
              <a:rPr lang="it-IT" sz="700" dirty="0"/>
              <a:t> LLM </a:t>
            </a:r>
            <a:r>
              <a:rPr lang="it-IT" sz="700" dirty="0" err="1"/>
              <a:t>is</a:t>
            </a:r>
            <a:r>
              <a:rPr lang="it-IT" sz="700" dirty="0"/>
              <a:t> </a:t>
            </a:r>
            <a:r>
              <a:rPr lang="it-IT" sz="700" dirty="0" err="1"/>
              <a:t>constrained</a:t>
            </a:r>
            <a:r>
              <a:rPr lang="it-IT" sz="700" dirty="0"/>
              <a:t> to follow a </a:t>
            </a:r>
            <a:r>
              <a:rPr lang="it-IT" sz="700" dirty="0" err="1"/>
              <a:t>specific</a:t>
            </a:r>
            <a:r>
              <a:rPr lang="it-IT" sz="700" dirty="0"/>
              <a:t> JSON </a:t>
            </a:r>
            <a:r>
              <a:rPr lang="it-IT" sz="700" dirty="0" err="1"/>
              <a:t>answer</a:t>
            </a:r>
            <a:r>
              <a:rPr lang="it-IT" sz="700" dirty="0"/>
              <a:t> model.</a:t>
            </a:r>
          </a:p>
        </p:txBody>
      </p:sp>
    </p:spTree>
    <p:extLst>
      <p:ext uri="{BB962C8B-B14F-4D97-AF65-F5344CB8AC3E}">
        <p14:creationId xmlns:p14="http://schemas.microsoft.com/office/powerpoint/2010/main" val="3802344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D1B18-96C0-B4EE-C81F-033F8F5704D9}"/>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6EC5769F-5883-E614-255B-EB03D91030AB}"/>
              </a:ext>
            </a:extLst>
          </p:cNvPr>
          <p:cNvSpPr txBox="1"/>
          <p:nvPr/>
        </p:nvSpPr>
        <p:spPr>
          <a:xfrm>
            <a:off x="245275" y="2643365"/>
            <a:ext cx="1089429" cy="266996"/>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Introduction</a:t>
            </a:r>
          </a:p>
        </p:txBody>
      </p:sp>
      <p:sp>
        <p:nvSpPr>
          <p:cNvPr id="36" name="TextBox 35">
            <a:extLst>
              <a:ext uri="{FF2B5EF4-FFF2-40B4-BE49-F238E27FC236}">
                <a16:creationId xmlns:a16="http://schemas.microsoft.com/office/drawing/2014/main" id="{F1AEB3F5-2171-33DF-EC72-F4BA6120FBE1}"/>
              </a:ext>
            </a:extLst>
          </p:cNvPr>
          <p:cNvSpPr txBox="1"/>
          <p:nvPr/>
        </p:nvSpPr>
        <p:spPr>
          <a:xfrm>
            <a:off x="245276" y="2864167"/>
            <a:ext cx="1089429" cy="179601"/>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nvGrpSpPr>
          <p:cNvPr id="41" name="Group 40">
            <a:extLst>
              <a:ext uri="{FF2B5EF4-FFF2-40B4-BE49-F238E27FC236}">
                <a16:creationId xmlns:a16="http://schemas.microsoft.com/office/drawing/2014/main" id="{C54DFA91-37A0-F850-2C73-53011ACD183C}"/>
              </a:ext>
            </a:extLst>
          </p:cNvPr>
          <p:cNvGrpSpPr/>
          <p:nvPr/>
        </p:nvGrpSpPr>
        <p:grpSpPr>
          <a:xfrm>
            <a:off x="1482835" y="722003"/>
            <a:ext cx="1376480" cy="640848"/>
            <a:chOff x="332936" y="2111597"/>
            <a:chExt cx="3697066" cy="1355097"/>
          </a:xfrm>
        </p:grpSpPr>
        <p:sp>
          <p:nvSpPr>
            <p:cNvPr id="42" name="TextBox 41">
              <a:extLst>
                <a:ext uri="{FF2B5EF4-FFF2-40B4-BE49-F238E27FC236}">
                  <a16:creationId xmlns:a16="http://schemas.microsoft.com/office/drawing/2014/main" id="{63781F1F-34CD-AA46-05D0-054AA433947A}"/>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a:ea typeface="Calibri"/>
                  <a:cs typeface="Calibri"/>
                </a:rPr>
                <a:t>Foundation and Existing Approaches</a:t>
              </a:r>
              <a:endParaRPr lang="en-US" sz="1100"/>
            </a:p>
          </p:txBody>
        </p:sp>
        <p:sp>
          <p:nvSpPr>
            <p:cNvPr id="43" name="TextBox 42">
              <a:extLst>
                <a:ext uri="{FF2B5EF4-FFF2-40B4-BE49-F238E27FC236}">
                  <a16:creationId xmlns:a16="http://schemas.microsoft.com/office/drawing/2014/main" id="{D8676406-3203-6F63-3E57-523FE79024A0}"/>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49" name="TextBox 48">
            <a:extLst>
              <a:ext uri="{FF2B5EF4-FFF2-40B4-BE49-F238E27FC236}">
                <a16:creationId xmlns:a16="http://schemas.microsoft.com/office/drawing/2014/main" id="{7518B78C-AE0E-91F3-13CA-984D5EB5F4B6}"/>
              </a:ext>
            </a:extLst>
          </p:cNvPr>
          <p:cNvSpPr txBox="1"/>
          <p:nvPr/>
        </p:nvSpPr>
        <p:spPr>
          <a:xfrm>
            <a:off x="869002" y="114827"/>
            <a:ext cx="3238906" cy="307777"/>
          </a:xfrm>
          <a:prstGeom prst="rect">
            <a:avLst/>
          </a:prstGeom>
          <a:noFill/>
        </p:spPr>
        <p:txBody>
          <a:bodyPr wrap="square">
            <a:spAutoFit/>
          </a:bodyPr>
          <a:lstStyle/>
          <a:p>
            <a:r>
              <a:rPr lang="en-US" sz="1400" b="1" dirty="0">
                <a:solidFill>
                  <a:srgbClr val="953735"/>
                </a:solidFill>
                <a:latin typeface="Calibri"/>
                <a:ea typeface="Calibri"/>
                <a:cs typeface="Calibri"/>
              </a:rPr>
              <a:t>System Evaluation</a:t>
            </a:r>
            <a:endParaRPr lang="en-US" sz="1400" dirty="0"/>
          </a:p>
        </p:txBody>
      </p:sp>
      <p:sp>
        <p:nvSpPr>
          <p:cNvPr id="83" name="TextBox 35">
            <a:extLst>
              <a:ext uri="{FF2B5EF4-FFF2-40B4-BE49-F238E27FC236}">
                <a16:creationId xmlns:a16="http://schemas.microsoft.com/office/drawing/2014/main" id="{4619040B-CF8A-4011-B2FB-FEB37BF0C14C}"/>
              </a:ext>
            </a:extLst>
          </p:cNvPr>
          <p:cNvSpPr txBox="1"/>
          <p:nvPr/>
        </p:nvSpPr>
        <p:spPr>
          <a:xfrm>
            <a:off x="245276" y="2864167"/>
            <a:ext cx="1089429" cy="179601"/>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sp>
        <p:nvSpPr>
          <p:cNvPr id="85" name="TextBox 38">
            <a:extLst>
              <a:ext uri="{FF2B5EF4-FFF2-40B4-BE49-F238E27FC236}">
                <a16:creationId xmlns:a16="http://schemas.microsoft.com/office/drawing/2014/main" id="{DD36EBF4-A377-423F-98E9-1EE2DFE24415}"/>
              </a:ext>
            </a:extLst>
          </p:cNvPr>
          <p:cNvSpPr txBox="1"/>
          <p:nvPr/>
        </p:nvSpPr>
        <p:spPr>
          <a:xfrm>
            <a:off x="4169419" y="2556353"/>
            <a:ext cx="1089429" cy="48224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Conclusions, Limitations and Future Work</a:t>
            </a:r>
            <a:endParaRPr lang="en-US" sz="1100" dirty="0"/>
          </a:p>
        </p:txBody>
      </p:sp>
      <p:grpSp>
        <p:nvGrpSpPr>
          <p:cNvPr id="86" name="Group 40">
            <a:extLst>
              <a:ext uri="{FF2B5EF4-FFF2-40B4-BE49-F238E27FC236}">
                <a16:creationId xmlns:a16="http://schemas.microsoft.com/office/drawing/2014/main" id="{5F091013-CDCB-497B-910E-EB1C165AF600}"/>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81A7D411-3BF1-455C-8471-FE1FF84806ED}"/>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88" name="TextBox 42">
              <a:extLst>
                <a:ext uri="{FF2B5EF4-FFF2-40B4-BE49-F238E27FC236}">
                  <a16:creationId xmlns:a16="http://schemas.microsoft.com/office/drawing/2014/main" id="{FD29E8BF-A0D8-421B-8AA6-2BF93A9C0428}"/>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92" name="TextBox 46">
            <a:extLst>
              <a:ext uri="{FF2B5EF4-FFF2-40B4-BE49-F238E27FC236}">
                <a16:creationId xmlns:a16="http://schemas.microsoft.com/office/drawing/2014/main" id="{C6003E6B-15F2-4D08-8504-C7938680FB19}"/>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b="1" dirty="0">
                <a:solidFill>
                  <a:srgbClr val="3B3535"/>
                </a:solidFill>
                <a:latin typeface="+mn-lt"/>
                <a:ea typeface="Sora Semi Bold" pitchFamily="34" charset="-122"/>
                <a:cs typeface="Sora Semi Bold" pitchFamily="34" charset="-120"/>
              </a:rPr>
              <a:t>System Evaluation</a:t>
            </a:r>
            <a:endParaRPr lang="en-US" sz="1100" b="1" dirty="0">
              <a:latin typeface="+mn-lt"/>
            </a:endParaRPr>
          </a:p>
        </p:txBody>
      </p:sp>
      <p:sp>
        <p:nvSpPr>
          <p:cNvPr id="94" name="Shape">
            <a:extLst>
              <a:ext uri="{FF2B5EF4-FFF2-40B4-BE49-F238E27FC236}">
                <a16:creationId xmlns:a16="http://schemas.microsoft.com/office/drawing/2014/main" id="{2A4CE568-5AF2-4CA6-94E7-9BA4790E1EE8}"/>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5" name="Shape">
            <a:extLst>
              <a:ext uri="{FF2B5EF4-FFF2-40B4-BE49-F238E27FC236}">
                <a16:creationId xmlns:a16="http://schemas.microsoft.com/office/drawing/2014/main" id="{ABFBB2A3-0A50-46E5-BFCA-753BD4619F54}"/>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6" name="Shape">
            <a:extLst>
              <a:ext uri="{FF2B5EF4-FFF2-40B4-BE49-F238E27FC236}">
                <a16:creationId xmlns:a16="http://schemas.microsoft.com/office/drawing/2014/main" id="{FC662A30-6576-4836-9A3A-A2E00D6B4712}"/>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7" name="Shape">
            <a:extLst>
              <a:ext uri="{FF2B5EF4-FFF2-40B4-BE49-F238E27FC236}">
                <a16:creationId xmlns:a16="http://schemas.microsoft.com/office/drawing/2014/main" id="{FB99FFA8-4DC8-491E-8A03-91BEDA3D8132}"/>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8" name="Shape">
            <a:extLst>
              <a:ext uri="{FF2B5EF4-FFF2-40B4-BE49-F238E27FC236}">
                <a16:creationId xmlns:a16="http://schemas.microsoft.com/office/drawing/2014/main" id="{52C600D1-BC20-451F-B9CA-B36E1ED7A406}"/>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99" name="Shape">
            <a:extLst>
              <a:ext uri="{FF2B5EF4-FFF2-40B4-BE49-F238E27FC236}">
                <a16:creationId xmlns:a16="http://schemas.microsoft.com/office/drawing/2014/main" id="{240866BA-8813-42E0-B494-1F2EC690E4A9}"/>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0" name="Shape">
            <a:extLst>
              <a:ext uri="{FF2B5EF4-FFF2-40B4-BE49-F238E27FC236}">
                <a16:creationId xmlns:a16="http://schemas.microsoft.com/office/drawing/2014/main" id="{4BB52A43-1ECF-435E-9777-3C38C6823F81}"/>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accent3">
              <a:lumMod val="75000"/>
            </a:schemeClr>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1" name="Shape">
            <a:extLst>
              <a:ext uri="{FF2B5EF4-FFF2-40B4-BE49-F238E27FC236}">
                <a16:creationId xmlns:a16="http://schemas.microsoft.com/office/drawing/2014/main" id="{9F4D4BD1-9CDB-4899-B537-BC8317A331BB}"/>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2" name="Shape">
            <a:extLst>
              <a:ext uri="{FF2B5EF4-FFF2-40B4-BE49-F238E27FC236}">
                <a16:creationId xmlns:a16="http://schemas.microsoft.com/office/drawing/2014/main" id="{DB56E515-3F89-4823-8C16-759888BE49A4}"/>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3" name="Freeform: Shape 11">
            <a:extLst>
              <a:ext uri="{FF2B5EF4-FFF2-40B4-BE49-F238E27FC236}">
                <a16:creationId xmlns:a16="http://schemas.microsoft.com/office/drawing/2014/main" id="{2216FE47-ACE2-41DA-AEF3-4C21E91DD037}"/>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4" name="Freeform: Shape 12">
            <a:extLst>
              <a:ext uri="{FF2B5EF4-FFF2-40B4-BE49-F238E27FC236}">
                <a16:creationId xmlns:a16="http://schemas.microsoft.com/office/drawing/2014/main" id="{2E19BC26-7FD0-4519-B609-E09EFCF5EC63}"/>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5" name="Freeform: Shape 13">
            <a:extLst>
              <a:ext uri="{FF2B5EF4-FFF2-40B4-BE49-F238E27FC236}">
                <a16:creationId xmlns:a16="http://schemas.microsoft.com/office/drawing/2014/main" id="{04E9AA76-F5E5-4CDF-B9D6-00AFEE6BCA38}"/>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6" name="Freeform: Shape 14">
            <a:extLst>
              <a:ext uri="{FF2B5EF4-FFF2-40B4-BE49-F238E27FC236}">
                <a16:creationId xmlns:a16="http://schemas.microsoft.com/office/drawing/2014/main" id="{5B4342D4-6CAF-4B9A-918C-E5B1CC6C6D87}"/>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7" name="Freeform: Shape 15">
            <a:extLst>
              <a:ext uri="{FF2B5EF4-FFF2-40B4-BE49-F238E27FC236}">
                <a16:creationId xmlns:a16="http://schemas.microsoft.com/office/drawing/2014/main" id="{1C571149-7758-4BCB-85C2-90ABDD53E478}"/>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8" name="Shape">
            <a:extLst>
              <a:ext uri="{FF2B5EF4-FFF2-40B4-BE49-F238E27FC236}">
                <a16:creationId xmlns:a16="http://schemas.microsoft.com/office/drawing/2014/main" id="{5F6EBB60-B81F-4416-8BFC-5944E151CD44}"/>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09" name="Shape">
            <a:extLst>
              <a:ext uri="{FF2B5EF4-FFF2-40B4-BE49-F238E27FC236}">
                <a16:creationId xmlns:a16="http://schemas.microsoft.com/office/drawing/2014/main" id="{5FEAF7BC-545B-46C8-A356-1E9DE5066834}"/>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0" name="Shape">
            <a:extLst>
              <a:ext uri="{FF2B5EF4-FFF2-40B4-BE49-F238E27FC236}">
                <a16:creationId xmlns:a16="http://schemas.microsoft.com/office/drawing/2014/main" id="{C1075DF1-0986-4944-A7D2-4792575403D8}"/>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1" name="Shape">
            <a:extLst>
              <a:ext uri="{FF2B5EF4-FFF2-40B4-BE49-F238E27FC236}">
                <a16:creationId xmlns:a16="http://schemas.microsoft.com/office/drawing/2014/main" id="{B079F367-D370-4DB0-971F-01082EC742E0}"/>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2" name="Shape">
            <a:extLst>
              <a:ext uri="{FF2B5EF4-FFF2-40B4-BE49-F238E27FC236}">
                <a16:creationId xmlns:a16="http://schemas.microsoft.com/office/drawing/2014/main" id="{D331D4B2-D230-4483-873E-BF3E4D526406}"/>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3" name="Shape">
            <a:extLst>
              <a:ext uri="{FF2B5EF4-FFF2-40B4-BE49-F238E27FC236}">
                <a16:creationId xmlns:a16="http://schemas.microsoft.com/office/drawing/2014/main" id="{156CED4F-D6A1-4A4F-A814-0E7C23CAE700}"/>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4" name="Shape">
            <a:extLst>
              <a:ext uri="{FF2B5EF4-FFF2-40B4-BE49-F238E27FC236}">
                <a16:creationId xmlns:a16="http://schemas.microsoft.com/office/drawing/2014/main" id="{FF905577-9B1D-4FC3-BADD-4196255D2D8B}"/>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3"/>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5" name="Shape">
            <a:extLst>
              <a:ext uri="{FF2B5EF4-FFF2-40B4-BE49-F238E27FC236}">
                <a16:creationId xmlns:a16="http://schemas.microsoft.com/office/drawing/2014/main" id="{5046A3FF-43EA-44CD-9E6E-1209EC3561DF}"/>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6" name="Shape">
            <a:extLst>
              <a:ext uri="{FF2B5EF4-FFF2-40B4-BE49-F238E27FC236}">
                <a16:creationId xmlns:a16="http://schemas.microsoft.com/office/drawing/2014/main" id="{73780784-0E76-41C2-8E47-39232E6CDB98}"/>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7" name="Shape">
            <a:extLst>
              <a:ext uri="{FF2B5EF4-FFF2-40B4-BE49-F238E27FC236}">
                <a16:creationId xmlns:a16="http://schemas.microsoft.com/office/drawing/2014/main" id="{849DA10E-6283-43F7-96DE-E2634A75B752}"/>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8" name="Shape">
            <a:extLst>
              <a:ext uri="{FF2B5EF4-FFF2-40B4-BE49-F238E27FC236}">
                <a16:creationId xmlns:a16="http://schemas.microsoft.com/office/drawing/2014/main" id="{C5C94019-F0FD-463C-9B50-FCDE1C045961}"/>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19" name="Shape">
            <a:extLst>
              <a:ext uri="{FF2B5EF4-FFF2-40B4-BE49-F238E27FC236}">
                <a16:creationId xmlns:a16="http://schemas.microsoft.com/office/drawing/2014/main" id="{BE0C5F79-E227-45C3-B65B-3767E655FB25}"/>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20" name="Shape">
            <a:extLst>
              <a:ext uri="{FF2B5EF4-FFF2-40B4-BE49-F238E27FC236}">
                <a16:creationId xmlns:a16="http://schemas.microsoft.com/office/drawing/2014/main" id="{E38EA571-196F-42E8-B6F7-CB34280ECF08}"/>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121" name="TextBox 29">
            <a:extLst>
              <a:ext uri="{FF2B5EF4-FFF2-40B4-BE49-F238E27FC236}">
                <a16:creationId xmlns:a16="http://schemas.microsoft.com/office/drawing/2014/main" id="{783EBC7D-5156-460C-85B8-6F1892BFEC48}"/>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123" name="TextBox 31">
            <a:extLst>
              <a:ext uri="{FF2B5EF4-FFF2-40B4-BE49-F238E27FC236}">
                <a16:creationId xmlns:a16="http://schemas.microsoft.com/office/drawing/2014/main" id="{79964D2E-5E89-4527-8E71-C5033569929D}"/>
              </a:ext>
            </a:extLst>
          </p:cNvPr>
          <p:cNvSpPr txBox="1"/>
          <p:nvPr/>
        </p:nvSpPr>
        <p:spPr>
          <a:xfrm>
            <a:off x="2576516" y="1785961"/>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sp>
        <p:nvSpPr>
          <p:cNvPr id="125" name="TextBox 36">
            <a:extLst>
              <a:ext uri="{FF2B5EF4-FFF2-40B4-BE49-F238E27FC236}">
                <a16:creationId xmlns:a16="http://schemas.microsoft.com/office/drawing/2014/main" id="{290B483B-8EED-40F0-ABCD-4DD423A39E5D}"/>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126" name="TextBox 43">
            <a:extLst>
              <a:ext uri="{FF2B5EF4-FFF2-40B4-BE49-F238E27FC236}">
                <a16:creationId xmlns:a16="http://schemas.microsoft.com/office/drawing/2014/main" id="{8C71013D-CAE2-4E75-BA24-1BB07163EE8B}"/>
              </a:ext>
            </a:extLst>
          </p:cNvPr>
          <p:cNvSpPr txBox="1"/>
          <p:nvPr/>
        </p:nvSpPr>
        <p:spPr>
          <a:xfrm>
            <a:off x="3438475" y="1803604"/>
            <a:ext cx="362694" cy="261610"/>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127" name="Shape">
            <a:extLst>
              <a:ext uri="{FF2B5EF4-FFF2-40B4-BE49-F238E27FC236}">
                <a16:creationId xmlns:a16="http://schemas.microsoft.com/office/drawing/2014/main" id="{08E6EF0F-C533-42DF-9C6A-B547BCC6FB7A}"/>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05</a:t>
            </a:r>
          </a:p>
        </p:txBody>
      </p:sp>
      <p:sp>
        <p:nvSpPr>
          <p:cNvPr id="128" name="TextBox 45">
            <a:extLst>
              <a:ext uri="{FF2B5EF4-FFF2-40B4-BE49-F238E27FC236}">
                <a16:creationId xmlns:a16="http://schemas.microsoft.com/office/drawing/2014/main" id="{1DE57D37-FF24-49AE-B992-E798B9847F01}"/>
              </a:ext>
            </a:extLst>
          </p:cNvPr>
          <p:cNvSpPr txBox="1"/>
          <p:nvPr/>
        </p:nvSpPr>
        <p:spPr>
          <a:xfrm>
            <a:off x="1687762" y="1811299"/>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Tree>
    <p:extLst>
      <p:ext uri="{BB962C8B-B14F-4D97-AF65-F5344CB8AC3E}">
        <p14:creationId xmlns:p14="http://schemas.microsoft.com/office/powerpoint/2010/main" val="346796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141B5-4EF5-0F3F-4E27-8D04D83894C7}"/>
              </a:ext>
            </a:extLst>
          </p:cNvPr>
          <p:cNvSpPr>
            <a:spLocks noGrp="1"/>
          </p:cNvSpPr>
          <p:nvPr>
            <p:ph type="title"/>
          </p:nvPr>
        </p:nvSpPr>
        <p:spPr>
          <a:xfrm>
            <a:off x="1067295" y="252930"/>
            <a:ext cx="2432685" cy="215444"/>
          </a:xfrm>
        </p:spPr>
        <p:txBody>
          <a:bodyPr wrap="square" lIns="0" tIns="0" rIns="0" bIns="0" anchor="t">
            <a:spAutoFit/>
          </a:bodyPr>
          <a:lstStyle/>
          <a:p>
            <a:r>
              <a:rPr lang="en-US" dirty="0">
                <a:ea typeface="Calibri"/>
              </a:rPr>
              <a:t>Proposed Scenario</a:t>
            </a:r>
            <a:endParaRPr lang="en-US" dirty="0"/>
          </a:p>
        </p:txBody>
      </p:sp>
      <p:pic>
        <p:nvPicPr>
          <p:cNvPr id="4" name="Immagine 3">
            <a:extLst>
              <a:ext uri="{FF2B5EF4-FFF2-40B4-BE49-F238E27FC236}">
                <a16:creationId xmlns:a16="http://schemas.microsoft.com/office/drawing/2014/main" id="{ED1465F2-06CD-41A9-8019-4BF3500B87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18738" y="445168"/>
            <a:ext cx="2358304" cy="2354513"/>
          </a:xfrm>
          <a:prstGeom prst="rect">
            <a:avLst/>
          </a:prstGeom>
        </p:spPr>
      </p:pic>
      <p:sp>
        <p:nvSpPr>
          <p:cNvPr id="6" name="CasellaDiTesto 5">
            <a:extLst>
              <a:ext uri="{FF2B5EF4-FFF2-40B4-BE49-F238E27FC236}">
                <a16:creationId xmlns:a16="http://schemas.microsoft.com/office/drawing/2014/main" id="{6AAE4779-900A-41FF-A163-42DF5921F833}"/>
              </a:ext>
            </a:extLst>
          </p:cNvPr>
          <p:cNvSpPr txBox="1"/>
          <p:nvPr/>
        </p:nvSpPr>
        <p:spPr>
          <a:xfrm>
            <a:off x="288758" y="736092"/>
            <a:ext cx="2727866" cy="2062103"/>
          </a:xfrm>
          <a:prstGeom prst="rect">
            <a:avLst/>
          </a:prstGeom>
          <a:noFill/>
        </p:spPr>
        <p:txBody>
          <a:bodyPr wrap="square" rtlCol="0">
            <a:spAutoFit/>
          </a:bodyPr>
          <a:lstStyle/>
          <a:p>
            <a:pPr rtl="0" fontAlgn="base"/>
            <a:r>
              <a:rPr lang="en-US" sz="800" b="1" dirty="0"/>
              <a:t>Planning:</a:t>
            </a:r>
            <a:r>
              <a:rPr lang="en-US" sz="800" dirty="0"/>
              <a:t> 32 </a:t>
            </a:r>
            <a:r>
              <a:rPr lang="en-US" sz="800" dirty="0" err="1"/>
              <a:t>hrs</a:t>
            </a:r>
            <a:r>
              <a:rPr lang="en-US" sz="800" dirty="0"/>
              <a:t> of planning data for each satellite</a:t>
            </a:r>
          </a:p>
          <a:p>
            <a:pPr rtl="0" fontAlgn="base"/>
            <a:endParaRPr lang="en-US" sz="800" b="1" dirty="0"/>
          </a:p>
          <a:p>
            <a:pPr rtl="0" fontAlgn="base"/>
            <a:r>
              <a:rPr lang="en-US" sz="800" b="1" dirty="0"/>
              <a:t>Network State: </a:t>
            </a:r>
          </a:p>
          <a:p>
            <a:pPr marL="171450" lvl="3" indent="-171450" rtl="0" fontAlgn="base">
              <a:buFont typeface="Arial" panose="020B0604020202020204" pitchFamily="34" charset="0"/>
              <a:buChar char="•"/>
            </a:pPr>
            <a:r>
              <a:rPr lang="en-US" sz="800" dirty="0"/>
              <a:t>GS-01 is degraded: ANT-02 offline, ANT-03 exhibits latency and packet loss.</a:t>
            </a:r>
          </a:p>
          <a:p>
            <a:pPr marL="171450" lvl="3" indent="-171450" rtl="0" fontAlgn="base">
              <a:buFont typeface="Arial" panose="020B0604020202020204" pitchFamily="34" charset="0"/>
              <a:buChar char="•"/>
            </a:pPr>
            <a:r>
              <a:rPr lang="en-US" sz="800" dirty="0"/>
              <a:t>GS-01 </a:t>
            </a:r>
            <a:r>
              <a:rPr lang="it-IT" sz="800" dirty="0"/>
              <a:t>↔</a:t>
            </a:r>
            <a:r>
              <a:rPr lang="en-US" sz="800" dirty="0"/>
              <a:t> GS-02 degraded</a:t>
            </a:r>
          </a:p>
          <a:p>
            <a:pPr lvl="3" rtl="0" fontAlgn="base"/>
            <a:endParaRPr lang="en-US" sz="800" dirty="0"/>
          </a:p>
          <a:p>
            <a:r>
              <a:rPr lang="en-US" sz="800" b="1" dirty="0"/>
              <a:t>32 operational tickets</a:t>
            </a:r>
            <a:r>
              <a:rPr lang="en-US" sz="800" dirty="0"/>
              <a:t>: </a:t>
            </a:r>
          </a:p>
          <a:p>
            <a:pPr marL="171450" indent="-171450">
              <a:buFont typeface="Arial" panose="020B0604020202020204" pitchFamily="34" charset="0"/>
              <a:buChar char="•"/>
            </a:pPr>
            <a:r>
              <a:rPr lang="en-US" sz="800" dirty="0"/>
              <a:t>3 are related to the malfunctions</a:t>
            </a:r>
          </a:p>
          <a:p>
            <a:pPr marL="171450" indent="-171450">
              <a:buFont typeface="Arial" panose="020B0604020202020204" pitchFamily="34" charset="0"/>
              <a:buChar char="•"/>
            </a:pPr>
            <a:r>
              <a:rPr lang="en-US" sz="800" dirty="0"/>
              <a:t>1 is for preventive maintenance on GS-02/ANT-02 that requires </a:t>
            </a:r>
            <a:r>
              <a:rPr lang="en-US" sz="800" dirty="0" err="1"/>
              <a:t>replanning</a:t>
            </a:r>
            <a:endParaRPr lang="en-US" sz="800" dirty="0"/>
          </a:p>
          <a:p>
            <a:pPr marL="171450" indent="-171450">
              <a:buFont typeface="Arial" panose="020B0604020202020204" pitchFamily="34" charset="0"/>
              <a:buChar char="•"/>
            </a:pPr>
            <a:r>
              <a:rPr lang="en-US" sz="800" dirty="0"/>
              <a:t>1 is about an urgent acquisition that requires </a:t>
            </a:r>
            <a:r>
              <a:rPr lang="en-US" sz="800" dirty="0" err="1"/>
              <a:t>replanning</a:t>
            </a:r>
            <a:r>
              <a:rPr lang="en-US" sz="800" dirty="0"/>
              <a:t> of activities</a:t>
            </a:r>
          </a:p>
          <a:p>
            <a:endParaRPr lang="en-US" sz="800" dirty="0"/>
          </a:p>
          <a:p>
            <a:r>
              <a:rPr lang="en-US" sz="800" b="1" dirty="0"/>
              <a:t>Knowledge base</a:t>
            </a:r>
            <a:r>
              <a:rPr lang="en-US" sz="800" dirty="0"/>
              <a:t>: 20 documents in the RAG system</a:t>
            </a:r>
          </a:p>
          <a:p>
            <a:pPr marL="171450" lvl="3" indent="-171450" rtl="0" fontAlgn="base">
              <a:buFont typeface="Arial" panose="020B0604020202020204" pitchFamily="34" charset="0"/>
              <a:buChar char="•"/>
            </a:pPr>
            <a:endParaRPr lang="en-US" sz="800" dirty="0"/>
          </a:p>
        </p:txBody>
      </p:sp>
    </p:spTree>
    <p:extLst>
      <p:ext uri="{BB962C8B-B14F-4D97-AF65-F5344CB8AC3E}">
        <p14:creationId xmlns:p14="http://schemas.microsoft.com/office/powerpoint/2010/main" val="1371118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Benchmark</a:t>
            </a:r>
          </a:p>
        </p:txBody>
      </p:sp>
      <p:pic>
        <p:nvPicPr>
          <p:cNvPr id="5" name="Immagine 4">
            <a:extLst>
              <a:ext uri="{FF2B5EF4-FFF2-40B4-BE49-F238E27FC236}">
                <a16:creationId xmlns:a16="http://schemas.microsoft.com/office/drawing/2014/main" id="{E80453EE-5981-47E7-B714-D09033DADF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30188" y="492280"/>
            <a:ext cx="3466827" cy="2674025"/>
          </a:xfrm>
          <a:prstGeom prst="rect">
            <a:avLst/>
          </a:prstGeom>
        </p:spPr>
      </p:pic>
      <p:sp>
        <p:nvSpPr>
          <p:cNvPr id="6" name="Parentesi graffa aperta 5">
            <a:extLst>
              <a:ext uri="{FF2B5EF4-FFF2-40B4-BE49-F238E27FC236}">
                <a16:creationId xmlns:a16="http://schemas.microsoft.com/office/drawing/2014/main" id="{59FD414C-22E1-4582-B003-4CBEEF22BDA7}"/>
              </a:ext>
            </a:extLst>
          </p:cNvPr>
          <p:cNvSpPr/>
          <p:nvPr/>
        </p:nvSpPr>
        <p:spPr>
          <a:xfrm>
            <a:off x="1578720" y="708212"/>
            <a:ext cx="97680" cy="1241612"/>
          </a:xfrm>
          <a:prstGeom prst="leftBrace">
            <a:avLst/>
          </a:prstGeom>
          <a:ln w="12700">
            <a:solidFill>
              <a:schemeClr val="accent3">
                <a:lumMod val="5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a:p>
        </p:txBody>
      </p:sp>
      <p:sp>
        <p:nvSpPr>
          <p:cNvPr id="9" name="Parentesi graffa aperta 8">
            <a:extLst>
              <a:ext uri="{FF2B5EF4-FFF2-40B4-BE49-F238E27FC236}">
                <a16:creationId xmlns:a16="http://schemas.microsoft.com/office/drawing/2014/main" id="{A2A4B7EE-9D04-48A4-A4BF-59EE21DD5817}"/>
              </a:ext>
            </a:extLst>
          </p:cNvPr>
          <p:cNvSpPr/>
          <p:nvPr/>
        </p:nvSpPr>
        <p:spPr>
          <a:xfrm>
            <a:off x="1566456" y="2003612"/>
            <a:ext cx="112311" cy="578224"/>
          </a:xfrm>
          <a:prstGeom prst="leftBrace">
            <a:avLst/>
          </a:prstGeom>
          <a:ln w="12700">
            <a:solidFill>
              <a:schemeClr val="accent6">
                <a:lumMod val="75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a:p>
        </p:txBody>
      </p:sp>
      <p:sp>
        <p:nvSpPr>
          <p:cNvPr id="10" name="Parentesi graffa aperta 9">
            <a:extLst>
              <a:ext uri="{FF2B5EF4-FFF2-40B4-BE49-F238E27FC236}">
                <a16:creationId xmlns:a16="http://schemas.microsoft.com/office/drawing/2014/main" id="{E6F7CDB6-E4FA-45AC-98EE-AD7FDE375838}"/>
              </a:ext>
            </a:extLst>
          </p:cNvPr>
          <p:cNvSpPr/>
          <p:nvPr/>
        </p:nvSpPr>
        <p:spPr>
          <a:xfrm>
            <a:off x="1578720" y="2649476"/>
            <a:ext cx="87784" cy="424723"/>
          </a:xfrm>
          <a:prstGeom prst="leftBrace">
            <a:avLst/>
          </a:prstGeom>
          <a:ln w="12700">
            <a:solidFill>
              <a:srgbClr val="FF0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a:p>
        </p:txBody>
      </p:sp>
      <p:sp>
        <p:nvSpPr>
          <p:cNvPr id="7" name="CasellaDiTesto 6">
            <a:extLst>
              <a:ext uri="{FF2B5EF4-FFF2-40B4-BE49-F238E27FC236}">
                <a16:creationId xmlns:a16="http://schemas.microsoft.com/office/drawing/2014/main" id="{E1F5ECB7-82D0-4AA3-94DC-DC5AFFA012D2}"/>
              </a:ext>
            </a:extLst>
          </p:cNvPr>
          <p:cNvSpPr txBox="1"/>
          <p:nvPr/>
        </p:nvSpPr>
        <p:spPr>
          <a:xfrm>
            <a:off x="866104" y="1205907"/>
            <a:ext cx="644728" cy="246221"/>
          </a:xfrm>
          <a:prstGeom prst="rect">
            <a:avLst/>
          </a:prstGeom>
          <a:noFill/>
        </p:spPr>
        <p:txBody>
          <a:bodyPr wrap="none" rtlCol="0">
            <a:spAutoFit/>
          </a:bodyPr>
          <a:lstStyle/>
          <a:p>
            <a:r>
              <a:rPr lang="it-IT" sz="1000" dirty="0">
                <a:solidFill>
                  <a:schemeClr val="accent3">
                    <a:lumMod val="50000"/>
                  </a:schemeClr>
                </a:solidFill>
              </a:rPr>
              <a:t>10 Easy</a:t>
            </a:r>
          </a:p>
        </p:txBody>
      </p:sp>
      <p:sp>
        <p:nvSpPr>
          <p:cNvPr id="11" name="CasellaDiTesto 10">
            <a:extLst>
              <a:ext uri="{FF2B5EF4-FFF2-40B4-BE49-F238E27FC236}">
                <a16:creationId xmlns:a16="http://schemas.microsoft.com/office/drawing/2014/main" id="{071FF2B0-C7C8-42B8-9B92-BE37579C165C}"/>
              </a:ext>
            </a:extLst>
          </p:cNvPr>
          <p:cNvSpPr txBox="1"/>
          <p:nvPr/>
        </p:nvSpPr>
        <p:spPr>
          <a:xfrm>
            <a:off x="769318" y="2165755"/>
            <a:ext cx="745717" cy="246221"/>
          </a:xfrm>
          <a:prstGeom prst="rect">
            <a:avLst/>
          </a:prstGeom>
          <a:noFill/>
        </p:spPr>
        <p:txBody>
          <a:bodyPr wrap="none" rtlCol="0">
            <a:spAutoFit/>
          </a:bodyPr>
          <a:lstStyle/>
          <a:p>
            <a:r>
              <a:rPr lang="it-IT" sz="1000" dirty="0">
                <a:solidFill>
                  <a:schemeClr val="accent6">
                    <a:lumMod val="75000"/>
                  </a:schemeClr>
                </a:solidFill>
              </a:rPr>
              <a:t>6 Medium</a:t>
            </a:r>
          </a:p>
        </p:txBody>
      </p:sp>
      <p:sp>
        <p:nvSpPr>
          <p:cNvPr id="12" name="CasellaDiTesto 11">
            <a:extLst>
              <a:ext uri="{FF2B5EF4-FFF2-40B4-BE49-F238E27FC236}">
                <a16:creationId xmlns:a16="http://schemas.microsoft.com/office/drawing/2014/main" id="{9420D578-2A1C-479D-B56A-095062039C41}"/>
              </a:ext>
            </a:extLst>
          </p:cNvPr>
          <p:cNvSpPr txBox="1"/>
          <p:nvPr/>
        </p:nvSpPr>
        <p:spPr>
          <a:xfrm>
            <a:off x="933064" y="2738726"/>
            <a:ext cx="567784" cy="246221"/>
          </a:xfrm>
          <a:prstGeom prst="rect">
            <a:avLst/>
          </a:prstGeom>
          <a:noFill/>
        </p:spPr>
        <p:txBody>
          <a:bodyPr wrap="none" rtlCol="0">
            <a:spAutoFit/>
          </a:bodyPr>
          <a:lstStyle/>
          <a:p>
            <a:r>
              <a:rPr lang="it-IT" sz="1000" dirty="0">
                <a:solidFill>
                  <a:srgbClr val="FF0000"/>
                </a:solidFill>
              </a:rPr>
              <a:t>4 Hard</a:t>
            </a:r>
          </a:p>
        </p:txBody>
      </p:sp>
    </p:spTree>
    <p:extLst>
      <p:ext uri="{BB962C8B-B14F-4D97-AF65-F5344CB8AC3E}">
        <p14:creationId xmlns:p14="http://schemas.microsoft.com/office/powerpoint/2010/main" val="572085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Methodology</a:t>
            </a:r>
          </a:p>
        </p:txBody>
      </p:sp>
      <p:sp>
        <p:nvSpPr>
          <p:cNvPr id="2" name="Rettangolo 1">
            <a:extLst>
              <a:ext uri="{FF2B5EF4-FFF2-40B4-BE49-F238E27FC236}">
                <a16:creationId xmlns:a16="http://schemas.microsoft.com/office/drawing/2014/main" id="{472EA985-A8C4-453F-93C6-C78EF370D5C6}"/>
              </a:ext>
            </a:extLst>
          </p:cNvPr>
          <p:cNvSpPr/>
          <p:nvPr/>
        </p:nvSpPr>
        <p:spPr>
          <a:xfrm>
            <a:off x="659219" y="1003742"/>
            <a:ext cx="1385362" cy="1882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b="1" dirty="0">
                <a:solidFill>
                  <a:schemeClr val="tx1"/>
                </a:solidFill>
              </a:rPr>
              <a:t>FUNES</a:t>
            </a:r>
          </a:p>
        </p:txBody>
      </p:sp>
      <p:sp>
        <p:nvSpPr>
          <p:cNvPr id="52" name="Rettangolo 51">
            <a:extLst>
              <a:ext uri="{FF2B5EF4-FFF2-40B4-BE49-F238E27FC236}">
                <a16:creationId xmlns:a16="http://schemas.microsoft.com/office/drawing/2014/main" id="{9A55732E-A5EF-4041-9E9F-AA842053BDCC}"/>
              </a:ext>
            </a:extLst>
          </p:cNvPr>
          <p:cNvSpPr/>
          <p:nvPr/>
        </p:nvSpPr>
        <p:spPr>
          <a:xfrm>
            <a:off x="659219" y="1211698"/>
            <a:ext cx="1385362" cy="519238"/>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it-IT" sz="700" dirty="0">
                <a:solidFill>
                  <a:schemeClr val="tx1"/>
                </a:solidFill>
              </a:rPr>
              <a:t>Query</a:t>
            </a:r>
          </a:p>
          <a:p>
            <a:pPr marL="171450" indent="-171450" algn="l">
              <a:buFont typeface="Arial" panose="020B0604020202020204" pitchFamily="34" charset="0"/>
              <a:buChar char="•"/>
            </a:pPr>
            <a:r>
              <a:rPr lang="it-IT" sz="700" dirty="0" err="1">
                <a:solidFill>
                  <a:schemeClr val="tx1"/>
                </a:solidFill>
              </a:rPr>
              <a:t>Retrieved</a:t>
            </a:r>
            <a:r>
              <a:rPr lang="it-IT" sz="700" dirty="0">
                <a:solidFill>
                  <a:schemeClr val="tx1"/>
                </a:solidFill>
              </a:rPr>
              <a:t> </a:t>
            </a:r>
            <a:r>
              <a:rPr lang="it-IT" sz="700" dirty="0" err="1">
                <a:solidFill>
                  <a:schemeClr val="tx1"/>
                </a:solidFill>
              </a:rPr>
              <a:t>useful</a:t>
            </a:r>
            <a:r>
              <a:rPr lang="it-IT" sz="700" dirty="0">
                <a:solidFill>
                  <a:schemeClr val="tx1"/>
                </a:solidFill>
              </a:rPr>
              <a:t> </a:t>
            </a:r>
            <a:r>
              <a:rPr lang="it-IT" sz="700" dirty="0" err="1">
                <a:solidFill>
                  <a:schemeClr val="tx1"/>
                </a:solidFill>
              </a:rPr>
              <a:t>context</a:t>
            </a:r>
            <a:endParaRPr lang="it-IT" sz="700" dirty="0">
              <a:solidFill>
                <a:schemeClr val="tx1"/>
              </a:solidFill>
            </a:endParaRPr>
          </a:p>
        </p:txBody>
      </p:sp>
      <p:sp>
        <p:nvSpPr>
          <p:cNvPr id="53" name="Rettangolo 52">
            <a:extLst>
              <a:ext uri="{FF2B5EF4-FFF2-40B4-BE49-F238E27FC236}">
                <a16:creationId xmlns:a16="http://schemas.microsoft.com/office/drawing/2014/main" id="{560EC6C3-3683-4BF9-90B5-8B36A3163CBD}"/>
              </a:ext>
            </a:extLst>
          </p:cNvPr>
          <p:cNvSpPr/>
          <p:nvPr/>
        </p:nvSpPr>
        <p:spPr>
          <a:xfrm>
            <a:off x="3793359" y="1003741"/>
            <a:ext cx="1385362" cy="188292"/>
          </a:xfrm>
          <a:prstGeom prst="rect">
            <a:avLst/>
          </a:prstGeom>
          <a:solidFill>
            <a:schemeClr val="accent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b="1" dirty="0" err="1">
                <a:solidFill>
                  <a:schemeClr val="tx1"/>
                </a:solidFill>
              </a:rPr>
              <a:t>Llama</a:t>
            </a:r>
            <a:r>
              <a:rPr lang="it-IT" sz="800" b="1" dirty="0">
                <a:solidFill>
                  <a:schemeClr val="tx1"/>
                </a:solidFill>
              </a:rPr>
              <a:t> 3.3 70B</a:t>
            </a:r>
          </a:p>
        </p:txBody>
      </p:sp>
      <p:sp>
        <p:nvSpPr>
          <p:cNvPr id="54" name="Rettangolo 53">
            <a:extLst>
              <a:ext uri="{FF2B5EF4-FFF2-40B4-BE49-F238E27FC236}">
                <a16:creationId xmlns:a16="http://schemas.microsoft.com/office/drawing/2014/main" id="{3F801AE9-DA59-4430-BE31-41C9FEB8B460}"/>
              </a:ext>
            </a:extLst>
          </p:cNvPr>
          <p:cNvSpPr/>
          <p:nvPr/>
        </p:nvSpPr>
        <p:spPr>
          <a:xfrm>
            <a:off x="3793359" y="1211696"/>
            <a:ext cx="1385362" cy="519240"/>
          </a:xfrm>
          <a:prstGeom prst="rect">
            <a:avLst/>
          </a:prstGeom>
          <a:solidFill>
            <a:schemeClr val="accent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it-IT" sz="700" dirty="0">
                <a:solidFill>
                  <a:schemeClr val="tx1"/>
                </a:solidFill>
              </a:rPr>
              <a:t>Query </a:t>
            </a:r>
          </a:p>
          <a:p>
            <a:pPr marL="171450" indent="-171450" algn="l">
              <a:buFont typeface="Arial" panose="020B0604020202020204" pitchFamily="34" charset="0"/>
              <a:buChar char="•"/>
            </a:pPr>
            <a:r>
              <a:rPr lang="it-IT" sz="700" dirty="0">
                <a:solidFill>
                  <a:schemeClr val="tx1"/>
                </a:solidFill>
              </a:rPr>
              <a:t>Full </a:t>
            </a:r>
            <a:r>
              <a:rPr lang="it-IT" sz="700" dirty="0" err="1">
                <a:solidFill>
                  <a:schemeClr val="tx1"/>
                </a:solidFill>
              </a:rPr>
              <a:t>context</a:t>
            </a:r>
            <a:r>
              <a:rPr lang="it-IT" sz="700" dirty="0">
                <a:solidFill>
                  <a:schemeClr val="tx1"/>
                </a:solidFill>
              </a:rPr>
              <a:t> of 24K tokens</a:t>
            </a:r>
          </a:p>
        </p:txBody>
      </p:sp>
      <p:sp>
        <p:nvSpPr>
          <p:cNvPr id="55" name="Rombo 54">
            <a:extLst>
              <a:ext uri="{FF2B5EF4-FFF2-40B4-BE49-F238E27FC236}">
                <a16:creationId xmlns:a16="http://schemas.microsoft.com/office/drawing/2014/main" id="{BEA5C20E-B63F-439E-A7CD-095046DDDA7D}"/>
              </a:ext>
            </a:extLst>
          </p:cNvPr>
          <p:cNvSpPr/>
          <p:nvPr/>
        </p:nvSpPr>
        <p:spPr>
          <a:xfrm>
            <a:off x="2286542" y="627549"/>
            <a:ext cx="1259467" cy="307777"/>
          </a:xfrm>
          <a:prstGeom prst="diamond">
            <a:avLst/>
          </a:prstGeom>
          <a:solidFill>
            <a:schemeClr val="bg1"/>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i="1" dirty="0">
                <a:solidFill>
                  <a:schemeClr val="tx1"/>
                </a:solidFill>
                <a:latin typeface="+mj-lt"/>
                <a:ea typeface="Yu Gothic UI" panose="020B0500000000000000" pitchFamily="34" charset="-128"/>
              </a:rPr>
              <a:t>VS</a:t>
            </a:r>
          </a:p>
        </p:txBody>
      </p:sp>
      <p:sp>
        <p:nvSpPr>
          <p:cNvPr id="58" name="Rettangolo 57">
            <a:extLst>
              <a:ext uri="{FF2B5EF4-FFF2-40B4-BE49-F238E27FC236}">
                <a16:creationId xmlns:a16="http://schemas.microsoft.com/office/drawing/2014/main" id="{36B8FD0F-7763-49C8-A15A-BE983F42A5E2}"/>
              </a:ext>
            </a:extLst>
          </p:cNvPr>
          <p:cNvSpPr/>
          <p:nvPr/>
        </p:nvSpPr>
        <p:spPr>
          <a:xfrm>
            <a:off x="2236187" y="1003740"/>
            <a:ext cx="1385362" cy="188292"/>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b="1" dirty="0">
                <a:solidFill>
                  <a:schemeClr val="tx1"/>
                </a:solidFill>
              </a:rPr>
              <a:t>LLM </a:t>
            </a:r>
            <a:r>
              <a:rPr lang="it-IT" sz="800" b="1" dirty="0" err="1">
                <a:solidFill>
                  <a:schemeClr val="tx1"/>
                </a:solidFill>
              </a:rPr>
              <a:t>as</a:t>
            </a:r>
            <a:r>
              <a:rPr lang="it-IT" sz="800" b="1" dirty="0">
                <a:solidFill>
                  <a:schemeClr val="tx1"/>
                </a:solidFill>
              </a:rPr>
              <a:t> a </a:t>
            </a:r>
            <a:r>
              <a:rPr lang="it-IT" sz="800" b="1" dirty="0" err="1">
                <a:solidFill>
                  <a:schemeClr val="tx1"/>
                </a:solidFill>
              </a:rPr>
              <a:t>judge</a:t>
            </a:r>
            <a:endParaRPr lang="it-IT" sz="800" b="1" dirty="0">
              <a:solidFill>
                <a:schemeClr val="tx1"/>
              </a:solidFill>
            </a:endParaRPr>
          </a:p>
        </p:txBody>
      </p:sp>
      <p:sp>
        <p:nvSpPr>
          <p:cNvPr id="59" name="Rettangolo 58">
            <a:extLst>
              <a:ext uri="{FF2B5EF4-FFF2-40B4-BE49-F238E27FC236}">
                <a16:creationId xmlns:a16="http://schemas.microsoft.com/office/drawing/2014/main" id="{9A8E99C0-25E0-445C-A62A-32995BD28A6C}"/>
              </a:ext>
            </a:extLst>
          </p:cNvPr>
          <p:cNvSpPr/>
          <p:nvPr/>
        </p:nvSpPr>
        <p:spPr>
          <a:xfrm>
            <a:off x="2236187" y="1211695"/>
            <a:ext cx="1385362" cy="519241"/>
          </a:xfrm>
          <a:prstGeom prst="rect">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buFont typeface="Arial" panose="020B0604020202020204" pitchFamily="34" charset="0"/>
              <a:buChar char="•"/>
            </a:pPr>
            <a:r>
              <a:rPr lang="it-IT" sz="700" dirty="0">
                <a:solidFill>
                  <a:schemeClr val="tx1"/>
                </a:solidFill>
              </a:rPr>
              <a:t>Query</a:t>
            </a:r>
          </a:p>
          <a:p>
            <a:pPr marL="171450" indent="-171450" algn="l">
              <a:buFont typeface="Arial" panose="020B0604020202020204" pitchFamily="34" charset="0"/>
              <a:buChar char="•"/>
            </a:pPr>
            <a:r>
              <a:rPr lang="it-IT" sz="700" dirty="0">
                <a:solidFill>
                  <a:schemeClr val="tx1"/>
                </a:solidFill>
              </a:rPr>
              <a:t>Scenario </a:t>
            </a:r>
            <a:r>
              <a:rPr lang="it-IT" sz="700" dirty="0" err="1">
                <a:solidFill>
                  <a:schemeClr val="tx1"/>
                </a:solidFill>
              </a:rPr>
              <a:t>description</a:t>
            </a:r>
            <a:endParaRPr lang="it-IT" sz="700" dirty="0">
              <a:solidFill>
                <a:schemeClr val="tx1"/>
              </a:solidFill>
            </a:endParaRPr>
          </a:p>
          <a:p>
            <a:pPr marL="171450" indent="-171450" algn="l">
              <a:buFont typeface="Arial" panose="020B0604020202020204" pitchFamily="34" charset="0"/>
              <a:buChar char="•"/>
            </a:pPr>
            <a:r>
              <a:rPr lang="it-IT" sz="700" dirty="0">
                <a:solidFill>
                  <a:schemeClr val="tx1"/>
                </a:solidFill>
              </a:rPr>
              <a:t>Evaluation </a:t>
            </a:r>
            <a:r>
              <a:rPr lang="it-IT" sz="700" dirty="0" err="1">
                <a:solidFill>
                  <a:schemeClr val="tx1"/>
                </a:solidFill>
              </a:rPr>
              <a:t>instructions</a:t>
            </a:r>
            <a:endParaRPr lang="it-IT" sz="700" dirty="0">
              <a:solidFill>
                <a:schemeClr val="tx1"/>
              </a:solidFill>
            </a:endParaRPr>
          </a:p>
          <a:p>
            <a:pPr marL="171450" indent="-171450" algn="l">
              <a:buFont typeface="Arial" panose="020B0604020202020204" pitchFamily="34" charset="0"/>
              <a:buChar char="•"/>
            </a:pPr>
            <a:r>
              <a:rPr lang="it-IT" sz="700" dirty="0" err="1">
                <a:solidFill>
                  <a:schemeClr val="tx1"/>
                </a:solidFill>
              </a:rPr>
              <a:t>Answers</a:t>
            </a:r>
            <a:endParaRPr lang="it-IT" sz="700" dirty="0">
              <a:solidFill>
                <a:schemeClr val="tx1"/>
              </a:solidFill>
            </a:endParaRPr>
          </a:p>
        </p:txBody>
      </p:sp>
      <p:sp>
        <p:nvSpPr>
          <p:cNvPr id="60" name="Rettangolo con angoli arrotondati 59">
            <a:extLst>
              <a:ext uri="{FF2B5EF4-FFF2-40B4-BE49-F238E27FC236}">
                <a16:creationId xmlns:a16="http://schemas.microsoft.com/office/drawing/2014/main" id="{D5A17998-62D5-4379-8486-75635F6E4E28}"/>
              </a:ext>
            </a:extLst>
          </p:cNvPr>
          <p:cNvSpPr/>
          <p:nvPr/>
        </p:nvSpPr>
        <p:spPr>
          <a:xfrm>
            <a:off x="629988" y="1864817"/>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61" name="CasellaDiTesto 60">
            <a:extLst>
              <a:ext uri="{FF2B5EF4-FFF2-40B4-BE49-F238E27FC236}">
                <a16:creationId xmlns:a16="http://schemas.microsoft.com/office/drawing/2014/main" id="{288836B2-5514-4156-9CC4-D767CCF36B1F}"/>
              </a:ext>
            </a:extLst>
          </p:cNvPr>
          <p:cNvSpPr txBox="1"/>
          <p:nvPr/>
        </p:nvSpPr>
        <p:spPr>
          <a:xfrm>
            <a:off x="721734" y="1861759"/>
            <a:ext cx="1210683" cy="200055"/>
          </a:xfrm>
          <a:prstGeom prst="rect">
            <a:avLst/>
          </a:prstGeom>
          <a:noFill/>
        </p:spPr>
        <p:txBody>
          <a:bodyPr wrap="square" rtlCol="0">
            <a:spAutoFit/>
          </a:bodyPr>
          <a:lstStyle/>
          <a:p>
            <a:pPr algn="ctr"/>
            <a:r>
              <a:rPr lang="it-IT" sz="700" b="1" dirty="0" err="1">
                <a:solidFill>
                  <a:schemeClr val="tx1"/>
                </a:solidFill>
                <a:latin typeface="+mn-lt"/>
              </a:rPr>
              <a:t>Answer</a:t>
            </a:r>
            <a:r>
              <a:rPr lang="it-IT" sz="700" b="1" dirty="0">
                <a:solidFill>
                  <a:schemeClr val="tx1"/>
                </a:solidFill>
                <a:latin typeface="+mn-lt"/>
              </a:rPr>
              <a:t> </a:t>
            </a:r>
            <a:r>
              <a:rPr lang="it-IT" sz="700" b="1" dirty="0" err="1">
                <a:solidFill>
                  <a:schemeClr val="tx1"/>
                </a:solidFill>
                <a:latin typeface="+mn-lt"/>
              </a:rPr>
              <a:t>correctness</a:t>
            </a:r>
            <a:endParaRPr lang="it-IT" sz="700" b="1" dirty="0">
              <a:solidFill>
                <a:schemeClr val="tx1"/>
              </a:solidFill>
              <a:latin typeface="+mn-lt"/>
            </a:endParaRPr>
          </a:p>
        </p:txBody>
      </p:sp>
      <p:cxnSp>
        <p:nvCxnSpPr>
          <p:cNvPr id="63" name="Connettore diritto 62">
            <a:extLst>
              <a:ext uri="{FF2B5EF4-FFF2-40B4-BE49-F238E27FC236}">
                <a16:creationId xmlns:a16="http://schemas.microsoft.com/office/drawing/2014/main" id="{0294E768-A14B-451B-94DE-730AF9C51A50}"/>
              </a:ext>
            </a:extLst>
          </p:cNvPr>
          <p:cNvCxnSpPr>
            <a:cxnSpLocks/>
          </p:cNvCxnSpPr>
          <p:nvPr/>
        </p:nvCxnSpPr>
        <p:spPr>
          <a:xfrm>
            <a:off x="775251" y="2031331"/>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68" name="CasellaDiTesto 67">
            <a:extLst>
              <a:ext uri="{FF2B5EF4-FFF2-40B4-BE49-F238E27FC236}">
                <a16:creationId xmlns:a16="http://schemas.microsoft.com/office/drawing/2014/main" id="{26318903-2C4B-40B2-9351-66AC7100130B}"/>
              </a:ext>
            </a:extLst>
          </p:cNvPr>
          <p:cNvSpPr txBox="1"/>
          <p:nvPr/>
        </p:nvSpPr>
        <p:spPr>
          <a:xfrm>
            <a:off x="941921" y="2642283"/>
            <a:ext cx="184731" cy="369332"/>
          </a:xfrm>
          <a:prstGeom prst="rect">
            <a:avLst/>
          </a:prstGeom>
          <a:noFill/>
        </p:spPr>
        <p:txBody>
          <a:bodyPr wrap="none" rtlCol="0">
            <a:spAutoFit/>
          </a:bodyPr>
          <a:lstStyle/>
          <a:p>
            <a:endParaRPr lang="it-IT" dirty="0"/>
          </a:p>
        </p:txBody>
      </p:sp>
      <p:sp>
        <p:nvSpPr>
          <p:cNvPr id="69" name="CasellaDiTesto 68">
            <a:extLst>
              <a:ext uri="{FF2B5EF4-FFF2-40B4-BE49-F238E27FC236}">
                <a16:creationId xmlns:a16="http://schemas.microsoft.com/office/drawing/2014/main" id="{2CA9AC68-CF7D-46C1-9250-75299E3BD39B}"/>
              </a:ext>
            </a:extLst>
          </p:cNvPr>
          <p:cNvSpPr txBox="1"/>
          <p:nvPr/>
        </p:nvSpPr>
        <p:spPr>
          <a:xfrm>
            <a:off x="686563" y="2019721"/>
            <a:ext cx="1294056" cy="415498"/>
          </a:xfrm>
          <a:prstGeom prst="rect">
            <a:avLst/>
          </a:prstGeom>
          <a:noFill/>
        </p:spPr>
        <p:txBody>
          <a:bodyPr wrap="square" rtlCol="0">
            <a:spAutoFit/>
          </a:bodyPr>
          <a:lstStyle/>
          <a:p>
            <a:pPr algn="ctr"/>
            <a:r>
              <a:rPr lang="it-IT" sz="700" dirty="0" err="1">
                <a:solidFill>
                  <a:schemeClr val="tx1"/>
                </a:solidFill>
                <a:latin typeface="+mn-lt"/>
              </a:rPr>
              <a:t>Correctly</a:t>
            </a:r>
            <a:r>
              <a:rPr lang="it-IT" sz="700" dirty="0">
                <a:solidFill>
                  <a:schemeClr val="tx1"/>
                </a:solidFill>
                <a:latin typeface="+mn-lt"/>
              </a:rPr>
              <a:t> </a:t>
            </a:r>
            <a:r>
              <a:rPr lang="it-IT" sz="700" dirty="0" err="1">
                <a:solidFill>
                  <a:schemeClr val="tx1"/>
                </a:solidFill>
                <a:latin typeface="+mn-lt"/>
              </a:rPr>
              <a:t>addressing</a:t>
            </a:r>
            <a:r>
              <a:rPr lang="it-IT" sz="700" dirty="0">
                <a:solidFill>
                  <a:schemeClr val="tx1"/>
                </a:solidFill>
                <a:latin typeface="+mn-lt"/>
              </a:rPr>
              <a:t> of the </a:t>
            </a:r>
            <a:r>
              <a:rPr lang="it-IT" sz="700" dirty="0" err="1">
                <a:solidFill>
                  <a:schemeClr val="tx1"/>
                </a:solidFill>
                <a:latin typeface="+mn-lt"/>
              </a:rPr>
              <a:t>question</a:t>
            </a:r>
            <a:r>
              <a:rPr lang="it-IT" sz="700" dirty="0">
                <a:solidFill>
                  <a:schemeClr val="tx1"/>
                </a:solidFill>
                <a:latin typeface="+mn-lt"/>
              </a:rPr>
              <a:t> </a:t>
            </a:r>
            <a:r>
              <a:rPr lang="it-IT" sz="700" dirty="0" err="1">
                <a:solidFill>
                  <a:schemeClr val="tx1"/>
                </a:solidFill>
                <a:latin typeface="+mn-lt"/>
              </a:rPr>
              <a:t>given</a:t>
            </a:r>
            <a:r>
              <a:rPr lang="it-IT" sz="700" dirty="0">
                <a:solidFill>
                  <a:schemeClr val="tx1"/>
                </a:solidFill>
                <a:latin typeface="+mn-lt"/>
              </a:rPr>
              <a:t> the </a:t>
            </a:r>
            <a:r>
              <a:rPr lang="it-IT" sz="700" dirty="0" err="1">
                <a:solidFill>
                  <a:schemeClr val="tx1"/>
                </a:solidFill>
                <a:latin typeface="+mn-lt"/>
              </a:rPr>
              <a:t>operational</a:t>
            </a:r>
            <a:r>
              <a:rPr lang="it-IT" sz="700" dirty="0">
                <a:solidFill>
                  <a:schemeClr val="tx1"/>
                </a:solidFill>
                <a:latin typeface="+mn-lt"/>
              </a:rPr>
              <a:t> knowledge.</a:t>
            </a:r>
          </a:p>
        </p:txBody>
      </p:sp>
      <p:sp>
        <p:nvSpPr>
          <p:cNvPr id="83" name="Rettangolo con angoli arrotondati 82">
            <a:extLst>
              <a:ext uri="{FF2B5EF4-FFF2-40B4-BE49-F238E27FC236}">
                <a16:creationId xmlns:a16="http://schemas.microsoft.com/office/drawing/2014/main" id="{8A946CEA-E729-4E76-B6F0-A07B380B0C9E}"/>
              </a:ext>
            </a:extLst>
          </p:cNvPr>
          <p:cNvSpPr/>
          <p:nvPr/>
        </p:nvSpPr>
        <p:spPr>
          <a:xfrm>
            <a:off x="629988" y="2508515"/>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84" name="CasellaDiTesto 83">
            <a:extLst>
              <a:ext uri="{FF2B5EF4-FFF2-40B4-BE49-F238E27FC236}">
                <a16:creationId xmlns:a16="http://schemas.microsoft.com/office/drawing/2014/main" id="{EE9535BC-EBB7-4184-A259-108C8D642793}"/>
              </a:ext>
            </a:extLst>
          </p:cNvPr>
          <p:cNvSpPr txBox="1"/>
          <p:nvPr/>
        </p:nvSpPr>
        <p:spPr>
          <a:xfrm>
            <a:off x="721734" y="2505457"/>
            <a:ext cx="1210683" cy="200055"/>
          </a:xfrm>
          <a:prstGeom prst="rect">
            <a:avLst/>
          </a:prstGeom>
          <a:noFill/>
        </p:spPr>
        <p:txBody>
          <a:bodyPr wrap="square" rtlCol="0">
            <a:spAutoFit/>
          </a:bodyPr>
          <a:lstStyle/>
          <a:p>
            <a:pPr algn="ctr"/>
            <a:r>
              <a:rPr lang="it-IT" sz="700" b="1" dirty="0" err="1">
                <a:solidFill>
                  <a:schemeClr val="tx1"/>
                </a:solidFill>
                <a:latin typeface="+mn-lt"/>
              </a:rPr>
              <a:t>Noise</a:t>
            </a:r>
            <a:r>
              <a:rPr lang="it-IT" sz="700" b="1" dirty="0">
                <a:solidFill>
                  <a:schemeClr val="tx1"/>
                </a:solidFill>
                <a:latin typeface="+mn-lt"/>
              </a:rPr>
              <a:t> Filtering</a:t>
            </a:r>
          </a:p>
        </p:txBody>
      </p:sp>
      <p:cxnSp>
        <p:nvCxnSpPr>
          <p:cNvPr id="85" name="Connettore diritto 84">
            <a:extLst>
              <a:ext uri="{FF2B5EF4-FFF2-40B4-BE49-F238E27FC236}">
                <a16:creationId xmlns:a16="http://schemas.microsoft.com/office/drawing/2014/main" id="{0EE77943-013B-44BF-AC2F-2FAE79F9CBCF}"/>
              </a:ext>
            </a:extLst>
          </p:cNvPr>
          <p:cNvCxnSpPr>
            <a:cxnSpLocks/>
          </p:cNvCxnSpPr>
          <p:nvPr/>
        </p:nvCxnSpPr>
        <p:spPr>
          <a:xfrm>
            <a:off x="775251" y="2675029"/>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86" name="CasellaDiTesto 85">
            <a:extLst>
              <a:ext uri="{FF2B5EF4-FFF2-40B4-BE49-F238E27FC236}">
                <a16:creationId xmlns:a16="http://schemas.microsoft.com/office/drawing/2014/main" id="{5BFE74DB-435C-4050-8D21-FB7EC699FF26}"/>
              </a:ext>
            </a:extLst>
          </p:cNvPr>
          <p:cNvSpPr txBox="1"/>
          <p:nvPr/>
        </p:nvSpPr>
        <p:spPr>
          <a:xfrm>
            <a:off x="686563" y="2680783"/>
            <a:ext cx="1294056" cy="307777"/>
          </a:xfrm>
          <a:prstGeom prst="rect">
            <a:avLst/>
          </a:prstGeom>
          <a:noFill/>
        </p:spPr>
        <p:txBody>
          <a:bodyPr wrap="square" rtlCol="0">
            <a:spAutoFit/>
          </a:bodyPr>
          <a:lstStyle/>
          <a:p>
            <a:pPr algn="ctr"/>
            <a:r>
              <a:rPr lang="it-IT" sz="700" dirty="0" err="1">
                <a:solidFill>
                  <a:schemeClr val="tx1"/>
                </a:solidFill>
                <a:latin typeface="+mn-lt"/>
              </a:rPr>
              <a:t>Distinguish</a:t>
            </a:r>
            <a:r>
              <a:rPr lang="it-IT" sz="700" dirty="0">
                <a:solidFill>
                  <a:schemeClr val="tx1"/>
                </a:solidFill>
                <a:latin typeface="+mn-lt"/>
              </a:rPr>
              <a:t> </a:t>
            </a:r>
            <a:r>
              <a:rPr lang="it-IT" sz="700" dirty="0" err="1">
                <a:solidFill>
                  <a:schemeClr val="tx1"/>
                </a:solidFill>
                <a:latin typeface="+mn-lt"/>
              </a:rPr>
              <a:t>relevant</a:t>
            </a:r>
            <a:r>
              <a:rPr lang="it-IT" sz="700" dirty="0">
                <a:solidFill>
                  <a:schemeClr val="tx1"/>
                </a:solidFill>
                <a:latin typeface="+mn-lt"/>
              </a:rPr>
              <a:t> from </a:t>
            </a:r>
            <a:r>
              <a:rPr lang="it-IT" sz="700" dirty="0" err="1">
                <a:solidFill>
                  <a:schemeClr val="tx1"/>
                </a:solidFill>
                <a:latin typeface="+mn-lt"/>
              </a:rPr>
              <a:t>unrelated</a:t>
            </a:r>
            <a:r>
              <a:rPr lang="it-IT" sz="700" dirty="0">
                <a:solidFill>
                  <a:schemeClr val="tx1"/>
                </a:solidFill>
                <a:latin typeface="+mn-lt"/>
              </a:rPr>
              <a:t> </a:t>
            </a:r>
            <a:r>
              <a:rPr lang="it-IT" sz="700" dirty="0" err="1">
                <a:solidFill>
                  <a:schemeClr val="tx1"/>
                </a:solidFill>
                <a:latin typeface="+mn-lt"/>
              </a:rPr>
              <a:t>informations</a:t>
            </a:r>
            <a:r>
              <a:rPr lang="it-IT" sz="700" dirty="0">
                <a:solidFill>
                  <a:schemeClr val="tx1"/>
                </a:solidFill>
                <a:latin typeface="+mn-lt"/>
              </a:rPr>
              <a:t>.</a:t>
            </a:r>
          </a:p>
        </p:txBody>
      </p:sp>
      <p:sp>
        <p:nvSpPr>
          <p:cNvPr id="87" name="Rettangolo con angoli arrotondati 86">
            <a:extLst>
              <a:ext uri="{FF2B5EF4-FFF2-40B4-BE49-F238E27FC236}">
                <a16:creationId xmlns:a16="http://schemas.microsoft.com/office/drawing/2014/main" id="{072FC586-EAFD-4AE3-8618-F192209F8F36}"/>
              </a:ext>
            </a:extLst>
          </p:cNvPr>
          <p:cNvSpPr/>
          <p:nvPr/>
        </p:nvSpPr>
        <p:spPr>
          <a:xfrm>
            <a:off x="2216131" y="1861759"/>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88" name="CasellaDiTesto 87">
            <a:extLst>
              <a:ext uri="{FF2B5EF4-FFF2-40B4-BE49-F238E27FC236}">
                <a16:creationId xmlns:a16="http://schemas.microsoft.com/office/drawing/2014/main" id="{DC20FF97-A7B7-4EF8-8AF2-FA8DBF1E0F44}"/>
              </a:ext>
            </a:extLst>
          </p:cNvPr>
          <p:cNvSpPr txBox="1"/>
          <p:nvPr/>
        </p:nvSpPr>
        <p:spPr>
          <a:xfrm>
            <a:off x="2307877" y="1861759"/>
            <a:ext cx="1210683" cy="200055"/>
          </a:xfrm>
          <a:prstGeom prst="rect">
            <a:avLst/>
          </a:prstGeom>
          <a:noFill/>
        </p:spPr>
        <p:txBody>
          <a:bodyPr wrap="square" rtlCol="0">
            <a:spAutoFit/>
          </a:bodyPr>
          <a:lstStyle/>
          <a:p>
            <a:pPr algn="ctr"/>
            <a:r>
              <a:rPr lang="it-IT" sz="700" b="1" dirty="0" err="1">
                <a:solidFill>
                  <a:schemeClr val="tx1"/>
                </a:solidFill>
                <a:latin typeface="+mn-lt"/>
              </a:rPr>
              <a:t>Anomaly</a:t>
            </a:r>
            <a:r>
              <a:rPr lang="it-IT" sz="700" b="1" dirty="0">
                <a:solidFill>
                  <a:schemeClr val="tx1"/>
                </a:solidFill>
                <a:latin typeface="+mn-lt"/>
              </a:rPr>
              <a:t> </a:t>
            </a:r>
            <a:r>
              <a:rPr lang="it-IT" sz="700" b="1" dirty="0" err="1">
                <a:solidFill>
                  <a:schemeClr val="tx1"/>
                </a:solidFill>
                <a:latin typeface="+mn-lt"/>
              </a:rPr>
              <a:t>Identification</a:t>
            </a:r>
            <a:endParaRPr lang="it-IT" sz="700" b="1" dirty="0">
              <a:solidFill>
                <a:schemeClr val="tx1"/>
              </a:solidFill>
              <a:latin typeface="+mn-lt"/>
            </a:endParaRPr>
          </a:p>
        </p:txBody>
      </p:sp>
      <p:cxnSp>
        <p:nvCxnSpPr>
          <p:cNvPr id="89" name="Connettore diritto 88">
            <a:extLst>
              <a:ext uri="{FF2B5EF4-FFF2-40B4-BE49-F238E27FC236}">
                <a16:creationId xmlns:a16="http://schemas.microsoft.com/office/drawing/2014/main" id="{75795B96-6E08-48C8-979D-4CB3153D833F}"/>
              </a:ext>
            </a:extLst>
          </p:cNvPr>
          <p:cNvCxnSpPr>
            <a:cxnSpLocks/>
          </p:cNvCxnSpPr>
          <p:nvPr/>
        </p:nvCxnSpPr>
        <p:spPr>
          <a:xfrm>
            <a:off x="2361394" y="2028273"/>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90" name="CasellaDiTesto 89">
            <a:extLst>
              <a:ext uri="{FF2B5EF4-FFF2-40B4-BE49-F238E27FC236}">
                <a16:creationId xmlns:a16="http://schemas.microsoft.com/office/drawing/2014/main" id="{96596802-512B-4BFA-9FEB-9E462A8CD513}"/>
              </a:ext>
            </a:extLst>
          </p:cNvPr>
          <p:cNvSpPr txBox="1"/>
          <p:nvPr/>
        </p:nvSpPr>
        <p:spPr>
          <a:xfrm>
            <a:off x="2528064" y="2639225"/>
            <a:ext cx="184731" cy="369332"/>
          </a:xfrm>
          <a:prstGeom prst="rect">
            <a:avLst/>
          </a:prstGeom>
          <a:noFill/>
        </p:spPr>
        <p:txBody>
          <a:bodyPr wrap="none" rtlCol="0">
            <a:spAutoFit/>
          </a:bodyPr>
          <a:lstStyle/>
          <a:p>
            <a:endParaRPr lang="it-IT" dirty="0"/>
          </a:p>
        </p:txBody>
      </p:sp>
      <p:sp>
        <p:nvSpPr>
          <p:cNvPr id="91" name="CasellaDiTesto 90">
            <a:extLst>
              <a:ext uri="{FF2B5EF4-FFF2-40B4-BE49-F238E27FC236}">
                <a16:creationId xmlns:a16="http://schemas.microsoft.com/office/drawing/2014/main" id="{6915BEA7-E946-449F-B082-A0F97BFDF43B}"/>
              </a:ext>
            </a:extLst>
          </p:cNvPr>
          <p:cNvSpPr txBox="1"/>
          <p:nvPr/>
        </p:nvSpPr>
        <p:spPr>
          <a:xfrm>
            <a:off x="2272706" y="2034027"/>
            <a:ext cx="1294056" cy="307777"/>
          </a:xfrm>
          <a:prstGeom prst="rect">
            <a:avLst/>
          </a:prstGeom>
          <a:noFill/>
        </p:spPr>
        <p:txBody>
          <a:bodyPr wrap="square" rtlCol="0">
            <a:spAutoFit/>
          </a:bodyPr>
          <a:lstStyle/>
          <a:p>
            <a:pPr algn="ctr"/>
            <a:r>
              <a:rPr lang="it-IT" sz="700" dirty="0" err="1">
                <a:solidFill>
                  <a:schemeClr val="tx1"/>
                </a:solidFill>
                <a:latin typeface="+mn-lt"/>
              </a:rPr>
              <a:t>Identify</a:t>
            </a:r>
            <a:r>
              <a:rPr lang="it-IT" sz="700" dirty="0">
                <a:solidFill>
                  <a:schemeClr val="tx1"/>
                </a:solidFill>
                <a:latin typeface="+mn-lt"/>
              </a:rPr>
              <a:t> and </a:t>
            </a:r>
            <a:r>
              <a:rPr lang="it-IT" sz="700" dirty="0" err="1">
                <a:solidFill>
                  <a:schemeClr val="tx1"/>
                </a:solidFill>
                <a:latin typeface="+mn-lt"/>
              </a:rPr>
              <a:t>characterize</a:t>
            </a:r>
            <a:r>
              <a:rPr lang="it-IT" sz="700" dirty="0">
                <a:solidFill>
                  <a:schemeClr val="tx1"/>
                </a:solidFill>
                <a:latin typeface="+mn-lt"/>
              </a:rPr>
              <a:t> </a:t>
            </a:r>
            <a:r>
              <a:rPr lang="it-IT" sz="700" dirty="0" err="1">
                <a:solidFill>
                  <a:schemeClr val="tx1"/>
                </a:solidFill>
                <a:latin typeface="+mn-lt"/>
              </a:rPr>
              <a:t>operational</a:t>
            </a:r>
            <a:r>
              <a:rPr lang="it-IT" sz="700" dirty="0">
                <a:solidFill>
                  <a:schemeClr val="tx1"/>
                </a:solidFill>
                <a:latin typeface="+mn-lt"/>
              </a:rPr>
              <a:t> </a:t>
            </a:r>
            <a:r>
              <a:rPr lang="it-IT" sz="700" dirty="0" err="1">
                <a:solidFill>
                  <a:schemeClr val="tx1"/>
                </a:solidFill>
                <a:latin typeface="+mn-lt"/>
              </a:rPr>
              <a:t>anomalies</a:t>
            </a:r>
            <a:r>
              <a:rPr lang="it-IT" sz="700" dirty="0">
                <a:solidFill>
                  <a:schemeClr val="tx1"/>
                </a:solidFill>
                <a:latin typeface="+mn-lt"/>
              </a:rPr>
              <a:t>.</a:t>
            </a:r>
          </a:p>
        </p:txBody>
      </p:sp>
      <p:sp>
        <p:nvSpPr>
          <p:cNvPr id="92" name="Rettangolo con angoli arrotondati 91">
            <a:extLst>
              <a:ext uri="{FF2B5EF4-FFF2-40B4-BE49-F238E27FC236}">
                <a16:creationId xmlns:a16="http://schemas.microsoft.com/office/drawing/2014/main" id="{6CB6C9DF-7DC7-4490-84F8-A6289950B53F}"/>
              </a:ext>
            </a:extLst>
          </p:cNvPr>
          <p:cNvSpPr/>
          <p:nvPr/>
        </p:nvSpPr>
        <p:spPr>
          <a:xfrm>
            <a:off x="2216131" y="2505457"/>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93" name="CasellaDiTesto 92">
            <a:extLst>
              <a:ext uri="{FF2B5EF4-FFF2-40B4-BE49-F238E27FC236}">
                <a16:creationId xmlns:a16="http://schemas.microsoft.com/office/drawing/2014/main" id="{C80CDDB7-4DCC-4F49-9B46-A1BD87243AD6}"/>
              </a:ext>
            </a:extLst>
          </p:cNvPr>
          <p:cNvSpPr txBox="1"/>
          <p:nvPr/>
        </p:nvSpPr>
        <p:spPr>
          <a:xfrm>
            <a:off x="2307877" y="2502399"/>
            <a:ext cx="1210683" cy="200055"/>
          </a:xfrm>
          <a:prstGeom prst="rect">
            <a:avLst/>
          </a:prstGeom>
          <a:noFill/>
        </p:spPr>
        <p:txBody>
          <a:bodyPr wrap="square" rtlCol="0">
            <a:spAutoFit/>
          </a:bodyPr>
          <a:lstStyle/>
          <a:p>
            <a:pPr algn="ctr"/>
            <a:r>
              <a:rPr lang="it-IT" sz="700" b="1" dirty="0">
                <a:solidFill>
                  <a:schemeClr val="tx1"/>
                </a:solidFill>
                <a:latin typeface="+mn-lt"/>
              </a:rPr>
              <a:t>DSS </a:t>
            </a:r>
            <a:r>
              <a:rPr lang="it-IT" sz="700" b="1" dirty="0" err="1">
                <a:solidFill>
                  <a:schemeClr val="tx1"/>
                </a:solidFill>
                <a:latin typeface="+mn-lt"/>
              </a:rPr>
              <a:t>Role</a:t>
            </a:r>
            <a:r>
              <a:rPr lang="it-IT" sz="700" b="1" dirty="0">
                <a:solidFill>
                  <a:schemeClr val="tx1"/>
                </a:solidFill>
                <a:latin typeface="+mn-lt"/>
              </a:rPr>
              <a:t> </a:t>
            </a:r>
            <a:r>
              <a:rPr lang="it-IT" sz="700" b="1" dirty="0" err="1">
                <a:solidFill>
                  <a:schemeClr val="tx1"/>
                </a:solidFill>
                <a:latin typeface="+mn-lt"/>
              </a:rPr>
              <a:t>Adherence</a:t>
            </a:r>
            <a:endParaRPr lang="it-IT" sz="700" b="1" dirty="0">
              <a:solidFill>
                <a:schemeClr val="tx1"/>
              </a:solidFill>
              <a:latin typeface="+mn-lt"/>
            </a:endParaRPr>
          </a:p>
        </p:txBody>
      </p:sp>
      <p:cxnSp>
        <p:nvCxnSpPr>
          <p:cNvPr id="94" name="Connettore diritto 93">
            <a:extLst>
              <a:ext uri="{FF2B5EF4-FFF2-40B4-BE49-F238E27FC236}">
                <a16:creationId xmlns:a16="http://schemas.microsoft.com/office/drawing/2014/main" id="{9B429E92-C849-45E8-AFDD-66EDB46401D3}"/>
              </a:ext>
            </a:extLst>
          </p:cNvPr>
          <p:cNvCxnSpPr>
            <a:cxnSpLocks/>
          </p:cNvCxnSpPr>
          <p:nvPr/>
        </p:nvCxnSpPr>
        <p:spPr>
          <a:xfrm>
            <a:off x="2361394" y="2671971"/>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95" name="CasellaDiTesto 94">
            <a:extLst>
              <a:ext uri="{FF2B5EF4-FFF2-40B4-BE49-F238E27FC236}">
                <a16:creationId xmlns:a16="http://schemas.microsoft.com/office/drawing/2014/main" id="{AC4294C1-CCE2-4DA4-A7AA-1AF7187374D8}"/>
              </a:ext>
            </a:extLst>
          </p:cNvPr>
          <p:cNvSpPr txBox="1"/>
          <p:nvPr/>
        </p:nvSpPr>
        <p:spPr>
          <a:xfrm>
            <a:off x="2272706" y="2663255"/>
            <a:ext cx="1294056" cy="415498"/>
          </a:xfrm>
          <a:prstGeom prst="rect">
            <a:avLst/>
          </a:prstGeom>
          <a:noFill/>
        </p:spPr>
        <p:txBody>
          <a:bodyPr wrap="square" rtlCol="0">
            <a:spAutoFit/>
          </a:bodyPr>
          <a:lstStyle/>
          <a:p>
            <a:pPr algn="ctr"/>
            <a:r>
              <a:rPr lang="it-IT" sz="700" dirty="0" err="1">
                <a:solidFill>
                  <a:schemeClr val="tx1"/>
                </a:solidFill>
                <a:latin typeface="+mn-lt"/>
              </a:rPr>
              <a:t>Correct</a:t>
            </a:r>
            <a:r>
              <a:rPr lang="it-IT" sz="700" dirty="0">
                <a:solidFill>
                  <a:schemeClr val="tx1"/>
                </a:solidFill>
                <a:latin typeface="+mn-lt"/>
              </a:rPr>
              <a:t> </a:t>
            </a:r>
            <a:r>
              <a:rPr lang="it-IT" sz="700" dirty="0" err="1">
                <a:solidFill>
                  <a:schemeClr val="tx1"/>
                </a:solidFill>
                <a:latin typeface="+mn-lt"/>
              </a:rPr>
              <a:t>answer</a:t>
            </a:r>
            <a:r>
              <a:rPr lang="it-IT" sz="700" dirty="0">
                <a:solidFill>
                  <a:schemeClr val="tx1"/>
                </a:solidFill>
                <a:latin typeface="+mn-lt"/>
              </a:rPr>
              <a:t> </a:t>
            </a:r>
            <a:r>
              <a:rPr lang="it-IT" sz="700" dirty="0" err="1">
                <a:solidFill>
                  <a:schemeClr val="tx1"/>
                </a:solidFill>
                <a:latin typeface="+mn-lt"/>
              </a:rPr>
              <a:t>behaviour</a:t>
            </a:r>
            <a:r>
              <a:rPr lang="it-IT" sz="700" dirty="0">
                <a:solidFill>
                  <a:schemeClr val="tx1"/>
                </a:solidFill>
                <a:latin typeface="+mn-lt"/>
              </a:rPr>
              <a:t> (</a:t>
            </a:r>
            <a:r>
              <a:rPr lang="it-IT" sz="700" dirty="0" err="1">
                <a:solidFill>
                  <a:schemeClr val="tx1"/>
                </a:solidFill>
                <a:latin typeface="+mn-lt"/>
              </a:rPr>
              <a:t>evidence-based</a:t>
            </a:r>
            <a:r>
              <a:rPr lang="it-IT" sz="700" dirty="0">
                <a:solidFill>
                  <a:schemeClr val="tx1"/>
                </a:solidFill>
                <a:latin typeface="+mn-lt"/>
              </a:rPr>
              <a:t> </a:t>
            </a:r>
            <a:r>
              <a:rPr lang="it-IT" sz="700" dirty="0" err="1">
                <a:solidFill>
                  <a:schemeClr val="tx1"/>
                </a:solidFill>
                <a:latin typeface="+mn-lt"/>
              </a:rPr>
              <a:t>situational</a:t>
            </a:r>
            <a:r>
              <a:rPr lang="it-IT" sz="700" dirty="0">
                <a:solidFill>
                  <a:schemeClr val="tx1"/>
                </a:solidFill>
                <a:latin typeface="+mn-lt"/>
              </a:rPr>
              <a:t> </a:t>
            </a:r>
            <a:r>
              <a:rPr lang="it-IT" sz="700" dirty="0" err="1">
                <a:solidFill>
                  <a:schemeClr val="tx1"/>
                </a:solidFill>
                <a:latin typeface="+mn-lt"/>
              </a:rPr>
              <a:t>awareness</a:t>
            </a:r>
            <a:r>
              <a:rPr lang="it-IT" sz="700" dirty="0">
                <a:solidFill>
                  <a:schemeClr val="tx1"/>
                </a:solidFill>
                <a:latin typeface="+mn-lt"/>
              </a:rPr>
              <a:t> </a:t>
            </a:r>
            <a:r>
              <a:rPr lang="it-IT" sz="700" dirty="0" err="1">
                <a:solidFill>
                  <a:schemeClr val="tx1"/>
                </a:solidFill>
                <a:latin typeface="+mn-lt"/>
              </a:rPr>
              <a:t>etc</a:t>
            </a:r>
            <a:r>
              <a:rPr lang="it-IT" sz="700" dirty="0">
                <a:solidFill>
                  <a:schemeClr val="tx1"/>
                </a:solidFill>
                <a:latin typeface="+mn-lt"/>
              </a:rPr>
              <a:t>…).</a:t>
            </a:r>
          </a:p>
        </p:txBody>
      </p:sp>
      <p:sp>
        <p:nvSpPr>
          <p:cNvPr id="96" name="Rettangolo con angoli arrotondati 95">
            <a:extLst>
              <a:ext uri="{FF2B5EF4-FFF2-40B4-BE49-F238E27FC236}">
                <a16:creationId xmlns:a16="http://schemas.microsoft.com/office/drawing/2014/main" id="{0EAD771C-5DF3-4F92-9588-4C1163A6B232}"/>
              </a:ext>
            </a:extLst>
          </p:cNvPr>
          <p:cNvSpPr/>
          <p:nvPr/>
        </p:nvSpPr>
        <p:spPr>
          <a:xfrm>
            <a:off x="3793625" y="1855643"/>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97" name="CasellaDiTesto 96">
            <a:extLst>
              <a:ext uri="{FF2B5EF4-FFF2-40B4-BE49-F238E27FC236}">
                <a16:creationId xmlns:a16="http://schemas.microsoft.com/office/drawing/2014/main" id="{D35E2260-7DC8-4759-BB23-5A6F0414728E}"/>
              </a:ext>
            </a:extLst>
          </p:cNvPr>
          <p:cNvSpPr txBox="1"/>
          <p:nvPr/>
        </p:nvSpPr>
        <p:spPr>
          <a:xfrm>
            <a:off x="3876197" y="1852585"/>
            <a:ext cx="1210683" cy="200055"/>
          </a:xfrm>
          <a:prstGeom prst="rect">
            <a:avLst/>
          </a:prstGeom>
          <a:noFill/>
        </p:spPr>
        <p:txBody>
          <a:bodyPr wrap="square" rtlCol="0">
            <a:spAutoFit/>
          </a:bodyPr>
          <a:lstStyle/>
          <a:p>
            <a:pPr algn="ctr"/>
            <a:r>
              <a:rPr lang="it-IT" sz="700" b="1" dirty="0" err="1">
                <a:solidFill>
                  <a:schemeClr val="tx1"/>
                </a:solidFill>
                <a:latin typeface="+mn-lt"/>
              </a:rPr>
              <a:t>Evidence</a:t>
            </a:r>
            <a:r>
              <a:rPr lang="it-IT" sz="700" b="1" dirty="0">
                <a:solidFill>
                  <a:schemeClr val="tx1"/>
                </a:solidFill>
                <a:latin typeface="+mn-lt"/>
              </a:rPr>
              <a:t> </a:t>
            </a:r>
            <a:r>
              <a:rPr lang="it-IT" sz="700" b="1" dirty="0" err="1">
                <a:solidFill>
                  <a:schemeClr val="tx1"/>
                </a:solidFill>
                <a:latin typeface="+mn-lt"/>
              </a:rPr>
              <a:t>Correlation</a:t>
            </a:r>
            <a:endParaRPr lang="it-IT" sz="700" b="1" dirty="0">
              <a:solidFill>
                <a:schemeClr val="tx1"/>
              </a:solidFill>
              <a:latin typeface="+mn-lt"/>
            </a:endParaRPr>
          </a:p>
        </p:txBody>
      </p:sp>
      <p:cxnSp>
        <p:nvCxnSpPr>
          <p:cNvPr id="98" name="Connettore diritto 97">
            <a:extLst>
              <a:ext uri="{FF2B5EF4-FFF2-40B4-BE49-F238E27FC236}">
                <a16:creationId xmlns:a16="http://schemas.microsoft.com/office/drawing/2014/main" id="{F6DDBE32-251F-4F4B-ADAD-964E90C51276}"/>
              </a:ext>
            </a:extLst>
          </p:cNvPr>
          <p:cNvCxnSpPr>
            <a:cxnSpLocks/>
          </p:cNvCxnSpPr>
          <p:nvPr/>
        </p:nvCxnSpPr>
        <p:spPr>
          <a:xfrm>
            <a:off x="3929714" y="2022157"/>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99" name="CasellaDiTesto 98">
            <a:extLst>
              <a:ext uri="{FF2B5EF4-FFF2-40B4-BE49-F238E27FC236}">
                <a16:creationId xmlns:a16="http://schemas.microsoft.com/office/drawing/2014/main" id="{DCD7B5EE-04D4-4451-835B-A17DEB312CB5}"/>
              </a:ext>
            </a:extLst>
          </p:cNvPr>
          <p:cNvSpPr txBox="1"/>
          <p:nvPr/>
        </p:nvSpPr>
        <p:spPr>
          <a:xfrm>
            <a:off x="4096384" y="2633109"/>
            <a:ext cx="184731" cy="369332"/>
          </a:xfrm>
          <a:prstGeom prst="rect">
            <a:avLst/>
          </a:prstGeom>
          <a:noFill/>
        </p:spPr>
        <p:txBody>
          <a:bodyPr wrap="none" rtlCol="0">
            <a:spAutoFit/>
          </a:bodyPr>
          <a:lstStyle/>
          <a:p>
            <a:endParaRPr lang="it-IT" dirty="0"/>
          </a:p>
        </p:txBody>
      </p:sp>
      <p:sp>
        <p:nvSpPr>
          <p:cNvPr id="100" name="CasellaDiTesto 99">
            <a:extLst>
              <a:ext uri="{FF2B5EF4-FFF2-40B4-BE49-F238E27FC236}">
                <a16:creationId xmlns:a16="http://schemas.microsoft.com/office/drawing/2014/main" id="{F86ACA88-167F-46B2-98B0-7E6DD1A4010A}"/>
              </a:ext>
            </a:extLst>
          </p:cNvPr>
          <p:cNvSpPr txBox="1"/>
          <p:nvPr/>
        </p:nvSpPr>
        <p:spPr>
          <a:xfrm>
            <a:off x="3841026" y="2007817"/>
            <a:ext cx="1294056" cy="415498"/>
          </a:xfrm>
          <a:prstGeom prst="rect">
            <a:avLst/>
          </a:prstGeom>
          <a:noFill/>
        </p:spPr>
        <p:txBody>
          <a:bodyPr wrap="square" rtlCol="0">
            <a:spAutoFit/>
          </a:bodyPr>
          <a:lstStyle/>
          <a:p>
            <a:pPr algn="ctr"/>
            <a:r>
              <a:rPr lang="it-IT" sz="700" dirty="0" err="1">
                <a:solidFill>
                  <a:schemeClr val="tx1"/>
                </a:solidFill>
                <a:latin typeface="+mn-lt"/>
              </a:rPr>
              <a:t>Establish</a:t>
            </a:r>
            <a:r>
              <a:rPr lang="it-IT" sz="700" dirty="0">
                <a:solidFill>
                  <a:schemeClr val="tx1"/>
                </a:solidFill>
                <a:latin typeface="+mn-lt"/>
              </a:rPr>
              <a:t> </a:t>
            </a:r>
            <a:r>
              <a:rPr lang="it-IT" sz="700" dirty="0" err="1">
                <a:solidFill>
                  <a:schemeClr val="tx1"/>
                </a:solidFill>
                <a:latin typeface="+mn-lt"/>
              </a:rPr>
              <a:t>correct</a:t>
            </a:r>
            <a:r>
              <a:rPr lang="it-IT" sz="700" dirty="0">
                <a:solidFill>
                  <a:schemeClr val="tx1"/>
                </a:solidFill>
                <a:latin typeface="+mn-lt"/>
              </a:rPr>
              <a:t> </a:t>
            </a:r>
            <a:r>
              <a:rPr lang="it-IT" sz="700" dirty="0" err="1">
                <a:solidFill>
                  <a:schemeClr val="tx1"/>
                </a:solidFill>
                <a:latin typeface="+mn-lt"/>
              </a:rPr>
              <a:t>correlations</a:t>
            </a:r>
            <a:r>
              <a:rPr lang="it-IT" sz="700" dirty="0">
                <a:solidFill>
                  <a:schemeClr val="tx1"/>
                </a:solidFill>
                <a:latin typeface="+mn-lt"/>
              </a:rPr>
              <a:t> </a:t>
            </a:r>
            <a:r>
              <a:rPr lang="it-IT" sz="700" dirty="0" err="1">
                <a:solidFill>
                  <a:schemeClr val="tx1"/>
                </a:solidFill>
                <a:latin typeface="+mn-lt"/>
              </a:rPr>
              <a:t>between</a:t>
            </a:r>
            <a:r>
              <a:rPr lang="it-IT" sz="700" dirty="0">
                <a:solidFill>
                  <a:schemeClr val="tx1"/>
                </a:solidFill>
                <a:latin typeface="+mn-lt"/>
              </a:rPr>
              <a:t> </a:t>
            </a:r>
            <a:r>
              <a:rPr lang="it-IT" sz="700" dirty="0" err="1">
                <a:solidFill>
                  <a:schemeClr val="tx1"/>
                </a:solidFill>
                <a:latin typeface="+mn-lt"/>
              </a:rPr>
              <a:t>evidences</a:t>
            </a:r>
            <a:r>
              <a:rPr lang="it-IT" sz="700" dirty="0">
                <a:solidFill>
                  <a:schemeClr val="tx1"/>
                </a:solidFill>
                <a:latin typeface="+mn-lt"/>
              </a:rPr>
              <a:t> from </a:t>
            </a:r>
            <a:r>
              <a:rPr lang="it-IT" sz="700" dirty="0" err="1">
                <a:solidFill>
                  <a:schemeClr val="tx1"/>
                </a:solidFill>
                <a:latin typeface="+mn-lt"/>
              </a:rPr>
              <a:t>different</a:t>
            </a:r>
            <a:r>
              <a:rPr lang="it-IT" sz="700" dirty="0">
                <a:solidFill>
                  <a:schemeClr val="tx1"/>
                </a:solidFill>
                <a:latin typeface="+mn-lt"/>
              </a:rPr>
              <a:t> sources.</a:t>
            </a:r>
          </a:p>
        </p:txBody>
      </p:sp>
      <p:sp>
        <p:nvSpPr>
          <p:cNvPr id="101" name="Rettangolo con angoli arrotondati 100">
            <a:extLst>
              <a:ext uri="{FF2B5EF4-FFF2-40B4-BE49-F238E27FC236}">
                <a16:creationId xmlns:a16="http://schemas.microsoft.com/office/drawing/2014/main" id="{2BB75DFB-8713-4976-91D4-84CE045BEE0D}"/>
              </a:ext>
            </a:extLst>
          </p:cNvPr>
          <p:cNvSpPr/>
          <p:nvPr/>
        </p:nvSpPr>
        <p:spPr>
          <a:xfrm>
            <a:off x="3793625" y="2499341"/>
            <a:ext cx="1428175" cy="544658"/>
          </a:xfrm>
          <a:prstGeom prst="roundRect">
            <a:avLst/>
          </a:prstGeom>
          <a:solidFill>
            <a:schemeClr val="tx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102" name="CasellaDiTesto 101">
            <a:extLst>
              <a:ext uri="{FF2B5EF4-FFF2-40B4-BE49-F238E27FC236}">
                <a16:creationId xmlns:a16="http://schemas.microsoft.com/office/drawing/2014/main" id="{0D884F86-2BCD-46E3-B224-E7ED52DF2B4C}"/>
              </a:ext>
            </a:extLst>
          </p:cNvPr>
          <p:cNvSpPr txBox="1"/>
          <p:nvPr/>
        </p:nvSpPr>
        <p:spPr>
          <a:xfrm>
            <a:off x="3876197" y="2496283"/>
            <a:ext cx="1210683" cy="200055"/>
          </a:xfrm>
          <a:prstGeom prst="rect">
            <a:avLst/>
          </a:prstGeom>
          <a:noFill/>
        </p:spPr>
        <p:txBody>
          <a:bodyPr wrap="square" rtlCol="0">
            <a:spAutoFit/>
          </a:bodyPr>
          <a:lstStyle/>
          <a:p>
            <a:pPr algn="ctr"/>
            <a:r>
              <a:rPr lang="it-IT" sz="700" b="1" dirty="0">
                <a:solidFill>
                  <a:schemeClr val="tx1"/>
                </a:solidFill>
                <a:latin typeface="+mn-lt"/>
              </a:rPr>
              <a:t>Op. </a:t>
            </a:r>
            <a:r>
              <a:rPr lang="it-IT" sz="700" b="1" dirty="0" err="1">
                <a:solidFill>
                  <a:schemeClr val="tx1"/>
                </a:solidFill>
                <a:latin typeface="+mn-lt"/>
              </a:rPr>
              <a:t>Reccom</a:t>
            </a:r>
            <a:r>
              <a:rPr lang="it-IT" sz="700" b="1" dirty="0">
                <a:solidFill>
                  <a:schemeClr val="tx1"/>
                </a:solidFill>
                <a:latin typeface="+mn-lt"/>
              </a:rPr>
              <a:t>. Quality</a:t>
            </a:r>
          </a:p>
        </p:txBody>
      </p:sp>
      <p:cxnSp>
        <p:nvCxnSpPr>
          <p:cNvPr id="103" name="Connettore diritto 102">
            <a:extLst>
              <a:ext uri="{FF2B5EF4-FFF2-40B4-BE49-F238E27FC236}">
                <a16:creationId xmlns:a16="http://schemas.microsoft.com/office/drawing/2014/main" id="{7D7172F8-5A8E-407E-869A-F27C11AB8E35}"/>
              </a:ext>
            </a:extLst>
          </p:cNvPr>
          <p:cNvCxnSpPr>
            <a:cxnSpLocks/>
          </p:cNvCxnSpPr>
          <p:nvPr/>
        </p:nvCxnSpPr>
        <p:spPr>
          <a:xfrm>
            <a:off x="3929714" y="2665855"/>
            <a:ext cx="1083817"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104" name="CasellaDiTesto 103">
            <a:extLst>
              <a:ext uri="{FF2B5EF4-FFF2-40B4-BE49-F238E27FC236}">
                <a16:creationId xmlns:a16="http://schemas.microsoft.com/office/drawing/2014/main" id="{29C2C4ED-1F1E-489F-B853-4863F42671DD}"/>
              </a:ext>
            </a:extLst>
          </p:cNvPr>
          <p:cNvSpPr txBox="1"/>
          <p:nvPr/>
        </p:nvSpPr>
        <p:spPr>
          <a:xfrm>
            <a:off x="3841026" y="2671609"/>
            <a:ext cx="1294056" cy="307777"/>
          </a:xfrm>
          <a:prstGeom prst="rect">
            <a:avLst/>
          </a:prstGeom>
          <a:noFill/>
        </p:spPr>
        <p:txBody>
          <a:bodyPr wrap="square" rtlCol="0">
            <a:spAutoFit/>
          </a:bodyPr>
          <a:lstStyle/>
          <a:p>
            <a:pPr algn="ctr"/>
            <a:r>
              <a:rPr lang="it-IT" sz="700" dirty="0">
                <a:solidFill>
                  <a:schemeClr val="tx1"/>
                </a:solidFill>
                <a:latin typeface="+mn-lt"/>
              </a:rPr>
              <a:t>Quality of </a:t>
            </a:r>
            <a:r>
              <a:rPr lang="it-IT" sz="700" dirty="0" err="1">
                <a:solidFill>
                  <a:schemeClr val="tx1"/>
                </a:solidFill>
                <a:latin typeface="+mn-lt"/>
              </a:rPr>
              <a:t>reccomendations</a:t>
            </a:r>
            <a:r>
              <a:rPr lang="it-IT" sz="700" dirty="0">
                <a:solidFill>
                  <a:schemeClr val="tx1"/>
                </a:solidFill>
                <a:latin typeface="+mn-lt"/>
              </a:rPr>
              <a:t> </a:t>
            </a:r>
            <a:r>
              <a:rPr lang="it-IT" sz="700" dirty="0" err="1">
                <a:solidFill>
                  <a:schemeClr val="tx1"/>
                </a:solidFill>
                <a:latin typeface="+mn-lt"/>
              </a:rPr>
              <a:t>when</a:t>
            </a:r>
            <a:r>
              <a:rPr lang="it-IT" sz="700" dirty="0">
                <a:solidFill>
                  <a:schemeClr val="tx1"/>
                </a:solidFill>
                <a:latin typeface="+mn-lt"/>
              </a:rPr>
              <a:t> actions are </a:t>
            </a:r>
            <a:r>
              <a:rPr lang="it-IT" sz="700" dirty="0" err="1">
                <a:solidFill>
                  <a:schemeClr val="tx1"/>
                </a:solidFill>
                <a:latin typeface="+mn-lt"/>
              </a:rPr>
              <a:t>required</a:t>
            </a:r>
            <a:r>
              <a:rPr lang="it-IT" sz="700" dirty="0">
                <a:solidFill>
                  <a:schemeClr val="tx1"/>
                </a:solidFill>
                <a:latin typeface="+mn-lt"/>
              </a:rPr>
              <a:t>.</a:t>
            </a:r>
          </a:p>
        </p:txBody>
      </p:sp>
      <p:cxnSp>
        <p:nvCxnSpPr>
          <p:cNvPr id="108" name="Connettore diritto 107">
            <a:extLst>
              <a:ext uri="{FF2B5EF4-FFF2-40B4-BE49-F238E27FC236}">
                <a16:creationId xmlns:a16="http://schemas.microsoft.com/office/drawing/2014/main" id="{27E7043A-8846-47D9-98A3-CC89558BC033}"/>
              </a:ext>
            </a:extLst>
          </p:cNvPr>
          <p:cNvCxnSpPr>
            <a:cxnSpLocks/>
            <a:stCxn id="2" idx="0"/>
          </p:cNvCxnSpPr>
          <p:nvPr/>
        </p:nvCxnSpPr>
        <p:spPr>
          <a:xfrm flipV="1">
            <a:off x="1351900" y="781438"/>
            <a:ext cx="0" cy="222304"/>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cxnSp>
        <p:nvCxnSpPr>
          <p:cNvPr id="110" name="Connettore diritto 109">
            <a:extLst>
              <a:ext uri="{FF2B5EF4-FFF2-40B4-BE49-F238E27FC236}">
                <a16:creationId xmlns:a16="http://schemas.microsoft.com/office/drawing/2014/main" id="{4D07D7EF-1393-4DEE-8DB0-78AD379A4E2B}"/>
              </a:ext>
            </a:extLst>
          </p:cNvPr>
          <p:cNvCxnSpPr>
            <a:cxnSpLocks/>
            <a:stCxn id="55" idx="1"/>
          </p:cNvCxnSpPr>
          <p:nvPr/>
        </p:nvCxnSpPr>
        <p:spPr>
          <a:xfrm flipH="1" flipV="1">
            <a:off x="1351900" y="781436"/>
            <a:ext cx="934642" cy="2"/>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cxnSp>
        <p:nvCxnSpPr>
          <p:cNvPr id="119" name="Connettore diritto 118">
            <a:extLst>
              <a:ext uri="{FF2B5EF4-FFF2-40B4-BE49-F238E27FC236}">
                <a16:creationId xmlns:a16="http://schemas.microsoft.com/office/drawing/2014/main" id="{603DF251-EC1B-4362-AB07-64B00F1D5C4C}"/>
              </a:ext>
            </a:extLst>
          </p:cNvPr>
          <p:cNvCxnSpPr>
            <a:cxnSpLocks/>
          </p:cNvCxnSpPr>
          <p:nvPr/>
        </p:nvCxnSpPr>
        <p:spPr>
          <a:xfrm flipV="1">
            <a:off x="4483248" y="781435"/>
            <a:ext cx="0" cy="222304"/>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cxnSp>
        <p:nvCxnSpPr>
          <p:cNvPr id="120" name="Connettore diritto 119">
            <a:extLst>
              <a:ext uri="{FF2B5EF4-FFF2-40B4-BE49-F238E27FC236}">
                <a16:creationId xmlns:a16="http://schemas.microsoft.com/office/drawing/2014/main" id="{17A1E367-37E0-48B1-A6D9-025FA1066726}"/>
              </a:ext>
            </a:extLst>
          </p:cNvPr>
          <p:cNvCxnSpPr>
            <a:cxnSpLocks/>
          </p:cNvCxnSpPr>
          <p:nvPr/>
        </p:nvCxnSpPr>
        <p:spPr>
          <a:xfrm flipH="1" flipV="1">
            <a:off x="3546009" y="780751"/>
            <a:ext cx="934642" cy="2"/>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946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Methodology – Scoring Instructions</a:t>
            </a:r>
          </a:p>
        </p:txBody>
      </p:sp>
      <p:sp>
        <p:nvSpPr>
          <p:cNvPr id="68" name="CasellaDiTesto 67">
            <a:extLst>
              <a:ext uri="{FF2B5EF4-FFF2-40B4-BE49-F238E27FC236}">
                <a16:creationId xmlns:a16="http://schemas.microsoft.com/office/drawing/2014/main" id="{26318903-2C4B-40B2-9351-66AC7100130B}"/>
              </a:ext>
            </a:extLst>
          </p:cNvPr>
          <p:cNvSpPr txBox="1"/>
          <p:nvPr/>
        </p:nvSpPr>
        <p:spPr>
          <a:xfrm>
            <a:off x="1165873" y="893048"/>
            <a:ext cx="181024" cy="362866"/>
          </a:xfrm>
          <a:prstGeom prst="rect">
            <a:avLst/>
          </a:prstGeom>
          <a:noFill/>
        </p:spPr>
        <p:txBody>
          <a:bodyPr wrap="square" rtlCol="0">
            <a:spAutoFit/>
          </a:bodyPr>
          <a:lstStyle/>
          <a:p>
            <a:endParaRPr lang="it-IT" dirty="0"/>
          </a:p>
        </p:txBody>
      </p:sp>
      <p:sp>
        <p:nvSpPr>
          <p:cNvPr id="83" name="Rettangolo con angoli arrotondati 82">
            <a:extLst>
              <a:ext uri="{FF2B5EF4-FFF2-40B4-BE49-F238E27FC236}">
                <a16:creationId xmlns:a16="http://schemas.microsoft.com/office/drawing/2014/main" id="{8A946CEA-E729-4E76-B6F0-A07B380B0C9E}"/>
              </a:ext>
            </a:extLst>
          </p:cNvPr>
          <p:cNvSpPr/>
          <p:nvPr/>
        </p:nvSpPr>
        <p:spPr>
          <a:xfrm>
            <a:off x="858179" y="756223"/>
            <a:ext cx="1428175" cy="1603428"/>
          </a:xfrm>
          <a:prstGeom prst="roundRect">
            <a:avLst/>
          </a:prstGeom>
          <a:solidFill>
            <a:schemeClr val="accent2">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84" name="CasellaDiTesto 83">
            <a:extLst>
              <a:ext uri="{FF2B5EF4-FFF2-40B4-BE49-F238E27FC236}">
                <a16:creationId xmlns:a16="http://schemas.microsoft.com/office/drawing/2014/main" id="{EE9535BC-EBB7-4184-A259-108C8D642793}"/>
              </a:ext>
            </a:extLst>
          </p:cNvPr>
          <p:cNvSpPr txBox="1"/>
          <p:nvPr/>
        </p:nvSpPr>
        <p:spPr>
          <a:xfrm>
            <a:off x="945685" y="756222"/>
            <a:ext cx="1186389" cy="200055"/>
          </a:xfrm>
          <a:prstGeom prst="rect">
            <a:avLst/>
          </a:prstGeom>
          <a:noFill/>
        </p:spPr>
        <p:txBody>
          <a:bodyPr wrap="square" rtlCol="0">
            <a:spAutoFit/>
          </a:bodyPr>
          <a:lstStyle/>
          <a:p>
            <a:pPr algn="ctr"/>
            <a:r>
              <a:rPr lang="en-US" sz="700" b="1" dirty="0"/>
              <a:t>Score 0 - Incorrect</a:t>
            </a:r>
            <a:endParaRPr lang="it-IT" sz="700" b="1" dirty="0">
              <a:solidFill>
                <a:schemeClr val="tx1"/>
              </a:solidFill>
              <a:latin typeface="+mn-lt"/>
            </a:endParaRPr>
          </a:p>
        </p:txBody>
      </p:sp>
      <p:cxnSp>
        <p:nvCxnSpPr>
          <p:cNvPr id="85" name="Connettore diritto 84">
            <a:extLst>
              <a:ext uri="{FF2B5EF4-FFF2-40B4-BE49-F238E27FC236}">
                <a16:creationId xmlns:a16="http://schemas.microsoft.com/office/drawing/2014/main" id="{0EE77943-013B-44BF-AC2F-2FAE79F9CBCF}"/>
              </a:ext>
            </a:extLst>
          </p:cNvPr>
          <p:cNvCxnSpPr>
            <a:cxnSpLocks/>
          </p:cNvCxnSpPr>
          <p:nvPr/>
        </p:nvCxnSpPr>
        <p:spPr>
          <a:xfrm>
            <a:off x="999202" y="925794"/>
            <a:ext cx="1062069"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86" name="CasellaDiTesto 85">
            <a:extLst>
              <a:ext uri="{FF2B5EF4-FFF2-40B4-BE49-F238E27FC236}">
                <a16:creationId xmlns:a16="http://schemas.microsoft.com/office/drawing/2014/main" id="{5BFE74DB-435C-4050-8D21-FB7EC699FF26}"/>
              </a:ext>
            </a:extLst>
          </p:cNvPr>
          <p:cNvSpPr txBox="1"/>
          <p:nvPr/>
        </p:nvSpPr>
        <p:spPr>
          <a:xfrm>
            <a:off x="910513" y="931548"/>
            <a:ext cx="1323529" cy="1384995"/>
          </a:xfrm>
          <a:prstGeom prst="rect">
            <a:avLst/>
          </a:prstGeom>
          <a:noFill/>
        </p:spPr>
        <p:txBody>
          <a:bodyPr wrap="square" rtlCol="0">
            <a:spAutoFit/>
          </a:bodyPr>
          <a:lstStyle/>
          <a:p>
            <a:r>
              <a:rPr lang="en-US" sz="700" dirty="0"/>
              <a:t>Assigned for </a:t>
            </a:r>
            <a:r>
              <a:rPr lang="en-US" sz="700" b="1" dirty="0"/>
              <a:t>material</a:t>
            </a:r>
            <a:r>
              <a:rPr lang="en-US" sz="700" dirty="0"/>
              <a:t>, </a:t>
            </a:r>
            <a:r>
              <a:rPr lang="en-US" sz="700" b="1" dirty="0"/>
              <a:t>factual</a:t>
            </a:r>
            <a:r>
              <a:rPr lang="en-US" sz="700" dirty="0"/>
              <a:t> or </a:t>
            </a:r>
            <a:r>
              <a:rPr lang="en-US" sz="700" b="1" dirty="0"/>
              <a:t>operational</a:t>
            </a:r>
            <a:r>
              <a:rPr lang="en-US" sz="700" dirty="0"/>
              <a:t> </a:t>
            </a:r>
            <a:r>
              <a:rPr lang="en-US" sz="700" b="1" dirty="0"/>
              <a:t>errors</a:t>
            </a:r>
            <a:r>
              <a:rPr lang="en-US" sz="700" dirty="0"/>
              <a:t> affecting the criterion (e.g., false statements, operational contradictions, incorrect correlations, or incompatible recommendations).</a:t>
            </a:r>
          </a:p>
          <a:p>
            <a:r>
              <a:rPr lang="en-US" sz="700" dirty="0"/>
              <a:t>Minor imprecisions or isolated omissions were not sufficient to warrant a score of 0.</a:t>
            </a:r>
            <a:endParaRPr lang="en-US" sz="700" dirty="0">
              <a:latin typeface="+mn-lt"/>
            </a:endParaRPr>
          </a:p>
        </p:txBody>
      </p:sp>
      <p:sp>
        <p:nvSpPr>
          <p:cNvPr id="41" name="CasellaDiTesto 40">
            <a:extLst>
              <a:ext uri="{FF2B5EF4-FFF2-40B4-BE49-F238E27FC236}">
                <a16:creationId xmlns:a16="http://schemas.microsoft.com/office/drawing/2014/main" id="{3991A80E-8853-42B3-AC9B-DAAF8FD710A3}"/>
              </a:ext>
            </a:extLst>
          </p:cNvPr>
          <p:cNvSpPr txBox="1"/>
          <p:nvPr/>
        </p:nvSpPr>
        <p:spPr>
          <a:xfrm>
            <a:off x="2736691" y="893048"/>
            <a:ext cx="181024" cy="362866"/>
          </a:xfrm>
          <a:prstGeom prst="rect">
            <a:avLst/>
          </a:prstGeom>
          <a:noFill/>
        </p:spPr>
        <p:txBody>
          <a:bodyPr wrap="square" rtlCol="0">
            <a:spAutoFit/>
          </a:bodyPr>
          <a:lstStyle/>
          <a:p>
            <a:endParaRPr lang="it-IT" dirty="0"/>
          </a:p>
        </p:txBody>
      </p:sp>
      <p:sp>
        <p:nvSpPr>
          <p:cNvPr id="42" name="Rettangolo con angoli arrotondati 41">
            <a:extLst>
              <a:ext uri="{FF2B5EF4-FFF2-40B4-BE49-F238E27FC236}">
                <a16:creationId xmlns:a16="http://schemas.microsoft.com/office/drawing/2014/main" id="{C6399080-FEA1-44EF-8580-A83B743D1E87}"/>
              </a:ext>
            </a:extLst>
          </p:cNvPr>
          <p:cNvSpPr/>
          <p:nvPr/>
        </p:nvSpPr>
        <p:spPr>
          <a:xfrm>
            <a:off x="2424757" y="759279"/>
            <a:ext cx="1399517" cy="1600371"/>
          </a:xfrm>
          <a:prstGeom prst="roundRect">
            <a:avLst/>
          </a:prstGeom>
          <a:solidFill>
            <a:schemeClr val="accent6">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43" name="CasellaDiTesto 42">
            <a:extLst>
              <a:ext uri="{FF2B5EF4-FFF2-40B4-BE49-F238E27FC236}">
                <a16:creationId xmlns:a16="http://schemas.microsoft.com/office/drawing/2014/main" id="{2FBD4D88-E9A1-4DFC-B43F-65C5AD086F0F}"/>
              </a:ext>
            </a:extLst>
          </p:cNvPr>
          <p:cNvSpPr txBox="1"/>
          <p:nvPr/>
        </p:nvSpPr>
        <p:spPr>
          <a:xfrm>
            <a:off x="2426128" y="756222"/>
            <a:ext cx="1344077" cy="200055"/>
          </a:xfrm>
          <a:prstGeom prst="rect">
            <a:avLst/>
          </a:prstGeom>
          <a:noFill/>
        </p:spPr>
        <p:txBody>
          <a:bodyPr wrap="square" rtlCol="0">
            <a:spAutoFit/>
          </a:bodyPr>
          <a:lstStyle/>
          <a:p>
            <a:pPr algn="ctr"/>
            <a:r>
              <a:rPr lang="en-US" sz="700" b="1" dirty="0"/>
              <a:t>Score 1 - Partially correct</a:t>
            </a:r>
            <a:endParaRPr lang="it-IT" sz="700" b="1" dirty="0">
              <a:solidFill>
                <a:schemeClr val="tx1"/>
              </a:solidFill>
              <a:latin typeface="+mn-lt"/>
            </a:endParaRPr>
          </a:p>
        </p:txBody>
      </p:sp>
      <p:cxnSp>
        <p:nvCxnSpPr>
          <p:cNvPr id="44" name="Connettore diritto 43">
            <a:extLst>
              <a:ext uri="{FF2B5EF4-FFF2-40B4-BE49-F238E27FC236}">
                <a16:creationId xmlns:a16="http://schemas.microsoft.com/office/drawing/2014/main" id="{7FA7B976-D105-4B8B-A46D-0C72B7CD994F}"/>
              </a:ext>
            </a:extLst>
          </p:cNvPr>
          <p:cNvCxnSpPr>
            <a:cxnSpLocks/>
          </p:cNvCxnSpPr>
          <p:nvPr/>
        </p:nvCxnSpPr>
        <p:spPr>
          <a:xfrm>
            <a:off x="2570020" y="925794"/>
            <a:ext cx="1062069"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45" name="CasellaDiTesto 44">
            <a:extLst>
              <a:ext uri="{FF2B5EF4-FFF2-40B4-BE49-F238E27FC236}">
                <a16:creationId xmlns:a16="http://schemas.microsoft.com/office/drawing/2014/main" id="{0494A601-F5C1-4C8E-8B59-76A5DD86C6A8}"/>
              </a:ext>
            </a:extLst>
          </p:cNvPr>
          <p:cNvSpPr txBox="1"/>
          <p:nvPr/>
        </p:nvSpPr>
        <p:spPr>
          <a:xfrm>
            <a:off x="2481332" y="931548"/>
            <a:ext cx="1342424" cy="1169551"/>
          </a:xfrm>
          <a:prstGeom prst="rect">
            <a:avLst/>
          </a:prstGeom>
          <a:noFill/>
        </p:spPr>
        <p:txBody>
          <a:bodyPr wrap="square" rtlCol="0">
            <a:spAutoFit/>
          </a:bodyPr>
          <a:lstStyle/>
          <a:p>
            <a:r>
              <a:rPr lang="en-US" sz="700" dirty="0"/>
              <a:t>Assigned when the answer was </a:t>
            </a:r>
            <a:r>
              <a:rPr lang="en-US" sz="700" b="1" dirty="0"/>
              <a:t>substantially correct </a:t>
            </a:r>
            <a:r>
              <a:rPr lang="en-US" sz="700" dirty="0"/>
              <a:t>but had </a:t>
            </a:r>
            <a:r>
              <a:rPr lang="en-US" sz="700" b="1" dirty="0"/>
              <a:t>significant limitations</a:t>
            </a:r>
            <a:r>
              <a:rPr lang="en-US" sz="700" dirty="0"/>
              <a:t>... (e.g., omission of relevant info, partial correlations, generic recommendations).</a:t>
            </a:r>
          </a:p>
          <a:p>
            <a:r>
              <a:rPr lang="en-US" sz="700" dirty="0"/>
              <a:t>It indicated the answer was useful but did not fully meet the requirements.</a:t>
            </a:r>
            <a:endParaRPr lang="en-US" sz="700" dirty="0">
              <a:latin typeface="+mn-lt"/>
            </a:endParaRPr>
          </a:p>
        </p:txBody>
      </p:sp>
      <p:sp>
        <p:nvSpPr>
          <p:cNvPr id="46" name="CasellaDiTesto 45">
            <a:extLst>
              <a:ext uri="{FF2B5EF4-FFF2-40B4-BE49-F238E27FC236}">
                <a16:creationId xmlns:a16="http://schemas.microsoft.com/office/drawing/2014/main" id="{4AAAD64C-A882-46C3-AB65-83EF7D3D7B2E}"/>
              </a:ext>
            </a:extLst>
          </p:cNvPr>
          <p:cNvSpPr txBox="1"/>
          <p:nvPr/>
        </p:nvSpPr>
        <p:spPr>
          <a:xfrm>
            <a:off x="4328478" y="893048"/>
            <a:ext cx="181024" cy="362866"/>
          </a:xfrm>
          <a:prstGeom prst="rect">
            <a:avLst/>
          </a:prstGeom>
          <a:noFill/>
        </p:spPr>
        <p:txBody>
          <a:bodyPr wrap="square" rtlCol="0">
            <a:spAutoFit/>
          </a:bodyPr>
          <a:lstStyle/>
          <a:p>
            <a:endParaRPr lang="it-IT" dirty="0"/>
          </a:p>
        </p:txBody>
      </p:sp>
      <p:sp>
        <p:nvSpPr>
          <p:cNvPr id="47" name="Rettangolo con angoli arrotondati 46">
            <a:extLst>
              <a:ext uri="{FF2B5EF4-FFF2-40B4-BE49-F238E27FC236}">
                <a16:creationId xmlns:a16="http://schemas.microsoft.com/office/drawing/2014/main" id="{6E164D75-B5BF-43B7-9F4C-B9CDD8B99299}"/>
              </a:ext>
            </a:extLst>
          </p:cNvPr>
          <p:cNvSpPr/>
          <p:nvPr/>
        </p:nvSpPr>
        <p:spPr>
          <a:xfrm>
            <a:off x="4016544" y="759279"/>
            <a:ext cx="1399517" cy="1600371"/>
          </a:xfrm>
          <a:prstGeom prst="roundRect">
            <a:avLst/>
          </a:prstGeom>
          <a:solidFill>
            <a:schemeClr val="accent3">
              <a:lumMod val="20000"/>
              <a:lumOff val="80000"/>
            </a:schemeClr>
          </a:solidFill>
          <a:ln w="9525">
            <a:solidFill>
              <a:srgbClr val="5903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600" dirty="0">
              <a:solidFill>
                <a:schemeClr val="tx1"/>
              </a:solidFill>
            </a:endParaRPr>
          </a:p>
        </p:txBody>
      </p:sp>
      <p:sp>
        <p:nvSpPr>
          <p:cNvPr id="48" name="CasellaDiTesto 47">
            <a:extLst>
              <a:ext uri="{FF2B5EF4-FFF2-40B4-BE49-F238E27FC236}">
                <a16:creationId xmlns:a16="http://schemas.microsoft.com/office/drawing/2014/main" id="{8BE70AAA-B889-4710-ABF0-82792FE060B3}"/>
              </a:ext>
            </a:extLst>
          </p:cNvPr>
          <p:cNvSpPr txBox="1"/>
          <p:nvPr/>
        </p:nvSpPr>
        <p:spPr>
          <a:xfrm>
            <a:off x="4108290" y="756222"/>
            <a:ext cx="1186389" cy="200055"/>
          </a:xfrm>
          <a:prstGeom prst="rect">
            <a:avLst/>
          </a:prstGeom>
          <a:noFill/>
        </p:spPr>
        <p:txBody>
          <a:bodyPr wrap="square" rtlCol="0">
            <a:spAutoFit/>
          </a:bodyPr>
          <a:lstStyle/>
          <a:p>
            <a:pPr algn="ctr"/>
            <a:r>
              <a:rPr lang="en-US" sz="700" b="1" dirty="0"/>
              <a:t>Score 2 - Fully correct</a:t>
            </a:r>
            <a:endParaRPr lang="it-IT" sz="700" b="1" dirty="0">
              <a:solidFill>
                <a:schemeClr val="tx1"/>
              </a:solidFill>
              <a:latin typeface="+mn-lt"/>
            </a:endParaRPr>
          </a:p>
        </p:txBody>
      </p:sp>
      <p:cxnSp>
        <p:nvCxnSpPr>
          <p:cNvPr id="49" name="Connettore diritto 48">
            <a:extLst>
              <a:ext uri="{FF2B5EF4-FFF2-40B4-BE49-F238E27FC236}">
                <a16:creationId xmlns:a16="http://schemas.microsoft.com/office/drawing/2014/main" id="{76760E63-BBC9-4C1B-959F-8644EB39A8C9}"/>
              </a:ext>
            </a:extLst>
          </p:cNvPr>
          <p:cNvCxnSpPr>
            <a:cxnSpLocks/>
          </p:cNvCxnSpPr>
          <p:nvPr/>
        </p:nvCxnSpPr>
        <p:spPr>
          <a:xfrm>
            <a:off x="4161807" y="925794"/>
            <a:ext cx="1062069" cy="0"/>
          </a:xfrm>
          <a:prstGeom prst="line">
            <a:avLst/>
          </a:prstGeom>
          <a:ln>
            <a:solidFill>
              <a:srgbClr val="590302"/>
            </a:solidFill>
          </a:ln>
        </p:spPr>
        <p:style>
          <a:lnRef idx="1">
            <a:schemeClr val="accent1"/>
          </a:lnRef>
          <a:fillRef idx="0">
            <a:schemeClr val="accent1"/>
          </a:fillRef>
          <a:effectRef idx="0">
            <a:schemeClr val="accent1"/>
          </a:effectRef>
          <a:fontRef idx="minor">
            <a:schemeClr val="tx1"/>
          </a:fontRef>
        </p:style>
      </p:cxnSp>
      <p:sp>
        <p:nvSpPr>
          <p:cNvPr id="50" name="CasellaDiTesto 49">
            <a:extLst>
              <a:ext uri="{FF2B5EF4-FFF2-40B4-BE49-F238E27FC236}">
                <a16:creationId xmlns:a16="http://schemas.microsoft.com/office/drawing/2014/main" id="{685A5D42-9159-4A91-A079-426CC5E7C0AF}"/>
              </a:ext>
            </a:extLst>
          </p:cNvPr>
          <p:cNvSpPr txBox="1"/>
          <p:nvPr/>
        </p:nvSpPr>
        <p:spPr>
          <a:xfrm>
            <a:off x="4073119" y="931548"/>
            <a:ext cx="1344077" cy="1169551"/>
          </a:xfrm>
          <a:prstGeom prst="rect">
            <a:avLst/>
          </a:prstGeom>
          <a:noFill/>
        </p:spPr>
        <p:txBody>
          <a:bodyPr wrap="square" rtlCol="0">
            <a:spAutoFit/>
          </a:bodyPr>
          <a:lstStyle/>
          <a:p>
            <a:r>
              <a:rPr lang="en-US" sz="700" dirty="0"/>
              <a:t>Assigned when the answer </a:t>
            </a:r>
            <a:r>
              <a:rPr lang="en-US" sz="700" b="1" dirty="0"/>
              <a:t>fully satisfied </a:t>
            </a:r>
            <a:r>
              <a:rPr lang="en-US" sz="700" dirty="0"/>
              <a:t>the criterion... by providing </a:t>
            </a:r>
            <a:r>
              <a:rPr lang="en-US" sz="700" b="1" dirty="0"/>
              <a:t>all requested info</a:t>
            </a:r>
            <a:r>
              <a:rPr lang="en-US" sz="700" dirty="0"/>
              <a:t>, correctly incorporating operational evidence, </a:t>
            </a:r>
            <a:r>
              <a:rPr lang="en-US" sz="700" b="1" dirty="0"/>
              <a:t>establishing supported correlations</a:t>
            </a:r>
            <a:r>
              <a:rPr lang="en-US" sz="700" dirty="0"/>
              <a:t>, and giving </a:t>
            </a:r>
            <a:r>
              <a:rPr lang="en-US" sz="700" b="1" dirty="0"/>
              <a:t>appropriate</a:t>
            </a:r>
            <a:r>
              <a:rPr lang="en-US" sz="700" dirty="0"/>
              <a:t>, evidence-consistent </a:t>
            </a:r>
            <a:r>
              <a:rPr lang="en-US" sz="700" b="1" dirty="0"/>
              <a:t>recommendations</a:t>
            </a:r>
            <a:r>
              <a:rPr lang="en-US" sz="700" dirty="0"/>
              <a:t>.</a:t>
            </a:r>
            <a:endParaRPr lang="en-US" sz="700" dirty="0">
              <a:latin typeface="+mn-lt"/>
            </a:endParaRPr>
          </a:p>
        </p:txBody>
      </p:sp>
      <p:sp>
        <p:nvSpPr>
          <p:cNvPr id="5" name="CasellaDiTesto 4">
            <a:extLst>
              <a:ext uri="{FF2B5EF4-FFF2-40B4-BE49-F238E27FC236}">
                <a16:creationId xmlns:a16="http://schemas.microsoft.com/office/drawing/2014/main" id="{A8734D7D-E7F5-448D-8FBC-CBFF1AC6C0C2}"/>
              </a:ext>
            </a:extLst>
          </p:cNvPr>
          <p:cNvSpPr txBox="1"/>
          <p:nvPr/>
        </p:nvSpPr>
        <p:spPr>
          <a:xfrm>
            <a:off x="1821712" y="2623594"/>
            <a:ext cx="2768707" cy="246221"/>
          </a:xfrm>
          <a:prstGeom prst="rect">
            <a:avLst/>
          </a:prstGeom>
          <a:noFill/>
        </p:spPr>
        <p:txBody>
          <a:bodyPr wrap="none" rtlCol="0">
            <a:spAutoFit/>
          </a:bodyPr>
          <a:lstStyle/>
          <a:p>
            <a:r>
              <a:rPr lang="it-IT" sz="1000" b="1" dirty="0"/>
              <a:t>The </a:t>
            </a:r>
            <a:r>
              <a:rPr lang="it-IT" sz="1000" b="1" dirty="0" err="1"/>
              <a:t>judge</a:t>
            </a:r>
            <a:r>
              <a:rPr lang="it-IT" sz="1000" b="1" dirty="0"/>
              <a:t> </a:t>
            </a:r>
            <a:r>
              <a:rPr lang="it-IT" sz="1000" b="1" dirty="0" err="1"/>
              <a:t>is</a:t>
            </a:r>
            <a:r>
              <a:rPr lang="it-IT" sz="1000" b="1" dirty="0"/>
              <a:t> </a:t>
            </a:r>
            <a:r>
              <a:rPr lang="it-IT" sz="1000" b="1" dirty="0" err="1"/>
              <a:t>not</a:t>
            </a:r>
            <a:r>
              <a:rPr lang="it-IT" sz="1000" b="1" dirty="0"/>
              <a:t> </a:t>
            </a:r>
            <a:r>
              <a:rPr lang="it-IT" sz="1000" b="1" dirty="0" err="1"/>
              <a:t>blindly</a:t>
            </a:r>
            <a:r>
              <a:rPr lang="it-IT" sz="1000" b="1" dirty="0"/>
              <a:t> </a:t>
            </a:r>
            <a:r>
              <a:rPr lang="it-IT" sz="1000" b="1" dirty="0" err="1"/>
              <a:t>assigning</a:t>
            </a:r>
            <a:r>
              <a:rPr lang="it-IT" sz="1000" b="1" dirty="0"/>
              <a:t> a score!</a:t>
            </a:r>
          </a:p>
        </p:txBody>
      </p:sp>
    </p:spTree>
    <p:extLst>
      <p:ext uri="{BB962C8B-B14F-4D97-AF65-F5344CB8AC3E}">
        <p14:creationId xmlns:p14="http://schemas.microsoft.com/office/powerpoint/2010/main" val="1805441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Results</a:t>
            </a:r>
          </a:p>
        </p:txBody>
      </p:sp>
      <p:graphicFrame>
        <p:nvGraphicFramePr>
          <p:cNvPr id="4" name="Grafico 3">
            <a:extLst>
              <a:ext uri="{FF2B5EF4-FFF2-40B4-BE49-F238E27FC236}">
                <a16:creationId xmlns:a16="http://schemas.microsoft.com/office/drawing/2014/main" id="{3D6177CF-9712-4A0F-9ACD-B076EE346CC6}"/>
              </a:ext>
            </a:extLst>
          </p:cNvPr>
          <p:cNvGraphicFramePr/>
          <p:nvPr>
            <p:extLst>
              <p:ext uri="{D42A27DB-BD31-4B8C-83A1-F6EECF244321}">
                <p14:modId xmlns:p14="http://schemas.microsoft.com/office/powerpoint/2010/main" val="891033317"/>
              </p:ext>
            </p:extLst>
          </p:nvPr>
        </p:nvGraphicFramePr>
        <p:xfrm>
          <a:off x="2164977" y="694765"/>
          <a:ext cx="3464608" cy="21327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Grafico 6">
            <a:extLst>
              <a:ext uri="{FF2B5EF4-FFF2-40B4-BE49-F238E27FC236}">
                <a16:creationId xmlns:a16="http://schemas.microsoft.com/office/drawing/2014/main" id="{76CF4995-98AB-4418-86F2-3B31E6E4EDFC}"/>
              </a:ext>
            </a:extLst>
          </p:cNvPr>
          <p:cNvGraphicFramePr/>
          <p:nvPr>
            <p:extLst>
              <p:ext uri="{D42A27DB-BD31-4B8C-83A1-F6EECF244321}">
                <p14:modId xmlns:p14="http://schemas.microsoft.com/office/powerpoint/2010/main" val="442963134"/>
              </p:ext>
            </p:extLst>
          </p:nvPr>
        </p:nvGraphicFramePr>
        <p:xfrm>
          <a:off x="512730" y="542365"/>
          <a:ext cx="1768787" cy="206103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40664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Evaluation Results – Some cases</a:t>
            </a:r>
          </a:p>
        </p:txBody>
      </p:sp>
      <p:sp>
        <p:nvSpPr>
          <p:cNvPr id="2" name="CasellaDiTesto 1">
            <a:extLst>
              <a:ext uri="{FF2B5EF4-FFF2-40B4-BE49-F238E27FC236}">
                <a16:creationId xmlns:a16="http://schemas.microsoft.com/office/drawing/2014/main" id="{90F40763-54BB-4D84-A87D-2EA8BC5E5721}"/>
              </a:ext>
            </a:extLst>
          </p:cNvPr>
          <p:cNvSpPr txBox="1"/>
          <p:nvPr/>
        </p:nvSpPr>
        <p:spPr>
          <a:xfrm>
            <a:off x="994577" y="542367"/>
            <a:ext cx="4540025" cy="400110"/>
          </a:xfrm>
          <a:prstGeom prst="rect">
            <a:avLst/>
          </a:prstGeom>
          <a:noFill/>
        </p:spPr>
        <p:txBody>
          <a:bodyPr wrap="none" rtlCol="0">
            <a:spAutoFit/>
          </a:bodyPr>
          <a:lstStyle/>
          <a:p>
            <a:r>
              <a:rPr lang="en-US" sz="1000" b="1" dirty="0"/>
              <a:t>Q5: </a:t>
            </a:r>
            <a:r>
              <a:rPr lang="en-US" sz="1000" dirty="0"/>
              <a:t>How many passes does satellite SAT-02 have on 2026-05-26 on GS-02?</a:t>
            </a:r>
          </a:p>
          <a:p>
            <a:endParaRPr lang="it-IT" sz="1000" dirty="0"/>
          </a:p>
        </p:txBody>
      </p:sp>
      <p:graphicFrame>
        <p:nvGraphicFramePr>
          <p:cNvPr id="3" name="Tabella 2">
            <a:extLst>
              <a:ext uri="{FF2B5EF4-FFF2-40B4-BE49-F238E27FC236}">
                <a16:creationId xmlns:a16="http://schemas.microsoft.com/office/drawing/2014/main" id="{16CD8837-6FFA-4539-91BE-465FBE3CC268}"/>
              </a:ext>
            </a:extLst>
          </p:cNvPr>
          <p:cNvGraphicFramePr>
            <a:graphicFrameLocks noGrp="1"/>
          </p:cNvGraphicFramePr>
          <p:nvPr>
            <p:extLst>
              <p:ext uri="{D42A27DB-BD31-4B8C-83A1-F6EECF244321}">
                <p14:modId xmlns:p14="http://schemas.microsoft.com/office/powerpoint/2010/main" val="2746109622"/>
              </p:ext>
            </p:extLst>
          </p:nvPr>
        </p:nvGraphicFramePr>
        <p:xfrm>
          <a:off x="1339718" y="859531"/>
          <a:ext cx="3528116" cy="853864"/>
        </p:xfrm>
        <a:graphic>
          <a:graphicData uri="http://schemas.openxmlformats.org/drawingml/2006/table">
            <a:tbl>
              <a:tblPr firstRow="1" bandRow="1">
                <a:tableStyleId>{5C22544A-7EE6-4342-B048-85BDC9FD1C3A}</a:tableStyleId>
              </a:tblPr>
              <a:tblGrid>
                <a:gridCol w="882029">
                  <a:extLst>
                    <a:ext uri="{9D8B030D-6E8A-4147-A177-3AD203B41FA5}">
                      <a16:colId xmlns:a16="http://schemas.microsoft.com/office/drawing/2014/main" val="1987664434"/>
                    </a:ext>
                  </a:extLst>
                </a:gridCol>
                <a:gridCol w="882029">
                  <a:extLst>
                    <a:ext uri="{9D8B030D-6E8A-4147-A177-3AD203B41FA5}">
                      <a16:colId xmlns:a16="http://schemas.microsoft.com/office/drawing/2014/main" val="1428895730"/>
                    </a:ext>
                  </a:extLst>
                </a:gridCol>
                <a:gridCol w="882029">
                  <a:extLst>
                    <a:ext uri="{9D8B030D-6E8A-4147-A177-3AD203B41FA5}">
                      <a16:colId xmlns:a16="http://schemas.microsoft.com/office/drawing/2014/main" val="1461133488"/>
                    </a:ext>
                  </a:extLst>
                </a:gridCol>
                <a:gridCol w="882029">
                  <a:extLst>
                    <a:ext uri="{9D8B030D-6E8A-4147-A177-3AD203B41FA5}">
                      <a16:colId xmlns:a16="http://schemas.microsoft.com/office/drawing/2014/main" val="3230732041"/>
                    </a:ext>
                  </a:extLst>
                </a:gridCol>
              </a:tblGrid>
              <a:tr h="366184">
                <a:tc>
                  <a:txBody>
                    <a:bodyPr/>
                    <a:lstStyle/>
                    <a:p>
                      <a:pPr algn="ctr"/>
                      <a:r>
                        <a:rPr lang="it-IT" sz="1000" dirty="0"/>
                        <a:t>Model</a:t>
                      </a:r>
                    </a:p>
                  </a:txBody>
                  <a:tcPr anchor="ctr"/>
                </a:tc>
                <a:tc>
                  <a:txBody>
                    <a:bodyPr/>
                    <a:lstStyle/>
                    <a:p>
                      <a:pPr algn="ctr"/>
                      <a:r>
                        <a:rPr lang="it-IT" sz="1000" dirty="0"/>
                        <a:t>AC</a:t>
                      </a:r>
                    </a:p>
                  </a:txBody>
                  <a:tcPr anchor="ctr"/>
                </a:tc>
                <a:tc>
                  <a:txBody>
                    <a:bodyPr/>
                    <a:lstStyle/>
                    <a:p>
                      <a:pPr algn="ctr"/>
                      <a:r>
                        <a:rPr lang="it-IT" sz="1000" dirty="0"/>
                        <a:t>NF</a:t>
                      </a:r>
                    </a:p>
                  </a:txBody>
                  <a:tcPr anchor="ctr"/>
                </a:tc>
                <a:tc>
                  <a:txBody>
                    <a:bodyPr/>
                    <a:lstStyle/>
                    <a:p>
                      <a:pPr algn="ctr"/>
                      <a:r>
                        <a:rPr lang="it-IT" sz="1000" dirty="0"/>
                        <a:t>Total</a:t>
                      </a:r>
                    </a:p>
                  </a:txBody>
                  <a:tcPr anchor="ctr"/>
                </a:tc>
                <a:extLst>
                  <a:ext uri="{0D108BD9-81ED-4DB2-BD59-A6C34878D82A}">
                    <a16:rowId xmlns:a16="http://schemas.microsoft.com/office/drawing/2014/main" val="4010371653"/>
                  </a:ext>
                </a:extLst>
              </a:tr>
              <a:tr h="225344">
                <a:tc>
                  <a:txBody>
                    <a:bodyPr/>
                    <a:lstStyle/>
                    <a:p>
                      <a:r>
                        <a:rPr lang="it-IT" sz="1000" b="1" dirty="0" err="1"/>
                        <a:t>Llama</a:t>
                      </a:r>
                      <a:endParaRPr lang="it-IT" sz="1000" b="1" dirty="0"/>
                    </a:p>
                  </a:txBody>
                  <a:tcPr/>
                </a:tc>
                <a:tc>
                  <a:txBody>
                    <a:bodyPr/>
                    <a:lstStyle/>
                    <a:p>
                      <a:r>
                        <a:rPr lang="it-IT" sz="1000" dirty="0"/>
                        <a:t>0</a:t>
                      </a:r>
                    </a:p>
                  </a:txBody>
                  <a:tcPr/>
                </a:tc>
                <a:tc>
                  <a:txBody>
                    <a:bodyPr/>
                    <a:lstStyle/>
                    <a:p>
                      <a:r>
                        <a:rPr lang="it-IT" sz="1000" dirty="0"/>
                        <a:t>0</a:t>
                      </a:r>
                    </a:p>
                  </a:txBody>
                  <a:tcPr/>
                </a:tc>
                <a:tc>
                  <a:txBody>
                    <a:bodyPr/>
                    <a:lstStyle/>
                    <a:p>
                      <a:r>
                        <a:rPr lang="it-IT" sz="1000" dirty="0"/>
                        <a:t>0/4</a:t>
                      </a:r>
                    </a:p>
                  </a:txBody>
                  <a:tcPr/>
                </a:tc>
                <a:extLst>
                  <a:ext uri="{0D108BD9-81ED-4DB2-BD59-A6C34878D82A}">
                    <a16:rowId xmlns:a16="http://schemas.microsoft.com/office/drawing/2014/main" val="975331668"/>
                  </a:ext>
                </a:extLst>
              </a:tr>
              <a:tr h="225344">
                <a:tc>
                  <a:txBody>
                    <a:bodyPr/>
                    <a:lstStyle/>
                    <a:p>
                      <a:r>
                        <a:rPr lang="it-IT" sz="1000" b="1" dirty="0"/>
                        <a:t>FUNES</a:t>
                      </a:r>
                    </a:p>
                  </a:txBody>
                  <a:tcPr/>
                </a:tc>
                <a:tc>
                  <a:txBody>
                    <a:bodyPr/>
                    <a:lstStyle/>
                    <a:p>
                      <a:r>
                        <a:rPr lang="it-IT" sz="1000" b="1" dirty="0"/>
                        <a:t>2</a:t>
                      </a:r>
                    </a:p>
                  </a:txBody>
                  <a:tcPr/>
                </a:tc>
                <a:tc>
                  <a:txBody>
                    <a:bodyPr/>
                    <a:lstStyle/>
                    <a:p>
                      <a:r>
                        <a:rPr lang="it-IT" sz="1000" b="1" dirty="0"/>
                        <a:t>2</a:t>
                      </a:r>
                    </a:p>
                  </a:txBody>
                  <a:tcPr/>
                </a:tc>
                <a:tc>
                  <a:txBody>
                    <a:bodyPr/>
                    <a:lstStyle/>
                    <a:p>
                      <a:r>
                        <a:rPr lang="it-IT" sz="1000" b="1" dirty="0"/>
                        <a:t>4/4</a:t>
                      </a:r>
                    </a:p>
                  </a:txBody>
                  <a:tcPr/>
                </a:tc>
                <a:extLst>
                  <a:ext uri="{0D108BD9-81ED-4DB2-BD59-A6C34878D82A}">
                    <a16:rowId xmlns:a16="http://schemas.microsoft.com/office/drawing/2014/main" val="1074608646"/>
                  </a:ext>
                </a:extLst>
              </a:tr>
            </a:tbl>
          </a:graphicData>
        </a:graphic>
      </p:graphicFrame>
      <p:sp>
        <p:nvSpPr>
          <p:cNvPr id="7" name="CasellaDiTesto 6">
            <a:extLst>
              <a:ext uri="{FF2B5EF4-FFF2-40B4-BE49-F238E27FC236}">
                <a16:creationId xmlns:a16="http://schemas.microsoft.com/office/drawing/2014/main" id="{3BFD145D-C3AC-47C8-B871-E0312BBE3BE6}"/>
              </a:ext>
            </a:extLst>
          </p:cNvPr>
          <p:cNvSpPr txBox="1"/>
          <p:nvPr/>
        </p:nvSpPr>
        <p:spPr>
          <a:xfrm>
            <a:off x="1012509" y="1846716"/>
            <a:ext cx="4599397" cy="553998"/>
          </a:xfrm>
          <a:prstGeom prst="rect">
            <a:avLst/>
          </a:prstGeom>
          <a:noFill/>
        </p:spPr>
        <p:txBody>
          <a:bodyPr wrap="square" rtlCol="0">
            <a:spAutoFit/>
          </a:bodyPr>
          <a:lstStyle/>
          <a:p>
            <a:r>
              <a:rPr lang="en-US" sz="1000" b="1" dirty="0"/>
              <a:t>Q19: </a:t>
            </a:r>
            <a:r>
              <a:rPr lang="en-US" sz="1000" dirty="0"/>
              <a:t>Identify risks for planned activities on 2026-05-26 and report the affected activities with their corresponding </a:t>
            </a:r>
            <a:r>
              <a:rPr lang="en-US" sz="1000" u="sng" dirty="0"/>
              <a:t>datetime</a:t>
            </a:r>
            <a:r>
              <a:rPr lang="en-US" sz="1000" dirty="0"/>
              <a:t>.</a:t>
            </a:r>
          </a:p>
          <a:p>
            <a:endParaRPr lang="it-IT" sz="1000" dirty="0"/>
          </a:p>
        </p:txBody>
      </p:sp>
      <p:graphicFrame>
        <p:nvGraphicFramePr>
          <p:cNvPr id="11" name="Tabella 10">
            <a:extLst>
              <a:ext uri="{FF2B5EF4-FFF2-40B4-BE49-F238E27FC236}">
                <a16:creationId xmlns:a16="http://schemas.microsoft.com/office/drawing/2014/main" id="{3C199452-9AA0-40CE-B09C-84AE2FBDD809}"/>
              </a:ext>
            </a:extLst>
          </p:cNvPr>
          <p:cNvGraphicFramePr>
            <a:graphicFrameLocks noGrp="1"/>
          </p:cNvGraphicFramePr>
          <p:nvPr>
            <p:extLst>
              <p:ext uri="{D42A27DB-BD31-4B8C-83A1-F6EECF244321}">
                <p14:modId xmlns:p14="http://schemas.microsoft.com/office/powerpoint/2010/main" val="1012106505"/>
              </p:ext>
            </p:extLst>
          </p:nvPr>
        </p:nvGraphicFramePr>
        <p:xfrm>
          <a:off x="1200733" y="2226628"/>
          <a:ext cx="3967383" cy="731520"/>
        </p:xfrm>
        <a:graphic>
          <a:graphicData uri="http://schemas.openxmlformats.org/drawingml/2006/table">
            <a:tbl>
              <a:tblPr firstRow="1" bandRow="1">
                <a:tableStyleId>{5C22544A-7EE6-4342-B048-85BDC9FD1C3A}</a:tableStyleId>
              </a:tblPr>
              <a:tblGrid>
                <a:gridCol w="566769">
                  <a:extLst>
                    <a:ext uri="{9D8B030D-6E8A-4147-A177-3AD203B41FA5}">
                      <a16:colId xmlns:a16="http://schemas.microsoft.com/office/drawing/2014/main" val="1987664434"/>
                    </a:ext>
                  </a:extLst>
                </a:gridCol>
                <a:gridCol w="566769">
                  <a:extLst>
                    <a:ext uri="{9D8B030D-6E8A-4147-A177-3AD203B41FA5}">
                      <a16:colId xmlns:a16="http://schemas.microsoft.com/office/drawing/2014/main" val="1428895730"/>
                    </a:ext>
                  </a:extLst>
                </a:gridCol>
                <a:gridCol w="566769">
                  <a:extLst>
                    <a:ext uri="{9D8B030D-6E8A-4147-A177-3AD203B41FA5}">
                      <a16:colId xmlns:a16="http://schemas.microsoft.com/office/drawing/2014/main" val="1461133488"/>
                    </a:ext>
                  </a:extLst>
                </a:gridCol>
                <a:gridCol w="566769">
                  <a:extLst>
                    <a:ext uri="{9D8B030D-6E8A-4147-A177-3AD203B41FA5}">
                      <a16:colId xmlns:a16="http://schemas.microsoft.com/office/drawing/2014/main" val="3183869135"/>
                    </a:ext>
                  </a:extLst>
                </a:gridCol>
                <a:gridCol w="566769">
                  <a:extLst>
                    <a:ext uri="{9D8B030D-6E8A-4147-A177-3AD203B41FA5}">
                      <a16:colId xmlns:a16="http://schemas.microsoft.com/office/drawing/2014/main" val="4161182784"/>
                    </a:ext>
                  </a:extLst>
                </a:gridCol>
                <a:gridCol w="566769">
                  <a:extLst>
                    <a:ext uri="{9D8B030D-6E8A-4147-A177-3AD203B41FA5}">
                      <a16:colId xmlns:a16="http://schemas.microsoft.com/office/drawing/2014/main" val="359356166"/>
                    </a:ext>
                  </a:extLst>
                </a:gridCol>
                <a:gridCol w="566769">
                  <a:extLst>
                    <a:ext uri="{9D8B030D-6E8A-4147-A177-3AD203B41FA5}">
                      <a16:colId xmlns:a16="http://schemas.microsoft.com/office/drawing/2014/main" val="3230732041"/>
                    </a:ext>
                  </a:extLst>
                </a:gridCol>
              </a:tblGrid>
              <a:tr h="200574">
                <a:tc>
                  <a:txBody>
                    <a:bodyPr/>
                    <a:lstStyle/>
                    <a:p>
                      <a:pPr algn="ctr"/>
                      <a:r>
                        <a:rPr lang="it-IT" sz="1000" dirty="0"/>
                        <a:t>Model</a:t>
                      </a:r>
                    </a:p>
                  </a:txBody>
                  <a:tcPr anchor="ctr"/>
                </a:tc>
                <a:tc>
                  <a:txBody>
                    <a:bodyPr/>
                    <a:lstStyle/>
                    <a:p>
                      <a:pPr algn="ctr"/>
                      <a:r>
                        <a:rPr lang="it-IT" sz="1000" dirty="0"/>
                        <a:t>AC</a:t>
                      </a:r>
                    </a:p>
                  </a:txBody>
                  <a:tcPr anchor="ctr"/>
                </a:tc>
                <a:tc>
                  <a:txBody>
                    <a:bodyPr/>
                    <a:lstStyle/>
                    <a:p>
                      <a:pPr algn="ctr"/>
                      <a:r>
                        <a:rPr lang="it-IT" sz="1000" dirty="0"/>
                        <a:t>AI</a:t>
                      </a:r>
                    </a:p>
                  </a:txBody>
                  <a:tcPr anchor="ctr"/>
                </a:tc>
                <a:tc>
                  <a:txBody>
                    <a:bodyPr/>
                    <a:lstStyle/>
                    <a:p>
                      <a:pPr algn="ctr"/>
                      <a:r>
                        <a:rPr lang="it-IT" sz="1000" dirty="0"/>
                        <a:t>EC</a:t>
                      </a:r>
                    </a:p>
                  </a:txBody>
                  <a:tcPr anchor="ctr"/>
                </a:tc>
                <a:tc>
                  <a:txBody>
                    <a:bodyPr/>
                    <a:lstStyle/>
                    <a:p>
                      <a:pPr algn="ctr"/>
                      <a:r>
                        <a:rPr lang="it-IT" sz="1000" dirty="0"/>
                        <a:t>NF</a:t>
                      </a:r>
                    </a:p>
                  </a:txBody>
                  <a:tcPr anchor="ctr"/>
                </a:tc>
                <a:tc>
                  <a:txBody>
                    <a:bodyPr/>
                    <a:lstStyle/>
                    <a:p>
                      <a:pPr algn="ctr"/>
                      <a:r>
                        <a:rPr lang="it-IT" sz="1000" dirty="0"/>
                        <a:t>DSS</a:t>
                      </a:r>
                    </a:p>
                  </a:txBody>
                  <a:tcPr anchor="ctr"/>
                </a:tc>
                <a:tc>
                  <a:txBody>
                    <a:bodyPr/>
                    <a:lstStyle/>
                    <a:p>
                      <a:pPr algn="ctr"/>
                      <a:r>
                        <a:rPr lang="it-IT" sz="1000" dirty="0"/>
                        <a:t>Total</a:t>
                      </a:r>
                    </a:p>
                  </a:txBody>
                  <a:tcPr anchor="ctr"/>
                </a:tc>
                <a:extLst>
                  <a:ext uri="{0D108BD9-81ED-4DB2-BD59-A6C34878D82A}">
                    <a16:rowId xmlns:a16="http://schemas.microsoft.com/office/drawing/2014/main" val="4010371653"/>
                  </a:ext>
                </a:extLst>
              </a:tr>
              <a:tr h="200574">
                <a:tc>
                  <a:txBody>
                    <a:bodyPr/>
                    <a:lstStyle/>
                    <a:p>
                      <a:r>
                        <a:rPr lang="it-IT" sz="1000" b="1" dirty="0" err="1"/>
                        <a:t>Llama</a:t>
                      </a:r>
                      <a:endParaRPr lang="it-IT" sz="1000" b="1" dirty="0"/>
                    </a:p>
                  </a:txBody>
                  <a:tcPr/>
                </a:tc>
                <a:tc>
                  <a:txBody>
                    <a:bodyPr/>
                    <a:lstStyle/>
                    <a:p>
                      <a:r>
                        <a:rPr lang="it-IT" sz="1000" b="1" dirty="0"/>
                        <a:t>2</a:t>
                      </a:r>
                    </a:p>
                  </a:txBody>
                  <a:tcPr/>
                </a:tc>
                <a:tc>
                  <a:txBody>
                    <a:bodyPr/>
                    <a:lstStyle/>
                    <a:p>
                      <a:r>
                        <a:rPr lang="it-IT" sz="1000" b="0" dirty="0"/>
                        <a:t>2</a:t>
                      </a:r>
                    </a:p>
                  </a:txBody>
                  <a:tcPr/>
                </a:tc>
                <a:tc>
                  <a:txBody>
                    <a:bodyPr/>
                    <a:lstStyle/>
                    <a:p>
                      <a:r>
                        <a:rPr lang="it-IT" sz="1000" b="1" dirty="0"/>
                        <a:t>2</a:t>
                      </a:r>
                    </a:p>
                  </a:txBody>
                  <a:tcPr/>
                </a:tc>
                <a:tc>
                  <a:txBody>
                    <a:bodyPr/>
                    <a:lstStyle/>
                    <a:p>
                      <a:r>
                        <a:rPr lang="it-IT" sz="1000" b="1" dirty="0"/>
                        <a:t>2</a:t>
                      </a:r>
                    </a:p>
                  </a:txBody>
                  <a:tcPr/>
                </a:tc>
                <a:tc>
                  <a:txBody>
                    <a:bodyPr/>
                    <a:lstStyle/>
                    <a:p>
                      <a:r>
                        <a:rPr lang="it-IT" sz="1000" b="0" dirty="0"/>
                        <a:t>2</a:t>
                      </a:r>
                    </a:p>
                  </a:txBody>
                  <a:tcPr/>
                </a:tc>
                <a:tc>
                  <a:txBody>
                    <a:bodyPr/>
                    <a:lstStyle/>
                    <a:p>
                      <a:r>
                        <a:rPr lang="it-IT" sz="1000" b="1" dirty="0"/>
                        <a:t>10/10</a:t>
                      </a:r>
                    </a:p>
                  </a:txBody>
                  <a:tcPr/>
                </a:tc>
                <a:extLst>
                  <a:ext uri="{0D108BD9-81ED-4DB2-BD59-A6C34878D82A}">
                    <a16:rowId xmlns:a16="http://schemas.microsoft.com/office/drawing/2014/main" val="975331668"/>
                  </a:ext>
                </a:extLst>
              </a:tr>
              <a:tr h="200574">
                <a:tc>
                  <a:txBody>
                    <a:bodyPr/>
                    <a:lstStyle/>
                    <a:p>
                      <a:r>
                        <a:rPr lang="it-IT" sz="1000" b="1" dirty="0"/>
                        <a:t>FUNES</a:t>
                      </a:r>
                    </a:p>
                  </a:txBody>
                  <a:tcPr/>
                </a:tc>
                <a:tc>
                  <a:txBody>
                    <a:bodyPr/>
                    <a:lstStyle/>
                    <a:p>
                      <a:r>
                        <a:rPr lang="it-IT" sz="1000" dirty="0"/>
                        <a:t>1</a:t>
                      </a:r>
                    </a:p>
                  </a:txBody>
                  <a:tcPr/>
                </a:tc>
                <a:tc>
                  <a:txBody>
                    <a:bodyPr/>
                    <a:lstStyle/>
                    <a:p>
                      <a:r>
                        <a:rPr lang="it-IT" sz="1000" dirty="0"/>
                        <a:t>2</a:t>
                      </a:r>
                    </a:p>
                  </a:txBody>
                  <a:tcPr/>
                </a:tc>
                <a:tc>
                  <a:txBody>
                    <a:bodyPr/>
                    <a:lstStyle/>
                    <a:p>
                      <a:r>
                        <a:rPr lang="it-IT" sz="1000" dirty="0"/>
                        <a:t>1</a:t>
                      </a:r>
                    </a:p>
                  </a:txBody>
                  <a:tcPr/>
                </a:tc>
                <a:tc>
                  <a:txBody>
                    <a:bodyPr/>
                    <a:lstStyle/>
                    <a:p>
                      <a:r>
                        <a:rPr lang="it-IT" sz="1000" dirty="0"/>
                        <a:t>1</a:t>
                      </a:r>
                    </a:p>
                  </a:txBody>
                  <a:tcPr/>
                </a:tc>
                <a:tc>
                  <a:txBody>
                    <a:bodyPr/>
                    <a:lstStyle/>
                    <a:p>
                      <a:r>
                        <a:rPr lang="it-IT" sz="1000" dirty="0"/>
                        <a:t>2</a:t>
                      </a:r>
                    </a:p>
                  </a:txBody>
                  <a:tcPr/>
                </a:tc>
                <a:tc>
                  <a:txBody>
                    <a:bodyPr/>
                    <a:lstStyle/>
                    <a:p>
                      <a:r>
                        <a:rPr lang="it-IT" sz="1000" dirty="0"/>
                        <a:t>7/10</a:t>
                      </a:r>
                    </a:p>
                  </a:txBody>
                  <a:tcPr/>
                </a:tc>
                <a:extLst>
                  <a:ext uri="{0D108BD9-81ED-4DB2-BD59-A6C34878D82A}">
                    <a16:rowId xmlns:a16="http://schemas.microsoft.com/office/drawing/2014/main" val="1074608646"/>
                  </a:ext>
                </a:extLst>
              </a:tr>
            </a:tbl>
          </a:graphicData>
        </a:graphic>
      </p:graphicFrame>
    </p:spTree>
    <p:extLst>
      <p:ext uri="{BB962C8B-B14F-4D97-AF65-F5344CB8AC3E}">
        <p14:creationId xmlns:p14="http://schemas.microsoft.com/office/powerpoint/2010/main" val="3494642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6B17E-0935-8A13-568F-AD132AC876F0}"/>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B50CBBB4-A13F-C2CE-42DE-AB03E2F0DC50}"/>
              </a:ext>
            </a:extLst>
          </p:cNvPr>
          <p:cNvSpPr txBox="1"/>
          <p:nvPr/>
        </p:nvSpPr>
        <p:spPr>
          <a:xfrm>
            <a:off x="869001" y="114827"/>
            <a:ext cx="4229007" cy="369332"/>
          </a:xfrm>
          <a:prstGeom prst="rect">
            <a:avLst/>
          </a:prstGeom>
          <a:noFill/>
        </p:spPr>
        <p:txBody>
          <a:bodyPr wrap="square">
            <a:spAutoFit/>
          </a:bodyPr>
          <a:lstStyle/>
          <a:p>
            <a:r>
              <a:rPr lang="en-US" sz="1800" b="1" dirty="0">
                <a:solidFill>
                  <a:srgbClr val="953735"/>
                </a:solidFill>
                <a:latin typeface="Calibri"/>
                <a:ea typeface="Calibri"/>
                <a:cs typeface="Calibri"/>
              </a:rPr>
              <a:t>Conclusions, Limitations and Future Work</a:t>
            </a:r>
            <a:endParaRPr lang="en-US" dirty="0"/>
          </a:p>
        </p:txBody>
      </p:sp>
      <p:sp>
        <p:nvSpPr>
          <p:cNvPr id="50" name="Shape">
            <a:extLst>
              <a:ext uri="{FF2B5EF4-FFF2-40B4-BE49-F238E27FC236}">
                <a16:creationId xmlns:a16="http://schemas.microsoft.com/office/drawing/2014/main" id="{AD734EF3-A6CA-420E-ACA5-A1644EF6EEAB}"/>
              </a:ext>
            </a:extLst>
          </p:cNvPr>
          <p:cNvSpPr/>
          <p:nvPr/>
        </p:nvSpPr>
        <p:spPr>
          <a:xfrm>
            <a:off x="1042951" y="1248423"/>
            <a:ext cx="755298"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1" name="Shape">
            <a:extLst>
              <a:ext uri="{FF2B5EF4-FFF2-40B4-BE49-F238E27FC236}">
                <a16:creationId xmlns:a16="http://schemas.microsoft.com/office/drawing/2014/main" id="{F9A68588-2C64-4B33-9CB4-E8F53BDD81BB}"/>
              </a:ext>
            </a:extLst>
          </p:cNvPr>
          <p:cNvSpPr/>
          <p:nvPr/>
        </p:nvSpPr>
        <p:spPr>
          <a:xfrm>
            <a:off x="689401"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2" name="Shape">
            <a:extLst>
              <a:ext uri="{FF2B5EF4-FFF2-40B4-BE49-F238E27FC236}">
                <a16:creationId xmlns:a16="http://schemas.microsoft.com/office/drawing/2014/main" id="{4237950C-D3EB-4CFF-9B52-B294D2EDDACA}"/>
              </a:ext>
            </a:extLst>
          </p:cNvPr>
          <p:cNvSpPr/>
          <p:nvPr/>
        </p:nvSpPr>
        <p:spPr>
          <a:xfrm>
            <a:off x="1938223"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3" name="Shape">
            <a:extLst>
              <a:ext uri="{FF2B5EF4-FFF2-40B4-BE49-F238E27FC236}">
                <a16:creationId xmlns:a16="http://schemas.microsoft.com/office/drawing/2014/main" id="{96C3EC0B-AAB1-4363-BE39-988C4C5EE4C5}"/>
              </a:ext>
            </a:extLst>
          </p:cNvPr>
          <p:cNvSpPr/>
          <p:nvPr/>
        </p:nvSpPr>
        <p:spPr>
          <a:xfrm>
            <a:off x="1578169"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4" name="Shape">
            <a:extLst>
              <a:ext uri="{FF2B5EF4-FFF2-40B4-BE49-F238E27FC236}">
                <a16:creationId xmlns:a16="http://schemas.microsoft.com/office/drawing/2014/main" id="{2A3B3226-3131-4F75-9B67-E6F0D6050817}"/>
              </a:ext>
            </a:extLst>
          </p:cNvPr>
          <p:cNvSpPr/>
          <p:nvPr/>
        </p:nvSpPr>
        <p:spPr>
          <a:xfrm>
            <a:off x="2823764"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5" name="Shape">
            <a:extLst>
              <a:ext uri="{FF2B5EF4-FFF2-40B4-BE49-F238E27FC236}">
                <a16:creationId xmlns:a16="http://schemas.microsoft.com/office/drawing/2014/main" id="{BD35ECA9-4B34-47A3-B389-CF0B83EFBBB5}"/>
              </a:ext>
            </a:extLst>
          </p:cNvPr>
          <p:cNvSpPr/>
          <p:nvPr/>
        </p:nvSpPr>
        <p:spPr>
          <a:xfrm>
            <a:off x="2470465"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6" name="Shape">
            <a:extLst>
              <a:ext uri="{FF2B5EF4-FFF2-40B4-BE49-F238E27FC236}">
                <a16:creationId xmlns:a16="http://schemas.microsoft.com/office/drawing/2014/main" id="{42F51974-1707-4BDD-9E44-F9A55FD7335D}"/>
              </a:ext>
            </a:extLst>
          </p:cNvPr>
          <p:cNvSpPr/>
          <p:nvPr/>
        </p:nvSpPr>
        <p:spPr>
          <a:xfrm>
            <a:off x="3709305" y="1248423"/>
            <a:ext cx="755299" cy="1303011"/>
          </a:xfrm>
          <a:custGeom>
            <a:avLst/>
            <a:gdLst/>
            <a:ahLst/>
            <a:cxnLst>
              <a:cxn ang="0">
                <a:pos x="wd2" y="hd2"/>
              </a:cxn>
              <a:cxn ang="5400000">
                <a:pos x="wd2" y="hd2"/>
              </a:cxn>
              <a:cxn ang="10800000">
                <a:pos x="wd2" y="hd2"/>
              </a:cxn>
              <a:cxn ang="16200000">
                <a:pos x="wd2" y="hd2"/>
              </a:cxn>
            </a:cxnLst>
            <a:rect l="0" t="0" r="r" b="b"/>
            <a:pathLst>
              <a:path w="19008" h="21600" extrusionOk="0">
                <a:moveTo>
                  <a:pt x="13422" y="21600"/>
                </a:moveTo>
                <a:lnTo>
                  <a:pt x="13422" y="21600"/>
                </a:lnTo>
                <a:cubicBezTo>
                  <a:pt x="17610" y="21600"/>
                  <a:pt x="20304" y="18680"/>
                  <a:pt x="18369" y="16228"/>
                </a:cubicBezTo>
                <a:lnTo>
                  <a:pt x="5586" y="0"/>
                </a:lnTo>
                <a:lnTo>
                  <a:pt x="5586" y="0"/>
                </a:lnTo>
                <a:cubicBezTo>
                  <a:pt x="1398" y="0"/>
                  <a:pt x="-1296" y="2920"/>
                  <a:pt x="639" y="5372"/>
                </a:cubicBezTo>
                <a:lnTo>
                  <a:pt x="13422" y="21600"/>
                </a:ln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7" name="Shape">
            <a:extLst>
              <a:ext uri="{FF2B5EF4-FFF2-40B4-BE49-F238E27FC236}">
                <a16:creationId xmlns:a16="http://schemas.microsoft.com/office/drawing/2014/main" id="{04EAECB5-AE61-4593-BCD3-80134C3BA980}"/>
              </a:ext>
            </a:extLst>
          </p:cNvPr>
          <p:cNvSpPr/>
          <p:nvPr/>
        </p:nvSpPr>
        <p:spPr>
          <a:xfrm>
            <a:off x="3358982"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8" name="Shape">
            <a:extLst>
              <a:ext uri="{FF2B5EF4-FFF2-40B4-BE49-F238E27FC236}">
                <a16:creationId xmlns:a16="http://schemas.microsoft.com/office/drawing/2014/main" id="{9EAD5779-5E9C-4DF2-B14C-C320DB34C9DF}"/>
              </a:ext>
            </a:extLst>
          </p:cNvPr>
          <p:cNvSpPr/>
          <p:nvPr/>
        </p:nvSpPr>
        <p:spPr>
          <a:xfrm>
            <a:off x="4242270" y="1248423"/>
            <a:ext cx="576091" cy="1303011"/>
          </a:xfrm>
          <a:custGeom>
            <a:avLst/>
            <a:gdLst/>
            <a:ahLst/>
            <a:cxnLst>
              <a:cxn ang="0">
                <a:pos x="wd2" y="hd2"/>
              </a:cxn>
              <a:cxn ang="5400000">
                <a:pos x="wd2" y="hd2"/>
              </a:cxn>
              <a:cxn ang="10800000">
                <a:pos x="wd2" y="hd2"/>
              </a:cxn>
              <a:cxn ang="16200000">
                <a:pos x="wd2" y="hd2"/>
              </a:cxn>
            </a:cxnLst>
            <a:rect l="0" t="0" r="r" b="b"/>
            <a:pathLst>
              <a:path w="21600" h="21600" extrusionOk="0">
                <a:moveTo>
                  <a:pt x="6604" y="21600"/>
                </a:moveTo>
                <a:lnTo>
                  <a:pt x="0" y="21600"/>
                </a:lnTo>
                <a:lnTo>
                  <a:pt x="6786" y="3081"/>
                </a:lnTo>
                <a:cubicBezTo>
                  <a:pt x="7443" y="1307"/>
                  <a:pt x="10909" y="0"/>
                  <a:pt x="14996" y="0"/>
                </a:cubicBezTo>
                <a:lnTo>
                  <a:pt x="21600" y="0"/>
                </a:lnTo>
                <a:lnTo>
                  <a:pt x="14813" y="18519"/>
                </a:lnTo>
                <a:cubicBezTo>
                  <a:pt x="14157" y="20293"/>
                  <a:pt x="10691" y="21600"/>
                  <a:pt x="6604" y="21600"/>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59" name="Freeform: Shape 11">
            <a:extLst>
              <a:ext uri="{FF2B5EF4-FFF2-40B4-BE49-F238E27FC236}">
                <a16:creationId xmlns:a16="http://schemas.microsoft.com/office/drawing/2014/main" id="{2E170DD1-BD73-4522-9492-4A88AFBD9570}"/>
              </a:ext>
            </a:extLst>
          </p:cNvPr>
          <p:cNvSpPr/>
          <p:nvPr/>
        </p:nvSpPr>
        <p:spPr>
          <a:xfrm>
            <a:off x="755400" y="2144056"/>
            <a:ext cx="358299" cy="392782"/>
          </a:xfrm>
          <a:custGeom>
            <a:avLst/>
            <a:gdLst>
              <a:gd name="connsiteX0" fmla="*/ 180180 w 757637"/>
              <a:gd name="connsiteY0" fmla="*/ 0 h 1942712"/>
              <a:gd name="connsiteX1" fmla="*/ 757637 w 757637"/>
              <a:gd name="connsiteY1" fmla="*/ 1199209 h 1942712"/>
              <a:gd name="connsiteX2" fmla="*/ 695845 w 757637"/>
              <a:gd name="connsiteY2" fmla="*/ 1580566 h 1942712"/>
              <a:gd name="connsiteX3" fmla="*/ 470905 w 757637"/>
              <a:gd name="connsiteY3" fmla="*/ 1908890 h 1942712"/>
              <a:gd name="connsiteX4" fmla="*/ 399938 w 757637"/>
              <a:gd name="connsiteY4" fmla="*/ 1942712 h 1942712"/>
              <a:gd name="connsiteX5" fmla="*/ 0 w 757637"/>
              <a:gd name="connsiteY5" fmla="*/ 1112159 h 1942712"/>
              <a:gd name="connsiteX0" fmla="*/ 0 w 757637"/>
              <a:gd name="connsiteY0" fmla="*/ 0 h 830553"/>
              <a:gd name="connsiteX1" fmla="*/ 757637 w 757637"/>
              <a:gd name="connsiteY1" fmla="*/ 87050 h 830553"/>
              <a:gd name="connsiteX2" fmla="*/ 695845 w 757637"/>
              <a:gd name="connsiteY2" fmla="*/ 468407 h 830553"/>
              <a:gd name="connsiteX3" fmla="*/ 470905 w 757637"/>
              <a:gd name="connsiteY3" fmla="*/ 796731 h 830553"/>
              <a:gd name="connsiteX4" fmla="*/ 399938 w 757637"/>
              <a:gd name="connsiteY4" fmla="*/ 830553 h 830553"/>
              <a:gd name="connsiteX5" fmla="*/ 0 w 757637"/>
              <a:gd name="connsiteY5" fmla="*/ 0 h 83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553">
                <a:moveTo>
                  <a:pt x="0" y="0"/>
                </a:moveTo>
                <a:lnTo>
                  <a:pt x="757637" y="87050"/>
                </a:lnTo>
                <a:lnTo>
                  <a:pt x="695845" y="468407"/>
                </a:lnTo>
                <a:cubicBezTo>
                  <a:pt x="672722" y="609838"/>
                  <a:pt x="587696" y="727999"/>
                  <a:pt x="470905" y="796731"/>
                </a:cubicBezTo>
                <a:lnTo>
                  <a:pt x="399938" y="830553"/>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0" name="Freeform: Shape 12">
            <a:extLst>
              <a:ext uri="{FF2B5EF4-FFF2-40B4-BE49-F238E27FC236}">
                <a16:creationId xmlns:a16="http://schemas.microsoft.com/office/drawing/2014/main" id="{7A7BFE90-7E80-4260-956E-AD7143AD4780}"/>
              </a:ext>
            </a:extLst>
          </p:cNvPr>
          <p:cNvSpPr/>
          <p:nvPr/>
        </p:nvSpPr>
        <p:spPr>
          <a:xfrm>
            <a:off x="1645096" y="2138331"/>
            <a:ext cx="358299" cy="397080"/>
          </a:xfrm>
          <a:custGeom>
            <a:avLst/>
            <a:gdLst>
              <a:gd name="connsiteX0" fmla="*/ 180179 w 757637"/>
              <a:gd name="connsiteY0" fmla="*/ 0 h 1951799"/>
              <a:gd name="connsiteX1" fmla="*/ 757637 w 757637"/>
              <a:gd name="connsiteY1" fmla="*/ 1199210 h 1951799"/>
              <a:gd name="connsiteX2" fmla="*/ 693883 w 757637"/>
              <a:gd name="connsiteY2" fmla="*/ 1592673 h 1951799"/>
              <a:gd name="connsiteX3" fmla="*/ 468943 w 757637"/>
              <a:gd name="connsiteY3" fmla="*/ 1920997 h 1951799"/>
              <a:gd name="connsiteX4" fmla="*/ 404313 w 757637"/>
              <a:gd name="connsiteY4" fmla="*/ 1951799 h 1951799"/>
              <a:gd name="connsiteX5" fmla="*/ 0 w 757637"/>
              <a:gd name="connsiteY5" fmla="*/ 1112159 h 1951799"/>
              <a:gd name="connsiteX0" fmla="*/ 0 w 757637"/>
              <a:gd name="connsiteY0" fmla="*/ 0 h 839640"/>
              <a:gd name="connsiteX1" fmla="*/ 757637 w 757637"/>
              <a:gd name="connsiteY1" fmla="*/ 87051 h 839640"/>
              <a:gd name="connsiteX2" fmla="*/ 693883 w 757637"/>
              <a:gd name="connsiteY2" fmla="*/ 480514 h 839640"/>
              <a:gd name="connsiteX3" fmla="*/ 468943 w 757637"/>
              <a:gd name="connsiteY3" fmla="*/ 808838 h 839640"/>
              <a:gd name="connsiteX4" fmla="*/ 404313 w 757637"/>
              <a:gd name="connsiteY4" fmla="*/ 839640 h 839640"/>
              <a:gd name="connsiteX5" fmla="*/ 0 w 757637"/>
              <a:gd name="connsiteY5" fmla="*/ 0 h 83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9640">
                <a:moveTo>
                  <a:pt x="0" y="0"/>
                </a:moveTo>
                <a:lnTo>
                  <a:pt x="757637" y="87051"/>
                </a:lnTo>
                <a:lnTo>
                  <a:pt x="693883" y="480514"/>
                </a:lnTo>
                <a:cubicBezTo>
                  <a:pt x="670760" y="621945"/>
                  <a:pt x="585734" y="740106"/>
                  <a:pt x="468943" y="808838"/>
                </a:cubicBezTo>
                <a:lnTo>
                  <a:pt x="404313" y="839640"/>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1" name="Freeform: Shape 13">
            <a:extLst>
              <a:ext uri="{FF2B5EF4-FFF2-40B4-BE49-F238E27FC236}">
                <a16:creationId xmlns:a16="http://schemas.microsoft.com/office/drawing/2014/main" id="{B5F7AE4E-396F-4528-92C0-9CDE1394166E}"/>
              </a:ext>
            </a:extLst>
          </p:cNvPr>
          <p:cNvSpPr/>
          <p:nvPr/>
        </p:nvSpPr>
        <p:spPr>
          <a:xfrm>
            <a:off x="2536619" y="2143104"/>
            <a:ext cx="358299" cy="393498"/>
          </a:xfrm>
          <a:custGeom>
            <a:avLst/>
            <a:gdLst>
              <a:gd name="connsiteX0" fmla="*/ 180180 w 757637"/>
              <a:gd name="connsiteY0" fmla="*/ 0 h 1944225"/>
              <a:gd name="connsiteX1" fmla="*/ 757637 w 757637"/>
              <a:gd name="connsiteY1" fmla="*/ 1199210 h 1944225"/>
              <a:gd name="connsiteX2" fmla="*/ 695518 w 757637"/>
              <a:gd name="connsiteY2" fmla="*/ 1582581 h 1944225"/>
              <a:gd name="connsiteX3" fmla="*/ 470578 w 757637"/>
              <a:gd name="connsiteY3" fmla="*/ 1910905 h 1944225"/>
              <a:gd name="connsiteX4" fmla="*/ 400666 w 757637"/>
              <a:gd name="connsiteY4" fmla="*/ 1944225 h 1944225"/>
              <a:gd name="connsiteX5" fmla="*/ 0 w 757637"/>
              <a:gd name="connsiteY5" fmla="*/ 1112159 h 1944225"/>
              <a:gd name="connsiteX0" fmla="*/ 0 w 757637"/>
              <a:gd name="connsiteY0" fmla="*/ 0 h 832066"/>
              <a:gd name="connsiteX1" fmla="*/ 757637 w 757637"/>
              <a:gd name="connsiteY1" fmla="*/ 87051 h 832066"/>
              <a:gd name="connsiteX2" fmla="*/ 695518 w 757637"/>
              <a:gd name="connsiteY2" fmla="*/ 470422 h 832066"/>
              <a:gd name="connsiteX3" fmla="*/ 470578 w 757637"/>
              <a:gd name="connsiteY3" fmla="*/ 798746 h 832066"/>
              <a:gd name="connsiteX4" fmla="*/ 400666 w 757637"/>
              <a:gd name="connsiteY4" fmla="*/ 832066 h 832066"/>
              <a:gd name="connsiteX5" fmla="*/ 0 w 757637"/>
              <a:gd name="connsiteY5" fmla="*/ 0 h 832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2066">
                <a:moveTo>
                  <a:pt x="0" y="0"/>
                </a:moveTo>
                <a:lnTo>
                  <a:pt x="757637" y="87051"/>
                </a:lnTo>
                <a:lnTo>
                  <a:pt x="695518" y="470422"/>
                </a:lnTo>
                <a:cubicBezTo>
                  <a:pt x="672395" y="611853"/>
                  <a:pt x="587369" y="730014"/>
                  <a:pt x="470578" y="798746"/>
                </a:cubicBezTo>
                <a:lnTo>
                  <a:pt x="400666" y="832066"/>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2" name="Freeform: Shape 14">
            <a:extLst>
              <a:ext uri="{FF2B5EF4-FFF2-40B4-BE49-F238E27FC236}">
                <a16:creationId xmlns:a16="http://schemas.microsoft.com/office/drawing/2014/main" id="{BDA6D1CE-2087-4BE6-8389-223BBA11F876}"/>
              </a:ext>
            </a:extLst>
          </p:cNvPr>
          <p:cNvSpPr/>
          <p:nvPr/>
        </p:nvSpPr>
        <p:spPr>
          <a:xfrm>
            <a:off x="3425018" y="2143831"/>
            <a:ext cx="358299" cy="392952"/>
          </a:xfrm>
          <a:custGeom>
            <a:avLst/>
            <a:gdLst>
              <a:gd name="connsiteX0" fmla="*/ 180180 w 757637"/>
              <a:gd name="connsiteY0" fmla="*/ 0 h 1943071"/>
              <a:gd name="connsiteX1" fmla="*/ 757637 w 757637"/>
              <a:gd name="connsiteY1" fmla="*/ 1199209 h 1943071"/>
              <a:gd name="connsiteX2" fmla="*/ 695767 w 757637"/>
              <a:gd name="connsiteY2" fmla="*/ 1581044 h 1943071"/>
              <a:gd name="connsiteX3" fmla="*/ 470827 w 757637"/>
              <a:gd name="connsiteY3" fmla="*/ 1909368 h 1943071"/>
              <a:gd name="connsiteX4" fmla="*/ 400110 w 757637"/>
              <a:gd name="connsiteY4" fmla="*/ 1943071 h 1943071"/>
              <a:gd name="connsiteX5" fmla="*/ 0 w 757637"/>
              <a:gd name="connsiteY5" fmla="*/ 1112159 h 1943071"/>
              <a:gd name="connsiteX0" fmla="*/ 0 w 757637"/>
              <a:gd name="connsiteY0" fmla="*/ 0 h 830912"/>
              <a:gd name="connsiteX1" fmla="*/ 757637 w 757637"/>
              <a:gd name="connsiteY1" fmla="*/ 87050 h 830912"/>
              <a:gd name="connsiteX2" fmla="*/ 695767 w 757637"/>
              <a:gd name="connsiteY2" fmla="*/ 468885 h 830912"/>
              <a:gd name="connsiteX3" fmla="*/ 470827 w 757637"/>
              <a:gd name="connsiteY3" fmla="*/ 797209 h 830912"/>
              <a:gd name="connsiteX4" fmla="*/ 400110 w 757637"/>
              <a:gd name="connsiteY4" fmla="*/ 830912 h 830912"/>
              <a:gd name="connsiteX5" fmla="*/ 0 w 757637"/>
              <a:gd name="connsiteY5" fmla="*/ 0 h 8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0912">
                <a:moveTo>
                  <a:pt x="0" y="0"/>
                </a:moveTo>
                <a:lnTo>
                  <a:pt x="757637" y="87050"/>
                </a:lnTo>
                <a:lnTo>
                  <a:pt x="695767" y="468885"/>
                </a:lnTo>
                <a:cubicBezTo>
                  <a:pt x="672644" y="610316"/>
                  <a:pt x="587618" y="728477"/>
                  <a:pt x="470827" y="797209"/>
                </a:cubicBezTo>
                <a:lnTo>
                  <a:pt x="400110" y="830912"/>
                </a:lnTo>
                <a:lnTo>
                  <a:pt x="0" y="0"/>
                </a:lnTo>
                <a:close/>
              </a:path>
            </a:pathLst>
          </a:custGeom>
          <a:solidFill>
            <a:schemeClr val="bg2"/>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3" name="Freeform: Shape 15">
            <a:extLst>
              <a:ext uri="{FF2B5EF4-FFF2-40B4-BE49-F238E27FC236}">
                <a16:creationId xmlns:a16="http://schemas.microsoft.com/office/drawing/2014/main" id="{23585F9E-FD1E-4B82-A8FB-450B8FB09CCD}"/>
              </a:ext>
            </a:extLst>
          </p:cNvPr>
          <p:cNvSpPr/>
          <p:nvPr/>
        </p:nvSpPr>
        <p:spPr>
          <a:xfrm>
            <a:off x="4308869" y="2140359"/>
            <a:ext cx="358299" cy="395558"/>
          </a:xfrm>
          <a:custGeom>
            <a:avLst/>
            <a:gdLst>
              <a:gd name="connsiteX0" fmla="*/ 180180 w 757637"/>
              <a:gd name="connsiteY0" fmla="*/ 0 h 1948581"/>
              <a:gd name="connsiteX1" fmla="*/ 757637 w 757637"/>
              <a:gd name="connsiteY1" fmla="*/ 1199210 h 1948581"/>
              <a:gd name="connsiteX2" fmla="*/ 694578 w 757637"/>
              <a:gd name="connsiteY2" fmla="*/ 1588385 h 1948581"/>
              <a:gd name="connsiteX3" fmla="*/ 469638 w 757637"/>
              <a:gd name="connsiteY3" fmla="*/ 1916709 h 1948581"/>
              <a:gd name="connsiteX4" fmla="*/ 402763 w 757637"/>
              <a:gd name="connsiteY4" fmla="*/ 1948581 h 1948581"/>
              <a:gd name="connsiteX5" fmla="*/ 0 w 757637"/>
              <a:gd name="connsiteY5" fmla="*/ 1112160 h 1948581"/>
              <a:gd name="connsiteX0" fmla="*/ 0 w 757637"/>
              <a:gd name="connsiteY0" fmla="*/ 0 h 836421"/>
              <a:gd name="connsiteX1" fmla="*/ 757637 w 757637"/>
              <a:gd name="connsiteY1" fmla="*/ 87050 h 836421"/>
              <a:gd name="connsiteX2" fmla="*/ 694578 w 757637"/>
              <a:gd name="connsiteY2" fmla="*/ 476225 h 836421"/>
              <a:gd name="connsiteX3" fmla="*/ 469638 w 757637"/>
              <a:gd name="connsiteY3" fmla="*/ 804549 h 836421"/>
              <a:gd name="connsiteX4" fmla="*/ 402763 w 757637"/>
              <a:gd name="connsiteY4" fmla="*/ 836421 h 836421"/>
              <a:gd name="connsiteX5" fmla="*/ 0 w 757637"/>
              <a:gd name="connsiteY5" fmla="*/ 0 h 83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7637" h="836421">
                <a:moveTo>
                  <a:pt x="0" y="0"/>
                </a:moveTo>
                <a:lnTo>
                  <a:pt x="757637" y="87050"/>
                </a:lnTo>
                <a:lnTo>
                  <a:pt x="694578" y="476225"/>
                </a:lnTo>
                <a:cubicBezTo>
                  <a:pt x="671455" y="617656"/>
                  <a:pt x="586429" y="735817"/>
                  <a:pt x="469638" y="804549"/>
                </a:cubicBezTo>
                <a:lnTo>
                  <a:pt x="402763" y="836421"/>
                </a:lnTo>
                <a:lnTo>
                  <a:pt x="0" y="0"/>
                </a:lnTo>
                <a:close/>
              </a:path>
            </a:pathLst>
          </a:custGeom>
          <a:solidFill>
            <a:schemeClr val="tx1">
              <a:alpha val="20000"/>
            </a:schemeClr>
          </a:solidFill>
          <a:ln w="12700">
            <a:miter lim="400000"/>
          </a:ln>
        </p:spPr>
        <p:txBody>
          <a:bodyPr wrap="square" lIns="18018" tIns="18018" rIns="18018" bIns="18018" anchor="ctr">
            <a:no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4" name="Shape">
            <a:extLst>
              <a:ext uri="{FF2B5EF4-FFF2-40B4-BE49-F238E27FC236}">
                <a16:creationId xmlns:a16="http://schemas.microsoft.com/office/drawing/2014/main" id="{C91C132F-6D17-48E3-A24B-C8749AA0D1DC}"/>
              </a:ext>
            </a:extLst>
          </p:cNvPr>
          <p:cNvSpPr/>
          <p:nvPr/>
        </p:nvSpPr>
        <p:spPr>
          <a:xfrm>
            <a:off x="660207"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5" name="Shape">
            <a:extLst>
              <a:ext uri="{FF2B5EF4-FFF2-40B4-BE49-F238E27FC236}">
                <a16:creationId xmlns:a16="http://schemas.microsoft.com/office/drawing/2014/main" id="{808A24AA-D792-4758-BDD1-744C2584943C}"/>
              </a:ext>
            </a:extLst>
          </p:cNvPr>
          <p:cNvSpPr/>
          <p:nvPr/>
        </p:nvSpPr>
        <p:spPr>
          <a:xfrm>
            <a:off x="708863" y="1666866"/>
            <a:ext cx="524903"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6" name="Shape">
            <a:extLst>
              <a:ext uri="{FF2B5EF4-FFF2-40B4-BE49-F238E27FC236}">
                <a16:creationId xmlns:a16="http://schemas.microsoft.com/office/drawing/2014/main" id="{443E6ACA-A9AA-4B43-8775-2B5705F97CE8}"/>
              </a:ext>
            </a:extLst>
          </p:cNvPr>
          <p:cNvSpPr/>
          <p:nvPr/>
        </p:nvSpPr>
        <p:spPr>
          <a:xfrm>
            <a:off x="1558706" y="1618209"/>
            <a:ext cx="615471"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7" name="Shape">
            <a:extLst>
              <a:ext uri="{FF2B5EF4-FFF2-40B4-BE49-F238E27FC236}">
                <a16:creationId xmlns:a16="http://schemas.microsoft.com/office/drawing/2014/main" id="{75D0A903-23EF-4783-A048-E8FB691489E0}"/>
              </a:ext>
            </a:extLst>
          </p:cNvPr>
          <p:cNvSpPr/>
          <p:nvPr/>
        </p:nvSpPr>
        <p:spPr>
          <a:xfrm>
            <a:off x="1597631"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8" name="Shape">
            <a:extLst>
              <a:ext uri="{FF2B5EF4-FFF2-40B4-BE49-F238E27FC236}">
                <a16:creationId xmlns:a16="http://schemas.microsoft.com/office/drawing/2014/main" id="{88736D9D-96F5-4298-95A5-09DC68706129}"/>
              </a:ext>
            </a:extLst>
          </p:cNvPr>
          <p:cNvSpPr/>
          <p:nvPr/>
        </p:nvSpPr>
        <p:spPr>
          <a:xfrm>
            <a:off x="2444247"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69" name="Shape">
            <a:extLst>
              <a:ext uri="{FF2B5EF4-FFF2-40B4-BE49-F238E27FC236}">
                <a16:creationId xmlns:a16="http://schemas.microsoft.com/office/drawing/2014/main" id="{FC1B6971-2241-456B-90B7-251E65B19DE8}"/>
              </a:ext>
            </a:extLst>
          </p:cNvPr>
          <p:cNvSpPr/>
          <p:nvPr/>
        </p:nvSpPr>
        <p:spPr>
          <a:xfrm>
            <a:off x="2483172"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0" name="Shape">
            <a:extLst>
              <a:ext uri="{FF2B5EF4-FFF2-40B4-BE49-F238E27FC236}">
                <a16:creationId xmlns:a16="http://schemas.microsoft.com/office/drawing/2014/main" id="{45B58B32-19F2-4B0B-8A79-9E29234AFD1E}"/>
              </a:ext>
            </a:extLst>
          </p:cNvPr>
          <p:cNvSpPr/>
          <p:nvPr/>
        </p:nvSpPr>
        <p:spPr>
          <a:xfrm>
            <a:off x="3329788"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1" name="Shape">
            <a:extLst>
              <a:ext uri="{FF2B5EF4-FFF2-40B4-BE49-F238E27FC236}">
                <a16:creationId xmlns:a16="http://schemas.microsoft.com/office/drawing/2014/main" id="{B2DC019C-FF64-4938-8DAD-501F394050E4}"/>
              </a:ext>
            </a:extLst>
          </p:cNvPr>
          <p:cNvSpPr/>
          <p:nvPr/>
        </p:nvSpPr>
        <p:spPr>
          <a:xfrm>
            <a:off x="3378444" y="1666866"/>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chemeClr val="bg1"/>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2" name="Shape">
            <a:extLst>
              <a:ext uri="{FF2B5EF4-FFF2-40B4-BE49-F238E27FC236}">
                <a16:creationId xmlns:a16="http://schemas.microsoft.com/office/drawing/2014/main" id="{8C9BE5F0-8953-4CC5-94D8-693BAC7BFA74}"/>
              </a:ext>
            </a:extLst>
          </p:cNvPr>
          <p:cNvSpPr/>
          <p:nvPr/>
        </p:nvSpPr>
        <p:spPr>
          <a:xfrm>
            <a:off x="4215329" y="1618209"/>
            <a:ext cx="615470" cy="636135"/>
          </a:xfrm>
          <a:custGeom>
            <a:avLst/>
            <a:gdLst/>
            <a:ahLst/>
            <a:cxnLst>
              <a:cxn ang="0">
                <a:pos x="wd2" y="hd2"/>
              </a:cxn>
              <a:cxn ang="5400000">
                <a:pos x="wd2" y="hd2"/>
              </a:cxn>
              <a:cxn ang="10800000">
                <a:pos x="wd2" y="hd2"/>
              </a:cxn>
              <a:cxn ang="16200000">
                <a:pos x="wd2" y="hd2"/>
              </a:cxn>
            </a:cxnLst>
            <a:rect l="0" t="0" r="r" b="b"/>
            <a:pathLst>
              <a:path w="21246" h="21138" extrusionOk="0">
                <a:moveTo>
                  <a:pt x="19910" y="5363"/>
                </a:moveTo>
                <a:lnTo>
                  <a:pt x="14267" y="836"/>
                </a:lnTo>
                <a:cubicBezTo>
                  <a:pt x="13259" y="28"/>
                  <a:pt x="11848" y="-231"/>
                  <a:pt x="10605" y="222"/>
                </a:cubicBezTo>
                <a:lnTo>
                  <a:pt x="3685" y="2679"/>
                </a:lnTo>
                <a:cubicBezTo>
                  <a:pt x="2442" y="3132"/>
                  <a:pt x="1535" y="4167"/>
                  <a:pt x="1300" y="5428"/>
                </a:cubicBezTo>
                <a:lnTo>
                  <a:pt x="57" y="12412"/>
                </a:lnTo>
                <a:cubicBezTo>
                  <a:pt x="-178" y="13673"/>
                  <a:pt x="326" y="14967"/>
                  <a:pt x="1334" y="15775"/>
                </a:cubicBezTo>
                <a:lnTo>
                  <a:pt x="6977" y="20302"/>
                </a:lnTo>
                <a:cubicBezTo>
                  <a:pt x="7985" y="21110"/>
                  <a:pt x="9396" y="21369"/>
                  <a:pt x="10639" y="20916"/>
                </a:cubicBezTo>
                <a:lnTo>
                  <a:pt x="17559" y="18459"/>
                </a:lnTo>
                <a:cubicBezTo>
                  <a:pt x="18802" y="18006"/>
                  <a:pt x="19709" y="16971"/>
                  <a:pt x="19944" y="15710"/>
                </a:cubicBezTo>
                <a:lnTo>
                  <a:pt x="21187" y="8726"/>
                </a:lnTo>
                <a:cubicBezTo>
                  <a:pt x="21422" y="7465"/>
                  <a:pt x="20952" y="6171"/>
                  <a:pt x="19910" y="5363"/>
                </a:cubicBezTo>
                <a:close/>
              </a:path>
            </a:pathLst>
          </a:custGeom>
          <a:solidFill>
            <a:schemeClr val="accent6"/>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3" name="Shape">
            <a:extLst>
              <a:ext uri="{FF2B5EF4-FFF2-40B4-BE49-F238E27FC236}">
                <a16:creationId xmlns:a16="http://schemas.microsoft.com/office/drawing/2014/main" id="{AD34BF70-DB80-4CC6-AB1C-4E5E944062A3}"/>
              </a:ext>
            </a:extLst>
          </p:cNvPr>
          <p:cNvSpPr/>
          <p:nvPr/>
        </p:nvSpPr>
        <p:spPr>
          <a:xfrm>
            <a:off x="1373813"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4" name="Shape">
            <a:extLst>
              <a:ext uri="{FF2B5EF4-FFF2-40B4-BE49-F238E27FC236}">
                <a16:creationId xmlns:a16="http://schemas.microsoft.com/office/drawing/2014/main" id="{7D24C5A5-98D3-4EBE-82B7-A4087D05D912}"/>
              </a:ext>
            </a:extLst>
          </p:cNvPr>
          <p:cNvSpPr/>
          <p:nvPr/>
        </p:nvSpPr>
        <p:spPr>
          <a:xfrm>
            <a:off x="2259354"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424"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5" name="Shape">
            <a:extLst>
              <a:ext uri="{FF2B5EF4-FFF2-40B4-BE49-F238E27FC236}">
                <a16:creationId xmlns:a16="http://schemas.microsoft.com/office/drawing/2014/main" id="{5D4B2222-BE7F-461D-A972-AF34EB379FC1}"/>
              </a:ext>
            </a:extLst>
          </p:cNvPr>
          <p:cNvSpPr/>
          <p:nvPr/>
        </p:nvSpPr>
        <p:spPr>
          <a:xfrm>
            <a:off x="314489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3"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6" name="Shape">
            <a:extLst>
              <a:ext uri="{FF2B5EF4-FFF2-40B4-BE49-F238E27FC236}">
                <a16:creationId xmlns:a16="http://schemas.microsoft.com/office/drawing/2014/main" id="{079FD2A6-2736-4F63-A8AF-A598FC48C104}"/>
              </a:ext>
            </a:extLst>
          </p:cNvPr>
          <p:cNvSpPr/>
          <p:nvPr/>
        </p:nvSpPr>
        <p:spPr>
          <a:xfrm>
            <a:off x="4030435" y="1851759"/>
            <a:ext cx="110784" cy="148613"/>
          </a:xfrm>
          <a:custGeom>
            <a:avLst/>
            <a:gdLst/>
            <a:ahLst/>
            <a:cxnLst>
              <a:cxn ang="0">
                <a:pos x="wd2" y="hd2"/>
              </a:cxn>
              <a:cxn ang="5400000">
                <a:pos x="wd2" y="hd2"/>
              </a:cxn>
              <a:cxn ang="10800000">
                <a:pos x="wd2" y="hd2"/>
              </a:cxn>
              <a:cxn ang="16200000">
                <a:pos x="wd2" y="hd2"/>
              </a:cxn>
            </a:cxnLst>
            <a:rect l="0" t="0" r="r" b="b"/>
            <a:pathLst>
              <a:path w="20664" h="20363" extrusionOk="0">
                <a:moveTo>
                  <a:pt x="153" y="1988"/>
                </a:moveTo>
                <a:cubicBezTo>
                  <a:pt x="1605" y="4521"/>
                  <a:pt x="2331" y="7188"/>
                  <a:pt x="2331" y="10121"/>
                </a:cubicBezTo>
                <a:cubicBezTo>
                  <a:pt x="2331" y="13054"/>
                  <a:pt x="1605" y="15721"/>
                  <a:pt x="153" y="18254"/>
                </a:cubicBezTo>
                <a:cubicBezTo>
                  <a:pt x="-573" y="19588"/>
                  <a:pt x="1424" y="20921"/>
                  <a:pt x="3239" y="20121"/>
                </a:cubicBezTo>
                <a:lnTo>
                  <a:pt x="19575" y="11721"/>
                </a:lnTo>
                <a:cubicBezTo>
                  <a:pt x="21027" y="11054"/>
                  <a:pt x="21027" y="9454"/>
                  <a:pt x="19575" y="8788"/>
                </a:cubicBezTo>
                <a:lnTo>
                  <a:pt x="3239" y="388"/>
                </a:lnTo>
                <a:cubicBezTo>
                  <a:pt x="1605" y="-679"/>
                  <a:pt x="-573" y="654"/>
                  <a:pt x="153" y="1988"/>
                </a:cubicBezTo>
                <a:close/>
              </a:path>
            </a:pathLst>
          </a:custGeom>
          <a:solidFill>
            <a:schemeClr val="bg2"/>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sz="1419"/>
          </a:p>
        </p:txBody>
      </p:sp>
      <p:sp>
        <p:nvSpPr>
          <p:cNvPr id="77" name="TextBox 29">
            <a:extLst>
              <a:ext uri="{FF2B5EF4-FFF2-40B4-BE49-F238E27FC236}">
                <a16:creationId xmlns:a16="http://schemas.microsoft.com/office/drawing/2014/main" id="{7011DA63-FACA-49B8-B1EC-59014C6C2808}"/>
              </a:ext>
            </a:extLst>
          </p:cNvPr>
          <p:cNvSpPr txBox="1"/>
          <p:nvPr/>
        </p:nvSpPr>
        <p:spPr>
          <a:xfrm>
            <a:off x="789990" y="1795910"/>
            <a:ext cx="369613" cy="276999"/>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a:solidFill>
                  <a:schemeClr val="tx1">
                    <a:lumMod val="85000"/>
                    <a:lumOff val="15000"/>
                  </a:schemeClr>
                </a:solidFill>
              </a:rPr>
              <a:t>01</a:t>
            </a:r>
          </a:p>
        </p:txBody>
      </p:sp>
      <p:sp>
        <p:nvSpPr>
          <p:cNvPr id="79" name="TextBox 31">
            <a:extLst>
              <a:ext uri="{FF2B5EF4-FFF2-40B4-BE49-F238E27FC236}">
                <a16:creationId xmlns:a16="http://schemas.microsoft.com/office/drawing/2014/main" id="{948F074E-BF90-4D71-A4C1-1128C4B42553}"/>
              </a:ext>
            </a:extLst>
          </p:cNvPr>
          <p:cNvSpPr txBox="1"/>
          <p:nvPr/>
        </p:nvSpPr>
        <p:spPr>
          <a:xfrm>
            <a:off x="2576516" y="1785961"/>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03</a:t>
            </a:r>
          </a:p>
        </p:txBody>
      </p:sp>
      <p:sp>
        <p:nvSpPr>
          <p:cNvPr id="80" name="TextBox 32">
            <a:extLst>
              <a:ext uri="{FF2B5EF4-FFF2-40B4-BE49-F238E27FC236}">
                <a16:creationId xmlns:a16="http://schemas.microsoft.com/office/drawing/2014/main" id="{004A3330-B5B2-4DCB-ABCF-6065EEB725FB}"/>
              </a:ext>
            </a:extLst>
          </p:cNvPr>
          <p:cNvSpPr txBox="1"/>
          <p:nvPr/>
        </p:nvSpPr>
        <p:spPr>
          <a:xfrm>
            <a:off x="4463847" y="1325076"/>
            <a:ext cx="370656" cy="237886"/>
          </a:xfrm>
          <a:prstGeom prst="rect">
            <a:avLst/>
          </a:prstGeom>
          <a:no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endParaRPr lang="en-US" sz="946" b="1">
              <a:solidFill>
                <a:schemeClr val="tx1">
                  <a:lumMod val="85000"/>
                  <a:lumOff val="15000"/>
                </a:schemeClr>
              </a:solidFill>
            </a:endParaRPr>
          </a:p>
        </p:txBody>
      </p:sp>
      <p:grpSp>
        <p:nvGrpSpPr>
          <p:cNvPr id="81" name="Group 33">
            <a:extLst>
              <a:ext uri="{FF2B5EF4-FFF2-40B4-BE49-F238E27FC236}">
                <a16:creationId xmlns:a16="http://schemas.microsoft.com/office/drawing/2014/main" id="{7EEA0960-EF54-4FA8-8A2D-834016195719}"/>
              </a:ext>
            </a:extLst>
          </p:cNvPr>
          <p:cNvGrpSpPr/>
          <p:nvPr/>
        </p:nvGrpSpPr>
        <p:grpSpPr>
          <a:xfrm>
            <a:off x="245275" y="2643365"/>
            <a:ext cx="1089430" cy="400403"/>
            <a:chOff x="332933" y="2620027"/>
            <a:chExt cx="2926083" cy="846667"/>
          </a:xfrm>
        </p:grpSpPr>
        <p:sp>
          <p:nvSpPr>
            <p:cNvPr id="82" name="TextBox 34">
              <a:extLst>
                <a:ext uri="{FF2B5EF4-FFF2-40B4-BE49-F238E27FC236}">
                  <a16:creationId xmlns:a16="http://schemas.microsoft.com/office/drawing/2014/main" id="{99866BB6-E63D-4397-B4A6-C3881E7ACABA}"/>
                </a:ext>
              </a:extLst>
            </p:cNvPr>
            <p:cNvSpPr txBox="1"/>
            <p:nvPr/>
          </p:nvSpPr>
          <p:spPr>
            <a:xfrm>
              <a:off x="332933" y="2620027"/>
              <a:ext cx="2926080" cy="564573"/>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noProof="1"/>
                <a:t>Operative Context</a:t>
              </a:r>
            </a:p>
          </p:txBody>
        </p:sp>
        <p:sp>
          <p:nvSpPr>
            <p:cNvPr id="83" name="TextBox 35">
              <a:extLst>
                <a:ext uri="{FF2B5EF4-FFF2-40B4-BE49-F238E27FC236}">
                  <a16:creationId xmlns:a16="http://schemas.microsoft.com/office/drawing/2014/main" id="{1F21F5B6-4CE9-4331-AC2B-65E098007B29}"/>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4" name="TextBox 36">
            <a:extLst>
              <a:ext uri="{FF2B5EF4-FFF2-40B4-BE49-F238E27FC236}">
                <a16:creationId xmlns:a16="http://schemas.microsoft.com/office/drawing/2014/main" id="{F245064A-3922-4B9E-AD5F-2BA27FA5060F}"/>
              </a:ext>
            </a:extLst>
          </p:cNvPr>
          <p:cNvSpPr txBox="1"/>
          <p:nvPr/>
        </p:nvSpPr>
        <p:spPr>
          <a:xfrm>
            <a:off x="2254621" y="2684594"/>
            <a:ext cx="1448954" cy="22576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dirty="0">
                <a:solidFill>
                  <a:srgbClr val="3B3535"/>
                </a:solidFill>
                <a:ea typeface="Sora Semi Bold" pitchFamily="34" charset="-122"/>
                <a:cs typeface="Sora Semi Bold" pitchFamily="34" charset="-120"/>
              </a:rPr>
              <a:t>Proposed System</a:t>
            </a:r>
          </a:p>
        </p:txBody>
      </p:sp>
      <p:sp>
        <p:nvSpPr>
          <p:cNvPr id="85" name="TextBox 38">
            <a:extLst>
              <a:ext uri="{FF2B5EF4-FFF2-40B4-BE49-F238E27FC236}">
                <a16:creationId xmlns:a16="http://schemas.microsoft.com/office/drawing/2014/main" id="{8C58C64F-9C17-42FA-BA25-3240332857A0}"/>
              </a:ext>
            </a:extLst>
          </p:cNvPr>
          <p:cNvSpPr txBox="1"/>
          <p:nvPr/>
        </p:nvSpPr>
        <p:spPr>
          <a:xfrm>
            <a:off x="4245974" y="2588081"/>
            <a:ext cx="1089429" cy="482248"/>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nSpc>
                <a:spcPts val="1044"/>
              </a:lnSpc>
            </a:pPr>
            <a:r>
              <a:rPr lang="en-US" sz="1100" b="1" dirty="0">
                <a:solidFill>
                  <a:srgbClr val="3B3535"/>
                </a:solidFill>
                <a:ea typeface="Sora Semi Bold" pitchFamily="34" charset="-122"/>
                <a:cs typeface="Sora Semi Bold" pitchFamily="34" charset="-120"/>
              </a:rPr>
              <a:t>Conclusions, Limitations and Future Work</a:t>
            </a:r>
            <a:endParaRPr lang="en-US" sz="1100" b="1" dirty="0"/>
          </a:p>
        </p:txBody>
      </p:sp>
      <p:grpSp>
        <p:nvGrpSpPr>
          <p:cNvPr id="86" name="Group 40">
            <a:extLst>
              <a:ext uri="{FF2B5EF4-FFF2-40B4-BE49-F238E27FC236}">
                <a16:creationId xmlns:a16="http://schemas.microsoft.com/office/drawing/2014/main" id="{036EA2D6-7D2B-4BD5-BFFE-815965A35B99}"/>
              </a:ext>
            </a:extLst>
          </p:cNvPr>
          <p:cNvGrpSpPr/>
          <p:nvPr/>
        </p:nvGrpSpPr>
        <p:grpSpPr>
          <a:xfrm>
            <a:off x="1482835" y="722003"/>
            <a:ext cx="1376480" cy="640848"/>
            <a:chOff x="332936" y="2111597"/>
            <a:chExt cx="3697066" cy="1355097"/>
          </a:xfrm>
        </p:grpSpPr>
        <p:sp>
          <p:nvSpPr>
            <p:cNvPr id="87" name="TextBox 41">
              <a:extLst>
                <a:ext uri="{FF2B5EF4-FFF2-40B4-BE49-F238E27FC236}">
                  <a16:creationId xmlns:a16="http://schemas.microsoft.com/office/drawing/2014/main" id="{B2D7BC7B-6293-48A4-BD3A-3A393DCFA6DE}"/>
                </a:ext>
              </a:extLst>
            </p:cNvPr>
            <p:cNvSpPr txBox="1"/>
            <p:nvPr/>
          </p:nvSpPr>
          <p:spPr>
            <a:xfrm>
              <a:off x="457679" y="2111597"/>
              <a:ext cx="3572323" cy="911127"/>
            </a:xfrm>
            <a:prstGeom prst="rect">
              <a:avLst/>
            </a:prstGeom>
            <a:noFill/>
          </p:spPr>
          <p:txBody>
            <a:bodyPr wrap="square" lIns="0" rIns="0" rtlCol="0" anchor="b">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r>
                <a:rPr lang="en-US" sz="1100" dirty="0">
                  <a:latin typeface="+mj-lt"/>
                  <a:ea typeface="Calibri"/>
                  <a:cs typeface="Calibri"/>
                </a:rPr>
                <a:t>Foundation and Existing Approaches</a:t>
              </a:r>
              <a:endParaRPr lang="en-US" sz="1100" dirty="0">
                <a:latin typeface="+mj-lt"/>
              </a:endParaRPr>
            </a:p>
          </p:txBody>
        </p:sp>
        <p:sp>
          <p:nvSpPr>
            <p:cNvPr id="88" name="TextBox 42">
              <a:extLst>
                <a:ext uri="{FF2B5EF4-FFF2-40B4-BE49-F238E27FC236}">
                  <a16:creationId xmlns:a16="http://schemas.microsoft.com/office/drawing/2014/main" id="{500D2EEF-5D13-4501-8F4F-A25005E58A36}"/>
                </a:ext>
              </a:extLst>
            </p:cNvPr>
            <p:cNvSpPr txBox="1"/>
            <p:nvPr/>
          </p:nvSpPr>
          <p:spPr>
            <a:xfrm>
              <a:off x="332936" y="3086921"/>
              <a:ext cx="2926080" cy="379773"/>
            </a:xfrm>
            <a:prstGeom prst="rect">
              <a:avLst/>
            </a:prstGeom>
            <a:noFill/>
          </p:spPr>
          <p:txBody>
            <a:bodyPr wrap="square" lIns="0" rIns="0" rtlCol="0" anchor="t">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just"/>
              <a:endParaRPr lang="en-US" sz="567" noProof="1">
                <a:solidFill>
                  <a:schemeClr val="tx1">
                    <a:lumMod val="65000"/>
                    <a:lumOff val="35000"/>
                  </a:schemeClr>
                </a:solidFill>
              </a:endParaRPr>
            </a:p>
          </p:txBody>
        </p:sp>
      </p:grpSp>
      <p:sp>
        <p:nvSpPr>
          <p:cNvPr id="89" name="TextBox 43">
            <a:extLst>
              <a:ext uri="{FF2B5EF4-FFF2-40B4-BE49-F238E27FC236}">
                <a16:creationId xmlns:a16="http://schemas.microsoft.com/office/drawing/2014/main" id="{C891E03C-2AC1-4F68-A472-6D7AAE72D747}"/>
              </a:ext>
            </a:extLst>
          </p:cNvPr>
          <p:cNvSpPr txBox="1"/>
          <p:nvPr/>
        </p:nvSpPr>
        <p:spPr>
          <a:xfrm>
            <a:off x="3438475" y="1803604"/>
            <a:ext cx="362694"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solidFill>
                  <a:schemeClr val="tx1">
                    <a:lumMod val="85000"/>
                    <a:lumOff val="15000"/>
                  </a:schemeClr>
                </a:solidFill>
              </a:rPr>
              <a:t>04</a:t>
            </a:r>
          </a:p>
        </p:txBody>
      </p:sp>
      <p:sp>
        <p:nvSpPr>
          <p:cNvPr id="90" name="Shape">
            <a:extLst>
              <a:ext uri="{FF2B5EF4-FFF2-40B4-BE49-F238E27FC236}">
                <a16:creationId xmlns:a16="http://schemas.microsoft.com/office/drawing/2014/main" id="{11037EE7-CE57-42F0-9FB5-81CA29300359}"/>
              </a:ext>
            </a:extLst>
          </p:cNvPr>
          <p:cNvSpPr/>
          <p:nvPr/>
        </p:nvSpPr>
        <p:spPr>
          <a:xfrm>
            <a:off x="4256159" y="1673443"/>
            <a:ext cx="524900" cy="541742"/>
          </a:xfrm>
          <a:custGeom>
            <a:avLst/>
            <a:gdLst/>
            <a:ahLst/>
            <a:cxnLst>
              <a:cxn ang="0">
                <a:pos x="wd2" y="hd2"/>
              </a:cxn>
              <a:cxn ang="5400000">
                <a:pos x="wd2" y="hd2"/>
              </a:cxn>
              <a:cxn ang="10800000">
                <a:pos x="wd2" y="hd2"/>
              </a:cxn>
              <a:cxn ang="16200000">
                <a:pos x="wd2" y="hd2"/>
              </a:cxn>
            </a:cxnLst>
            <a:rect l="0" t="0" r="r" b="b"/>
            <a:pathLst>
              <a:path w="21184" h="21059" extrusionOk="0">
                <a:moveTo>
                  <a:pt x="19625" y="5102"/>
                </a:moveTo>
                <a:lnTo>
                  <a:pt x="14519" y="978"/>
                </a:lnTo>
                <a:cubicBezTo>
                  <a:pt x="13341" y="33"/>
                  <a:pt x="11692" y="-270"/>
                  <a:pt x="10239" y="260"/>
                </a:cubicBezTo>
                <a:lnTo>
                  <a:pt x="3994" y="2491"/>
                </a:lnTo>
                <a:cubicBezTo>
                  <a:pt x="2541" y="3021"/>
                  <a:pt x="1481" y="4232"/>
                  <a:pt x="1206" y="5707"/>
                </a:cubicBezTo>
                <a:lnTo>
                  <a:pt x="67" y="12024"/>
                </a:lnTo>
                <a:cubicBezTo>
                  <a:pt x="-208" y="13500"/>
                  <a:pt x="381" y="15013"/>
                  <a:pt x="1559" y="15958"/>
                </a:cubicBezTo>
                <a:lnTo>
                  <a:pt x="6665" y="20082"/>
                </a:lnTo>
                <a:cubicBezTo>
                  <a:pt x="7843" y="21027"/>
                  <a:pt x="9492" y="21330"/>
                  <a:pt x="10945" y="20800"/>
                </a:cubicBezTo>
                <a:lnTo>
                  <a:pt x="17190" y="18569"/>
                </a:lnTo>
                <a:cubicBezTo>
                  <a:pt x="18643" y="18039"/>
                  <a:pt x="19703" y="16828"/>
                  <a:pt x="19978" y="15353"/>
                </a:cubicBezTo>
                <a:lnTo>
                  <a:pt x="21117" y="9036"/>
                </a:lnTo>
                <a:cubicBezTo>
                  <a:pt x="21392" y="7560"/>
                  <a:pt x="20803" y="6047"/>
                  <a:pt x="19625" y="5102"/>
                </a:cubicBezTo>
                <a:close/>
              </a:path>
            </a:pathLst>
          </a:custGeom>
          <a:solidFill>
            <a:srgbClr val="FFFFFF"/>
          </a:solidFill>
          <a:ln w="12700">
            <a:miter lim="400000"/>
          </a:ln>
        </p:spPr>
        <p:txBody>
          <a:bodyPr lIns="18018" tIns="18018" rIns="18018" bIns="18018" anchor="ct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200" b="1" dirty="0">
                <a:solidFill>
                  <a:schemeClr val="tx1">
                    <a:lumMod val="85000"/>
                    <a:lumOff val="15000"/>
                  </a:schemeClr>
                </a:solidFill>
              </a:rPr>
              <a:t>05</a:t>
            </a:r>
          </a:p>
        </p:txBody>
      </p:sp>
      <p:sp>
        <p:nvSpPr>
          <p:cNvPr id="91" name="TextBox 45">
            <a:extLst>
              <a:ext uri="{FF2B5EF4-FFF2-40B4-BE49-F238E27FC236}">
                <a16:creationId xmlns:a16="http://schemas.microsoft.com/office/drawing/2014/main" id="{9AD44760-4DBF-45AE-A7CF-FA64612FF966}"/>
              </a:ext>
            </a:extLst>
          </p:cNvPr>
          <p:cNvSpPr txBox="1"/>
          <p:nvPr/>
        </p:nvSpPr>
        <p:spPr>
          <a:xfrm>
            <a:off x="1687762" y="1811299"/>
            <a:ext cx="337975" cy="261610"/>
          </a:xfrm>
          <a:prstGeom prst="rect">
            <a:avLst/>
          </a:prstGeom>
          <a:solidFill>
            <a:schemeClr val="bg1"/>
          </a:solidFill>
        </p:spPr>
        <p:txBody>
          <a:bodyPr wrap="square" rtlCol="0" anchor="ctr">
            <a:spAutoFit/>
          </a:bodyPr>
          <a:lstStyle>
            <a:defPPr>
              <a:defRPr lang="it-IT"/>
            </a:defPPr>
            <a:lvl1pPr marL="0" algn="l" defTabSz="432511" rtl="0" eaLnBrk="1" latinLnBrk="0" hangingPunct="1">
              <a:defRPr sz="851" kern="1200">
                <a:solidFill>
                  <a:schemeClr val="tx1"/>
                </a:solidFill>
                <a:latin typeface="+mn-lt"/>
                <a:ea typeface="+mn-ea"/>
                <a:cs typeface="+mn-cs"/>
              </a:defRPr>
            </a:lvl1pPr>
            <a:lvl2pPr marL="216256" algn="l" defTabSz="432511" rtl="0" eaLnBrk="1" latinLnBrk="0" hangingPunct="1">
              <a:defRPr sz="851" kern="1200">
                <a:solidFill>
                  <a:schemeClr val="tx1"/>
                </a:solidFill>
                <a:latin typeface="+mn-lt"/>
                <a:ea typeface="+mn-ea"/>
                <a:cs typeface="+mn-cs"/>
              </a:defRPr>
            </a:lvl2pPr>
            <a:lvl3pPr marL="432511" algn="l" defTabSz="432511" rtl="0" eaLnBrk="1" latinLnBrk="0" hangingPunct="1">
              <a:defRPr sz="851" kern="1200">
                <a:solidFill>
                  <a:schemeClr val="tx1"/>
                </a:solidFill>
                <a:latin typeface="+mn-lt"/>
                <a:ea typeface="+mn-ea"/>
                <a:cs typeface="+mn-cs"/>
              </a:defRPr>
            </a:lvl3pPr>
            <a:lvl4pPr marL="648767" algn="l" defTabSz="432511" rtl="0" eaLnBrk="1" latinLnBrk="0" hangingPunct="1">
              <a:defRPr sz="851" kern="1200">
                <a:solidFill>
                  <a:schemeClr val="tx1"/>
                </a:solidFill>
                <a:latin typeface="+mn-lt"/>
                <a:ea typeface="+mn-ea"/>
                <a:cs typeface="+mn-cs"/>
              </a:defRPr>
            </a:lvl4pPr>
            <a:lvl5pPr marL="865022" algn="l" defTabSz="432511" rtl="0" eaLnBrk="1" latinLnBrk="0" hangingPunct="1">
              <a:defRPr sz="851" kern="1200">
                <a:solidFill>
                  <a:schemeClr val="tx1"/>
                </a:solidFill>
                <a:latin typeface="+mn-lt"/>
                <a:ea typeface="+mn-ea"/>
                <a:cs typeface="+mn-cs"/>
              </a:defRPr>
            </a:lvl5pPr>
            <a:lvl6pPr marL="1081278" algn="l" defTabSz="432511" rtl="0" eaLnBrk="1" latinLnBrk="0" hangingPunct="1">
              <a:defRPr sz="851" kern="1200">
                <a:solidFill>
                  <a:schemeClr val="tx1"/>
                </a:solidFill>
                <a:latin typeface="+mn-lt"/>
                <a:ea typeface="+mn-ea"/>
                <a:cs typeface="+mn-cs"/>
              </a:defRPr>
            </a:lvl6pPr>
            <a:lvl7pPr marL="1297534" algn="l" defTabSz="432511" rtl="0" eaLnBrk="1" latinLnBrk="0" hangingPunct="1">
              <a:defRPr sz="851" kern="1200">
                <a:solidFill>
                  <a:schemeClr val="tx1"/>
                </a:solidFill>
                <a:latin typeface="+mn-lt"/>
                <a:ea typeface="+mn-ea"/>
                <a:cs typeface="+mn-cs"/>
              </a:defRPr>
            </a:lvl7pPr>
            <a:lvl8pPr marL="1513789" algn="l" defTabSz="432511" rtl="0" eaLnBrk="1" latinLnBrk="0" hangingPunct="1">
              <a:defRPr sz="851" kern="1200">
                <a:solidFill>
                  <a:schemeClr val="tx1"/>
                </a:solidFill>
                <a:latin typeface="+mn-lt"/>
                <a:ea typeface="+mn-ea"/>
                <a:cs typeface="+mn-cs"/>
              </a:defRPr>
            </a:lvl8pPr>
            <a:lvl9pPr marL="1730045" algn="l" defTabSz="432511" rtl="0" eaLnBrk="1" latinLnBrk="0" hangingPunct="1">
              <a:defRPr sz="851" kern="1200">
                <a:solidFill>
                  <a:schemeClr val="tx1"/>
                </a:solidFill>
                <a:latin typeface="+mn-lt"/>
                <a:ea typeface="+mn-ea"/>
                <a:cs typeface="+mn-cs"/>
              </a:defRPr>
            </a:lvl9pPr>
          </a:lstStyle>
          <a:p>
            <a:pPr algn="ctr"/>
            <a:r>
              <a:rPr lang="en-US" sz="1100" b="1"/>
              <a:t>02</a:t>
            </a:r>
          </a:p>
        </p:txBody>
      </p:sp>
      <p:sp>
        <p:nvSpPr>
          <p:cNvPr id="92" name="TextBox 46">
            <a:extLst>
              <a:ext uri="{FF2B5EF4-FFF2-40B4-BE49-F238E27FC236}">
                <a16:creationId xmlns:a16="http://schemas.microsoft.com/office/drawing/2014/main" id="{D6CBE640-961C-440F-BD93-7A1BD0E5018B}"/>
              </a:ext>
            </a:extLst>
          </p:cNvPr>
          <p:cNvSpPr txBox="1"/>
          <p:nvPr/>
        </p:nvSpPr>
        <p:spPr>
          <a:xfrm>
            <a:off x="3351778" y="896614"/>
            <a:ext cx="1490370" cy="225767"/>
          </a:xfrm>
          <a:prstGeom prst="rect">
            <a:avLst/>
          </a:prstGeom>
          <a:noFill/>
        </p:spPr>
        <p:txBody>
          <a:bodyPr wrap="square">
            <a:spAutoFit/>
          </a:bodyPr>
          <a:lstStyle/>
          <a:p>
            <a:pPr>
              <a:lnSpc>
                <a:spcPts val="1044"/>
              </a:lnSpc>
            </a:pPr>
            <a:r>
              <a:rPr lang="en-US" sz="1100" dirty="0">
                <a:solidFill>
                  <a:srgbClr val="3B3535"/>
                </a:solidFill>
                <a:latin typeface="+mn-lt"/>
                <a:ea typeface="Sora Semi Bold" pitchFamily="34" charset="-122"/>
                <a:cs typeface="Sora Semi Bold" pitchFamily="34" charset="-120"/>
              </a:rPr>
              <a:t>System Evaluation</a:t>
            </a:r>
            <a:endParaRPr lang="en-US" sz="1100" dirty="0">
              <a:latin typeface="+mn-lt"/>
            </a:endParaRPr>
          </a:p>
        </p:txBody>
      </p:sp>
    </p:spTree>
    <p:extLst>
      <p:ext uri="{BB962C8B-B14F-4D97-AF65-F5344CB8AC3E}">
        <p14:creationId xmlns:p14="http://schemas.microsoft.com/office/powerpoint/2010/main" val="136994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Conclusions</a:t>
            </a:r>
          </a:p>
        </p:txBody>
      </p:sp>
      <p:sp>
        <p:nvSpPr>
          <p:cNvPr id="6" name="CasellaDiTesto 5">
            <a:extLst>
              <a:ext uri="{FF2B5EF4-FFF2-40B4-BE49-F238E27FC236}">
                <a16:creationId xmlns:a16="http://schemas.microsoft.com/office/drawing/2014/main" id="{EC4B9F7B-8F6C-4C19-963D-EF17160B9B08}"/>
              </a:ext>
            </a:extLst>
          </p:cNvPr>
          <p:cNvSpPr txBox="1"/>
          <p:nvPr/>
        </p:nvSpPr>
        <p:spPr>
          <a:xfrm>
            <a:off x="994577" y="2591945"/>
            <a:ext cx="3995004" cy="338554"/>
          </a:xfrm>
          <a:prstGeom prst="rect">
            <a:avLst/>
          </a:prstGeom>
          <a:noFill/>
        </p:spPr>
        <p:txBody>
          <a:bodyPr wrap="none" rtlCol="0">
            <a:spAutoFit/>
          </a:bodyPr>
          <a:lstStyle/>
          <a:p>
            <a:pPr algn="ctr"/>
            <a:r>
              <a:rPr lang="it-IT" sz="800" dirty="0"/>
              <a:t>The </a:t>
            </a:r>
            <a:r>
              <a:rPr lang="it-IT" sz="800" dirty="0" err="1"/>
              <a:t>observations</a:t>
            </a:r>
            <a:r>
              <a:rPr lang="it-IT" sz="800" dirty="0"/>
              <a:t> must be </a:t>
            </a:r>
            <a:r>
              <a:rPr lang="it-IT" sz="800" dirty="0" err="1"/>
              <a:t>interpreted</a:t>
            </a:r>
            <a:r>
              <a:rPr lang="it-IT" sz="800" dirty="0"/>
              <a:t> </a:t>
            </a:r>
            <a:r>
              <a:rPr lang="it-IT" sz="800" dirty="0" err="1"/>
              <a:t>within</a:t>
            </a:r>
            <a:r>
              <a:rPr lang="it-IT" sz="800" dirty="0"/>
              <a:t> the </a:t>
            </a:r>
            <a:r>
              <a:rPr lang="it-IT" sz="800" dirty="0" err="1"/>
              <a:t>limits</a:t>
            </a:r>
            <a:r>
              <a:rPr lang="it-IT" sz="800" dirty="0"/>
              <a:t> of the </a:t>
            </a:r>
            <a:r>
              <a:rPr lang="it-IT" sz="800" dirty="0" err="1"/>
              <a:t>proposed</a:t>
            </a:r>
            <a:r>
              <a:rPr lang="it-IT" sz="800" dirty="0"/>
              <a:t> benchmark. </a:t>
            </a:r>
          </a:p>
          <a:p>
            <a:pPr algn="ctr"/>
            <a:r>
              <a:rPr lang="it-IT" sz="800" dirty="0" err="1"/>
              <a:t>They</a:t>
            </a:r>
            <a:r>
              <a:rPr lang="it-IT" sz="800" dirty="0"/>
              <a:t> </a:t>
            </a:r>
            <a:r>
              <a:rPr lang="it-IT" sz="800" b="1" u="sng" dirty="0"/>
              <a:t>do </a:t>
            </a:r>
            <a:r>
              <a:rPr lang="it-IT" sz="800" b="1" u="sng" dirty="0" err="1"/>
              <a:t>not</a:t>
            </a:r>
            <a:r>
              <a:rPr lang="it-IT" sz="800" b="1" u="sng" dirty="0"/>
              <a:t> </a:t>
            </a:r>
            <a:r>
              <a:rPr lang="it-IT" sz="800" b="1" u="sng" dirty="0" err="1"/>
              <a:t>establish</a:t>
            </a:r>
            <a:r>
              <a:rPr lang="it-IT" sz="800" b="1" u="sng" dirty="0"/>
              <a:t> a general rule </a:t>
            </a:r>
            <a:r>
              <a:rPr lang="it-IT" sz="800" dirty="0"/>
              <a:t>for task-</a:t>
            </a:r>
            <a:r>
              <a:rPr lang="it-IT" sz="800" dirty="0" err="1"/>
              <a:t>dependent</a:t>
            </a:r>
            <a:r>
              <a:rPr lang="it-IT" sz="800" dirty="0"/>
              <a:t> performances.</a:t>
            </a:r>
          </a:p>
        </p:txBody>
      </p:sp>
      <p:sp>
        <p:nvSpPr>
          <p:cNvPr id="7" name="Rettangolo con angoli arrotondati 6">
            <a:extLst>
              <a:ext uri="{FF2B5EF4-FFF2-40B4-BE49-F238E27FC236}">
                <a16:creationId xmlns:a16="http://schemas.microsoft.com/office/drawing/2014/main" id="{4BF79EC4-5800-45D8-A240-7291BB7E1AA8}"/>
              </a:ext>
            </a:extLst>
          </p:cNvPr>
          <p:cNvSpPr/>
          <p:nvPr/>
        </p:nvSpPr>
        <p:spPr>
          <a:xfrm>
            <a:off x="612715" y="719330"/>
            <a:ext cx="1473485" cy="820524"/>
          </a:xfrm>
          <a:prstGeom prst="roundRect">
            <a:avLst/>
          </a:prstGeom>
          <a:solidFill>
            <a:schemeClr val="bg1">
              <a:lumMod val="85000"/>
              <a:alpha val="2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dirty="0">
                <a:solidFill>
                  <a:schemeClr val="tx1"/>
                </a:solidFill>
              </a:rPr>
              <a:t>The </a:t>
            </a:r>
            <a:r>
              <a:rPr lang="it-IT" sz="800" dirty="0" err="1">
                <a:solidFill>
                  <a:schemeClr val="tx1"/>
                </a:solidFill>
              </a:rPr>
              <a:t>results</a:t>
            </a:r>
            <a:r>
              <a:rPr lang="it-IT" sz="800" dirty="0">
                <a:solidFill>
                  <a:schemeClr val="tx1"/>
                </a:solidFill>
              </a:rPr>
              <a:t> indicate </a:t>
            </a:r>
            <a:r>
              <a:rPr lang="it-IT" sz="800" dirty="0" err="1">
                <a:solidFill>
                  <a:schemeClr val="tx1"/>
                </a:solidFill>
              </a:rPr>
              <a:t>that</a:t>
            </a:r>
            <a:r>
              <a:rPr lang="it-IT" sz="800" dirty="0">
                <a:solidFill>
                  <a:schemeClr val="tx1"/>
                </a:solidFill>
              </a:rPr>
              <a:t> the benefits of FUNES </a:t>
            </a:r>
            <a:r>
              <a:rPr lang="it-IT" sz="800" dirty="0" err="1">
                <a:solidFill>
                  <a:schemeClr val="tx1"/>
                </a:solidFill>
              </a:rPr>
              <a:t>depend</a:t>
            </a:r>
            <a:r>
              <a:rPr lang="it-IT" sz="800" dirty="0">
                <a:solidFill>
                  <a:schemeClr val="tx1"/>
                </a:solidFill>
              </a:rPr>
              <a:t> on the </a:t>
            </a:r>
            <a:r>
              <a:rPr lang="it-IT" sz="800" dirty="0" err="1">
                <a:solidFill>
                  <a:schemeClr val="tx1"/>
                </a:solidFill>
              </a:rPr>
              <a:t>type</a:t>
            </a:r>
            <a:r>
              <a:rPr lang="it-IT" sz="800" dirty="0">
                <a:solidFill>
                  <a:schemeClr val="tx1"/>
                </a:solidFill>
              </a:rPr>
              <a:t> of </a:t>
            </a:r>
            <a:r>
              <a:rPr lang="it-IT" sz="800" dirty="0" err="1">
                <a:solidFill>
                  <a:schemeClr val="tx1"/>
                </a:solidFill>
              </a:rPr>
              <a:t>reasoning</a:t>
            </a:r>
            <a:r>
              <a:rPr lang="it-IT" sz="800" dirty="0">
                <a:solidFill>
                  <a:schemeClr val="tx1"/>
                </a:solidFill>
              </a:rPr>
              <a:t> </a:t>
            </a:r>
            <a:r>
              <a:rPr lang="it-IT" sz="800" dirty="0" err="1">
                <a:solidFill>
                  <a:schemeClr val="tx1"/>
                </a:solidFill>
              </a:rPr>
              <a:t>required</a:t>
            </a:r>
            <a:r>
              <a:rPr lang="it-IT" sz="800" dirty="0">
                <a:solidFill>
                  <a:schemeClr val="tx1"/>
                </a:solidFill>
              </a:rPr>
              <a:t> by </a:t>
            </a:r>
            <a:r>
              <a:rPr lang="it-IT" sz="800">
                <a:solidFill>
                  <a:schemeClr val="tx1"/>
                </a:solidFill>
              </a:rPr>
              <a:t>the task.</a:t>
            </a:r>
            <a:endParaRPr lang="it-IT" sz="800" dirty="0">
              <a:solidFill>
                <a:schemeClr val="tx1"/>
              </a:solidFill>
            </a:endParaRPr>
          </a:p>
        </p:txBody>
      </p:sp>
      <p:sp>
        <p:nvSpPr>
          <p:cNvPr id="9" name="Rettangolo con angoli arrotondati 8">
            <a:extLst>
              <a:ext uri="{FF2B5EF4-FFF2-40B4-BE49-F238E27FC236}">
                <a16:creationId xmlns:a16="http://schemas.microsoft.com/office/drawing/2014/main" id="{318772E8-B392-4B05-BA45-F151B301D691}"/>
              </a:ext>
            </a:extLst>
          </p:cNvPr>
          <p:cNvSpPr/>
          <p:nvPr/>
        </p:nvSpPr>
        <p:spPr>
          <a:xfrm>
            <a:off x="2270309" y="718587"/>
            <a:ext cx="1473484" cy="820524"/>
          </a:xfrm>
          <a:prstGeom prst="roundRect">
            <a:avLst/>
          </a:prstGeom>
          <a:solidFill>
            <a:schemeClr val="bg1">
              <a:lumMod val="85000"/>
              <a:alpha val="2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dirty="0">
                <a:solidFill>
                  <a:schemeClr val="tx1"/>
                </a:solidFill>
              </a:rPr>
              <a:t>The system </a:t>
            </a:r>
            <a:r>
              <a:rPr lang="it-IT" sz="800" dirty="0" err="1">
                <a:solidFill>
                  <a:schemeClr val="tx1"/>
                </a:solidFill>
              </a:rPr>
              <a:t>is</a:t>
            </a:r>
            <a:r>
              <a:rPr lang="it-IT" sz="800" dirty="0">
                <a:solidFill>
                  <a:schemeClr val="tx1"/>
                </a:solidFill>
              </a:rPr>
              <a:t> </a:t>
            </a:r>
            <a:r>
              <a:rPr lang="it-IT" sz="800" dirty="0" err="1">
                <a:solidFill>
                  <a:schemeClr val="tx1"/>
                </a:solidFill>
              </a:rPr>
              <a:t>effective</a:t>
            </a:r>
            <a:r>
              <a:rPr lang="it-IT" sz="800" dirty="0">
                <a:solidFill>
                  <a:schemeClr val="tx1"/>
                </a:solidFill>
              </a:rPr>
              <a:t> </a:t>
            </a:r>
            <a:r>
              <a:rPr lang="it-IT" sz="800" dirty="0" err="1">
                <a:solidFill>
                  <a:schemeClr val="tx1"/>
                </a:solidFill>
              </a:rPr>
              <a:t>at</a:t>
            </a:r>
            <a:r>
              <a:rPr lang="it-IT" sz="800" dirty="0">
                <a:solidFill>
                  <a:schemeClr val="tx1"/>
                </a:solidFill>
              </a:rPr>
              <a:t> </a:t>
            </a:r>
            <a:r>
              <a:rPr lang="it-IT" sz="800" dirty="0" err="1">
                <a:solidFill>
                  <a:schemeClr val="tx1"/>
                </a:solidFill>
              </a:rPr>
              <a:t>limiting</a:t>
            </a:r>
            <a:r>
              <a:rPr lang="it-IT" sz="800" dirty="0">
                <a:solidFill>
                  <a:schemeClr val="tx1"/>
                </a:solidFill>
              </a:rPr>
              <a:t> the </a:t>
            </a:r>
            <a:r>
              <a:rPr lang="it-IT" sz="800" dirty="0" err="1">
                <a:solidFill>
                  <a:schemeClr val="tx1"/>
                </a:solidFill>
              </a:rPr>
              <a:t>required</a:t>
            </a:r>
            <a:r>
              <a:rPr lang="it-IT" sz="800" dirty="0">
                <a:solidFill>
                  <a:schemeClr val="tx1"/>
                </a:solidFill>
              </a:rPr>
              <a:t> information </a:t>
            </a:r>
            <a:r>
              <a:rPr lang="it-IT" sz="800" dirty="0" err="1">
                <a:solidFill>
                  <a:schemeClr val="tx1"/>
                </a:solidFill>
              </a:rPr>
              <a:t>but</a:t>
            </a:r>
            <a:r>
              <a:rPr lang="it-IT" sz="800" dirty="0">
                <a:solidFill>
                  <a:schemeClr val="tx1"/>
                </a:solidFill>
              </a:rPr>
              <a:t> </a:t>
            </a:r>
            <a:r>
              <a:rPr lang="it-IT" sz="800" dirty="0" err="1">
                <a:solidFill>
                  <a:schemeClr val="tx1"/>
                </a:solidFill>
              </a:rPr>
              <a:t>this</a:t>
            </a:r>
            <a:r>
              <a:rPr lang="it-IT" sz="800" dirty="0">
                <a:solidFill>
                  <a:schemeClr val="tx1"/>
                </a:solidFill>
              </a:rPr>
              <a:t> </a:t>
            </a:r>
            <a:r>
              <a:rPr lang="it-IT" sz="800" dirty="0" err="1">
                <a:solidFill>
                  <a:schemeClr val="tx1"/>
                </a:solidFill>
              </a:rPr>
              <a:t>does</a:t>
            </a:r>
            <a:r>
              <a:rPr lang="it-IT" sz="800" dirty="0">
                <a:solidFill>
                  <a:schemeClr val="tx1"/>
                </a:solidFill>
              </a:rPr>
              <a:t> </a:t>
            </a:r>
            <a:r>
              <a:rPr lang="it-IT" sz="800" dirty="0" err="1">
                <a:solidFill>
                  <a:schemeClr val="tx1"/>
                </a:solidFill>
              </a:rPr>
              <a:t>not</a:t>
            </a:r>
            <a:r>
              <a:rPr lang="it-IT" sz="800" dirty="0">
                <a:solidFill>
                  <a:schemeClr val="tx1"/>
                </a:solidFill>
              </a:rPr>
              <a:t> always </a:t>
            </a:r>
            <a:r>
              <a:rPr lang="it-IT" sz="800" dirty="0" err="1">
                <a:solidFill>
                  <a:schemeClr val="tx1"/>
                </a:solidFill>
              </a:rPr>
              <a:t>translate</a:t>
            </a:r>
            <a:r>
              <a:rPr lang="it-IT" sz="800" dirty="0">
                <a:solidFill>
                  <a:schemeClr val="tx1"/>
                </a:solidFill>
              </a:rPr>
              <a:t> to the </a:t>
            </a:r>
            <a:r>
              <a:rPr lang="it-IT" sz="800" dirty="0" err="1">
                <a:solidFill>
                  <a:schemeClr val="tx1"/>
                </a:solidFill>
              </a:rPr>
              <a:t>ability</a:t>
            </a:r>
            <a:r>
              <a:rPr lang="it-IT" sz="800" dirty="0">
                <a:solidFill>
                  <a:schemeClr val="tx1"/>
                </a:solidFill>
              </a:rPr>
              <a:t> of </a:t>
            </a:r>
            <a:r>
              <a:rPr lang="it-IT" sz="800" dirty="0" err="1">
                <a:solidFill>
                  <a:schemeClr val="tx1"/>
                </a:solidFill>
              </a:rPr>
              <a:t>fully</a:t>
            </a:r>
            <a:r>
              <a:rPr lang="it-IT" sz="800" dirty="0">
                <a:solidFill>
                  <a:schemeClr val="tx1"/>
                </a:solidFill>
              </a:rPr>
              <a:t> </a:t>
            </a:r>
            <a:r>
              <a:rPr lang="it-IT" sz="800" dirty="0" err="1">
                <a:solidFill>
                  <a:schemeClr val="tx1"/>
                </a:solidFill>
              </a:rPr>
              <a:t>answering</a:t>
            </a:r>
            <a:r>
              <a:rPr lang="it-IT" sz="800" dirty="0">
                <a:solidFill>
                  <a:schemeClr val="tx1"/>
                </a:solidFill>
              </a:rPr>
              <a:t> the query.</a:t>
            </a:r>
          </a:p>
        </p:txBody>
      </p:sp>
      <p:sp>
        <p:nvSpPr>
          <p:cNvPr id="10" name="Rettangolo con angoli arrotondati 9">
            <a:extLst>
              <a:ext uri="{FF2B5EF4-FFF2-40B4-BE49-F238E27FC236}">
                <a16:creationId xmlns:a16="http://schemas.microsoft.com/office/drawing/2014/main" id="{096EE2F0-830F-43F5-AF40-9AFC64028D9C}"/>
              </a:ext>
            </a:extLst>
          </p:cNvPr>
          <p:cNvSpPr/>
          <p:nvPr/>
        </p:nvSpPr>
        <p:spPr>
          <a:xfrm>
            <a:off x="3858334" y="718587"/>
            <a:ext cx="1473484" cy="820524"/>
          </a:xfrm>
          <a:prstGeom prst="roundRect">
            <a:avLst/>
          </a:prstGeom>
          <a:solidFill>
            <a:schemeClr val="bg1">
              <a:lumMod val="85000"/>
              <a:alpha val="2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800" dirty="0">
                <a:solidFill>
                  <a:schemeClr val="tx1"/>
                </a:solidFill>
              </a:rPr>
              <a:t>The </a:t>
            </a:r>
            <a:r>
              <a:rPr lang="it-IT" sz="800" dirty="0" err="1">
                <a:solidFill>
                  <a:schemeClr val="tx1"/>
                </a:solidFill>
              </a:rPr>
              <a:t>advantages</a:t>
            </a:r>
            <a:r>
              <a:rPr lang="it-IT" sz="800" dirty="0">
                <a:solidFill>
                  <a:schemeClr val="tx1"/>
                </a:solidFill>
              </a:rPr>
              <a:t> </a:t>
            </a:r>
            <a:r>
              <a:rPr lang="it-IT" sz="800" dirty="0" err="1">
                <a:solidFill>
                  <a:schemeClr val="tx1"/>
                </a:solidFill>
              </a:rPr>
              <a:t>diminishes</a:t>
            </a:r>
            <a:r>
              <a:rPr lang="it-IT" sz="800" dirty="0">
                <a:solidFill>
                  <a:schemeClr val="tx1"/>
                </a:solidFill>
              </a:rPr>
              <a:t> on complex </a:t>
            </a:r>
            <a:r>
              <a:rPr lang="it-IT" sz="800" dirty="0" err="1">
                <a:solidFill>
                  <a:schemeClr val="tx1"/>
                </a:solidFill>
              </a:rPr>
              <a:t>questions</a:t>
            </a:r>
            <a:r>
              <a:rPr lang="it-IT" sz="800" dirty="0">
                <a:solidFill>
                  <a:schemeClr val="tx1"/>
                </a:solidFill>
              </a:rPr>
              <a:t> </a:t>
            </a:r>
            <a:r>
              <a:rPr lang="it-IT" sz="800" dirty="0" err="1">
                <a:solidFill>
                  <a:schemeClr val="tx1"/>
                </a:solidFill>
              </a:rPr>
              <a:t>that</a:t>
            </a:r>
            <a:r>
              <a:rPr lang="it-IT" sz="800" dirty="0">
                <a:solidFill>
                  <a:schemeClr val="tx1"/>
                </a:solidFill>
              </a:rPr>
              <a:t> </a:t>
            </a:r>
            <a:r>
              <a:rPr lang="it-IT" sz="800" dirty="0" err="1">
                <a:solidFill>
                  <a:schemeClr val="tx1"/>
                </a:solidFill>
              </a:rPr>
              <a:t>require</a:t>
            </a:r>
            <a:r>
              <a:rPr lang="it-IT" sz="800" dirty="0">
                <a:solidFill>
                  <a:schemeClr val="tx1"/>
                </a:solidFill>
              </a:rPr>
              <a:t> more </a:t>
            </a:r>
            <a:r>
              <a:rPr lang="it-IT" sz="800" dirty="0" err="1">
                <a:solidFill>
                  <a:schemeClr val="tx1"/>
                </a:solidFill>
              </a:rPr>
              <a:t>informations</a:t>
            </a:r>
            <a:r>
              <a:rPr lang="it-IT" sz="800" dirty="0">
                <a:solidFill>
                  <a:schemeClr val="tx1"/>
                </a:solidFill>
              </a:rPr>
              <a:t> and context.</a:t>
            </a:r>
          </a:p>
        </p:txBody>
      </p:sp>
      <p:pic>
        <p:nvPicPr>
          <p:cNvPr id="3" name="Immagine 2">
            <a:extLst>
              <a:ext uri="{FF2B5EF4-FFF2-40B4-BE49-F238E27FC236}">
                <a16:creationId xmlns:a16="http://schemas.microsoft.com/office/drawing/2014/main" id="{6A3F6119-351A-4425-9D9A-052A1B5224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7202" b="17825"/>
          <a:stretch/>
        </p:blipFill>
        <p:spPr>
          <a:xfrm>
            <a:off x="1715632" y="1622425"/>
            <a:ext cx="2552894" cy="904745"/>
          </a:xfrm>
          <a:prstGeom prst="rect">
            <a:avLst/>
          </a:prstGeom>
        </p:spPr>
      </p:pic>
    </p:spTree>
    <p:extLst>
      <p:ext uri="{BB962C8B-B14F-4D97-AF65-F5344CB8AC3E}">
        <p14:creationId xmlns:p14="http://schemas.microsoft.com/office/powerpoint/2010/main" val="1858635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Limitations</a:t>
            </a:r>
          </a:p>
        </p:txBody>
      </p:sp>
      <p:sp>
        <p:nvSpPr>
          <p:cNvPr id="6" name="Rettangolo con angoli arrotondati 5">
            <a:extLst>
              <a:ext uri="{FF2B5EF4-FFF2-40B4-BE49-F238E27FC236}">
                <a16:creationId xmlns:a16="http://schemas.microsoft.com/office/drawing/2014/main" id="{CBB7E483-3380-46EE-885A-32115515353F}"/>
              </a:ext>
            </a:extLst>
          </p:cNvPr>
          <p:cNvSpPr/>
          <p:nvPr/>
        </p:nvSpPr>
        <p:spPr>
          <a:xfrm>
            <a:off x="790089" y="733224"/>
            <a:ext cx="1895006" cy="820524"/>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7" name="CasellaDiTesto 6">
            <a:extLst>
              <a:ext uri="{FF2B5EF4-FFF2-40B4-BE49-F238E27FC236}">
                <a16:creationId xmlns:a16="http://schemas.microsoft.com/office/drawing/2014/main" id="{52D91C1C-4A3D-4F35-96CE-612E7831BCA8}"/>
              </a:ext>
            </a:extLst>
          </p:cNvPr>
          <p:cNvSpPr txBox="1"/>
          <p:nvPr/>
        </p:nvSpPr>
        <p:spPr>
          <a:xfrm>
            <a:off x="868813" y="792413"/>
            <a:ext cx="1737557" cy="623248"/>
          </a:xfrm>
          <a:prstGeom prst="rect">
            <a:avLst/>
          </a:prstGeom>
          <a:noFill/>
        </p:spPr>
        <p:txBody>
          <a:bodyPr wrap="square" rtlCol="0">
            <a:spAutoFit/>
          </a:bodyPr>
          <a:lstStyle/>
          <a:p>
            <a:pPr algn="ctr">
              <a:spcAft>
                <a:spcPts val="300"/>
              </a:spcAft>
            </a:pPr>
            <a:r>
              <a:rPr lang="it-IT" sz="800" b="1" dirty="0">
                <a:solidFill>
                  <a:schemeClr val="tx1"/>
                </a:solidFill>
                <a:latin typeface="+mn-lt"/>
              </a:rPr>
              <a:t>Benchmark Scope &amp; sample size</a:t>
            </a:r>
            <a:endParaRPr lang="it-IT" sz="800" dirty="0">
              <a:solidFill>
                <a:schemeClr val="tx1"/>
              </a:solidFill>
              <a:latin typeface="+mn-lt"/>
            </a:endParaRPr>
          </a:p>
          <a:p>
            <a:pPr algn="ctr"/>
            <a:r>
              <a:rPr lang="it-IT" sz="800" dirty="0">
                <a:latin typeface="+mn-lt"/>
              </a:rPr>
              <a:t>The </a:t>
            </a:r>
            <a:r>
              <a:rPr lang="it-IT" sz="800" dirty="0" err="1">
                <a:latin typeface="+mn-lt"/>
              </a:rPr>
              <a:t>evaluation</a:t>
            </a:r>
            <a:r>
              <a:rPr lang="it-IT" sz="800" dirty="0">
                <a:latin typeface="+mn-lt"/>
              </a:rPr>
              <a:t> </a:t>
            </a:r>
            <a:r>
              <a:rPr lang="it-IT" sz="800" dirty="0" err="1">
                <a:latin typeface="+mn-lt"/>
              </a:rPr>
              <a:t>is</a:t>
            </a:r>
            <a:r>
              <a:rPr lang="it-IT" sz="800" dirty="0">
                <a:latin typeface="+mn-lt"/>
              </a:rPr>
              <a:t> limited to 20 </a:t>
            </a:r>
            <a:r>
              <a:rPr lang="it-IT" sz="800" dirty="0" err="1">
                <a:latin typeface="+mn-lt"/>
              </a:rPr>
              <a:t>questions</a:t>
            </a:r>
            <a:r>
              <a:rPr lang="it-IT" sz="800" dirty="0">
                <a:latin typeface="+mn-lt"/>
              </a:rPr>
              <a:t> in a single scenario, </a:t>
            </a:r>
            <a:r>
              <a:rPr lang="it-IT" sz="800" dirty="0" err="1">
                <a:latin typeface="+mn-lt"/>
              </a:rPr>
              <a:t>limiting</a:t>
            </a:r>
            <a:r>
              <a:rPr lang="it-IT" sz="800" dirty="0">
                <a:latin typeface="+mn-lt"/>
              </a:rPr>
              <a:t> </a:t>
            </a:r>
            <a:r>
              <a:rPr lang="it-IT" sz="800" dirty="0" err="1">
                <a:latin typeface="+mn-lt"/>
              </a:rPr>
              <a:t>statistical</a:t>
            </a:r>
            <a:r>
              <a:rPr lang="it-IT" sz="800" dirty="0">
                <a:latin typeface="+mn-lt"/>
              </a:rPr>
              <a:t> </a:t>
            </a:r>
            <a:r>
              <a:rPr lang="it-IT" sz="800" dirty="0" err="1">
                <a:latin typeface="+mn-lt"/>
              </a:rPr>
              <a:t>robustness</a:t>
            </a:r>
            <a:r>
              <a:rPr lang="it-IT" sz="800" dirty="0">
                <a:latin typeface="+mn-lt"/>
              </a:rPr>
              <a:t>.</a:t>
            </a:r>
          </a:p>
        </p:txBody>
      </p:sp>
      <p:cxnSp>
        <p:nvCxnSpPr>
          <p:cNvPr id="9" name="Connettore diritto 8">
            <a:extLst>
              <a:ext uri="{FF2B5EF4-FFF2-40B4-BE49-F238E27FC236}">
                <a16:creationId xmlns:a16="http://schemas.microsoft.com/office/drawing/2014/main" id="{6B87EEFA-9BD2-462C-9E36-5709B9F86AE4}"/>
              </a:ext>
            </a:extLst>
          </p:cNvPr>
          <p:cNvCxnSpPr>
            <a:cxnSpLocks/>
          </p:cNvCxnSpPr>
          <p:nvPr/>
        </p:nvCxnSpPr>
        <p:spPr>
          <a:xfrm>
            <a:off x="879809" y="980800"/>
            <a:ext cx="1745992" cy="0"/>
          </a:xfrm>
          <a:prstGeom prst="line">
            <a:avLst/>
          </a:prstGeom>
        </p:spPr>
        <p:style>
          <a:lnRef idx="1">
            <a:schemeClr val="dk1"/>
          </a:lnRef>
          <a:fillRef idx="0">
            <a:schemeClr val="dk1"/>
          </a:fillRef>
          <a:effectRef idx="0">
            <a:schemeClr val="dk1"/>
          </a:effectRef>
          <a:fontRef idx="minor">
            <a:schemeClr val="tx1"/>
          </a:fontRef>
        </p:style>
      </p:cxnSp>
      <p:sp>
        <p:nvSpPr>
          <p:cNvPr id="10" name="Rettangolo con angoli arrotondati 9">
            <a:extLst>
              <a:ext uri="{FF2B5EF4-FFF2-40B4-BE49-F238E27FC236}">
                <a16:creationId xmlns:a16="http://schemas.microsoft.com/office/drawing/2014/main" id="{0E1D6714-B4FE-4F44-9672-AA07E7DE6169}"/>
              </a:ext>
            </a:extLst>
          </p:cNvPr>
          <p:cNvSpPr/>
          <p:nvPr/>
        </p:nvSpPr>
        <p:spPr>
          <a:xfrm>
            <a:off x="2990985" y="748288"/>
            <a:ext cx="1895006" cy="797456"/>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11" name="CasellaDiTesto 10">
            <a:extLst>
              <a:ext uri="{FF2B5EF4-FFF2-40B4-BE49-F238E27FC236}">
                <a16:creationId xmlns:a16="http://schemas.microsoft.com/office/drawing/2014/main" id="{FB8777A7-53CD-42E8-8709-02C28642C00F}"/>
              </a:ext>
            </a:extLst>
          </p:cNvPr>
          <p:cNvSpPr txBox="1"/>
          <p:nvPr/>
        </p:nvSpPr>
        <p:spPr>
          <a:xfrm>
            <a:off x="3069709" y="807477"/>
            <a:ext cx="1737557" cy="746358"/>
          </a:xfrm>
          <a:prstGeom prst="rect">
            <a:avLst/>
          </a:prstGeom>
          <a:noFill/>
        </p:spPr>
        <p:txBody>
          <a:bodyPr wrap="square" rtlCol="0">
            <a:spAutoFit/>
          </a:bodyPr>
          <a:lstStyle/>
          <a:p>
            <a:pPr algn="ctr">
              <a:spcAft>
                <a:spcPts val="300"/>
              </a:spcAft>
            </a:pPr>
            <a:r>
              <a:rPr lang="it-IT" sz="800" b="1" dirty="0">
                <a:solidFill>
                  <a:schemeClr val="tx1"/>
                </a:solidFill>
                <a:latin typeface="+mn-lt"/>
              </a:rPr>
              <a:t>Single baseline</a:t>
            </a:r>
            <a:endParaRPr lang="it-IT" sz="800" dirty="0">
              <a:solidFill>
                <a:schemeClr val="tx1"/>
              </a:solidFill>
              <a:latin typeface="+mn-lt"/>
            </a:endParaRPr>
          </a:p>
          <a:p>
            <a:pPr algn="ctr"/>
            <a:r>
              <a:rPr lang="it-IT" sz="800" dirty="0">
                <a:latin typeface="+mn-lt"/>
              </a:rPr>
              <a:t>The </a:t>
            </a:r>
            <a:r>
              <a:rPr lang="it-IT" sz="800" dirty="0" err="1">
                <a:latin typeface="+mn-lt"/>
              </a:rPr>
              <a:t>evaluation</a:t>
            </a:r>
            <a:r>
              <a:rPr lang="it-IT" sz="800" dirty="0">
                <a:latin typeface="+mn-lt"/>
              </a:rPr>
              <a:t> compare FUNES </a:t>
            </a:r>
            <a:r>
              <a:rPr lang="it-IT" sz="800" dirty="0" err="1">
                <a:latin typeface="+mn-lt"/>
              </a:rPr>
              <a:t>against</a:t>
            </a:r>
            <a:r>
              <a:rPr lang="it-IT" sz="800" dirty="0">
                <a:latin typeface="+mn-lt"/>
              </a:rPr>
              <a:t> a single model, general </a:t>
            </a:r>
            <a:r>
              <a:rPr lang="it-IT" sz="800" dirty="0" err="1">
                <a:latin typeface="+mn-lt"/>
              </a:rPr>
              <a:t>superiority</a:t>
            </a:r>
            <a:r>
              <a:rPr lang="it-IT" sz="800" dirty="0">
                <a:latin typeface="+mn-lt"/>
              </a:rPr>
              <a:t> over </a:t>
            </a:r>
            <a:r>
              <a:rPr lang="it-IT" sz="800" dirty="0" err="1">
                <a:latin typeface="+mn-lt"/>
              </a:rPr>
              <a:t>other</a:t>
            </a:r>
            <a:r>
              <a:rPr lang="it-IT" sz="800" dirty="0">
                <a:latin typeface="+mn-lt"/>
              </a:rPr>
              <a:t> </a:t>
            </a:r>
            <a:r>
              <a:rPr lang="it-IT" sz="800" dirty="0" err="1">
                <a:latin typeface="+mn-lt"/>
              </a:rPr>
              <a:t>LLMs</a:t>
            </a:r>
            <a:r>
              <a:rPr lang="it-IT" sz="800" dirty="0">
                <a:latin typeface="+mn-lt"/>
              </a:rPr>
              <a:t> must be </a:t>
            </a:r>
            <a:r>
              <a:rPr lang="it-IT" sz="800" dirty="0" err="1">
                <a:latin typeface="+mn-lt"/>
              </a:rPr>
              <a:t>studied</a:t>
            </a:r>
            <a:r>
              <a:rPr lang="it-IT" sz="800" dirty="0">
                <a:latin typeface="+mn-lt"/>
              </a:rPr>
              <a:t>.</a:t>
            </a:r>
          </a:p>
        </p:txBody>
      </p:sp>
      <p:cxnSp>
        <p:nvCxnSpPr>
          <p:cNvPr id="12" name="Connettore diritto 11">
            <a:extLst>
              <a:ext uri="{FF2B5EF4-FFF2-40B4-BE49-F238E27FC236}">
                <a16:creationId xmlns:a16="http://schemas.microsoft.com/office/drawing/2014/main" id="{376735C1-AA23-4E6D-B56E-823AFA179185}"/>
              </a:ext>
            </a:extLst>
          </p:cNvPr>
          <p:cNvCxnSpPr>
            <a:cxnSpLocks/>
          </p:cNvCxnSpPr>
          <p:nvPr/>
        </p:nvCxnSpPr>
        <p:spPr>
          <a:xfrm>
            <a:off x="3077800" y="995864"/>
            <a:ext cx="1745992" cy="0"/>
          </a:xfrm>
          <a:prstGeom prst="line">
            <a:avLst/>
          </a:prstGeom>
        </p:spPr>
        <p:style>
          <a:lnRef idx="1">
            <a:schemeClr val="dk1"/>
          </a:lnRef>
          <a:fillRef idx="0">
            <a:schemeClr val="dk1"/>
          </a:fillRef>
          <a:effectRef idx="0">
            <a:schemeClr val="dk1"/>
          </a:effectRef>
          <a:fontRef idx="minor">
            <a:schemeClr val="tx1"/>
          </a:fontRef>
        </p:style>
      </p:cxnSp>
      <p:sp>
        <p:nvSpPr>
          <p:cNvPr id="14" name="Rettangolo con angoli arrotondati 13">
            <a:extLst>
              <a:ext uri="{FF2B5EF4-FFF2-40B4-BE49-F238E27FC236}">
                <a16:creationId xmlns:a16="http://schemas.microsoft.com/office/drawing/2014/main" id="{3122BA3C-9DE5-40C8-8C39-F0652E8690D4}"/>
              </a:ext>
            </a:extLst>
          </p:cNvPr>
          <p:cNvSpPr/>
          <p:nvPr/>
        </p:nvSpPr>
        <p:spPr>
          <a:xfrm>
            <a:off x="778937" y="1604048"/>
            <a:ext cx="1895006" cy="682437"/>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15" name="CasellaDiTesto 14">
            <a:extLst>
              <a:ext uri="{FF2B5EF4-FFF2-40B4-BE49-F238E27FC236}">
                <a16:creationId xmlns:a16="http://schemas.microsoft.com/office/drawing/2014/main" id="{05AD3AAE-23DC-44EB-A9B3-37F18D69BFB0}"/>
              </a:ext>
            </a:extLst>
          </p:cNvPr>
          <p:cNvSpPr txBox="1"/>
          <p:nvPr/>
        </p:nvSpPr>
        <p:spPr>
          <a:xfrm>
            <a:off x="857661" y="1663237"/>
            <a:ext cx="1737557" cy="623248"/>
          </a:xfrm>
          <a:prstGeom prst="rect">
            <a:avLst/>
          </a:prstGeom>
          <a:noFill/>
        </p:spPr>
        <p:txBody>
          <a:bodyPr wrap="square" rtlCol="0">
            <a:spAutoFit/>
          </a:bodyPr>
          <a:lstStyle/>
          <a:p>
            <a:pPr algn="ctr">
              <a:spcAft>
                <a:spcPts val="300"/>
              </a:spcAft>
            </a:pPr>
            <a:r>
              <a:rPr lang="it-IT" sz="800" b="1" dirty="0">
                <a:solidFill>
                  <a:schemeClr val="tx1"/>
                </a:solidFill>
                <a:latin typeface="+mn-lt"/>
              </a:rPr>
              <a:t>API </a:t>
            </a:r>
            <a:r>
              <a:rPr lang="it-IT" sz="800" b="1" dirty="0" err="1">
                <a:solidFill>
                  <a:schemeClr val="tx1"/>
                </a:solidFill>
                <a:latin typeface="+mn-lt"/>
              </a:rPr>
              <a:t>Constraint</a:t>
            </a:r>
            <a:endParaRPr lang="it-IT" sz="800" dirty="0">
              <a:solidFill>
                <a:schemeClr val="tx1"/>
              </a:solidFill>
              <a:latin typeface="+mn-lt"/>
            </a:endParaRPr>
          </a:p>
          <a:p>
            <a:pPr algn="ctr"/>
            <a:r>
              <a:rPr lang="it-IT" sz="800" dirty="0" err="1">
                <a:latin typeface="+mn-lt"/>
              </a:rPr>
              <a:t>Groq</a:t>
            </a:r>
            <a:r>
              <a:rPr lang="it-IT" sz="800" dirty="0">
                <a:latin typeface="+mn-lt"/>
              </a:rPr>
              <a:t> API rate/token </a:t>
            </a:r>
            <a:r>
              <a:rPr lang="it-IT" sz="800" dirty="0" err="1">
                <a:latin typeface="+mn-lt"/>
              </a:rPr>
              <a:t>limits</a:t>
            </a:r>
            <a:r>
              <a:rPr lang="it-IT" sz="800" dirty="0">
                <a:latin typeface="+mn-lt"/>
              </a:rPr>
              <a:t> restricted </a:t>
            </a:r>
            <a:r>
              <a:rPr lang="it-IT" sz="800" dirty="0" err="1">
                <a:latin typeface="+mn-lt"/>
              </a:rPr>
              <a:t>repeated</a:t>
            </a:r>
            <a:r>
              <a:rPr lang="it-IT" sz="800" dirty="0">
                <a:latin typeface="+mn-lt"/>
              </a:rPr>
              <a:t> </a:t>
            </a:r>
            <a:r>
              <a:rPr lang="it-IT" sz="800" dirty="0" err="1">
                <a:latin typeface="+mn-lt"/>
              </a:rPr>
              <a:t>runs</a:t>
            </a:r>
            <a:r>
              <a:rPr lang="it-IT" sz="800" dirty="0">
                <a:latin typeface="+mn-lt"/>
              </a:rPr>
              <a:t> under </a:t>
            </a:r>
            <a:r>
              <a:rPr lang="it-IT" sz="800" dirty="0" err="1">
                <a:latin typeface="+mn-lt"/>
              </a:rPr>
              <a:t>identical</a:t>
            </a:r>
            <a:r>
              <a:rPr lang="it-IT" sz="800" dirty="0">
                <a:latin typeface="+mn-lt"/>
              </a:rPr>
              <a:t> </a:t>
            </a:r>
            <a:r>
              <a:rPr lang="it-IT" sz="800" dirty="0" err="1">
                <a:latin typeface="+mn-lt"/>
              </a:rPr>
              <a:t>experimental</a:t>
            </a:r>
            <a:r>
              <a:rPr lang="it-IT" sz="800" dirty="0">
                <a:latin typeface="+mn-lt"/>
              </a:rPr>
              <a:t> </a:t>
            </a:r>
            <a:r>
              <a:rPr lang="it-IT" sz="800" dirty="0" err="1">
                <a:latin typeface="+mn-lt"/>
              </a:rPr>
              <a:t>conditions</a:t>
            </a:r>
            <a:r>
              <a:rPr lang="it-IT" sz="800" dirty="0">
                <a:latin typeface="+mn-lt"/>
              </a:rPr>
              <a:t>.</a:t>
            </a:r>
          </a:p>
        </p:txBody>
      </p:sp>
      <p:cxnSp>
        <p:nvCxnSpPr>
          <p:cNvPr id="16" name="Connettore diritto 15">
            <a:extLst>
              <a:ext uri="{FF2B5EF4-FFF2-40B4-BE49-F238E27FC236}">
                <a16:creationId xmlns:a16="http://schemas.microsoft.com/office/drawing/2014/main" id="{88AF39C3-22B6-4280-992A-53DB8EDB036D}"/>
              </a:ext>
            </a:extLst>
          </p:cNvPr>
          <p:cNvCxnSpPr>
            <a:cxnSpLocks/>
          </p:cNvCxnSpPr>
          <p:nvPr/>
        </p:nvCxnSpPr>
        <p:spPr>
          <a:xfrm>
            <a:off x="868657" y="1851624"/>
            <a:ext cx="1745992" cy="0"/>
          </a:xfrm>
          <a:prstGeom prst="line">
            <a:avLst/>
          </a:prstGeom>
        </p:spPr>
        <p:style>
          <a:lnRef idx="1">
            <a:schemeClr val="dk1"/>
          </a:lnRef>
          <a:fillRef idx="0">
            <a:schemeClr val="dk1"/>
          </a:fillRef>
          <a:effectRef idx="0">
            <a:schemeClr val="dk1"/>
          </a:effectRef>
          <a:fontRef idx="minor">
            <a:schemeClr val="tx1"/>
          </a:fontRef>
        </p:style>
      </p:cxnSp>
      <p:sp>
        <p:nvSpPr>
          <p:cNvPr id="17" name="Rettangolo con angoli arrotondati 16">
            <a:extLst>
              <a:ext uri="{FF2B5EF4-FFF2-40B4-BE49-F238E27FC236}">
                <a16:creationId xmlns:a16="http://schemas.microsoft.com/office/drawing/2014/main" id="{2308EEE6-AE7E-40F3-9BF5-87DF4956ECF5}"/>
              </a:ext>
            </a:extLst>
          </p:cNvPr>
          <p:cNvSpPr/>
          <p:nvPr/>
        </p:nvSpPr>
        <p:spPr>
          <a:xfrm>
            <a:off x="3002137" y="1604048"/>
            <a:ext cx="1895006" cy="682437"/>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18" name="CasellaDiTesto 17">
            <a:extLst>
              <a:ext uri="{FF2B5EF4-FFF2-40B4-BE49-F238E27FC236}">
                <a16:creationId xmlns:a16="http://schemas.microsoft.com/office/drawing/2014/main" id="{54659245-39F4-48BD-B0D5-ECCF9B058D7F}"/>
              </a:ext>
            </a:extLst>
          </p:cNvPr>
          <p:cNvSpPr txBox="1"/>
          <p:nvPr/>
        </p:nvSpPr>
        <p:spPr>
          <a:xfrm>
            <a:off x="3080861" y="1663237"/>
            <a:ext cx="1737557" cy="623248"/>
          </a:xfrm>
          <a:prstGeom prst="rect">
            <a:avLst/>
          </a:prstGeom>
          <a:noFill/>
        </p:spPr>
        <p:txBody>
          <a:bodyPr wrap="square" rtlCol="0">
            <a:spAutoFit/>
          </a:bodyPr>
          <a:lstStyle/>
          <a:p>
            <a:pPr algn="ctr">
              <a:spcAft>
                <a:spcPts val="300"/>
              </a:spcAft>
            </a:pPr>
            <a:r>
              <a:rPr lang="it-IT" sz="800" b="1" dirty="0">
                <a:latin typeface="+mn-lt"/>
              </a:rPr>
              <a:t>Evaluation and </a:t>
            </a:r>
            <a:r>
              <a:rPr lang="it-IT" sz="800" b="1" dirty="0" err="1">
                <a:latin typeface="+mn-lt"/>
              </a:rPr>
              <a:t>Metrics</a:t>
            </a:r>
            <a:r>
              <a:rPr lang="it-IT" sz="800" b="1" dirty="0">
                <a:latin typeface="+mn-lt"/>
              </a:rPr>
              <a:t> </a:t>
            </a:r>
            <a:r>
              <a:rPr lang="it-IT" sz="800" b="1" dirty="0" err="1">
                <a:latin typeface="+mn-lt"/>
              </a:rPr>
              <a:t>Constraints</a:t>
            </a:r>
            <a:endParaRPr lang="it-IT" sz="800" b="1" dirty="0">
              <a:latin typeface="+mn-lt"/>
            </a:endParaRPr>
          </a:p>
          <a:p>
            <a:pPr algn="ctr"/>
            <a:r>
              <a:rPr lang="it-IT" sz="800" dirty="0">
                <a:latin typeface="+mn-lt"/>
              </a:rPr>
              <a:t>The LLM </a:t>
            </a:r>
            <a:r>
              <a:rPr lang="it-IT" sz="800" dirty="0" err="1">
                <a:latin typeface="+mn-lt"/>
              </a:rPr>
              <a:t>as</a:t>
            </a:r>
            <a:r>
              <a:rPr lang="it-IT" sz="800" dirty="0">
                <a:latin typeface="+mn-lt"/>
              </a:rPr>
              <a:t> a </a:t>
            </a:r>
            <a:r>
              <a:rPr lang="it-IT" sz="800" dirty="0" err="1">
                <a:latin typeface="+mn-lt"/>
              </a:rPr>
              <a:t>judge</a:t>
            </a:r>
            <a:r>
              <a:rPr lang="it-IT" sz="800" dirty="0">
                <a:latin typeface="+mn-lt"/>
              </a:rPr>
              <a:t> and </a:t>
            </a:r>
            <a:r>
              <a:rPr lang="it-IT" sz="800" dirty="0" err="1">
                <a:latin typeface="+mn-lt"/>
              </a:rPr>
              <a:t>unweighted</a:t>
            </a:r>
            <a:r>
              <a:rPr lang="it-IT" sz="800" dirty="0">
                <a:latin typeface="+mn-lt"/>
              </a:rPr>
              <a:t> </a:t>
            </a:r>
            <a:r>
              <a:rPr lang="it-IT" sz="800" dirty="0" err="1">
                <a:latin typeface="+mn-lt"/>
              </a:rPr>
              <a:t>criteria</a:t>
            </a:r>
            <a:r>
              <a:rPr lang="it-IT" sz="800" dirty="0">
                <a:latin typeface="+mn-lt"/>
              </a:rPr>
              <a:t> </a:t>
            </a:r>
            <a:r>
              <a:rPr lang="it-IT" sz="800" dirty="0" err="1">
                <a:latin typeface="+mn-lt"/>
              </a:rPr>
              <a:t>may</a:t>
            </a:r>
            <a:r>
              <a:rPr lang="it-IT" sz="800" dirty="0">
                <a:latin typeface="+mn-lt"/>
              </a:rPr>
              <a:t> introduce </a:t>
            </a:r>
            <a:r>
              <a:rPr lang="it-IT" sz="800" dirty="0" err="1">
                <a:latin typeface="+mn-lt"/>
              </a:rPr>
              <a:t>bias</a:t>
            </a:r>
            <a:r>
              <a:rPr lang="it-IT" sz="800" dirty="0">
                <a:latin typeface="+mn-lt"/>
              </a:rPr>
              <a:t> and </a:t>
            </a:r>
            <a:r>
              <a:rPr lang="it-IT" sz="800" dirty="0" err="1">
                <a:latin typeface="+mn-lt"/>
              </a:rPr>
              <a:t>ignore</a:t>
            </a:r>
            <a:r>
              <a:rPr lang="it-IT" sz="800" dirty="0">
                <a:latin typeface="+mn-lt"/>
              </a:rPr>
              <a:t> </a:t>
            </a:r>
            <a:r>
              <a:rPr lang="it-IT" sz="800" dirty="0" err="1">
                <a:latin typeface="+mn-lt"/>
              </a:rPr>
              <a:t>criticality</a:t>
            </a:r>
            <a:r>
              <a:rPr lang="it-IT" sz="800" dirty="0">
                <a:latin typeface="+mn-lt"/>
              </a:rPr>
              <a:t> of </a:t>
            </a:r>
            <a:r>
              <a:rPr lang="it-IT" sz="800" dirty="0" err="1">
                <a:latin typeface="+mn-lt"/>
              </a:rPr>
              <a:t>specific</a:t>
            </a:r>
            <a:r>
              <a:rPr lang="it-IT" sz="800" dirty="0">
                <a:latin typeface="+mn-lt"/>
              </a:rPr>
              <a:t> </a:t>
            </a:r>
            <a:r>
              <a:rPr lang="it-IT" sz="800" dirty="0" err="1">
                <a:latin typeface="+mn-lt"/>
              </a:rPr>
              <a:t>metrics</a:t>
            </a:r>
            <a:r>
              <a:rPr lang="it-IT" sz="800" dirty="0">
                <a:latin typeface="+mn-lt"/>
              </a:rPr>
              <a:t>.</a:t>
            </a:r>
          </a:p>
        </p:txBody>
      </p:sp>
      <p:cxnSp>
        <p:nvCxnSpPr>
          <p:cNvPr id="19" name="Connettore diritto 18">
            <a:extLst>
              <a:ext uri="{FF2B5EF4-FFF2-40B4-BE49-F238E27FC236}">
                <a16:creationId xmlns:a16="http://schemas.microsoft.com/office/drawing/2014/main" id="{07EBE778-9D2B-4FA4-9323-E92AED734519}"/>
              </a:ext>
            </a:extLst>
          </p:cNvPr>
          <p:cNvCxnSpPr>
            <a:cxnSpLocks/>
          </p:cNvCxnSpPr>
          <p:nvPr/>
        </p:nvCxnSpPr>
        <p:spPr>
          <a:xfrm>
            <a:off x="3091857" y="1851624"/>
            <a:ext cx="1745992" cy="0"/>
          </a:xfrm>
          <a:prstGeom prst="line">
            <a:avLst/>
          </a:prstGeom>
        </p:spPr>
        <p:style>
          <a:lnRef idx="1">
            <a:schemeClr val="dk1"/>
          </a:lnRef>
          <a:fillRef idx="0">
            <a:schemeClr val="dk1"/>
          </a:fillRef>
          <a:effectRef idx="0">
            <a:schemeClr val="dk1"/>
          </a:effectRef>
          <a:fontRef idx="minor">
            <a:schemeClr val="tx1"/>
          </a:fontRef>
        </p:style>
      </p:cxnSp>
      <p:sp>
        <p:nvSpPr>
          <p:cNvPr id="20" name="Rettangolo con angoli arrotondati 19">
            <a:extLst>
              <a:ext uri="{FF2B5EF4-FFF2-40B4-BE49-F238E27FC236}">
                <a16:creationId xmlns:a16="http://schemas.microsoft.com/office/drawing/2014/main" id="{485975AD-56AE-4C9C-B860-1977FA633B39}"/>
              </a:ext>
            </a:extLst>
          </p:cNvPr>
          <p:cNvSpPr/>
          <p:nvPr/>
        </p:nvSpPr>
        <p:spPr>
          <a:xfrm>
            <a:off x="1833254" y="2345674"/>
            <a:ext cx="1895006" cy="682437"/>
          </a:xfrm>
          <a:prstGeom prst="roundRect">
            <a:avLst/>
          </a:prstGeom>
          <a:solidFill>
            <a:srgbClr val="8F3432">
              <a:alpha val="20000"/>
            </a:srgb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21" name="CasellaDiTesto 20">
            <a:extLst>
              <a:ext uri="{FF2B5EF4-FFF2-40B4-BE49-F238E27FC236}">
                <a16:creationId xmlns:a16="http://schemas.microsoft.com/office/drawing/2014/main" id="{F5E403FA-708D-4FFC-BD8C-6B92717F5BE8}"/>
              </a:ext>
            </a:extLst>
          </p:cNvPr>
          <p:cNvSpPr txBox="1"/>
          <p:nvPr/>
        </p:nvSpPr>
        <p:spPr>
          <a:xfrm>
            <a:off x="1911978" y="2404863"/>
            <a:ext cx="1737557" cy="623248"/>
          </a:xfrm>
          <a:prstGeom prst="rect">
            <a:avLst/>
          </a:prstGeom>
          <a:noFill/>
        </p:spPr>
        <p:txBody>
          <a:bodyPr wrap="square" rtlCol="0">
            <a:spAutoFit/>
          </a:bodyPr>
          <a:lstStyle/>
          <a:p>
            <a:pPr algn="ctr">
              <a:spcAft>
                <a:spcPts val="300"/>
              </a:spcAft>
            </a:pPr>
            <a:r>
              <a:rPr lang="it-IT" sz="800" b="1" dirty="0" err="1">
                <a:solidFill>
                  <a:schemeClr val="tx1"/>
                </a:solidFill>
                <a:latin typeface="+mn-lt"/>
              </a:rPr>
              <a:t>Ablation</a:t>
            </a:r>
            <a:r>
              <a:rPr lang="it-IT" sz="800" b="1" dirty="0">
                <a:solidFill>
                  <a:schemeClr val="tx1"/>
                </a:solidFill>
                <a:latin typeface="+mn-lt"/>
              </a:rPr>
              <a:t> Study</a:t>
            </a:r>
            <a:endParaRPr lang="it-IT" sz="800" dirty="0">
              <a:solidFill>
                <a:schemeClr val="tx1"/>
              </a:solidFill>
              <a:latin typeface="+mn-lt"/>
            </a:endParaRPr>
          </a:p>
          <a:p>
            <a:pPr algn="ctr"/>
            <a:r>
              <a:rPr lang="it-IT" sz="800" dirty="0">
                <a:latin typeface="+mn-lt"/>
              </a:rPr>
              <a:t>The system </a:t>
            </a:r>
            <a:r>
              <a:rPr lang="it-IT" sz="800" dirty="0" err="1">
                <a:latin typeface="+mn-lt"/>
              </a:rPr>
              <a:t>is</a:t>
            </a:r>
            <a:r>
              <a:rPr lang="it-IT" sz="800" dirty="0">
                <a:latin typeface="+mn-lt"/>
              </a:rPr>
              <a:t> </a:t>
            </a:r>
            <a:r>
              <a:rPr lang="it-IT" sz="800" dirty="0" err="1">
                <a:latin typeface="+mn-lt"/>
              </a:rPr>
              <a:t>evaluated</a:t>
            </a:r>
            <a:r>
              <a:rPr lang="it-IT" sz="800" dirty="0">
                <a:latin typeface="+mn-lt"/>
              </a:rPr>
              <a:t> </a:t>
            </a:r>
            <a:r>
              <a:rPr lang="it-IT" sz="800" dirty="0" err="1">
                <a:latin typeface="+mn-lt"/>
              </a:rPr>
              <a:t>as</a:t>
            </a:r>
            <a:r>
              <a:rPr lang="it-IT" sz="800" dirty="0">
                <a:latin typeface="+mn-lt"/>
              </a:rPr>
              <a:t> a complete </a:t>
            </a:r>
            <a:r>
              <a:rPr lang="it-IT" sz="800" dirty="0" err="1">
                <a:latin typeface="+mn-lt"/>
              </a:rPr>
              <a:t>architecture</a:t>
            </a:r>
            <a:r>
              <a:rPr lang="it-IT" sz="800" dirty="0">
                <a:latin typeface="+mn-lt"/>
              </a:rPr>
              <a:t>, </a:t>
            </a:r>
            <a:r>
              <a:rPr lang="it-IT" sz="800" dirty="0" err="1">
                <a:latin typeface="+mn-lt"/>
              </a:rPr>
              <a:t>preventing</a:t>
            </a:r>
            <a:r>
              <a:rPr lang="it-IT" sz="800" dirty="0">
                <a:latin typeface="+mn-lt"/>
              </a:rPr>
              <a:t> </a:t>
            </a:r>
            <a:r>
              <a:rPr lang="it-IT" sz="800" dirty="0" err="1">
                <a:latin typeface="+mn-lt"/>
              </a:rPr>
              <a:t>isolation</a:t>
            </a:r>
            <a:r>
              <a:rPr lang="it-IT" sz="800" dirty="0">
                <a:latin typeface="+mn-lt"/>
              </a:rPr>
              <a:t> of </a:t>
            </a:r>
            <a:r>
              <a:rPr lang="it-IT" sz="800" dirty="0" err="1">
                <a:latin typeface="+mn-lt"/>
              </a:rPr>
              <a:t>individual</a:t>
            </a:r>
            <a:r>
              <a:rPr lang="it-IT" sz="800" dirty="0">
                <a:latin typeface="+mn-lt"/>
              </a:rPr>
              <a:t> </a:t>
            </a:r>
            <a:r>
              <a:rPr lang="it-IT" sz="800" dirty="0" err="1">
                <a:latin typeface="+mn-lt"/>
              </a:rPr>
              <a:t>contributions</a:t>
            </a:r>
            <a:r>
              <a:rPr lang="it-IT" sz="800" dirty="0">
                <a:latin typeface="+mn-lt"/>
              </a:rPr>
              <a:t>.</a:t>
            </a:r>
          </a:p>
        </p:txBody>
      </p:sp>
      <p:cxnSp>
        <p:nvCxnSpPr>
          <p:cNvPr id="22" name="Connettore diritto 21">
            <a:extLst>
              <a:ext uri="{FF2B5EF4-FFF2-40B4-BE49-F238E27FC236}">
                <a16:creationId xmlns:a16="http://schemas.microsoft.com/office/drawing/2014/main" id="{CCC57727-467D-42D2-8B41-2EF37EA9A066}"/>
              </a:ext>
            </a:extLst>
          </p:cNvPr>
          <p:cNvCxnSpPr>
            <a:cxnSpLocks/>
          </p:cNvCxnSpPr>
          <p:nvPr/>
        </p:nvCxnSpPr>
        <p:spPr>
          <a:xfrm>
            <a:off x="1922974" y="2593250"/>
            <a:ext cx="174599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22443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C390-9BA3-E69B-8A70-ED8DAC5F1D5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DCF6A5-D5F0-4C52-9946-15614F8EC600}"/>
              </a:ext>
            </a:extLst>
          </p:cNvPr>
          <p:cNvSpPr txBox="1"/>
          <p:nvPr/>
        </p:nvSpPr>
        <p:spPr>
          <a:xfrm>
            <a:off x="994577" y="184503"/>
            <a:ext cx="43796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b="1" dirty="0">
                <a:solidFill>
                  <a:schemeClr val="accent2">
                    <a:lumMod val="76000"/>
                  </a:schemeClr>
                </a:solidFill>
              </a:rPr>
              <a:t>Future Work</a:t>
            </a:r>
          </a:p>
        </p:txBody>
      </p:sp>
      <p:sp>
        <p:nvSpPr>
          <p:cNvPr id="6" name="Rettangolo con angoli arrotondati 5">
            <a:extLst>
              <a:ext uri="{FF2B5EF4-FFF2-40B4-BE49-F238E27FC236}">
                <a16:creationId xmlns:a16="http://schemas.microsoft.com/office/drawing/2014/main" id="{CBB7E483-3380-46EE-885A-32115515353F}"/>
              </a:ext>
            </a:extLst>
          </p:cNvPr>
          <p:cNvSpPr/>
          <p:nvPr/>
        </p:nvSpPr>
        <p:spPr>
          <a:xfrm>
            <a:off x="790089" y="733224"/>
            <a:ext cx="1895006" cy="820524"/>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7" name="CasellaDiTesto 6">
            <a:extLst>
              <a:ext uri="{FF2B5EF4-FFF2-40B4-BE49-F238E27FC236}">
                <a16:creationId xmlns:a16="http://schemas.microsoft.com/office/drawing/2014/main" id="{52D91C1C-4A3D-4F35-96CE-612E7831BCA8}"/>
              </a:ext>
            </a:extLst>
          </p:cNvPr>
          <p:cNvSpPr txBox="1"/>
          <p:nvPr/>
        </p:nvSpPr>
        <p:spPr>
          <a:xfrm>
            <a:off x="868813" y="792413"/>
            <a:ext cx="1737557" cy="623248"/>
          </a:xfrm>
          <a:prstGeom prst="rect">
            <a:avLst/>
          </a:prstGeom>
          <a:noFill/>
        </p:spPr>
        <p:txBody>
          <a:bodyPr wrap="square" rtlCol="0">
            <a:spAutoFit/>
          </a:bodyPr>
          <a:lstStyle/>
          <a:p>
            <a:pPr algn="ctr">
              <a:spcAft>
                <a:spcPts val="300"/>
              </a:spcAft>
            </a:pPr>
            <a:r>
              <a:rPr lang="it-IT" sz="800" b="1" dirty="0" err="1">
                <a:solidFill>
                  <a:schemeClr val="tx1"/>
                </a:solidFill>
                <a:latin typeface="+mn-lt"/>
              </a:rPr>
              <a:t>Synthesis</a:t>
            </a:r>
            <a:r>
              <a:rPr lang="it-IT" sz="800" b="1" dirty="0">
                <a:solidFill>
                  <a:schemeClr val="tx1"/>
                </a:solidFill>
                <a:latin typeface="+mn-lt"/>
              </a:rPr>
              <a:t> &amp; </a:t>
            </a:r>
            <a:r>
              <a:rPr lang="it-IT" sz="800" b="1" dirty="0" err="1">
                <a:solidFill>
                  <a:schemeClr val="tx1"/>
                </a:solidFill>
                <a:latin typeface="+mn-lt"/>
              </a:rPr>
              <a:t>Validation</a:t>
            </a:r>
            <a:endParaRPr lang="it-IT" sz="800" dirty="0">
              <a:solidFill>
                <a:schemeClr val="tx1"/>
              </a:solidFill>
              <a:latin typeface="+mn-lt"/>
            </a:endParaRPr>
          </a:p>
          <a:p>
            <a:pPr algn="ctr"/>
            <a:endParaRPr lang="it-IT" sz="800" dirty="0">
              <a:latin typeface="+mn-lt"/>
            </a:endParaRPr>
          </a:p>
          <a:p>
            <a:pPr algn="ctr"/>
            <a:r>
              <a:rPr lang="it-IT" sz="800" dirty="0" err="1">
                <a:latin typeface="+mn-lt"/>
              </a:rPr>
              <a:t>Extend</a:t>
            </a:r>
            <a:r>
              <a:rPr lang="it-IT" sz="800" dirty="0">
                <a:latin typeface="+mn-lt"/>
              </a:rPr>
              <a:t> the </a:t>
            </a:r>
            <a:r>
              <a:rPr lang="it-IT" sz="800" dirty="0" err="1">
                <a:latin typeface="+mn-lt"/>
              </a:rPr>
              <a:t>critic</a:t>
            </a:r>
            <a:r>
              <a:rPr lang="it-IT" sz="800" dirty="0">
                <a:latin typeface="+mn-lt"/>
              </a:rPr>
              <a:t> agent to check the </a:t>
            </a:r>
            <a:r>
              <a:rPr lang="it-IT" sz="800" dirty="0" err="1">
                <a:latin typeface="+mn-lt"/>
              </a:rPr>
              <a:t>synthesizer</a:t>
            </a:r>
            <a:r>
              <a:rPr lang="it-IT" sz="800" dirty="0">
                <a:latin typeface="+mn-lt"/>
              </a:rPr>
              <a:t> </a:t>
            </a:r>
            <a:r>
              <a:rPr lang="it-IT" sz="800" dirty="0" err="1">
                <a:latin typeface="+mn-lt"/>
              </a:rPr>
              <a:t>answer</a:t>
            </a:r>
            <a:r>
              <a:rPr lang="it-IT" sz="800" dirty="0">
                <a:latin typeface="+mn-lt"/>
              </a:rPr>
              <a:t>.</a:t>
            </a:r>
          </a:p>
        </p:txBody>
      </p:sp>
      <p:cxnSp>
        <p:nvCxnSpPr>
          <p:cNvPr id="9" name="Connettore diritto 8">
            <a:extLst>
              <a:ext uri="{FF2B5EF4-FFF2-40B4-BE49-F238E27FC236}">
                <a16:creationId xmlns:a16="http://schemas.microsoft.com/office/drawing/2014/main" id="{6B87EEFA-9BD2-462C-9E36-5709B9F86AE4}"/>
              </a:ext>
            </a:extLst>
          </p:cNvPr>
          <p:cNvCxnSpPr>
            <a:cxnSpLocks/>
          </p:cNvCxnSpPr>
          <p:nvPr/>
        </p:nvCxnSpPr>
        <p:spPr>
          <a:xfrm>
            <a:off x="879809" y="980800"/>
            <a:ext cx="1745992" cy="0"/>
          </a:xfrm>
          <a:prstGeom prst="line">
            <a:avLst/>
          </a:prstGeom>
        </p:spPr>
        <p:style>
          <a:lnRef idx="1">
            <a:schemeClr val="dk1"/>
          </a:lnRef>
          <a:fillRef idx="0">
            <a:schemeClr val="dk1"/>
          </a:fillRef>
          <a:effectRef idx="0">
            <a:schemeClr val="dk1"/>
          </a:effectRef>
          <a:fontRef idx="minor">
            <a:schemeClr val="tx1"/>
          </a:fontRef>
        </p:style>
      </p:cxnSp>
      <p:sp>
        <p:nvSpPr>
          <p:cNvPr id="10" name="Rettangolo con angoli arrotondati 9">
            <a:extLst>
              <a:ext uri="{FF2B5EF4-FFF2-40B4-BE49-F238E27FC236}">
                <a16:creationId xmlns:a16="http://schemas.microsoft.com/office/drawing/2014/main" id="{0E1D6714-B4FE-4F44-9672-AA07E7DE6169}"/>
              </a:ext>
            </a:extLst>
          </p:cNvPr>
          <p:cNvSpPr/>
          <p:nvPr/>
        </p:nvSpPr>
        <p:spPr>
          <a:xfrm>
            <a:off x="2990985" y="748288"/>
            <a:ext cx="1895006" cy="797456"/>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11" name="CasellaDiTesto 10">
            <a:extLst>
              <a:ext uri="{FF2B5EF4-FFF2-40B4-BE49-F238E27FC236}">
                <a16:creationId xmlns:a16="http://schemas.microsoft.com/office/drawing/2014/main" id="{FB8777A7-53CD-42E8-8709-02C28642C00F}"/>
              </a:ext>
            </a:extLst>
          </p:cNvPr>
          <p:cNvSpPr txBox="1"/>
          <p:nvPr/>
        </p:nvSpPr>
        <p:spPr>
          <a:xfrm>
            <a:off x="3069709" y="807477"/>
            <a:ext cx="1737557" cy="623248"/>
          </a:xfrm>
          <a:prstGeom prst="rect">
            <a:avLst/>
          </a:prstGeom>
          <a:noFill/>
        </p:spPr>
        <p:txBody>
          <a:bodyPr wrap="square" rtlCol="0">
            <a:spAutoFit/>
          </a:bodyPr>
          <a:lstStyle/>
          <a:p>
            <a:pPr algn="ctr">
              <a:spcAft>
                <a:spcPts val="300"/>
              </a:spcAft>
            </a:pPr>
            <a:r>
              <a:rPr lang="it-IT" sz="800" b="1" dirty="0">
                <a:solidFill>
                  <a:schemeClr val="tx1"/>
                </a:solidFill>
                <a:latin typeface="+mn-lt"/>
              </a:rPr>
              <a:t>LLM </a:t>
            </a:r>
            <a:r>
              <a:rPr lang="it-IT" sz="800" b="1" dirty="0" err="1">
                <a:solidFill>
                  <a:schemeClr val="tx1"/>
                </a:solidFill>
                <a:latin typeface="+mn-lt"/>
              </a:rPr>
              <a:t>Efficiency</a:t>
            </a:r>
            <a:endParaRPr lang="it-IT" sz="800" dirty="0">
              <a:solidFill>
                <a:schemeClr val="tx1"/>
              </a:solidFill>
              <a:latin typeface="+mn-lt"/>
            </a:endParaRPr>
          </a:p>
          <a:p>
            <a:pPr algn="ctr"/>
            <a:r>
              <a:rPr lang="it-IT" sz="800" dirty="0" err="1">
                <a:latin typeface="+mn-lt"/>
              </a:rPr>
              <a:t>Evaluate</a:t>
            </a:r>
            <a:r>
              <a:rPr lang="it-IT" sz="800" dirty="0">
                <a:latin typeface="+mn-lt"/>
              </a:rPr>
              <a:t> FUNES </a:t>
            </a:r>
            <a:r>
              <a:rPr lang="it-IT" sz="800" dirty="0" err="1">
                <a:latin typeface="+mn-lt"/>
              </a:rPr>
              <a:t>across</a:t>
            </a:r>
            <a:r>
              <a:rPr lang="it-IT" sz="800" dirty="0">
                <a:latin typeface="+mn-lt"/>
              </a:rPr>
              <a:t> diverse model sizes. (The </a:t>
            </a:r>
            <a:r>
              <a:rPr lang="it-IT" sz="800" dirty="0" err="1">
                <a:latin typeface="+mn-lt"/>
              </a:rPr>
              <a:t>orchestration</a:t>
            </a:r>
            <a:r>
              <a:rPr lang="it-IT" sz="800" dirty="0">
                <a:latin typeface="+mn-lt"/>
              </a:rPr>
              <a:t> can compensate </a:t>
            </a:r>
            <a:r>
              <a:rPr lang="it-IT" sz="800" dirty="0" err="1">
                <a:latin typeface="+mn-lt"/>
              </a:rPr>
              <a:t>smaller</a:t>
            </a:r>
            <a:r>
              <a:rPr lang="it-IT" sz="800" dirty="0">
                <a:latin typeface="+mn-lt"/>
              </a:rPr>
              <a:t> models)</a:t>
            </a:r>
          </a:p>
        </p:txBody>
      </p:sp>
      <p:cxnSp>
        <p:nvCxnSpPr>
          <p:cNvPr id="12" name="Connettore diritto 11">
            <a:extLst>
              <a:ext uri="{FF2B5EF4-FFF2-40B4-BE49-F238E27FC236}">
                <a16:creationId xmlns:a16="http://schemas.microsoft.com/office/drawing/2014/main" id="{376735C1-AA23-4E6D-B56E-823AFA179185}"/>
              </a:ext>
            </a:extLst>
          </p:cNvPr>
          <p:cNvCxnSpPr>
            <a:cxnSpLocks/>
          </p:cNvCxnSpPr>
          <p:nvPr/>
        </p:nvCxnSpPr>
        <p:spPr>
          <a:xfrm>
            <a:off x="3077800" y="995864"/>
            <a:ext cx="1745992" cy="0"/>
          </a:xfrm>
          <a:prstGeom prst="line">
            <a:avLst/>
          </a:prstGeom>
        </p:spPr>
        <p:style>
          <a:lnRef idx="1">
            <a:schemeClr val="dk1"/>
          </a:lnRef>
          <a:fillRef idx="0">
            <a:schemeClr val="dk1"/>
          </a:fillRef>
          <a:effectRef idx="0">
            <a:schemeClr val="dk1"/>
          </a:effectRef>
          <a:fontRef idx="minor">
            <a:schemeClr val="tx1"/>
          </a:fontRef>
        </p:style>
      </p:cxnSp>
      <p:sp>
        <p:nvSpPr>
          <p:cNvPr id="17" name="Rettangolo con angoli arrotondati 16">
            <a:extLst>
              <a:ext uri="{FF2B5EF4-FFF2-40B4-BE49-F238E27FC236}">
                <a16:creationId xmlns:a16="http://schemas.microsoft.com/office/drawing/2014/main" id="{2308EEE6-AE7E-40F3-9BF5-87DF4956ECF5}"/>
              </a:ext>
            </a:extLst>
          </p:cNvPr>
          <p:cNvSpPr/>
          <p:nvPr/>
        </p:nvSpPr>
        <p:spPr>
          <a:xfrm>
            <a:off x="3002137" y="1604048"/>
            <a:ext cx="1895006" cy="682437"/>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18" name="CasellaDiTesto 17">
            <a:extLst>
              <a:ext uri="{FF2B5EF4-FFF2-40B4-BE49-F238E27FC236}">
                <a16:creationId xmlns:a16="http://schemas.microsoft.com/office/drawing/2014/main" id="{54659245-39F4-48BD-B0D5-ECCF9B058D7F}"/>
              </a:ext>
            </a:extLst>
          </p:cNvPr>
          <p:cNvSpPr txBox="1"/>
          <p:nvPr/>
        </p:nvSpPr>
        <p:spPr>
          <a:xfrm>
            <a:off x="3080861" y="1663237"/>
            <a:ext cx="1737557" cy="623248"/>
          </a:xfrm>
          <a:prstGeom prst="rect">
            <a:avLst/>
          </a:prstGeom>
          <a:noFill/>
        </p:spPr>
        <p:txBody>
          <a:bodyPr wrap="square" rtlCol="0">
            <a:spAutoFit/>
          </a:bodyPr>
          <a:lstStyle/>
          <a:p>
            <a:pPr algn="ctr">
              <a:spcAft>
                <a:spcPts val="300"/>
              </a:spcAft>
            </a:pPr>
            <a:r>
              <a:rPr lang="it-IT" sz="800" b="1" dirty="0">
                <a:latin typeface="+mn-lt"/>
              </a:rPr>
              <a:t>Benchmark Scaling</a:t>
            </a:r>
          </a:p>
          <a:p>
            <a:pPr algn="ctr"/>
            <a:r>
              <a:rPr lang="it-IT" sz="800" dirty="0" err="1">
                <a:latin typeface="+mn-lt"/>
              </a:rPr>
              <a:t>Expand</a:t>
            </a:r>
            <a:r>
              <a:rPr lang="it-IT" sz="800" dirty="0">
                <a:latin typeface="+mn-lt"/>
              </a:rPr>
              <a:t> the benchmark with </a:t>
            </a:r>
            <a:r>
              <a:rPr lang="it-IT" sz="800" dirty="0" err="1">
                <a:latin typeface="+mn-lt"/>
              </a:rPr>
              <a:t>larger</a:t>
            </a:r>
            <a:r>
              <a:rPr lang="it-IT" sz="800" dirty="0">
                <a:latin typeface="+mn-lt"/>
              </a:rPr>
              <a:t> datasets, </a:t>
            </a:r>
            <a:r>
              <a:rPr lang="it-IT" sz="800" dirty="0" err="1">
                <a:latin typeface="+mn-lt"/>
              </a:rPr>
              <a:t>complex</a:t>
            </a:r>
            <a:r>
              <a:rPr lang="it-IT" sz="800" dirty="0">
                <a:latin typeface="+mn-lt"/>
              </a:rPr>
              <a:t> </a:t>
            </a:r>
            <a:r>
              <a:rPr lang="it-IT" sz="800" dirty="0" err="1">
                <a:latin typeface="+mn-lt"/>
              </a:rPr>
              <a:t>temporal</a:t>
            </a:r>
            <a:r>
              <a:rPr lang="it-IT" sz="800" dirty="0">
                <a:latin typeface="+mn-lt"/>
              </a:rPr>
              <a:t> </a:t>
            </a:r>
            <a:r>
              <a:rPr lang="it-IT" sz="800" dirty="0" err="1">
                <a:latin typeface="+mn-lt"/>
              </a:rPr>
              <a:t>dependencies</a:t>
            </a:r>
            <a:r>
              <a:rPr lang="it-IT" sz="800" dirty="0">
                <a:latin typeface="+mn-lt"/>
              </a:rPr>
              <a:t> and </a:t>
            </a:r>
            <a:r>
              <a:rPr lang="it-IT" sz="800" dirty="0" err="1">
                <a:latin typeface="+mn-lt"/>
              </a:rPr>
              <a:t>ambiguities</a:t>
            </a:r>
            <a:endParaRPr lang="it-IT" sz="800" dirty="0">
              <a:latin typeface="+mn-lt"/>
            </a:endParaRPr>
          </a:p>
        </p:txBody>
      </p:sp>
      <p:cxnSp>
        <p:nvCxnSpPr>
          <p:cNvPr id="19" name="Connettore diritto 18">
            <a:extLst>
              <a:ext uri="{FF2B5EF4-FFF2-40B4-BE49-F238E27FC236}">
                <a16:creationId xmlns:a16="http://schemas.microsoft.com/office/drawing/2014/main" id="{07EBE778-9D2B-4FA4-9323-E92AED734519}"/>
              </a:ext>
            </a:extLst>
          </p:cNvPr>
          <p:cNvCxnSpPr>
            <a:cxnSpLocks/>
          </p:cNvCxnSpPr>
          <p:nvPr/>
        </p:nvCxnSpPr>
        <p:spPr>
          <a:xfrm>
            <a:off x="3091857" y="1851624"/>
            <a:ext cx="1745992" cy="0"/>
          </a:xfrm>
          <a:prstGeom prst="line">
            <a:avLst/>
          </a:prstGeom>
        </p:spPr>
        <p:style>
          <a:lnRef idx="1">
            <a:schemeClr val="dk1"/>
          </a:lnRef>
          <a:fillRef idx="0">
            <a:schemeClr val="dk1"/>
          </a:fillRef>
          <a:effectRef idx="0">
            <a:schemeClr val="dk1"/>
          </a:effectRef>
          <a:fontRef idx="minor">
            <a:schemeClr val="tx1"/>
          </a:fontRef>
        </p:style>
      </p:cxnSp>
      <p:sp>
        <p:nvSpPr>
          <p:cNvPr id="20" name="Rettangolo con angoli arrotondati 19">
            <a:extLst>
              <a:ext uri="{FF2B5EF4-FFF2-40B4-BE49-F238E27FC236}">
                <a16:creationId xmlns:a16="http://schemas.microsoft.com/office/drawing/2014/main" id="{485975AD-56AE-4C9C-B860-1977FA633B39}"/>
              </a:ext>
            </a:extLst>
          </p:cNvPr>
          <p:cNvSpPr/>
          <p:nvPr/>
        </p:nvSpPr>
        <p:spPr>
          <a:xfrm>
            <a:off x="789934" y="1622425"/>
            <a:ext cx="1895006" cy="682437"/>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21" name="CasellaDiTesto 20">
            <a:extLst>
              <a:ext uri="{FF2B5EF4-FFF2-40B4-BE49-F238E27FC236}">
                <a16:creationId xmlns:a16="http://schemas.microsoft.com/office/drawing/2014/main" id="{F5E403FA-708D-4FFC-BD8C-6B92717F5BE8}"/>
              </a:ext>
            </a:extLst>
          </p:cNvPr>
          <p:cNvSpPr txBox="1"/>
          <p:nvPr/>
        </p:nvSpPr>
        <p:spPr>
          <a:xfrm>
            <a:off x="868658" y="1681614"/>
            <a:ext cx="1737557" cy="623248"/>
          </a:xfrm>
          <a:prstGeom prst="rect">
            <a:avLst/>
          </a:prstGeom>
          <a:noFill/>
        </p:spPr>
        <p:txBody>
          <a:bodyPr wrap="square" rtlCol="0">
            <a:spAutoFit/>
          </a:bodyPr>
          <a:lstStyle/>
          <a:p>
            <a:pPr algn="ctr">
              <a:spcAft>
                <a:spcPts val="300"/>
              </a:spcAft>
            </a:pPr>
            <a:r>
              <a:rPr lang="it-IT" sz="800" b="1" dirty="0">
                <a:solidFill>
                  <a:schemeClr val="tx1"/>
                </a:solidFill>
                <a:latin typeface="+mn-lt"/>
              </a:rPr>
              <a:t>Human in the Loop</a:t>
            </a:r>
            <a:endParaRPr lang="it-IT" sz="800" dirty="0">
              <a:solidFill>
                <a:schemeClr val="tx1"/>
              </a:solidFill>
              <a:latin typeface="+mn-lt"/>
            </a:endParaRPr>
          </a:p>
          <a:p>
            <a:pPr algn="ctr"/>
            <a:r>
              <a:rPr lang="it-IT" sz="800" dirty="0" err="1">
                <a:latin typeface="+mn-lt"/>
              </a:rPr>
              <a:t>Evaluate</a:t>
            </a:r>
            <a:r>
              <a:rPr lang="it-IT" sz="800" dirty="0">
                <a:latin typeface="+mn-lt"/>
              </a:rPr>
              <a:t> </a:t>
            </a:r>
            <a:r>
              <a:rPr lang="it-IT" sz="800" dirty="0" err="1">
                <a:latin typeface="+mn-lt"/>
              </a:rPr>
              <a:t>real</a:t>
            </a:r>
            <a:r>
              <a:rPr lang="it-IT" sz="800" dirty="0">
                <a:latin typeface="+mn-lt"/>
              </a:rPr>
              <a:t>-world </a:t>
            </a:r>
            <a:r>
              <a:rPr lang="it-IT" sz="800" dirty="0" err="1">
                <a:latin typeface="+mn-lt"/>
              </a:rPr>
              <a:t>usability</a:t>
            </a:r>
            <a:r>
              <a:rPr lang="it-IT" sz="800" dirty="0">
                <a:latin typeface="+mn-lt"/>
              </a:rPr>
              <a:t>, </a:t>
            </a:r>
            <a:r>
              <a:rPr lang="it-IT" sz="800" dirty="0" err="1">
                <a:latin typeface="+mn-lt"/>
              </a:rPr>
              <a:t>operational</a:t>
            </a:r>
            <a:r>
              <a:rPr lang="it-IT" sz="800" dirty="0">
                <a:latin typeface="+mn-lt"/>
              </a:rPr>
              <a:t> trust and impact </a:t>
            </a:r>
            <a:r>
              <a:rPr lang="it-IT" sz="800" dirty="0" err="1">
                <a:latin typeface="+mn-lt"/>
              </a:rPr>
              <a:t>metrics</a:t>
            </a:r>
            <a:r>
              <a:rPr lang="it-IT" sz="800" dirty="0">
                <a:latin typeface="+mn-lt"/>
              </a:rPr>
              <a:t> like time-to-</a:t>
            </a:r>
            <a:r>
              <a:rPr lang="it-IT" sz="800" dirty="0" err="1">
                <a:latin typeface="+mn-lt"/>
              </a:rPr>
              <a:t>decision</a:t>
            </a:r>
            <a:r>
              <a:rPr lang="it-IT" sz="800" dirty="0">
                <a:latin typeface="+mn-lt"/>
              </a:rPr>
              <a:t>.</a:t>
            </a:r>
          </a:p>
        </p:txBody>
      </p:sp>
      <p:cxnSp>
        <p:nvCxnSpPr>
          <p:cNvPr id="22" name="Connettore diritto 21">
            <a:extLst>
              <a:ext uri="{FF2B5EF4-FFF2-40B4-BE49-F238E27FC236}">
                <a16:creationId xmlns:a16="http://schemas.microsoft.com/office/drawing/2014/main" id="{CCC57727-467D-42D2-8B41-2EF37EA9A066}"/>
              </a:ext>
            </a:extLst>
          </p:cNvPr>
          <p:cNvCxnSpPr>
            <a:cxnSpLocks/>
          </p:cNvCxnSpPr>
          <p:nvPr/>
        </p:nvCxnSpPr>
        <p:spPr>
          <a:xfrm>
            <a:off x="879654" y="1870001"/>
            <a:ext cx="1745992" cy="0"/>
          </a:xfrm>
          <a:prstGeom prst="line">
            <a:avLst/>
          </a:prstGeom>
        </p:spPr>
        <p:style>
          <a:lnRef idx="1">
            <a:schemeClr val="dk1"/>
          </a:lnRef>
          <a:fillRef idx="0">
            <a:schemeClr val="dk1"/>
          </a:fillRef>
          <a:effectRef idx="0">
            <a:schemeClr val="dk1"/>
          </a:effectRef>
          <a:fontRef idx="minor">
            <a:schemeClr val="tx1"/>
          </a:fontRef>
        </p:style>
      </p:cxnSp>
      <p:sp>
        <p:nvSpPr>
          <p:cNvPr id="23" name="Rettangolo con angoli arrotondati 22">
            <a:extLst>
              <a:ext uri="{FF2B5EF4-FFF2-40B4-BE49-F238E27FC236}">
                <a16:creationId xmlns:a16="http://schemas.microsoft.com/office/drawing/2014/main" id="{16663FCB-4D70-4922-AB87-7C069F09DFBA}"/>
              </a:ext>
            </a:extLst>
          </p:cNvPr>
          <p:cNvSpPr/>
          <p:nvPr/>
        </p:nvSpPr>
        <p:spPr>
          <a:xfrm>
            <a:off x="1935397" y="2377910"/>
            <a:ext cx="1895006" cy="682437"/>
          </a:xfrm>
          <a:prstGeom prst="roundRect">
            <a:avLst/>
          </a:prstGeom>
          <a:solidFill>
            <a:schemeClr val="accent1">
              <a:lumMod val="20000"/>
              <a:lumOff val="8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endParaRPr lang="it-IT" sz="900" dirty="0">
              <a:solidFill>
                <a:schemeClr val="tx1"/>
              </a:solidFill>
            </a:endParaRPr>
          </a:p>
          <a:p>
            <a:pPr algn="ctr"/>
            <a:endParaRPr lang="it-IT" dirty="0"/>
          </a:p>
        </p:txBody>
      </p:sp>
      <p:sp>
        <p:nvSpPr>
          <p:cNvPr id="24" name="CasellaDiTesto 23">
            <a:extLst>
              <a:ext uri="{FF2B5EF4-FFF2-40B4-BE49-F238E27FC236}">
                <a16:creationId xmlns:a16="http://schemas.microsoft.com/office/drawing/2014/main" id="{107881B8-7F68-4FFC-8A5C-0C38292D2A82}"/>
              </a:ext>
            </a:extLst>
          </p:cNvPr>
          <p:cNvSpPr txBox="1"/>
          <p:nvPr/>
        </p:nvSpPr>
        <p:spPr>
          <a:xfrm>
            <a:off x="2014121" y="2437099"/>
            <a:ext cx="1737557" cy="623248"/>
          </a:xfrm>
          <a:prstGeom prst="rect">
            <a:avLst/>
          </a:prstGeom>
          <a:noFill/>
        </p:spPr>
        <p:txBody>
          <a:bodyPr wrap="square" rtlCol="0">
            <a:spAutoFit/>
          </a:bodyPr>
          <a:lstStyle/>
          <a:p>
            <a:pPr algn="ctr">
              <a:spcAft>
                <a:spcPts val="300"/>
              </a:spcAft>
            </a:pPr>
            <a:r>
              <a:rPr lang="it-IT" sz="800" b="1" dirty="0" err="1">
                <a:latin typeface="+mn-lt"/>
              </a:rPr>
              <a:t>Evidence</a:t>
            </a:r>
            <a:r>
              <a:rPr lang="it-IT" sz="800" b="1" dirty="0">
                <a:latin typeface="+mn-lt"/>
              </a:rPr>
              <a:t> Grounding</a:t>
            </a:r>
          </a:p>
          <a:p>
            <a:pPr algn="ctr"/>
            <a:r>
              <a:rPr lang="it-IT" sz="800" dirty="0">
                <a:latin typeface="+mn-lt"/>
              </a:rPr>
              <a:t>Introduce </a:t>
            </a:r>
            <a:r>
              <a:rPr lang="it-IT" sz="800" dirty="0" err="1">
                <a:latin typeface="+mn-lt"/>
              </a:rPr>
              <a:t>evidence</a:t>
            </a:r>
            <a:r>
              <a:rPr lang="it-IT" sz="800" dirty="0">
                <a:latin typeface="+mn-lt"/>
              </a:rPr>
              <a:t> </a:t>
            </a:r>
            <a:r>
              <a:rPr lang="it-IT" sz="800" dirty="0" err="1">
                <a:latin typeface="+mn-lt"/>
              </a:rPr>
              <a:t>graphs</a:t>
            </a:r>
            <a:r>
              <a:rPr lang="it-IT" sz="800" dirty="0">
                <a:latin typeface="+mn-lt"/>
              </a:rPr>
              <a:t> for full e2e </a:t>
            </a:r>
            <a:r>
              <a:rPr lang="it-IT" sz="800" dirty="0" err="1">
                <a:latin typeface="+mn-lt"/>
              </a:rPr>
              <a:t>treceability</a:t>
            </a:r>
            <a:r>
              <a:rPr lang="it-IT" sz="800" dirty="0">
                <a:latin typeface="+mn-lt"/>
              </a:rPr>
              <a:t> of the </a:t>
            </a:r>
            <a:r>
              <a:rPr lang="it-IT" sz="800" dirty="0" err="1">
                <a:latin typeface="+mn-lt"/>
              </a:rPr>
              <a:t>whole</a:t>
            </a:r>
            <a:r>
              <a:rPr lang="it-IT" sz="800" dirty="0">
                <a:latin typeface="+mn-lt"/>
              </a:rPr>
              <a:t> system </a:t>
            </a:r>
            <a:r>
              <a:rPr lang="it-IT" sz="800" dirty="0" err="1">
                <a:latin typeface="+mn-lt"/>
              </a:rPr>
              <a:t>reasoning</a:t>
            </a:r>
            <a:r>
              <a:rPr lang="it-IT" sz="800" dirty="0">
                <a:latin typeface="+mn-lt"/>
              </a:rPr>
              <a:t> steps.</a:t>
            </a:r>
          </a:p>
        </p:txBody>
      </p:sp>
      <p:cxnSp>
        <p:nvCxnSpPr>
          <p:cNvPr id="25" name="Connettore diritto 24">
            <a:extLst>
              <a:ext uri="{FF2B5EF4-FFF2-40B4-BE49-F238E27FC236}">
                <a16:creationId xmlns:a16="http://schemas.microsoft.com/office/drawing/2014/main" id="{43312EDF-97A2-4BB3-8399-DFC74590DF54}"/>
              </a:ext>
            </a:extLst>
          </p:cNvPr>
          <p:cNvCxnSpPr>
            <a:cxnSpLocks/>
          </p:cNvCxnSpPr>
          <p:nvPr/>
        </p:nvCxnSpPr>
        <p:spPr>
          <a:xfrm>
            <a:off x="2025117" y="2625486"/>
            <a:ext cx="174599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3133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934F94-9817-7D20-FF6B-AA29BE8CA3E5}"/>
              </a:ext>
            </a:extLst>
          </p:cNvPr>
          <p:cNvSpPr/>
          <p:nvPr/>
        </p:nvSpPr>
        <p:spPr>
          <a:xfrm>
            <a:off x="721475" y="1206926"/>
            <a:ext cx="4403771" cy="830997"/>
          </a:xfrm>
          <a:prstGeom prst="rect">
            <a:avLst/>
          </a:prstGeom>
          <a:noFill/>
        </p:spPr>
        <p:txBody>
          <a:bodyPr wrap="none" lIns="91440" tIns="45720" rIns="91440" bIns="45720" anchor="t">
            <a:spAutoFit/>
          </a:bodyPr>
          <a:lstStyle/>
          <a:p>
            <a:pPr algn="ctr"/>
            <a:r>
              <a:rPr lang="en-US" sz="2400" b="1" cap="none" spc="0">
                <a:ln w="6600">
                  <a:solidFill>
                    <a:schemeClr val="accent2"/>
                  </a:solidFill>
                  <a:prstDash val="solid"/>
                </a:ln>
                <a:solidFill>
                  <a:srgbClr val="FFFFFF"/>
                </a:solidFill>
                <a:effectLst>
                  <a:outerShdw dist="38100" dir="2700000" algn="tl" rotWithShape="0">
                    <a:schemeClr val="accent2"/>
                  </a:outerShdw>
                </a:effectLst>
              </a:rPr>
              <a:t>Thank you for your Attention</a:t>
            </a:r>
            <a:endParaRPr lang="en-US" sz="2400" b="1">
              <a:ln w="6600">
                <a:solidFill>
                  <a:schemeClr val="accent2"/>
                </a:solidFill>
                <a:prstDash val="solid"/>
              </a:ln>
              <a:solidFill>
                <a:srgbClr val="FFFFFF"/>
              </a:solidFill>
              <a:effectLst>
                <a:outerShdw dist="38100" dir="2700000" algn="tl" rotWithShape="0">
                  <a:schemeClr val="accent2"/>
                </a:outerShdw>
              </a:effectLst>
            </a:endParaRPr>
          </a:p>
          <a:p>
            <a:pPr algn="ctr"/>
            <a:r>
              <a:rPr lang="en-US" sz="2400" b="1">
                <a:ln w="6600">
                  <a:solidFill>
                    <a:schemeClr val="accent2"/>
                  </a:solidFill>
                  <a:prstDash val="solid"/>
                </a:ln>
                <a:solidFill>
                  <a:srgbClr val="FFFFFF"/>
                </a:solidFill>
                <a:effectLst>
                  <a:outerShdw dist="38100" dir="2700000" algn="tl" rotWithShape="0">
                    <a:schemeClr val="accent2"/>
                  </a:outerShdw>
                </a:effectLst>
              </a:rPr>
              <a:t>Any Questions?</a:t>
            </a:r>
            <a:endParaRPr lang="en-US" sz="2400" b="1" cap="none" spc="0">
              <a:ln w="6600">
                <a:solidFill>
                  <a:srgbClr val="C0504D"/>
                </a:solidFill>
                <a:prstDash val="solid"/>
              </a:ln>
              <a:solidFill>
                <a:srgbClr val="FFFFFF"/>
              </a:solidFill>
              <a:effectLst>
                <a:outerShdw dist="38100" dir="2700000" algn="tl" rotWithShape="0">
                  <a:srgbClr val="C0504D"/>
                </a:outerShdw>
              </a:effectLst>
            </a:endParaRPr>
          </a:p>
        </p:txBody>
      </p:sp>
      <p:pic>
        <p:nvPicPr>
          <p:cNvPr id="11" name="Picture 10">
            <a:extLst>
              <a:ext uri="{FF2B5EF4-FFF2-40B4-BE49-F238E27FC236}">
                <a16:creationId xmlns:a16="http://schemas.microsoft.com/office/drawing/2014/main" id="{CD5774BA-2CC2-4B17-E8B4-A922C5B7F3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83889" y="1713925"/>
            <a:ext cx="1082715" cy="1443620"/>
          </a:xfrm>
          <a:prstGeom prst="rect">
            <a:avLst/>
          </a:prstGeom>
        </p:spPr>
      </p:pic>
    </p:spTree>
    <p:extLst>
      <p:ext uri="{BB962C8B-B14F-4D97-AF65-F5344CB8AC3E}">
        <p14:creationId xmlns:p14="http://schemas.microsoft.com/office/powerpoint/2010/main" val="329344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5362</TotalTime>
  <Words>1268</Words>
  <Application>Microsoft Office PowerPoint</Application>
  <PresentationFormat>Personalizzato</PresentationFormat>
  <Paragraphs>259</Paragraphs>
  <Slides>23</Slides>
  <Notes>7</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23</vt:i4>
      </vt:variant>
    </vt:vector>
  </HeadingPairs>
  <TitlesOfParts>
    <vt:vector size="31" baseType="lpstr">
      <vt:lpstr>Yu Gothic UI</vt:lpstr>
      <vt:lpstr>Arial</vt:lpstr>
      <vt:lpstr>Calibri</vt:lpstr>
      <vt:lpstr>Sora Semi Bold</vt:lpstr>
      <vt:lpstr>Tomorrow</vt:lpstr>
      <vt:lpstr>Tomorrow Light</vt:lpstr>
      <vt:lpstr>Tomorrow Semi Bold</vt:lpstr>
      <vt:lpstr>Office Theme</vt:lpstr>
      <vt:lpstr>Multi-Agent Decision Support System for Space Mission Operations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FUNES System</vt:lpstr>
      <vt:lpstr>FUNES System – PoC Chat capability</vt:lpstr>
      <vt:lpstr>FUNES PoC - AI Module</vt:lpstr>
      <vt:lpstr>Presentazione standard di PowerPoint</vt:lpstr>
      <vt:lpstr>Proposed Scenario</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Framework for Automated Penetration Testing with LLM Integration - Master's Thesis Defense</dc:title>
  <dc:creator>Wendy Rosettini</dc:creator>
  <cp:lastModifiedBy>Antonio Lissa Lattanzio</cp:lastModifiedBy>
  <cp:revision>261</cp:revision>
  <dcterms:created xsi:type="dcterms:W3CDTF">2025-09-12T10:37:12Z</dcterms:created>
  <dcterms:modified xsi:type="dcterms:W3CDTF">2026-10-19T19:07:15Z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LaTeX with Beamer class</vt:lpwstr>
  </property>
  <property fmtid="{D5CDD505-2E9C-101B-9397-08002B2CF9AE}" pid="4" name="LastSaved">
    <vt:filetime>2025-09-12T00:00:00Z</vt:filetime>
  </property>
  <property fmtid="{D5CDD505-2E9C-101B-9397-08002B2CF9AE}" pid="5" name="PTEX.Fullbanner">
    <vt:lpwstr>This is pdfTeX, Version 3.141592653-2.6-1.40.26 (TeX Live 2024) kpathsea version 6.4.0</vt:lpwstr>
  </property>
  <property fmtid="{D5CDD505-2E9C-101B-9397-08002B2CF9AE}" pid="6" name="Producer">
    <vt:lpwstr>3-Heights(TM) PDF Security Shell 4.8.25.2 (http://www.pdf-tools.com)</vt:lpwstr>
  </property>
</Properties>
</file>