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351" r:id="rId3"/>
    <p:sldId id="327" r:id="rId4"/>
    <p:sldId id="352" r:id="rId5"/>
    <p:sldId id="328" r:id="rId6"/>
    <p:sldId id="354" r:id="rId7"/>
    <p:sldId id="260" r:id="rId8"/>
    <p:sldId id="332" r:id="rId9"/>
    <p:sldId id="355" r:id="rId10"/>
    <p:sldId id="279" r:id="rId11"/>
    <p:sldId id="401" r:id="rId12"/>
    <p:sldId id="393" r:id="rId13"/>
    <p:sldId id="397" r:id="rId14"/>
    <p:sldId id="356" r:id="rId15"/>
    <p:sldId id="324" r:id="rId16"/>
    <p:sldId id="381" r:id="rId17"/>
    <p:sldId id="395" r:id="rId18"/>
    <p:sldId id="402" r:id="rId19"/>
    <p:sldId id="396" r:id="rId20"/>
    <p:sldId id="403" r:id="rId21"/>
    <p:sldId id="404" r:id="rId22"/>
    <p:sldId id="357" r:id="rId23"/>
    <p:sldId id="398" r:id="rId24"/>
    <p:sldId id="399" r:id="rId25"/>
    <p:sldId id="400" r:id="rId26"/>
    <p:sldId id="360" r:id="rId2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ndy Rosettini" initials="WR" lastIdx="2" clrIdx="0">
    <p:extLst>
      <p:ext uri="{19B8F6BF-5375-455C-9EA6-DF929625EA0E}">
        <p15:presenceInfo xmlns:p15="http://schemas.microsoft.com/office/powerpoint/2012/main" userId="S::Rosettini.2150048@studenti.uniroma1.it::5a731347-898b-4581-9e3d-594f5d22a83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0302"/>
    <a:srgbClr val="8F3432"/>
    <a:srgbClr val="953735"/>
    <a:srgbClr val="802B2A"/>
    <a:srgbClr val="80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70" d="100"/>
          <a:sy n="170" d="100"/>
        </p:scale>
        <p:origin x="768" y="96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sz="1200" baseline="0" dirty="0"/>
              <a:t>Results by Task </a:t>
            </a:r>
            <a:r>
              <a:rPr lang="it-IT" sz="1200" baseline="0" dirty="0" err="1"/>
              <a:t>Complexity</a:t>
            </a:r>
            <a:r>
              <a:rPr lang="it-IT" sz="1200" baseline="0" dirty="0"/>
              <a:t> (%)</a:t>
            </a:r>
            <a:endParaRPr lang="it-IT" sz="1200" dirty="0"/>
          </a:p>
        </c:rich>
      </c:tx>
      <c:layout>
        <c:manualLayout>
          <c:xMode val="edge"/>
          <c:yMode val="edge"/>
          <c:x val="0.25084656041895648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>
        <c:manualLayout>
          <c:layoutTarget val="inner"/>
          <c:xMode val="edge"/>
          <c:yMode val="edge"/>
          <c:x val="0.12488491407220904"/>
          <c:y val="0.17819125895875171"/>
          <c:w val="0.8453794056870334"/>
          <c:h val="0.548385649139265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FUNES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Foglio1!$B$2:$B$4</c:f>
              <c:numCache>
                <c:formatCode>General</c:formatCode>
                <c:ptCount val="3"/>
                <c:pt idx="0">
                  <c:v>96</c:v>
                </c:pt>
                <c:pt idx="1">
                  <c:v>87</c:v>
                </c:pt>
                <c:pt idx="2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88-4B50-B590-06E6B881C16E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Llama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Foglio1!$C$2:$C$4</c:f>
              <c:numCache>
                <c:formatCode>General</c:formatCode>
                <c:ptCount val="3"/>
                <c:pt idx="0">
                  <c:v>46</c:v>
                </c:pt>
                <c:pt idx="1">
                  <c:v>72</c:v>
                </c:pt>
                <c:pt idx="2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88-4B50-B590-06E6B881C1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60901647"/>
        <c:axId val="74138399"/>
      </c:barChart>
      <c:catAx>
        <c:axId val="5609016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74138399"/>
        <c:crosses val="autoZero"/>
        <c:auto val="1"/>
        <c:lblAlgn val="ctr"/>
        <c:lblOffset val="100"/>
        <c:noMultiLvlLbl val="0"/>
      </c:catAx>
      <c:valAx>
        <c:axId val="74138399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5609016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sz="1200" dirty="0" err="1"/>
              <a:t>Overall</a:t>
            </a:r>
            <a:r>
              <a:rPr lang="it-IT" sz="1200" baseline="0" dirty="0"/>
              <a:t> Results (%)</a:t>
            </a:r>
            <a:endParaRPr lang="it-IT" sz="1200" dirty="0"/>
          </a:p>
        </c:rich>
      </c:tx>
      <c:layout>
        <c:manualLayout>
          <c:xMode val="edge"/>
          <c:yMode val="edge"/>
          <c:x val="0.15947256509687147"/>
          <c:y val="6.79135501049959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>
        <c:manualLayout>
          <c:layoutTarget val="inner"/>
          <c:xMode val="edge"/>
          <c:yMode val="edge"/>
          <c:x val="0.22976197812399118"/>
          <c:y val="0.25048373824375364"/>
          <c:w val="0.58975501289867005"/>
          <c:h val="0.5153617217005850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FUNES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Overall result</c:v>
                </c:pt>
              </c:strCache>
            </c:strRef>
          </c:cat>
          <c:val>
            <c:numRef>
              <c:f>Foglio1!$B$2</c:f>
              <c:numCache>
                <c:formatCode>General</c:formatCode>
                <c:ptCount val="1"/>
                <c:pt idx="0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2D-46C7-BDC4-368B9EEB381B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Llama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Overall result</c:v>
                </c:pt>
              </c:strCache>
            </c:strRef>
          </c:cat>
          <c:val>
            <c:numRef>
              <c:f>Foglio1!$C$2</c:f>
              <c:numCache>
                <c:formatCode>General</c:formatCode>
                <c:ptCount val="1"/>
                <c:pt idx="0">
                  <c:v>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82D-46C7-BDC4-368B9EEB38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8663887"/>
        <c:axId val="668043631"/>
      </c:barChart>
      <c:catAx>
        <c:axId val="748663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668043631"/>
        <c:crosses val="autoZero"/>
        <c:auto val="1"/>
        <c:lblAlgn val="ctr"/>
        <c:lblOffset val="100"/>
        <c:noMultiLvlLbl val="0"/>
      </c:catAx>
      <c:valAx>
        <c:axId val="6680436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748663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0334217743572289"/>
          <c:y val="0.77049216120855957"/>
          <c:w val="0.63869646260403312"/>
          <c:h val="0.220941741807017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A6E14B-A849-425A-B41B-03349DE57C16}" type="datetimeFigureOut">
              <a:t>17/10/2026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114311-0793-4092-B8E1-5884292E5B92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58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3721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9104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676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0867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894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6253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3185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9961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812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9760" y="939316"/>
            <a:ext cx="5020945" cy="970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5575" y="-25"/>
            <a:ext cx="2534420" cy="3240024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940600"/>
            <a:ext cx="3588385" cy="1249045"/>
          </a:xfrm>
          <a:custGeom>
            <a:avLst/>
            <a:gdLst/>
            <a:ahLst/>
            <a:cxnLst/>
            <a:rect l="l" t="t" r="r" b="b"/>
            <a:pathLst>
              <a:path w="3588385" h="1249045">
                <a:moveTo>
                  <a:pt x="3588130" y="0"/>
                </a:moveTo>
                <a:lnTo>
                  <a:pt x="0" y="0"/>
                </a:lnTo>
                <a:lnTo>
                  <a:pt x="0" y="1248486"/>
                </a:lnTo>
                <a:lnTo>
                  <a:pt x="3588130" y="1248486"/>
                </a:lnTo>
                <a:lnTo>
                  <a:pt x="358813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424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71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174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42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5625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288290" y="3017710"/>
            <a:ext cx="1326134" cy="276999"/>
          </a:xfrm>
        </p:spPr>
        <p:txBody>
          <a:bodyPr rtlCol="0"/>
          <a:lstStyle/>
          <a:p>
            <a:pPr rtl="0"/>
            <a:fld id="{05A4C22A-DE1A-451D-93AE-EA558C0F4942}" type="datetime1">
              <a:rPr lang="it-IT" noProof="0" smtClean="0"/>
              <a:t>17/10/2026</a:t>
            </a:fld>
            <a:endParaRPr lang="it-IT" noProof="0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1960372" y="3017710"/>
            <a:ext cx="1845056" cy="276999"/>
          </a:xfrm>
        </p:spPr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321894" y="3016594"/>
            <a:ext cx="273684" cy="123111"/>
          </a:xfrm>
        </p:spPr>
        <p:txBody>
          <a:bodyPr rtlCol="0"/>
          <a:lstStyle/>
          <a:p>
            <a:pPr rtl="0"/>
            <a:fld id="{6D22F896-40B5-4ADD-8801-0D06FADFA095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4025501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EFEFE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CFCFC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67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it-IT" noProof="0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E20A04D-C6B1-464E-A9D6-9B6756A0049A}" type="datetime1">
              <a:rPr lang="it-IT" noProof="0" smtClean="0"/>
              <a:t>17/10/2026</a:t>
            </a:fld>
            <a:endParaRPr lang="it-IT" noProof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0141085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9642" y="133124"/>
            <a:ext cx="5033543" cy="432647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b="0">
                <a:solidFill>
                  <a:schemeClr val="bg1"/>
                </a:solidFill>
              </a:rPr>
              <a:t>CLICK TO ADD TITLE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9906B8-0130-4CE3-A402-AD14F694B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8291" y="632590"/>
            <a:ext cx="5029219" cy="24013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51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DEA1F5-0E0B-B85B-D1EB-BEBCBED6E5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3495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927EF45-A807-DB68-1EE5-2260524171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3495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0FD1A64-5429-B203-D1FD-902607CD1A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84276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2EC95D5-1A0A-6660-B6C6-30CA65A3938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0752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99194BA-C71C-FB82-7058-42ECFE165A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82510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C9BA2BC-110F-DB84-10C1-221D101343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82510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7D9324C6-8649-EB3C-8916-E1EA3B89150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89307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FF90473A-C83D-5DEA-ED9A-7152AD2E5AF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721253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3E9B7D98-8661-78D4-B906-E82F8AA1DBF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90515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42B64643-487D-62DA-ED87-8BFFC06F47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490515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4179D1CF-4097-FC8C-51C1-CE6ECEE017B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394338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022FCC6D-3088-C2FB-FC8F-E636A7F53A1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2718484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D3EA25A-8DAD-D356-C0BA-9C67D9A427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0311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3BB83F7C-5495-8D46-6D74-3F64F38469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80311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6806C076-7B20-8C54-8D7C-15B7E32E8B6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399369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3F3E8A8F-E827-C446-AF20-B093FE64571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656912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926F0D6-3D6F-CF88-7E9C-73E88C5C4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88957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285DCD4-48AB-6937-6F44-D27E776530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88957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8550EAA6-FAF3-B60B-E55B-E2D09B5B32C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04400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BF1B1D02-C803-3AEC-B070-F54F61C0ED5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722555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3030AAA-2CDD-F298-9062-1132B6819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381158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6D0763-9E6E-FF42-0267-56F3338C0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87792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6EBB92-E236-06E9-FC5C-300CD3E98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90732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49919DC-1013-927F-4E81-1EBFB75171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85605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CFA93D-825C-5D1C-6391-7C5F1C82D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 flipV="1">
            <a:off x="363966" y="2554712"/>
            <a:ext cx="503354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6826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2" userDrawn="1">
          <p15:clr>
            <a:srgbClr val="FBAE40"/>
          </p15:clr>
        </p15:guide>
        <p15:guide id="2" pos="181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67295" y="252930"/>
            <a:ext cx="2432685" cy="369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656118"/>
            <a:ext cx="5071211" cy="2200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21894" y="3016594"/>
            <a:ext cx="273684" cy="1543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72" r:id="rId12"/>
    <p:sldLayoutId id="2147483673" r:id="rId13"/>
    <p:sldLayoutId id="2147483674" r:id="rId14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log.csdn.net/FrontAI/article/details/160418907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4" Type="http://schemas.openxmlformats.org/officeDocument/2006/relationships/chart" Target="../charts/char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1149" y="641165"/>
            <a:ext cx="3096260" cy="419923"/>
          </a:xfrm>
          <a:prstGeom prst="rect">
            <a:avLst/>
          </a:prstGeom>
        </p:spPr>
        <p:txBody>
          <a:bodyPr vert="horz" wrap="square" lIns="0" tIns="57785" rIns="0" bIns="0" rtlCol="0" anchor="t">
            <a:spAutoFit/>
          </a:bodyPr>
          <a:lstStyle/>
          <a:p>
            <a:pPr marL="12700" marR="5080">
              <a:lnSpc>
                <a:spcPts val="1350"/>
              </a:lnSpc>
              <a:spcBef>
                <a:spcPts val="455"/>
              </a:spcBef>
            </a:pPr>
            <a:r>
              <a:rPr spc="-10" dirty="0"/>
              <a:t>Multi-</a:t>
            </a:r>
            <a:r>
              <a:rPr dirty="0"/>
              <a:t>Agent</a:t>
            </a:r>
            <a:r>
              <a:rPr spc="65" dirty="0"/>
              <a:t> </a:t>
            </a:r>
            <a:r>
              <a:rPr lang="it-IT" dirty="0" err="1"/>
              <a:t>Decision</a:t>
            </a:r>
            <a:r>
              <a:rPr lang="it-IT" dirty="0"/>
              <a:t> Support System for Space Mission Operations</a:t>
            </a:r>
            <a:endParaRPr lang="en-US" spc="15" dirty="0">
              <a:ea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61149" y="1376632"/>
            <a:ext cx="1551305" cy="515782"/>
          </a:xfrm>
          <a:prstGeom prst="rect">
            <a:avLst/>
          </a:prstGeom>
        </p:spPr>
        <p:txBody>
          <a:bodyPr vert="horz" wrap="square" lIns="0" tIns="6350" rIns="0" bIns="0" rtlCol="0" anchor="t">
            <a:spAutoFit/>
          </a:bodyPr>
          <a:lstStyle/>
          <a:p>
            <a:pPr marL="12700" marR="5080">
              <a:lnSpc>
                <a:spcPct val="130100"/>
              </a:lnSpc>
              <a:spcBef>
                <a:spcPts val="50"/>
              </a:spcBef>
            </a:pPr>
            <a:r>
              <a:rPr sz="900" spc="-10" dirty="0">
                <a:solidFill>
                  <a:srgbClr val="812433"/>
                </a:solidFill>
                <a:latin typeface="Calibri"/>
                <a:cs typeface="Calibri"/>
              </a:rPr>
              <a:t>Master’s</a:t>
            </a:r>
            <a:r>
              <a:rPr sz="900" spc="-15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12433"/>
                </a:solidFill>
                <a:latin typeface="Calibri"/>
                <a:cs typeface="Calibri"/>
              </a:rPr>
              <a:t>Degree</a:t>
            </a:r>
            <a:r>
              <a:rPr sz="900" spc="-20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12433"/>
                </a:solidFill>
                <a:latin typeface="Calibri"/>
                <a:cs typeface="Calibri"/>
              </a:rPr>
              <a:t>in</a:t>
            </a:r>
            <a:r>
              <a:rPr sz="900" spc="-15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lang="it-IT" sz="900" spc="-10" dirty="0">
                <a:solidFill>
                  <a:srgbClr val="812433"/>
                </a:solidFill>
                <a:latin typeface="Calibri"/>
                <a:cs typeface="Calibri"/>
              </a:rPr>
              <a:t>AI &amp; </a:t>
            </a:r>
            <a:r>
              <a:rPr lang="it-IT" sz="900" spc="-10" dirty="0" err="1">
                <a:solidFill>
                  <a:srgbClr val="812433"/>
                </a:solidFill>
                <a:latin typeface="Calibri"/>
                <a:cs typeface="Calibri"/>
              </a:rPr>
              <a:t>Robotics</a:t>
            </a:r>
            <a:r>
              <a:rPr sz="900" spc="500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lang="it-IT" sz="800" b="1" dirty="0">
                <a:latin typeface="Calibri"/>
                <a:cs typeface="Calibri"/>
              </a:rPr>
              <a:t>Antonio Lissa Lattanzio </a:t>
            </a:r>
            <a:r>
              <a:rPr sz="800" spc="-10" dirty="0">
                <a:latin typeface="Calibri"/>
                <a:cs typeface="Calibri"/>
              </a:rPr>
              <a:t>(215</a:t>
            </a:r>
            <a:r>
              <a:rPr lang="it-IT" sz="800" spc="-10" dirty="0">
                <a:latin typeface="Calibri"/>
                <a:cs typeface="Calibri"/>
              </a:rPr>
              <a:t>4208</a:t>
            </a:r>
            <a:r>
              <a:rPr sz="800" spc="-10" dirty="0">
                <a:latin typeface="Calibri"/>
                <a:cs typeface="Calibri"/>
              </a:rPr>
              <a:t>)</a:t>
            </a:r>
            <a:endParaRPr sz="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600" dirty="0">
                <a:latin typeface="Calibri"/>
                <a:cs typeface="Calibri"/>
              </a:rPr>
              <a:t>Academic</a:t>
            </a:r>
            <a:r>
              <a:rPr sz="600" spc="-20" dirty="0">
                <a:latin typeface="Calibri"/>
                <a:cs typeface="Calibri"/>
              </a:rPr>
              <a:t> </a:t>
            </a:r>
            <a:r>
              <a:rPr sz="600" spc="-10" dirty="0">
                <a:latin typeface="Calibri"/>
                <a:cs typeface="Calibri"/>
              </a:rPr>
              <a:t>Year</a:t>
            </a:r>
            <a:r>
              <a:rPr sz="600" spc="-15" dirty="0">
                <a:latin typeface="Calibri"/>
                <a:cs typeface="Calibri"/>
              </a:rPr>
              <a:t> </a:t>
            </a:r>
            <a:r>
              <a:rPr sz="600" spc="-10" dirty="0">
                <a:latin typeface="Calibri"/>
                <a:cs typeface="Calibri"/>
              </a:rPr>
              <a:t>202</a:t>
            </a:r>
            <a:r>
              <a:rPr lang="it-IT" sz="600" spc="-10" dirty="0">
                <a:latin typeface="Calibri"/>
                <a:cs typeface="Calibri"/>
              </a:rPr>
              <a:t>5</a:t>
            </a:r>
            <a:r>
              <a:rPr sz="600" spc="-10" dirty="0">
                <a:latin typeface="Calibri"/>
                <a:cs typeface="Calibri"/>
              </a:rPr>
              <a:t>/202</a:t>
            </a:r>
            <a:r>
              <a:rPr lang="it-IT" sz="600" spc="-10" dirty="0">
                <a:latin typeface="Calibri"/>
                <a:cs typeface="Calibri"/>
              </a:rPr>
              <a:t>6</a:t>
            </a:r>
            <a:endParaRPr sz="600" dirty="0">
              <a:latin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7B287B-7242-39E5-4FBC-6D822E97A784}"/>
              </a:ext>
            </a:extLst>
          </p:cNvPr>
          <p:cNvSpPr txBox="1"/>
          <p:nvPr/>
        </p:nvSpPr>
        <p:spPr>
          <a:xfrm>
            <a:off x="225940" y="2679485"/>
            <a:ext cx="1591992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" b="1" dirty="0"/>
              <a:t>Advisor</a:t>
            </a:r>
            <a:r>
              <a:rPr lang="en-US" sz="600" dirty="0"/>
              <a:t> </a:t>
            </a:r>
          </a:p>
          <a:p>
            <a:r>
              <a:rPr lang="en-US" sz="600" dirty="0"/>
              <a:t>Prof. Danilo </a:t>
            </a:r>
            <a:r>
              <a:rPr lang="en-US" sz="600" dirty="0" err="1"/>
              <a:t>Comminiello</a:t>
            </a:r>
            <a:endParaRPr lang="en-US" sz="600" dirty="0">
              <a:solidFill>
                <a:srgbClr val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C9956-11E6-C3CD-2301-BD9071AC965F}"/>
              </a:ext>
            </a:extLst>
          </p:cNvPr>
          <p:cNvSpPr txBox="1"/>
          <p:nvPr/>
        </p:nvSpPr>
        <p:spPr>
          <a:xfrm>
            <a:off x="1706038" y="2679542"/>
            <a:ext cx="135784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" b="1" dirty="0"/>
              <a:t>Co-Advisor</a:t>
            </a:r>
            <a:endParaRPr lang="en-US" sz="600" b="1" dirty="0">
              <a:solidFill>
                <a:srgbClr val="000000"/>
              </a:solidFill>
            </a:endParaRPr>
          </a:p>
          <a:p>
            <a:r>
              <a:rPr lang="en-US" sz="600" dirty="0"/>
              <a:t>Daniele </a:t>
            </a:r>
            <a:r>
              <a:rPr lang="en-US" sz="600" dirty="0" err="1"/>
              <a:t>Baldassini</a:t>
            </a:r>
            <a:endParaRPr lang="en-US" sz="600" dirty="0">
              <a:solidFill>
                <a:srgbClr val="000000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A88D24B-1374-44BC-BCD4-84EC2AF0D4D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29" t="36380" r="7653" b="43546"/>
          <a:stretch/>
        </p:blipFill>
        <p:spPr>
          <a:xfrm>
            <a:off x="361149" y="192660"/>
            <a:ext cx="1274985" cy="313593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531172-F094-0E42-2F93-64AA2DC8F070}"/>
              </a:ext>
            </a:extLst>
          </p:cNvPr>
          <p:cNvGrpSpPr/>
          <p:nvPr/>
        </p:nvGrpSpPr>
        <p:grpSpPr>
          <a:xfrm>
            <a:off x="660207" y="1248423"/>
            <a:ext cx="4170592" cy="1303011"/>
            <a:chOff x="1683152" y="2210302"/>
            <a:chExt cx="8818873" cy="2755265"/>
          </a:xfrm>
        </p:grpSpPr>
        <p:sp>
          <p:nvSpPr>
            <p:cNvPr id="3" name="Shape">
              <a:extLst>
                <a:ext uri="{FF2B5EF4-FFF2-40B4-BE49-F238E27FC236}">
                  <a16:creationId xmlns:a16="http://schemas.microsoft.com/office/drawing/2014/main" id="{0A626A05-316A-3D03-628A-219F80079ABC}"/>
                </a:ext>
              </a:extLst>
            </p:cNvPr>
            <p:cNvSpPr/>
            <p:nvPr/>
          </p:nvSpPr>
          <p:spPr>
            <a:xfrm>
              <a:off x="2492478" y="2210302"/>
              <a:ext cx="1597106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4" name="Shape">
              <a:extLst>
                <a:ext uri="{FF2B5EF4-FFF2-40B4-BE49-F238E27FC236}">
                  <a16:creationId xmlns:a16="http://schemas.microsoft.com/office/drawing/2014/main" id="{EEFACBA1-2303-B3F1-6EC3-9EFEA7FE5BFA}"/>
                </a:ext>
              </a:extLst>
            </p:cNvPr>
            <p:cNvSpPr/>
            <p:nvPr/>
          </p:nvSpPr>
          <p:spPr>
            <a:xfrm>
              <a:off x="1744883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2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5" name="Shape">
              <a:extLst>
                <a:ext uri="{FF2B5EF4-FFF2-40B4-BE49-F238E27FC236}">
                  <a16:creationId xmlns:a16="http://schemas.microsoft.com/office/drawing/2014/main" id="{0FD2F78D-3711-CACD-6456-48E84ECC27B3}"/>
                </a:ext>
              </a:extLst>
            </p:cNvPr>
            <p:cNvSpPr/>
            <p:nvPr/>
          </p:nvSpPr>
          <p:spPr>
            <a:xfrm>
              <a:off x="4385565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6" name="Shape">
              <a:extLst>
                <a:ext uri="{FF2B5EF4-FFF2-40B4-BE49-F238E27FC236}">
                  <a16:creationId xmlns:a16="http://schemas.microsoft.com/office/drawing/2014/main" id="{67357D14-84F5-B9D9-55B5-8A0EA59EF06D}"/>
                </a:ext>
              </a:extLst>
            </p:cNvPr>
            <p:cNvSpPr/>
            <p:nvPr/>
          </p:nvSpPr>
          <p:spPr>
            <a:xfrm>
              <a:off x="3624216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4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7" name="Shape">
              <a:extLst>
                <a:ext uri="{FF2B5EF4-FFF2-40B4-BE49-F238E27FC236}">
                  <a16:creationId xmlns:a16="http://schemas.microsoft.com/office/drawing/2014/main" id="{386A9F83-B52A-11A7-83E9-A8466509C4EA}"/>
                </a:ext>
              </a:extLst>
            </p:cNvPr>
            <p:cNvSpPr/>
            <p:nvPr/>
          </p:nvSpPr>
          <p:spPr>
            <a:xfrm>
              <a:off x="6258074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8" name="Shape">
              <a:extLst>
                <a:ext uri="{FF2B5EF4-FFF2-40B4-BE49-F238E27FC236}">
                  <a16:creationId xmlns:a16="http://schemas.microsoft.com/office/drawing/2014/main" id="{F36A582B-7F1E-9CEC-2D07-3D8E2FA9F203}"/>
                </a:ext>
              </a:extLst>
            </p:cNvPr>
            <p:cNvSpPr/>
            <p:nvPr/>
          </p:nvSpPr>
          <p:spPr>
            <a:xfrm>
              <a:off x="5511011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5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9" name="Shape">
              <a:extLst>
                <a:ext uri="{FF2B5EF4-FFF2-40B4-BE49-F238E27FC236}">
                  <a16:creationId xmlns:a16="http://schemas.microsoft.com/office/drawing/2014/main" id="{1F696A37-63DF-EF18-0EDD-989700FE75BC}"/>
                </a:ext>
              </a:extLst>
            </p:cNvPr>
            <p:cNvSpPr/>
            <p:nvPr/>
          </p:nvSpPr>
          <p:spPr>
            <a:xfrm>
              <a:off x="8130583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0" name="Shape">
              <a:extLst>
                <a:ext uri="{FF2B5EF4-FFF2-40B4-BE49-F238E27FC236}">
                  <a16:creationId xmlns:a16="http://schemas.microsoft.com/office/drawing/2014/main" id="{FFB164F3-679E-C00C-76AD-2BB42314CA30}"/>
                </a:ext>
              </a:extLst>
            </p:cNvPr>
            <p:cNvSpPr/>
            <p:nvPr/>
          </p:nvSpPr>
          <p:spPr>
            <a:xfrm>
              <a:off x="7389812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3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1" name="Shape">
              <a:extLst>
                <a:ext uri="{FF2B5EF4-FFF2-40B4-BE49-F238E27FC236}">
                  <a16:creationId xmlns:a16="http://schemas.microsoft.com/office/drawing/2014/main" id="{CA3413CC-9427-DD1F-9D3B-7DAFDFCB3FCC}"/>
                </a:ext>
              </a:extLst>
            </p:cNvPr>
            <p:cNvSpPr/>
            <p:nvPr/>
          </p:nvSpPr>
          <p:spPr>
            <a:xfrm>
              <a:off x="9257559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6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5C80983-4E71-D0E9-0239-F61A10C5E5FA}"/>
                </a:ext>
              </a:extLst>
            </p:cNvPr>
            <p:cNvSpPr/>
            <p:nvPr/>
          </p:nvSpPr>
          <p:spPr>
            <a:xfrm>
              <a:off x="1884441" y="4104152"/>
              <a:ext cx="757637" cy="830553"/>
            </a:xfrm>
            <a:custGeom>
              <a:avLst/>
              <a:gdLst>
                <a:gd name="connsiteX0" fmla="*/ 180180 w 757637"/>
                <a:gd name="connsiteY0" fmla="*/ 0 h 1942712"/>
                <a:gd name="connsiteX1" fmla="*/ 757637 w 757637"/>
                <a:gd name="connsiteY1" fmla="*/ 1199209 h 1942712"/>
                <a:gd name="connsiteX2" fmla="*/ 695845 w 757637"/>
                <a:gd name="connsiteY2" fmla="*/ 1580566 h 1942712"/>
                <a:gd name="connsiteX3" fmla="*/ 470905 w 757637"/>
                <a:gd name="connsiteY3" fmla="*/ 1908890 h 1942712"/>
                <a:gd name="connsiteX4" fmla="*/ 399938 w 757637"/>
                <a:gd name="connsiteY4" fmla="*/ 1942712 h 1942712"/>
                <a:gd name="connsiteX5" fmla="*/ 0 w 757637"/>
                <a:gd name="connsiteY5" fmla="*/ 1112159 h 1942712"/>
                <a:gd name="connsiteX0" fmla="*/ 0 w 757637"/>
                <a:gd name="connsiteY0" fmla="*/ 0 h 830553"/>
                <a:gd name="connsiteX1" fmla="*/ 757637 w 757637"/>
                <a:gd name="connsiteY1" fmla="*/ 87050 h 830553"/>
                <a:gd name="connsiteX2" fmla="*/ 695845 w 757637"/>
                <a:gd name="connsiteY2" fmla="*/ 468407 h 830553"/>
                <a:gd name="connsiteX3" fmla="*/ 470905 w 757637"/>
                <a:gd name="connsiteY3" fmla="*/ 796731 h 830553"/>
                <a:gd name="connsiteX4" fmla="*/ 399938 w 757637"/>
                <a:gd name="connsiteY4" fmla="*/ 830553 h 830553"/>
                <a:gd name="connsiteX5" fmla="*/ 0 w 757637"/>
                <a:gd name="connsiteY5" fmla="*/ 0 h 83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0553">
                  <a:moveTo>
                    <a:pt x="0" y="0"/>
                  </a:moveTo>
                  <a:lnTo>
                    <a:pt x="757637" y="87050"/>
                  </a:lnTo>
                  <a:lnTo>
                    <a:pt x="695845" y="468407"/>
                  </a:lnTo>
                  <a:cubicBezTo>
                    <a:pt x="672722" y="609838"/>
                    <a:pt x="587696" y="727999"/>
                    <a:pt x="470905" y="796731"/>
                  </a:cubicBezTo>
                  <a:lnTo>
                    <a:pt x="399938" y="830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7E184C9-1C35-CBE9-01E2-C86A64440F1D}"/>
                </a:ext>
              </a:extLst>
            </p:cNvPr>
            <p:cNvSpPr/>
            <p:nvPr/>
          </p:nvSpPr>
          <p:spPr>
            <a:xfrm>
              <a:off x="3765736" y="4092046"/>
              <a:ext cx="757637" cy="839640"/>
            </a:xfrm>
            <a:custGeom>
              <a:avLst/>
              <a:gdLst>
                <a:gd name="connsiteX0" fmla="*/ 180179 w 757637"/>
                <a:gd name="connsiteY0" fmla="*/ 0 h 1951799"/>
                <a:gd name="connsiteX1" fmla="*/ 757637 w 757637"/>
                <a:gd name="connsiteY1" fmla="*/ 1199210 h 1951799"/>
                <a:gd name="connsiteX2" fmla="*/ 693883 w 757637"/>
                <a:gd name="connsiteY2" fmla="*/ 1592673 h 1951799"/>
                <a:gd name="connsiteX3" fmla="*/ 468943 w 757637"/>
                <a:gd name="connsiteY3" fmla="*/ 1920997 h 1951799"/>
                <a:gd name="connsiteX4" fmla="*/ 404313 w 757637"/>
                <a:gd name="connsiteY4" fmla="*/ 1951799 h 1951799"/>
                <a:gd name="connsiteX5" fmla="*/ 0 w 757637"/>
                <a:gd name="connsiteY5" fmla="*/ 1112159 h 1951799"/>
                <a:gd name="connsiteX0" fmla="*/ 0 w 757637"/>
                <a:gd name="connsiteY0" fmla="*/ 0 h 839640"/>
                <a:gd name="connsiteX1" fmla="*/ 757637 w 757637"/>
                <a:gd name="connsiteY1" fmla="*/ 87051 h 839640"/>
                <a:gd name="connsiteX2" fmla="*/ 693883 w 757637"/>
                <a:gd name="connsiteY2" fmla="*/ 480514 h 839640"/>
                <a:gd name="connsiteX3" fmla="*/ 468943 w 757637"/>
                <a:gd name="connsiteY3" fmla="*/ 808838 h 839640"/>
                <a:gd name="connsiteX4" fmla="*/ 404313 w 757637"/>
                <a:gd name="connsiteY4" fmla="*/ 839640 h 839640"/>
                <a:gd name="connsiteX5" fmla="*/ 0 w 757637"/>
                <a:gd name="connsiteY5" fmla="*/ 0 h 83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9640">
                  <a:moveTo>
                    <a:pt x="0" y="0"/>
                  </a:moveTo>
                  <a:lnTo>
                    <a:pt x="757637" y="87051"/>
                  </a:lnTo>
                  <a:lnTo>
                    <a:pt x="693883" y="480514"/>
                  </a:lnTo>
                  <a:cubicBezTo>
                    <a:pt x="670760" y="621945"/>
                    <a:pt x="585734" y="740106"/>
                    <a:pt x="468943" y="808838"/>
                  </a:cubicBezTo>
                  <a:lnTo>
                    <a:pt x="404313" y="839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2BEC7CF-FF2B-0E74-7825-39E317D9484C}"/>
                </a:ext>
              </a:extLst>
            </p:cNvPr>
            <p:cNvSpPr/>
            <p:nvPr/>
          </p:nvSpPr>
          <p:spPr>
            <a:xfrm>
              <a:off x="5650896" y="4102138"/>
              <a:ext cx="757637" cy="832066"/>
            </a:xfrm>
            <a:custGeom>
              <a:avLst/>
              <a:gdLst>
                <a:gd name="connsiteX0" fmla="*/ 180180 w 757637"/>
                <a:gd name="connsiteY0" fmla="*/ 0 h 1944225"/>
                <a:gd name="connsiteX1" fmla="*/ 757637 w 757637"/>
                <a:gd name="connsiteY1" fmla="*/ 1199210 h 1944225"/>
                <a:gd name="connsiteX2" fmla="*/ 695518 w 757637"/>
                <a:gd name="connsiteY2" fmla="*/ 1582581 h 1944225"/>
                <a:gd name="connsiteX3" fmla="*/ 470578 w 757637"/>
                <a:gd name="connsiteY3" fmla="*/ 1910905 h 1944225"/>
                <a:gd name="connsiteX4" fmla="*/ 400666 w 757637"/>
                <a:gd name="connsiteY4" fmla="*/ 1944225 h 1944225"/>
                <a:gd name="connsiteX5" fmla="*/ 0 w 757637"/>
                <a:gd name="connsiteY5" fmla="*/ 1112159 h 1944225"/>
                <a:gd name="connsiteX0" fmla="*/ 0 w 757637"/>
                <a:gd name="connsiteY0" fmla="*/ 0 h 832066"/>
                <a:gd name="connsiteX1" fmla="*/ 757637 w 757637"/>
                <a:gd name="connsiteY1" fmla="*/ 87051 h 832066"/>
                <a:gd name="connsiteX2" fmla="*/ 695518 w 757637"/>
                <a:gd name="connsiteY2" fmla="*/ 470422 h 832066"/>
                <a:gd name="connsiteX3" fmla="*/ 470578 w 757637"/>
                <a:gd name="connsiteY3" fmla="*/ 798746 h 832066"/>
                <a:gd name="connsiteX4" fmla="*/ 400666 w 757637"/>
                <a:gd name="connsiteY4" fmla="*/ 832066 h 832066"/>
                <a:gd name="connsiteX5" fmla="*/ 0 w 757637"/>
                <a:gd name="connsiteY5" fmla="*/ 0 h 83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2066">
                  <a:moveTo>
                    <a:pt x="0" y="0"/>
                  </a:moveTo>
                  <a:lnTo>
                    <a:pt x="757637" y="87051"/>
                  </a:lnTo>
                  <a:lnTo>
                    <a:pt x="695518" y="470422"/>
                  </a:lnTo>
                  <a:cubicBezTo>
                    <a:pt x="672395" y="611853"/>
                    <a:pt x="587369" y="730014"/>
                    <a:pt x="470578" y="798746"/>
                  </a:cubicBezTo>
                  <a:lnTo>
                    <a:pt x="400666" y="8320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087047-6811-DECA-445A-971696D4826B}"/>
                </a:ext>
              </a:extLst>
            </p:cNvPr>
            <p:cNvSpPr/>
            <p:nvPr/>
          </p:nvSpPr>
          <p:spPr>
            <a:xfrm>
              <a:off x="7529448" y="4103675"/>
              <a:ext cx="757637" cy="830912"/>
            </a:xfrm>
            <a:custGeom>
              <a:avLst/>
              <a:gdLst>
                <a:gd name="connsiteX0" fmla="*/ 180180 w 757637"/>
                <a:gd name="connsiteY0" fmla="*/ 0 h 1943071"/>
                <a:gd name="connsiteX1" fmla="*/ 757637 w 757637"/>
                <a:gd name="connsiteY1" fmla="*/ 1199209 h 1943071"/>
                <a:gd name="connsiteX2" fmla="*/ 695767 w 757637"/>
                <a:gd name="connsiteY2" fmla="*/ 1581044 h 1943071"/>
                <a:gd name="connsiteX3" fmla="*/ 470827 w 757637"/>
                <a:gd name="connsiteY3" fmla="*/ 1909368 h 1943071"/>
                <a:gd name="connsiteX4" fmla="*/ 400110 w 757637"/>
                <a:gd name="connsiteY4" fmla="*/ 1943071 h 1943071"/>
                <a:gd name="connsiteX5" fmla="*/ 0 w 757637"/>
                <a:gd name="connsiteY5" fmla="*/ 1112159 h 1943071"/>
                <a:gd name="connsiteX0" fmla="*/ 0 w 757637"/>
                <a:gd name="connsiteY0" fmla="*/ 0 h 830912"/>
                <a:gd name="connsiteX1" fmla="*/ 757637 w 757637"/>
                <a:gd name="connsiteY1" fmla="*/ 87050 h 830912"/>
                <a:gd name="connsiteX2" fmla="*/ 695767 w 757637"/>
                <a:gd name="connsiteY2" fmla="*/ 468885 h 830912"/>
                <a:gd name="connsiteX3" fmla="*/ 470827 w 757637"/>
                <a:gd name="connsiteY3" fmla="*/ 797209 h 830912"/>
                <a:gd name="connsiteX4" fmla="*/ 400110 w 757637"/>
                <a:gd name="connsiteY4" fmla="*/ 830912 h 830912"/>
                <a:gd name="connsiteX5" fmla="*/ 0 w 757637"/>
                <a:gd name="connsiteY5" fmla="*/ 0 h 83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0912">
                  <a:moveTo>
                    <a:pt x="0" y="0"/>
                  </a:moveTo>
                  <a:lnTo>
                    <a:pt x="757637" y="87050"/>
                  </a:lnTo>
                  <a:lnTo>
                    <a:pt x="695767" y="468885"/>
                  </a:lnTo>
                  <a:cubicBezTo>
                    <a:pt x="672644" y="610316"/>
                    <a:pt x="587618" y="728477"/>
                    <a:pt x="470827" y="797209"/>
                  </a:cubicBezTo>
                  <a:lnTo>
                    <a:pt x="400110" y="830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D88A354-C177-BBCE-C86B-F9C351E899EF}"/>
                </a:ext>
              </a:extLst>
            </p:cNvPr>
            <p:cNvSpPr/>
            <p:nvPr/>
          </p:nvSpPr>
          <p:spPr>
            <a:xfrm>
              <a:off x="9398384" y="4096334"/>
              <a:ext cx="757637" cy="836421"/>
            </a:xfrm>
            <a:custGeom>
              <a:avLst/>
              <a:gdLst>
                <a:gd name="connsiteX0" fmla="*/ 180180 w 757637"/>
                <a:gd name="connsiteY0" fmla="*/ 0 h 1948581"/>
                <a:gd name="connsiteX1" fmla="*/ 757637 w 757637"/>
                <a:gd name="connsiteY1" fmla="*/ 1199210 h 1948581"/>
                <a:gd name="connsiteX2" fmla="*/ 694578 w 757637"/>
                <a:gd name="connsiteY2" fmla="*/ 1588385 h 1948581"/>
                <a:gd name="connsiteX3" fmla="*/ 469638 w 757637"/>
                <a:gd name="connsiteY3" fmla="*/ 1916709 h 1948581"/>
                <a:gd name="connsiteX4" fmla="*/ 402763 w 757637"/>
                <a:gd name="connsiteY4" fmla="*/ 1948581 h 1948581"/>
                <a:gd name="connsiteX5" fmla="*/ 0 w 757637"/>
                <a:gd name="connsiteY5" fmla="*/ 1112160 h 1948581"/>
                <a:gd name="connsiteX0" fmla="*/ 0 w 757637"/>
                <a:gd name="connsiteY0" fmla="*/ 0 h 836421"/>
                <a:gd name="connsiteX1" fmla="*/ 757637 w 757637"/>
                <a:gd name="connsiteY1" fmla="*/ 87050 h 836421"/>
                <a:gd name="connsiteX2" fmla="*/ 694578 w 757637"/>
                <a:gd name="connsiteY2" fmla="*/ 476225 h 836421"/>
                <a:gd name="connsiteX3" fmla="*/ 469638 w 757637"/>
                <a:gd name="connsiteY3" fmla="*/ 804549 h 836421"/>
                <a:gd name="connsiteX4" fmla="*/ 402763 w 757637"/>
                <a:gd name="connsiteY4" fmla="*/ 836421 h 836421"/>
                <a:gd name="connsiteX5" fmla="*/ 0 w 757637"/>
                <a:gd name="connsiteY5" fmla="*/ 0 h 836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6421">
                  <a:moveTo>
                    <a:pt x="0" y="0"/>
                  </a:moveTo>
                  <a:lnTo>
                    <a:pt x="757637" y="87050"/>
                  </a:lnTo>
                  <a:lnTo>
                    <a:pt x="694578" y="476225"/>
                  </a:lnTo>
                  <a:cubicBezTo>
                    <a:pt x="671455" y="617656"/>
                    <a:pt x="586429" y="735817"/>
                    <a:pt x="469638" y="804549"/>
                  </a:cubicBezTo>
                  <a:lnTo>
                    <a:pt x="402763" y="8364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7" name="Shape">
              <a:extLst>
                <a:ext uri="{FF2B5EF4-FFF2-40B4-BE49-F238E27FC236}">
                  <a16:creationId xmlns:a16="http://schemas.microsoft.com/office/drawing/2014/main" id="{DB845F88-8E4F-B121-E499-5633C00D111F}"/>
                </a:ext>
              </a:extLst>
            </p:cNvPr>
            <p:cNvSpPr/>
            <p:nvPr/>
          </p:nvSpPr>
          <p:spPr>
            <a:xfrm>
              <a:off x="1683152" y="2992229"/>
              <a:ext cx="1301437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2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8" name="Shape">
              <a:extLst>
                <a:ext uri="{FF2B5EF4-FFF2-40B4-BE49-F238E27FC236}">
                  <a16:creationId xmlns:a16="http://schemas.microsoft.com/office/drawing/2014/main" id="{626FDCEF-B3C1-7087-DFFD-433A6A8A5289}"/>
                </a:ext>
              </a:extLst>
            </p:cNvPr>
            <p:cNvSpPr/>
            <p:nvPr/>
          </p:nvSpPr>
          <p:spPr>
            <a:xfrm>
              <a:off x="1786037" y="3095116"/>
              <a:ext cx="1109926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9" name="Shape">
              <a:extLst>
                <a:ext uri="{FF2B5EF4-FFF2-40B4-BE49-F238E27FC236}">
                  <a16:creationId xmlns:a16="http://schemas.microsoft.com/office/drawing/2014/main" id="{FF0C8A74-CB68-0765-B7B4-2003E1969042}"/>
                </a:ext>
              </a:extLst>
            </p:cNvPr>
            <p:cNvSpPr/>
            <p:nvPr/>
          </p:nvSpPr>
          <p:spPr>
            <a:xfrm>
              <a:off x="3583061" y="2992229"/>
              <a:ext cx="1301437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4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0" name="Shape">
              <a:extLst>
                <a:ext uri="{FF2B5EF4-FFF2-40B4-BE49-F238E27FC236}">
                  <a16:creationId xmlns:a16="http://schemas.microsoft.com/office/drawing/2014/main" id="{5F2B16CA-A5C6-DD0F-D2C7-603FA3163F04}"/>
                </a:ext>
              </a:extLst>
            </p:cNvPr>
            <p:cNvSpPr/>
            <p:nvPr/>
          </p:nvSpPr>
          <p:spPr>
            <a:xfrm>
              <a:off x="3665370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1" name="Shape">
              <a:extLst>
                <a:ext uri="{FF2B5EF4-FFF2-40B4-BE49-F238E27FC236}">
                  <a16:creationId xmlns:a16="http://schemas.microsoft.com/office/drawing/2014/main" id="{ED968B0C-8020-388F-DC3A-81C58552686F}"/>
                </a:ext>
              </a:extLst>
            </p:cNvPr>
            <p:cNvSpPr/>
            <p:nvPr/>
          </p:nvSpPr>
          <p:spPr>
            <a:xfrm>
              <a:off x="5455571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5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2" name="Shape">
              <a:extLst>
                <a:ext uri="{FF2B5EF4-FFF2-40B4-BE49-F238E27FC236}">
                  <a16:creationId xmlns:a16="http://schemas.microsoft.com/office/drawing/2014/main" id="{74D199CC-CFA9-9861-FD41-F7766FC245FB}"/>
                </a:ext>
              </a:extLst>
            </p:cNvPr>
            <p:cNvSpPr/>
            <p:nvPr/>
          </p:nvSpPr>
          <p:spPr>
            <a:xfrm>
              <a:off x="5537880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3" name="Shape">
              <a:extLst>
                <a:ext uri="{FF2B5EF4-FFF2-40B4-BE49-F238E27FC236}">
                  <a16:creationId xmlns:a16="http://schemas.microsoft.com/office/drawing/2014/main" id="{558296EA-E9C0-3893-9F39-B3EDCE1A85F2}"/>
                </a:ext>
              </a:extLst>
            </p:cNvPr>
            <p:cNvSpPr/>
            <p:nvPr/>
          </p:nvSpPr>
          <p:spPr>
            <a:xfrm>
              <a:off x="7328081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3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4" name="Shape">
              <a:extLst>
                <a:ext uri="{FF2B5EF4-FFF2-40B4-BE49-F238E27FC236}">
                  <a16:creationId xmlns:a16="http://schemas.microsoft.com/office/drawing/2014/main" id="{6B33D7EF-A9B8-C1FA-5D06-3630E097B8F6}"/>
                </a:ext>
              </a:extLst>
            </p:cNvPr>
            <p:cNvSpPr/>
            <p:nvPr/>
          </p:nvSpPr>
          <p:spPr>
            <a:xfrm>
              <a:off x="7430966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5" name="Shape">
              <a:extLst>
                <a:ext uri="{FF2B5EF4-FFF2-40B4-BE49-F238E27FC236}">
                  <a16:creationId xmlns:a16="http://schemas.microsoft.com/office/drawing/2014/main" id="{A447F9FC-9FEA-A105-47D0-9C74099CFD7C}"/>
                </a:ext>
              </a:extLst>
            </p:cNvPr>
            <p:cNvSpPr/>
            <p:nvPr/>
          </p:nvSpPr>
          <p:spPr>
            <a:xfrm>
              <a:off x="9200590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6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6" name="Shape">
              <a:extLst>
                <a:ext uri="{FF2B5EF4-FFF2-40B4-BE49-F238E27FC236}">
                  <a16:creationId xmlns:a16="http://schemas.microsoft.com/office/drawing/2014/main" id="{BAB6186A-89C1-03C4-3682-EBCFFC630FA8}"/>
                </a:ext>
              </a:extLst>
            </p:cNvPr>
            <p:cNvSpPr/>
            <p:nvPr/>
          </p:nvSpPr>
          <p:spPr>
            <a:xfrm>
              <a:off x="3192099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3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7164A9A6-AADC-E1C0-447C-2B37F122309C}"/>
                </a:ext>
              </a:extLst>
            </p:cNvPr>
            <p:cNvSpPr/>
            <p:nvPr/>
          </p:nvSpPr>
          <p:spPr>
            <a:xfrm>
              <a:off x="5064608" y="3486079"/>
              <a:ext cx="234257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4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424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8" name="Shape">
              <a:extLst>
                <a:ext uri="{FF2B5EF4-FFF2-40B4-BE49-F238E27FC236}">
                  <a16:creationId xmlns:a16="http://schemas.microsoft.com/office/drawing/2014/main" id="{5EFA6E09-0ED6-DA54-AD13-F88842DDFCE6}"/>
                </a:ext>
              </a:extLst>
            </p:cNvPr>
            <p:cNvSpPr/>
            <p:nvPr/>
          </p:nvSpPr>
          <p:spPr>
            <a:xfrm>
              <a:off x="6937117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3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9" name="Shape">
              <a:extLst>
                <a:ext uri="{FF2B5EF4-FFF2-40B4-BE49-F238E27FC236}">
                  <a16:creationId xmlns:a16="http://schemas.microsoft.com/office/drawing/2014/main" id="{E0822CC8-F5A2-F232-4A01-802281BE2E38}"/>
                </a:ext>
              </a:extLst>
            </p:cNvPr>
            <p:cNvSpPr/>
            <p:nvPr/>
          </p:nvSpPr>
          <p:spPr>
            <a:xfrm>
              <a:off x="8809626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4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C6513D7C-D60D-A759-F385-71585EA38056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ACD215-A8D4-492F-00AD-BABAAA6A35BA}"/>
              </a:ext>
            </a:extLst>
          </p:cNvPr>
          <p:cNvSpPr txBox="1"/>
          <p:nvPr/>
        </p:nvSpPr>
        <p:spPr>
          <a:xfrm>
            <a:off x="1720269" y="1323879"/>
            <a:ext cx="487650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852DC9-4098-E355-8F85-74BFAABA76EF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3DB38D-17D7-E499-93E4-85F2CE2D3336}"/>
              </a:ext>
            </a:extLst>
          </p:cNvPr>
          <p:cNvSpPr txBox="1"/>
          <p:nvPr/>
        </p:nvSpPr>
        <p:spPr>
          <a:xfrm>
            <a:off x="4463847" y="1325076"/>
            <a:ext cx="370656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331E06A-BED7-749B-F2C4-B211A4825A85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F60371-0B5D-D2E5-3640-3117396A3F97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b="1" noProof="1"/>
                <a:t>Operative Context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768B416-7E8F-1A2B-6E54-5576C5549B58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D1EB1DE-A344-48F5-AA52-053BAD085BF3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7DA2CC-0034-16D2-6AC9-26A85AC90BDA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EE8C409-B6E1-7F00-E057-2D50153214C5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6E3BA6-2315-B6BD-844B-3E46EB2A698A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5A5A5F8-3CB2-1D26-6E82-1B6C30EF3B5D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70EDB18-CB83-88DC-6B14-9FF034087B96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45" name="Shape">
            <a:extLst>
              <a:ext uri="{FF2B5EF4-FFF2-40B4-BE49-F238E27FC236}">
                <a16:creationId xmlns:a16="http://schemas.microsoft.com/office/drawing/2014/main" id="{D39CF3D5-EB2D-5E50-7563-A8E6E4434738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34A480-39B0-42BB-CFE4-B29EDE0F1622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1D4EA8-96A7-7C0E-1C77-AF14F10D009E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91A24B-0C39-65F5-7979-E9B90F08C6D6}"/>
              </a:ext>
            </a:extLst>
          </p:cNvPr>
          <p:cNvSpPr txBox="1"/>
          <p:nvPr/>
        </p:nvSpPr>
        <p:spPr>
          <a:xfrm>
            <a:off x="869002" y="114827"/>
            <a:ext cx="2882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Presentation Outline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59005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6D54FDD-7F6F-CA73-489C-569D69D3F4D3}"/>
              </a:ext>
            </a:extLst>
          </p:cNvPr>
          <p:cNvSpPr/>
          <p:nvPr/>
        </p:nvSpPr>
        <p:spPr>
          <a:xfrm>
            <a:off x="1013267" y="270137"/>
            <a:ext cx="4204012" cy="253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90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 pitchFamily="34" charset="-122"/>
                <a:cs typeface="Tomorrow Semi Bold" pitchFamily="34" charset="-120"/>
              </a:rPr>
              <a:t>Ground Segment Organization</a:t>
            </a:r>
            <a:endParaRPr lang="en-US" sz="1400" b="1" dirty="0">
              <a:solidFill>
                <a:schemeClr val="accent2">
                  <a:lumMod val="76000"/>
                </a:schemeClr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9B7B780-6653-4596-BD16-31F25D642964}"/>
              </a:ext>
            </a:extLst>
          </p:cNvPr>
          <p:cNvSpPr txBox="1"/>
          <p:nvPr/>
        </p:nvSpPr>
        <p:spPr>
          <a:xfrm>
            <a:off x="165142" y="755374"/>
            <a:ext cx="4115229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Satellite Control Center: </a:t>
            </a:r>
            <a:r>
              <a:rPr lang="it-IT" sz="900" dirty="0" err="1">
                <a:latin typeface="+mn-lt"/>
              </a:rPr>
              <a:t>spacecraft</a:t>
            </a:r>
            <a:r>
              <a:rPr lang="it-IT" sz="900" dirty="0">
                <a:latin typeface="+mn-lt"/>
              </a:rPr>
              <a:t> monitoring and </a:t>
            </a:r>
            <a:r>
              <a:rPr lang="it-IT" sz="900" dirty="0" err="1">
                <a:latin typeface="+mn-lt"/>
              </a:rPr>
              <a:t>command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execution</a:t>
            </a:r>
            <a:r>
              <a:rPr lang="it-IT" sz="900" dirty="0">
                <a:latin typeface="+mn-lt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Mission Planning Center: </a:t>
            </a:r>
            <a:r>
              <a:rPr lang="it-IT" sz="900" dirty="0">
                <a:latin typeface="+mn-lt"/>
              </a:rPr>
              <a:t>planning of </a:t>
            </a:r>
            <a:r>
              <a:rPr lang="it-IT" sz="900" dirty="0" err="1">
                <a:latin typeface="+mn-lt"/>
              </a:rPr>
              <a:t>operational</a:t>
            </a:r>
            <a:r>
              <a:rPr lang="it-IT" sz="900" dirty="0">
                <a:latin typeface="+mn-lt"/>
              </a:rPr>
              <a:t> activities and mission tasks.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TT&amp;C: </a:t>
            </a:r>
            <a:r>
              <a:rPr lang="it-IT" sz="900" dirty="0" err="1">
                <a:latin typeface="+mn-lt"/>
              </a:rPr>
              <a:t>telemetry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acquisition</a:t>
            </a:r>
            <a:r>
              <a:rPr lang="it-IT" sz="900" dirty="0">
                <a:latin typeface="+mn-lt"/>
              </a:rPr>
              <a:t>, </a:t>
            </a:r>
            <a:r>
              <a:rPr lang="it-IT" sz="900" dirty="0" err="1">
                <a:latin typeface="+mn-lt"/>
              </a:rPr>
              <a:t>spacecraft</a:t>
            </a:r>
            <a:r>
              <a:rPr lang="it-IT" sz="900" dirty="0">
                <a:latin typeface="+mn-lt"/>
              </a:rPr>
              <a:t> tracking and </a:t>
            </a:r>
            <a:r>
              <a:rPr lang="it-IT" sz="900" dirty="0" err="1">
                <a:latin typeface="+mn-lt"/>
              </a:rPr>
              <a:t>command</a:t>
            </a:r>
            <a:r>
              <a:rPr lang="it-IT" sz="900" dirty="0">
                <a:latin typeface="+mn-lt"/>
              </a:rPr>
              <a:t> uplink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Flight Dynamics: </a:t>
            </a:r>
            <a:r>
              <a:rPr lang="it-IT" sz="900" dirty="0" err="1">
                <a:latin typeface="+mn-lt"/>
              </a:rPr>
              <a:t>orbit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determination</a:t>
            </a:r>
            <a:r>
              <a:rPr lang="it-IT" sz="900" dirty="0">
                <a:latin typeface="+mn-lt"/>
              </a:rPr>
              <a:t>, </a:t>
            </a:r>
            <a:r>
              <a:rPr lang="it-IT" sz="900" dirty="0" err="1">
                <a:latin typeface="+mn-lt"/>
              </a:rPr>
              <a:t>maneuver</a:t>
            </a:r>
            <a:r>
              <a:rPr lang="it-IT" sz="900" dirty="0">
                <a:latin typeface="+mn-lt"/>
              </a:rPr>
              <a:t> planning and </a:t>
            </a:r>
            <a:r>
              <a:rPr lang="it-IT" sz="900" dirty="0" err="1">
                <a:latin typeface="+mn-lt"/>
              </a:rPr>
              <a:t>analysis</a:t>
            </a:r>
            <a:r>
              <a:rPr lang="it-IT" sz="900" dirty="0">
                <a:latin typeface="+mn-lt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dirty="0">
                <a:latin typeface="+mn-lt"/>
              </a:rPr>
              <a:t>...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4535B321-102B-4295-A8A6-8ADC654285E3}"/>
              </a:ext>
            </a:extLst>
          </p:cNvPr>
          <p:cNvSpPr txBox="1"/>
          <p:nvPr/>
        </p:nvSpPr>
        <p:spPr>
          <a:xfrm>
            <a:off x="382392" y="1763405"/>
            <a:ext cx="2865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 err="1">
                <a:latin typeface="+mn-lt"/>
              </a:rPr>
              <a:t>Although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each</a:t>
            </a:r>
            <a:r>
              <a:rPr lang="it-IT" sz="900" dirty="0">
                <a:latin typeface="+mn-lt"/>
              </a:rPr>
              <a:t> system </a:t>
            </a:r>
            <a:r>
              <a:rPr lang="it-IT" sz="900" dirty="0" err="1">
                <a:latin typeface="+mn-lt"/>
              </a:rPr>
              <a:t>performs</a:t>
            </a:r>
            <a:r>
              <a:rPr lang="it-IT" sz="900" dirty="0">
                <a:latin typeface="+mn-lt"/>
              </a:rPr>
              <a:t> a </a:t>
            </a:r>
            <a:r>
              <a:rPr lang="it-IT" sz="900" dirty="0" err="1">
                <a:latin typeface="+mn-lt"/>
              </a:rPr>
              <a:t>well-defined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function</a:t>
            </a:r>
            <a:r>
              <a:rPr lang="it-IT" sz="900" dirty="0">
                <a:latin typeface="+mn-lt"/>
              </a:rPr>
              <a:t>, mission </a:t>
            </a:r>
            <a:r>
              <a:rPr lang="it-IT" sz="900" dirty="0" err="1">
                <a:latin typeface="+mn-lt"/>
              </a:rPr>
              <a:t>operations</a:t>
            </a:r>
            <a:r>
              <a:rPr lang="it-IT" sz="900" dirty="0">
                <a:latin typeface="+mn-lt"/>
              </a:rPr>
              <a:t> emerge from </a:t>
            </a:r>
            <a:r>
              <a:rPr lang="it-IT" sz="900" dirty="0" err="1">
                <a:latin typeface="+mn-lt"/>
              </a:rPr>
              <a:t>their</a:t>
            </a:r>
            <a:r>
              <a:rPr lang="it-IT" sz="900" dirty="0">
                <a:latin typeface="+mn-lt"/>
              </a:rPr>
              <a:t> </a:t>
            </a:r>
            <a:r>
              <a:rPr lang="it-IT" sz="900" b="1" dirty="0" err="1">
                <a:latin typeface="+mn-lt"/>
              </a:rPr>
              <a:t>continuous</a:t>
            </a:r>
            <a:r>
              <a:rPr lang="it-IT" sz="900" b="1" dirty="0">
                <a:latin typeface="+mn-lt"/>
              </a:rPr>
              <a:t> interaction</a:t>
            </a:r>
            <a:r>
              <a:rPr lang="it-IT" sz="900" dirty="0">
                <a:latin typeface="+mn-lt"/>
              </a:rPr>
              <a:t>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57A9754-A8CA-41F2-BAF0-6361EB16FC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1023" y="1566044"/>
            <a:ext cx="2352633" cy="1322703"/>
          </a:xfrm>
          <a:prstGeom prst="ellipse">
            <a:avLst/>
          </a:prstGeom>
          <a:ln w="190500" cap="rnd">
            <a:noFill/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30FA58B9-709A-4E6D-BE95-AF1997808D81}"/>
              </a:ext>
            </a:extLst>
          </p:cNvPr>
          <p:cNvSpPr/>
          <p:nvPr/>
        </p:nvSpPr>
        <p:spPr>
          <a:xfrm>
            <a:off x="382392" y="2418839"/>
            <a:ext cx="2923633" cy="5558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900" b="1" dirty="0">
                <a:solidFill>
                  <a:schemeClr val="tx1"/>
                </a:solidFill>
              </a:rPr>
              <a:t>Mission Manager: </a:t>
            </a:r>
            <a:r>
              <a:rPr lang="it-IT" sz="900" dirty="0">
                <a:solidFill>
                  <a:schemeClr val="tx1"/>
                </a:solidFill>
              </a:rPr>
              <a:t>The </a:t>
            </a:r>
            <a:r>
              <a:rPr lang="it-IT" sz="900" dirty="0" err="1">
                <a:solidFill>
                  <a:schemeClr val="tx1"/>
                </a:solidFill>
              </a:rPr>
              <a:t>person</a:t>
            </a:r>
            <a:r>
              <a:rPr lang="it-IT" sz="900" dirty="0">
                <a:solidFill>
                  <a:schemeClr val="tx1"/>
                </a:solidFill>
              </a:rPr>
              <a:t> </a:t>
            </a:r>
            <a:r>
              <a:rPr lang="it-IT" sz="900" dirty="0" err="1">
                <a:solidFill>
                  <a:schemeClr val="tx1"/>
                </a:solidFill>
              </a:rPr>
              <a:t>responsible</a:t>
            </a:r>
            <a:r>
              <a:rPr lang="it-IT" sz="900" dirty="0">
                <a:solidFill>
                  <a:schemeClr val="tx1"/>
                </a:solidFill>
              </a:rPr>
              <a:t> for </a:t>
            </a:r>
            <a:r>
              <a:rPr lang="it-IT" sz="900" dirty="0" err="1">
                <a:solidFill>
                  <a:schemeClr val="tx1"/>
                </a:solidFill>
              </a:rPr>
              <a:t>supervising</a:t>
            </a:r>
            <a:r>
              <a:rPr lang="it-IT" sz="900" dirty="0">
                <a:solidFill>
                  <a:schemeClr val="tx1"/>
                </a:solidFill>
              </a:rPr>
              <a:t> the overall </a:t>
            </a:r>
            <a:r>
              <a:rPr lang="it-IT" sz="900" dirty="0" err="1">
                <a:solidFill>
                  <a:schemeClr val="tx1"/>
                </a:solidFill>
              </a:rPr>
              <a:t>execution</a:t>
            </a:r>
            <a:r>
              <a:rPr lang="it-IT" sz="900" dirty="0">
                <a:solidFill>
                  <a:schemeClr val="tx1"/>
                </a:solidFill>
              </a:rPr>
              <a:t> and state of the mission.</a:t>
            </a:r>
          </a:p>
        </p:txBody>
      </p:sp>
    </p:spTree>
    <p:extLst>
      <p:ext uri="{BB962C8B-B14F-4D97-AF65-F5344CB8AC3E}">
        <p14:creationId xmlns:p14="http://schemas.microsoft.com/office/powerpoint/2010/main" val="3576859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B7083-B3CD-AEE1-C95C-34864AC2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3B19C818-FA4E-1DC6-BB35-844AADE3B17B}"/>
              </a:ext>
            </a:extLst>
          </p:cNvPr>
          <p:cNvSpPr/>
          <p:nvPr/>
        </p:nvSpPr>
        <p:spPr>
          <a:xfrm>
            <a:off x="1076000" y="256315"/>
            <a:ext cx="4449631" cy="47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90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 pitchFamily="34" charset="-122"/>
                <a:cs typeface="Tomorrow Semi Bold" pitchFamily="34" charset="-120"/>
              </a:rPr>
              <a:t>Mission Manager’s Role &amp; Challenges</a:t>
            </a:r>
            <a:endParaRPr lang="en-US" sz="1400" b="1" dirty="0">
              <a:solidFill>
                <a:schemeClr val="accent2">
                  <a:lumMod val="76000"/>
                </a:schemeClr>
              </a:solidFill>
            </a:endParaRPr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5D5AEE96-F21A-823F-7022-C140FA55DA6B}"/>
              </a:ext>
            </a:extLst>
          </p:cNvPr>
          <p:cNvSpPr/>
          <p:nvPr/>
        </p:nvSpPr>
        <p:spPr>
          <a:xfrm>
            <a:off x="844717" y="732763"/>
            <a:ext cx="2081435" cy="169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926"/>
              </a:lnSpc>
              <a:buNone/>
            </a:pPr>
            <a:r>
              <a:rPr lang="en-US" sz="800" b="1" dirty="0">
                <a:latin typeface="Tomorrow Semi Bold"/>
                <a:ea typeface="Tomorrow Semi Bold" pitchFamily="34" charset="-122"/>
                <a:cs typeface="Tomorrow Semi Bold" pitchFamily="34" charset="-120"/>
              </a:rPr>
              <a:t>Situational Awareness</a:t>
            </a:r>
            <a:endParaRPr lang="en-US" sz="800" b="1" dirty="0">
              <a:latin typeface="Tomorrow Semi Bold"/>
            </a:endParaRPr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E939039B-2D4B-88C8-8CA5-8E5F8109F530}"/>
              </a:ext>
            </a:extLst>
          </p:cNvPr>
          <p:cNvSpPr/>
          <p:nvPr/>
        </p:nvSpPr>
        <p:spPr>
          <a:xfrm>
            <a:off x="852158" y="936914"/>
            <a:ext cx="2130219" cy="850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Supervising mission execution and anomaly responses.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Operational events evaluation.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Response coordination of different teams.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Support of decision-making during nominal and contingency scenarios.</a:t>
            </a:r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49CB2644-B405-0CB4-D642-A699C6B5522D}"/>
              </a:ext>
            </a:extLst>
          </p:cNvPr>
          <p:cNvSpPr/>
          <p:nvPr/>
        </p:nvSpPr>
        <p:spPr>
          <a:xfrm>
            <a:off x="3126796" y="725356"/>
            <a:ext cx="2070420" cy="169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926"/>
              </a:lnSpc>
              <a:buNone/>
            </a:pPr>
            <a:r>
              <a:rPr lang="en-US" sz="800" b="1" dirty="0">
                <a:latin typeface="Tomorrow Semi Bold"/>
                <a:ea typeface="Tomorrow Semi Bold" pitchFamily="34" charset="-122"/>
                <a:cs typeface="Tomorrow Semi Bold" pitchFamily="34" charset="-120"/>
              </a:rPr>
              <a:t>Information Fragmentation</a:t>
            </a:r>
            <a:endParaRPr lang="en-US" sz="800" b="1" dirty="0">
              <a:latin typeface="Tomorrow Semi Bold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89C758DD-68A2-B54B-6945-ECE23CE00C4E}"/>
              </a:ext>
            </a:extLst>
          </p:cNvPr>
          <p:cNvSpPr/>
          <p:nvPr/>
        </p:nvSpPr>
        <p:spPr>
          <a:xfrm>
            <a:off x="3126796" y="930890"/>
            <a:ext cx="2205183" cy="85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Integrate </a:t>
            </a:r>
            <a:r>
              <a:rPr lang="en-US" sz="800" dirty="0" err="1"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ea typeface="Tomorrow" pitchFamily="34" charset="-122"/>
                <a:cs typeface="Tomorrow" pitchFamily="34" charset="-120"/>
              </a:rPr>
              <a:t> from multiple sources.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The evidence are heterogeneous, asynchronous, incomplete or even conflicting.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Rapid identification of important </a:t>
            </a:r>
            <a:r>
              <a:rPr lang="en-US" sz="800" dirty="0" err="1"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ea typeface="Tomorrow" pitchFamily="34" charset="-122"/>
                <a:cs typeface="Tomorrow" pitchFamily="34" charset="-120"/>
              </a:rPr>
              <a:t> and their implications.</a:t>
            </a:r>
          </a:p>
          <a:p>
            <a:pPr>
              <a:lnSpc>
                <a:spcPts val="946"/>
              </a:lnSpc>
            </a:pPr>
            <a:endParaRPr lang="en-US" sz="800" dirty="0"/>
          </a:p>
        </p:txBody>
      </p:sp>
      <p:pic>
        <p:nvPicPr>
          <p:cNvPr id="40" name="Image 3" descr="preencoded.png">
            <a:extLst>
              <a:ext uri="{FF2B5EF4-FFF2-40B4-BE49-F238E27FC236}">
                <a16:creationId xmlns:a16="http://schemas.microsoft.com/office/drawing/2014/main" id="{00183E0B-58AB-05AF-E086-C7A15CB80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328" y="2245926"/>
            <a:ext cx="102900" cy="128614"/>
          </a:xfrm>
          <a:prstGeom prst="rect">
            <a:avLst/>
          </a:prstGeom>
        </p:spPr>
      </p:pic>
      <p:pic>
        <p:nvPicPr>
          <p:cNvPr id="2050" name="Picture 2" descr="Breach &amp; Attack Simulation, Vulnerability Assessment e Penetration Test nel  Cyber Risk Management - Telsy">
            <a:extLst>
              <a:ext uri="{FF2B5EF4-FFF2-40B4-BE49-F238E27FC236}">
                <a16:creationId xmlns:a16="http://schemas.microsoft.com/office/drawing/2014/main" id="{01A5A82F-5342-1823-D17D-FD3407599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86" y="1878591"/>
            <a:ext cx="4777782" cy="1281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2A7C40-F66E-D301-C9E6-4A2D1613A7A8}"/>
              </a:ext>
            </a:extLst>
          </p:cNvPr>
          <p:cNvCxnSpPr>
            <a:cxnSpLocks/>
          </p:cNvCxnSpPr>
          <p:nvPr/>
        </p:nvCxnSpPr>
        <p:spPr>
          <a:xfrm>
            <a:off x="852158" y="901919"/>
            <a:ext cx="2070877" cy="0"/>
          </a:xfrm>
          <a:prstGeom prst="lin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A364B8-8841-0B10-2BBE-4875B06C51FB}"/>
              </a:ext>
            </a:extLst>
          </p:cNvPr>
          <p:cNvCxnSpPr>
            <a:cxnSpLocks/>
          </p:cNvCxnSpPr>
          <p:nvPr/>
        </p:nvCxnSpPr>
        <p:spPr>
          <a:xfrm>
            <a:off x="3126796" y="903686"/>
            <a:ext cx="2070420" cy="0"/>
          </a:xfrm>
          <a:prstGeom prst="lin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811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596988B2-2CB7-951D-F4EE-448E5A812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53" y="685783"/>
            <a:ext cx="1653149" cy="2482009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D64030A1-3200-2C2D-FCCE-F484CC1F8003}"/>
              </a:ext>
            </a:extLst>
          </p:cNvPr>
          <p:cNvSpPr/>
          <p:nvPr/>
        </p:nvSpPr>
        <p:spPr>
          <a:xfrm>
            <a:off x="1113506" y="240604"/>
            <a:ext cx="4591721" cy="234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2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/>
                <a:cs typeface="Tomorrow Semi Bold" pitchFamily="34" charset="-120"/>
              </a:rPr>
              <a:t>Research Questions &amp; Central Thesis</a:t>
            </a:r>
            <a:endParaRPr lang="en-US" sz="1400" dirty="0">
              <a:solidFill>
                <a:schemeClr val="accent2">
                  <a:lumMod val="76000"/>
                </a:schemeClr>
              </a:solidFill>
              <a:ea typeface="Tomorrow Semi Bold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33E0B1DB-FBA2-4D51-68F5-254A2176135E}"/>
              </a:ext>
            </a:extLst>
          </p:cNvPr>
          <p:cNvSpPr/>
          <p:nvPr/>
        </p:nvSpPr>
        <p:spPr>
          <a:xfrm>
            <a:off x="2426910" y="855247"/>
            <a:ext cx="75639" cy="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b="1">
                <a:solidFill>
                  <a:srgbClr val="953734"/>
                </a:solidFill>
                <a:latin typeface="Tomorrow Light"/>
                <a:ea typeface="Tomorrow Light"/>
                <a:cs typeface="Tomorrow Light" pitchFamily="34" charset="-120"/>
              </a:rPr>
              <a:t>01</a:t>
            </a:r>
            <a:endParaRPr lang="en-US" sz="900" b="1">
              <a:solidFill>
                <a:srgbClr val="953734"/>
              </a:solidFill>
              <a:latin typeface="Tomorrow Light"/>
              <a:ea typeface="Tomorrow Light"/>
              <a:cs typeface="Calibri"/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A4ACF4AE-5D70-3E16-5911-025A8B20C858}"/>
              </a:ext>
            </a:extLst>
          </p:cNvPr>
          <p:cNvSpPr/>
          <p:nvPr/>
        </p:nvSpPr>
        <p:spPr>
          <a:xfrm>
            <a:off x="2426910" y="974805"/>
            <a:ext cx="3074155" cy="9009"/>
          </a:xfrm>
          <a:prstGeom prst="rect">
            <a:avLst/>
          </a:prstGeom>
          <a:solidFill>
            <a:srgbClr val="1D1D1B"/>
          </a:solidFill>
          <a:ln>
            <a:solidFill>
              <a:srgbClr val="953735"/>
            </a:solidFill>
          </a:ln>
        </p:spPr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56BCD3E-7F40-7169-2212-8989F3F45BD6}"/>
              </a:ext>
            </a:extLst>
          </p:cNvPr>
          <p:cNvSpPr/>
          <p:nvPr/>
        </p:nvSpPr>
        <p:spPr>
          <a:xfrm>
            <a:off x="2426910" y="1030642"/>
            <a:ext cx="1423619" cy="11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26"/>
              </a:lnSpc>
              <a:buNone/>
            </a:pPr>
            <a:r>
              <a:rPr lang="en-US" sz="1000" b="1" dirty="0">
                <a:solidFill>
                  <a:schemeClr val="accent2">
                    <a:lumMod val="76000"/>
                  </a:schemeClr>
                </a:solidFill>
                <a:latin typeface="+mj-lt"/>
                <a:ea typeface="Tomorrow Semi Bold"/>
                <a:cs typeface="Tomorrow Semi Bold" pitchFamily="34" charset="-120"/>
              </a:rPr>
              <a:t>Autonomous LLM Capabilities</a:t>
            </a:r>
            <a:endParaRPr lang="en-US" sz="1000" b="1" dirty="0">
              <a:solidFill>
                <a:schemeClr val="accent2">
                  <a:lumMod val="76000"/>
                </a:schemeClr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7BEDE68F-4001-D240-85D9-3917AE8B560F}"/>
              </a:ext>
            </a:extLst>
          </p:cNvPr>
          <p:cNvSpPr/>
          <p:nvPr/>
        </p:nvSpPr>
        <p:spPr>
          <a:xfrm>
            <a:off x="2426910" y="1194167"/>
            <a:ext cx="3074155" cy="3630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To what extent can Large Language Models autonomously conduct cross-domain reasoning while maintaining </a:t>
            </a:r>
            <a:r>
              <a:rPr lang="en-US" sz="900" b="1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accuracy and robustness</a:t>
            </a: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comparable to human experts</a:t>
            </a:r>
            <a:r>
              <a:rPr lang="en-US" sz="900" dirty="0">
                <a:solidFill>
                  <a:srgbClr val="000000"/>
                </a:solidFill>
                <a:latin typeface="Tomorrow"/>
                <a:ea typeface="Tomorrow" pitchFamily="34" charset="-122"/>
                <a:cs typeface="Tomorrow" pitchFamily="34" charset="-120"/>
              </a:rPr>
              <a:t>?</a:t>
            </a:r>
            <a:endParaRPr lang="en-US" sz="900" dirty="0">
              <a:solidFill>
                <a:srgbClr val="000000"/>
              </a:solidFill>
              <a:latin typeface="Tomorrow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16C29244-5E39-28FD-889E-E822D8F8A85A}"/>
              </a:ext>
            </a:extLst>
          </p:cNvPr>
          <p:cNvSpPr/>
          <p:nvPr/>
        </p:nvSpPr>
        <p:spPr>
          <a:xfrm>
            <a:off x="2426910" y="1689571"/>
            <a:ext cx="75639" cy="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b="1">
                <a:solidFill>
                  <a:srgbClr val="953734"/>
                </a:solidFill>
                <a:latin typeface="Tomorrow Light"/>
                <a:ea typeface="Tomorrow Light"/>
                <a:cs typeface="Tomorrow Light" pitchFamily="34" charset="-120"/>
              </a:rPr>
              <a:t>02</a:t>
            </a:r>
            <a:endParaRPr lang="en-US" sz="700" b="1">
              <a:solidFill>
                <a:srgbClr val="953734"/>
              </a:solidFill>
              <a:latin typeface="Calibri"/>
              <a:ea typeface="Tomorrow Light"/>
              <a:cs typeface="Calibri"/>
            </a:endParaRP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ADE75B-040C-2B87-67F3-EE9FA6C4480E}"/>
              </a:ext>
            </a:extLst>
          </p:cNvPr>
          <p:cNvSpPr/>
          <p:nvPr/>
        </p:nvSpPr>
        <p:spPr>
          <a:xfrm>
            <a:off x="2426910" y="1809129"/>
            <a:ext cx="3074155" cy="9009"/>
          </a:xfrm>
          <a:prstGeom prst="rect">
            <a:avLst/>
          </a:prstGeom>
          <a:solidFill>
            <a:srgbClr val="C00000"/>
          </a:solidFill>
          <a:ln>
            <a:solidFill>
              <a:srgbClr val="953735"/>
            </a:solidFill>
          </a:ln>
        </p:spPr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C213BDC3-4491-2717-C070-62D56BB9227A}"/>
              </a:ext>
            </a:extLst>
          </p:cNvPr>
          <p:cNvSpPr/>
          <p:nvPr/>
        </p:nvSpPr>
        <p:spPr>
          <a:xfrm>
            <a:off x="2426909" y="1864965"/>
            <a:ext cx="1653149" cy="129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26"/>
              </a:lnSpc>
              <a:buNone/>
            </a:pPr>
            <a:r>
              <a:rPr lang="en-US" sz="1000" b="1" dirty="0">
                <a:solidFill>
                  <a:srgbClr val="8F3432"/>
                </a:solidFill>
                <a:latin typeface="+mj-lt"/>
                <a:ea typeface="Tomorrow Semi Bold"/>
                <a:cs typeface="Tomorrow Semi Bold" pitchFamily="34" charset="-120"/>
              </a:rPr>
              <a:t>Retrieval Pipeline</a:t>
            </a:r>
            <a:endParaRPr lang="en-US" sz="1000" b="1" dirty="0">
              <a:solidFill>
                <a:srgbClr val="8F3432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3DB51A0-9755-D583-D58D-983949970326}"/>
              </a:ext>
            </a:extLst>
          </p:cNvPr>
          <p:cNvSpPr/>
          <p:nvPr/>
        </p:nvSpPr>
        <p:spPr>
          <a:xfrm>
            <a:off x="2426910" y="2028490"/>
            <a:ext cx="3074155" cy="33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Can a specialized agentic retrieval pipeline improve the quality of the decision support task compared to a general purpose LLM?</a:t>
            </a:r>
            <a:endParaRPr lang="en-US" sz="800" dirty="0">
              <a:solidFill>
                <a:srgbClr val="000000"/>
              </a:solidFill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617479F9-4F9A-243A-5F52-F0189A992506}"/>
              </a:ext>
            </a:extLst>
          </p:cNvPr>
          <p:cNvSpPr/>
          <p:nvPr/>
        </p:nvSpPr>
        <p:spPr>
          <a:xfrm>
            <a:off x="2671256" y="2545135"/>
            <a:ext cx="2752691" cy="504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endParaRPr lang="en-US" sz="900" dirty="0">
              <a:solidFill>
                <a:srgbClr val="000000"/>
              </a:solidFill>
            </a:endParaRPr>
          </a:p>
        </p:txBody>
      </p:sp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91B3AD74-2CC5-4BCE-AC53-11C92680A255}"/>
              </a:ext>
            </a:extLst>
          </p:cNvPr>
          <p:cNvSpPr/>
          <p:nvPr/>
        </p:nvSpPr>
        <p:spPr>
          <a:xfrm>
            <a:off x="2502549" y="2432706"/>
            <a:ext cx="2923633" cy="5558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Central Thesis:</a:t>
            </a:r>
            <a:r>
              <a:rPr lang="en-US" sz="8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A specialized agentic pipeline can enhance the reliability and quality of Decision Support compared to a general </a:t>
            </a:r>
            <a:r>
              <a:rPr lang="en-US" sz="800" dirty="0" err="1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purporse</a:t>
            </a:r>
            <a:r>
              <a:rPr lang="en-US" sz="8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LLM operating on the full context.</a:t>
            </a:r>
            <a:endParaRPr lang="en-US" sz="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9353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06B17-9768-B209-0488-129AAA34D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0443E9D1-CC86-D2F2-EEFB-93FD26BD75C5}"/>
              </a:ext>
            </a:extLst>
          </p:cNvPr>
          <p:cNvSpPr txBox="1"/>
          <p:nvPr/>
        </p:nvSpPr>
        <p:spPr>
          <a:xfrm>
            <a:off x="869002" y="114827"/>
            <a:ext cx="3748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Foundation and Existing Approaches</a:t>
            </a:r>
            <a:endParaRPr lang="en-US" sz="1400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B0FFCF8B-E40A-45FC-9BE9-6C5AC7590240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84C1FF30-2E05-4867-B89D-C73DE2A22231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C1B1188E-B26D-43B1-BFFA-955B12FD2CEC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A43E6E2F-0B30-4D26-823D-66D58DCB21A2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72ACFA31-AF2E-48ED-A13E-661E753AF95E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38622F77-BC13-416B-9F65-8AFCB46E0C31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1DC1BF6D-1624-4B79-B424-48BA9823EA74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A86E7E81-C355-4E92-ABD4-2E4ED7B7ACF1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41A8A17A-FAA7-4621-B596-AD4B314A5BBA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97AC11AD-0EC3-4A2D-9C38-E25CE8CF85FA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CEA6ECC3-4B5B-4CFD-876B-49C4EDC28AA7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34B2965F-02F7-4F16-90ED-08969A033032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B3F78951-664E-4A75-80ED-269F44E4CD58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6759C065-224A-4D2A-B325-0566CEAC7923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88C69627-7EA4-403E-A47E-7DB46458E32A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B7D10978-8629-4BEE-829A-5DD4AB7FFCB9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2C885619-9C30-46E2-A419-76C805B46C11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A8C3DDD8-8961-4C4F-AB44-C15CF0584F61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B721E62-B4F9-4737-B536-FA4ECED063AF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B827F09D-5048-4FBB-B2C8-6164B6263CDB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85BAA661-C50E-45C9-98DC-EF9EA004A0F7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5ED99607-A1BD-454A-B43A-B6EB39757194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BEA136D6-9708-47D9-AF33-F0619929B7B3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FB413190-DA43-4EA0-BCD9-C0AA91811A86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61A7A11A-8E4D-41A2-B144-D7D2348A6D87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038883AB-6AE8-4497-9ED8-AB3B3374E65C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B99A1FA0-A010-4089-B620-EA58003D3EB5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32099392-CB3D-48D7-B5C7-FECAF3B52D26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8" name="TextBox 30">
            <a:extLst>
              <a:ext uri="{FF2B5EF4-FFF2-40B4-BE49-F238E27FC236}">
                <a16:creationId xmlns:a16="http://schemas.microsoft.com/office/drawing/2014/main" id="{58C1ED4E-EB04-466A-ACDC-A476C4D1249B}"/>
              </a:ext>
            </a:extLst>
          </p:cNvPr>
          <p:cNvSpPr txBox="1"/>
          <p:nvPr/>
        </p:nvSpPr>
        <p:spPr>
          <a:xfrm>
            <a:off x="1720269" y="1323879"/>
            <a:ext cx="487650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5E996A40-3223-46E1-93DD-66D32651F58A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2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/>
              <a:t>03</a:t>
            </a: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E4005E55-4396-49A0-913A-BFD58F4F47DA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BD52D18C-5980-4D79-85F9-4044B5BB0AB7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B257DF70-39A9-40E4-A05E-9262A5B97C84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BC7D07EF-05AB-4A99-8258-3FA39D4999DB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E42B35C2-3CD7-4F10-A5FE-450782541781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96770F31-3FB1-47AE-A26A-53677CD4D272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EB7047E6-DD19-490A-A543-09EB02CE4840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b="1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b="1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4E88C763-99A0-4FDB-AE4D-658DF252245F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CEDCAD10-921D-400D-BE21-9E0F19DD074B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2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20AB7A13-87F2-4FEB-8F9D-46FA11A02530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6D9C1BC3-A854-409C-9817-7C1F5D3C5DEE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ED86F850-1143-4A80-BD07-BAF2B5856991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  <p:sp>
        <p:nvSpPr>
          <p:cNvPr id="47" name="Shape">
            <a:extLst>
              <a:ext uri="{FF2B5EF4-FFF2-40B4-BE49-F238E27FC236}">
                <a16:creationId xmlns:a16="http://schemas.microsoft.com/office/drawing/2014/main" id="{29463D4E-D343-475F-9E1C-B1D5B2970758}"/>
              </a:ext>
            </a:extLst>
          </p:cNvPr>
          <p:cNvSpPr/>
          <p:nvPr/>
        </p:nvSpPr>
        <p:spPr>
          <a:xfrm>
            <a:off x="247700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3" name="Shape">
            <a:extLst>
              <a:ext uri="{FF2B5EF4-FFF2-40B4-BE49-F238E27FC236}">
                <a16:creationId xmlns:a16="http://schemas.microsoft.com/office/drawing/2014/main" id="{69710625-0FEC-40D5-BD8E-157A8F75C2FE}"/>
              </a:ext>
            </a:extLst>
          </p:cNvPr>
          <p:cNvSpPr/>
          <p:nvPr/>
        </p:nvSpPr>
        <p:spPr>
          <a:xfrm>
            <a:off x="337227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4" name="TextBox 31">
            <a:extLst>
              <a:ext uri="{FF2B5EF4-FFF2-40B4-BE49-F238E27FC236}">
                <a16:creationId xmlns:a16="http://schemas.microsoft.com/office/drawing/2014/main" id="{F42E83AA-3769-4E0D-A89B-96FC97115CF7}"/>
              </a:ext>
            </a:extLst>
          </p:cNvPr>
          <p:cNvSpPr txBox="1"/>
          <p:nvPr/>
        </p:nvSpPr>
        <p:spPr>
          <a:xfrm>
            <a:off x="257034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/>
              <a:t>03</a:t>
            </a:r>
          </a:p>
        </p:txBody>
      </p:sp>
      <p:sp>
        <p:nvSpPr>
          <p:cNvPr id="95" name="TextBox 43">
            <a:extLst>
              <a:ext uri="{FF2B5EF4-FFF2-40B4-BE49-F238E27FC236}">
                <a16:creationId xmlns:a16="http://schemas.microsoft.com/office/drawing/2014/main" id="{F24582C4-9490-45F2-B452-6BD6BD3148F6}"/>
              </a:ext>
            </a:extLst>
          </p:cNvPr>
          <p:cNvSpPr txBox="1"/>
          <p:nvPr/>
        </p:nvSpPr>
        <p:spPr>
          <a:xfrm>
            <a:off x="343230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6" name="Shape">
            <a:extLst>
              <a:ext uri="{FF2B5EF4-FFF2-40B4-BE49-F238E27FC236}">
                <a16:creationId xmlns:a16="http://schemas.microsoft.com/office/drawing/2014/main" id="{8496EB34-C1CC-42A2-91E1-0A96C11841A1}"/>
              </a:ext>
            </a:extLst>
          </p:cNvPr>
          <p:cNvSpPr/>
          <p:nvPr/>
        </p:nvSpPr>
        <p:spPr>
          <a:xfrm>
            <a:off x="424998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26483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6035AD-9E66-E8EE-1CA9-57FFE93DEE71}"/>
              </a:ext>
            </a:extLst>
          </p:cNvPr>
          <p:cNvSpPr txBox="1"/>
          <p:nvPr/>
        </p:nvSpPr>
        <p:spPr>
          <a:xfrm>
            <a:off x="3337859" y="563987"/>
            <a:ext cx="1422354" cy="472117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marL="0" indent="0" algn="l">
              <a:lnSpc>
                <a:spcPts val="1005"/>
              </a:lnSpc>
              <a:buNone/>
            </a:pP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Support decisions supported by predefined logic, </a:t>
            </a:r>
            <a:r>
              <a:rPr lang="en-US" sz="800" dirty="0" err="1">
                <a:latin typeface="+mn-lt"/>
                <a:ea typeface="Tomorrow" pitchFamily="34" charset="-122"/>
                <a:cs typeface="Tomorrow" pitchFamily="34" charset="-120"/>
              </a:rPr>
              <a:t>contraints</a:t>
            </a: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 and models.</a:t>
            </a:r>
            <a:endParaRPr lang="en-US" sz="800" dirty="0"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0FA0E9-ECE5-5BA9-89C4-6A633B55AC89}"/>
              </a:ext>
            </a:extLst>
          </p:cNvPr>
          <p:cNvSpPr txBox="1"/>
          <p:nvPr/>
        </p:nvSpPr>
        <p:spPr>
          <a:xfrm>
            <a:off x="1042094" y="1024393"/>
            <a:ext cx="1422354" cy="472117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marL="0" indent="0">
              <a:lnSpc>
                <a:spcPts val="1005"/>
              </a:lnSpc>
              <a:buNone/>
            </a:pPr>
            <a:r>
              <a:rPr lang="en-US" sz="800" dirty="0">
                <a:latin typeface="+mn-lt"/>
                <a:ea typeface="Tomorrow"/>
              </a:rPr>
              <a:t>The system helps users find, monitor and analyze </a:t>
            </a:r>
            <a:r>
              <a:rPr lang="en-US" sz="800" dirty="0" err="1">
                <a:latin typeface="+mn-lt"/>
                <a:ea typeface="Tomorrow"/>
              </a:rPr>
              <a:t>informations</a:t>
            </a:r>
            <a:r>
              <a:rPr lang="en-US" sz="800" dirty="0">
                <a:latin typeface="+mn-lt"/>
                <a:ea typeface="Tomorrow"/>
              </a:rPr>
              <a:t> through predefined queries.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7B752C-FA21-B01A-829F-B5BA18BDAD07}"/>
              </a:ext>
            </a:extLst>
          </p:cNvPr>
          <p:cNvSpPr txBox="1"/>
          <p:nvPr/>
        </p:nvSpPr>
        <p:spPr>
          <a:xfrm>
            <a:off x="3322235" y="1427790"/>
            <a:ext cx="1627511" cy="548933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algn="l"/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The system interprets open-ended questions and generates explanations from the received context.</a:t>
            </a:r>
            <a:endParaRPr lang="en-US" sz="800" dirty="0">
              <a:latin typeface="+mn-lt"/>
            </a:endParaRPr>
          </a:p>
          <a:p>
            <a:pPr algn="just"/>
            <a:r>
              <a: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84A0C65-7BB5-0ABE-AE51-1A2D7892969A}"/>
              </a:ext>
            </a:extLst>
          </p:cNvPr>
          <p:cNvGrpSpPr/>
          <p:nvPr/>
        </p:nvGrpSpPr>
        <p:grpSpPr>
          <a:xfrm rot="10800000">
            <a:off x="2593149" y="1033075"/>
            <a:ext cx="1701302" cy="508717"/>
            <a:chOff x="3124270" y="2046554"/>
            <a:chExt cx="3597467" cy="107570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B50598F-7D7F-E463-F1BC-12E6E975BCFF}"/>
                </a:ext>
              </a:extLst>
            </p:cNvPr>
            <p:cNvSpPr/>
            <p:nvPr/>
          </p:nvSpPr>
          <p:spPr>
            <a:xfrm flipH="1">
              <a:off x="6409670" y="2447254"/>
              <a:ext cx="312067" cy="512822"/>
            </a:xfrm>
            <a:prstGeom prst="roundRect">
              <a:avLst>
                <a:gd name="adj" fmla="val 3598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A776036-2307-A8D0-0B03-B681FA892EAE}"/>
                </a:ext>
              </a:extLst>
            </p:cNvPr>
            <p:cNvSpPr/>
            <p:nvPr/>
          </p:nvSpPr>
          <p:spPr>
            <a:xfrm flipH="1">
              <a:off x="6104562" y="2772902"/>
              <a:ext cx="610215" cy="18717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Notched Right Arrow 69">
              <a:extLst>
                <a:ext uri="{FF2B5EF4-FFF2-40B4-BE49-F238E27FC236}">
                  <a16:creationId xmlns:a16="http://schemas.microsoft.com/office/drawing/2014/main" id="{9199DC75-08A7-895B-6BCB-FD7636506132}"/>
                </a:ext>
              </a:extLst>
            </p:cNvPr>
            <p:cNvSpPr/>
            <p:nvPr/>
          </p:nvSpPr>
          <p:spPr>
            <a:xfrm rot="5400000" flipH="1">
              <a:off x="5554560" y="2463292"/>
              <a:ext cx="1075702" cy="24222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D5E92C-9DF2-A064-E87E-E90F860FA0AA}"/>
                </a:ext>
              </a:extLst>
            </p:cNvPr>
            <p:cNvSpPr/>
            <p:nvPr/>
          </p:nvSpPr>
          <p:spPr>
            <a:xfrm rot="5400000" flipH="1">
              <a:off x="5929587" y="2530527"/>
              <a:ext cx="325648" cy="242225"/>
            </a:xfrm>
            <a:custGeom>
              <a:avLst/>
              <a:gdLst>
                <a:gd name="connsiteX0" fmla="*/ 325648 w 325648"/>
                <a:gd name="connsiteY0" fmla="*/ 242225 h 242225"/>
                <a:gd name="connsiteX1" fmla="*/ 325648 w 325648"/>
                <a:gd name="connsiteY1" fmla="*/ 0 h 242225"/>
                <a:gd name="connsiteX2" fmla="*/ 0 w 325648"/>
                <a:gd name="connsiteY2" fmla="*/ 0 h 242225"/>
                <a:gd name="connsiteX3" fmla="*/ 0 w 325648"/>
                <a:gd name="connsiteY3" fmla="*/ 242225 h 242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225">
                  <a:moveTo>
                    <a:pt x="325648" y="242225"/>
                  </a:moveTo>
                  <a:lnTo>
                    <a:pt x="325648" y="0"/>
                  </a:lnTo>
                  <a:lnTo>
                    <a:pt x="0" y="0"/>
                  </a:lnTo>
                  <a:lnTo>
                    <a:pt x="0" y="242225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Pentagon 16">
              <a:extLst>
                <a:ext uri="{FF2B5EF4-FFF2-40B4-BE49-F238E27FC236}">
                  <a16:creationId xmlns:a16="http://schemas.microsoft.com/office/drawing/2014/main" id="{3077D9FD-CCC7-8736-3F33-581CCD3D5A83}"/>
                </a:ext>
              </a:extLst>
            </p:cNvPr>
            <p:cNvSpPr/>
            <p:nvPr/>
          </p:nvSpPr>
          <p:spPr>
            <a:xfrm flipH="1">
              <a:off x="3124270" y="2447254"/>
              <a:ext cx="3441433" cy="325648"/>
            </a:xfrm>
            <a:prstGeom prst="homePlate">
              <a:avLst>
                <a:gd name="adj" fmla="val 6523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tlCol="0" anchor="ctr"/>
            <a:lstStyle/>
            <a:p>
              <a:endParaRPr lang="en-US" sz="757" b="1" dirty="0">
                <a:solidFill>
                  <a:schemeClr val="bg2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158A1C-C9F9-397C-F2B6-C49B1A003658}"/>
                </a:ext>
              </a:extLst>
            </p:cNvPr>
            <p:cNvSpPr txBox="1"/>
            <p:nvPr/>
          </p:nvSpPr>
          <p:spPr>
            <a:xfrm>
              <a:off x="5886351" y="2217732"/>
              <a:ext cx="390621" cy="78096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endParaRPr lang="en-US" b="1">
                <a:solidFill>
                  <a:schemeClr val="bg2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9C80220-8959-7DBF-0F30-0AA9502BC3A9}"/>
              </a:ext>
            </a:extLst>
          </p:cNvPr>
          <p:cNvGrpSpPr/>
          <p:nvPr/>
        </p:nvGrpSpPr>
        <p:grpSpPr>
          <a:xfrm rot="10800000">
            <a:off x="1483457" y="1480582"/>
            <a:ext cx="1704600" cy="508717"/>
            <a:chOff x="5463290" y="3027513"/>
            <a:chExt cx="3604440" cy="1075702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3EFD1DD-80AE-C35D-0492-4B4FB7EDC87D}"/>
                </a:ext>
              </a:extLst>
            </p:cNvPr>
            <p:cNvSpPr/>
            <p:nvPr/>
          </p:nvSpPr>
          <p:spPr>
            <a:xfrm>
              <a:off x="5463290" y="3428213"/>
              <a:ext cx="312672" cy="512822"/>
            </a:xfrm>
            <a:prstGeom prst="roundRect">
              <a:avLst>
                <a:gd name="adj" fmla="val 3598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052B7CD-D9FE-97AE-A214-262631103681}"/>
                </a:ext>
              </a:extLst>
            </p:cNvPr>
            <p:cNvSpPr/>
            <p:nvPr/>
          </p:nvSpPr>
          <p:spPr>
            <a:xfrm>
              <a:off x="5470263" y="3753861"/>
              <a:ext cx="611398" cy="187174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Notched Right Arrow 69">
              <a:extLst>
                <a:ext uri="{FF2B5EF4-FFF2-40B4-BE49-F238E27FC236}">
                  <a16:creationId xmlns:a16="http://schemas.microsoft.com/office/drawing/2014/main" id="{D90B95F2-B75E-35E8-A6A8-B1E1E8CC9AA0}"/>
                </a:ext>
              </a:extLst>
            </p:cNvPr>
            <p:cNvSpPr/>
            <p:nvPr/>
          </p:nvSpPr>
          <p:spPr>
            <a:xfrm rot="16200000">
              <a:off x="5555985" y="3444016"/>
              <a:ext cx="1075702" cy="24269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4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0CB95D1-A921-8A24-F4BB-5B3C2A90D286}"/>
                </a:ext>
              </a:extLst>
            </p:cNvPr>
            <p:cNvSpPr/>
            <p:nvPr/>
          </p:nvSpPr>
          <p:spPr>
            <a:xfrm rot="16200000">
              <a:off x="5931012" y="3511251"/>
              <a:ext cx="325648" cy="242695"/>
            </a:xfrm>
            <a:custGeom>
              <a:avLst/>
              <a:gdLst>
                <a:gd name="connsiteX0" fmla="*/ 325648 w 325648"/>
                <a:gd name="connsiteY0" fmla="*/ 0 h 242695"/>
                <a:gd name="connsiteX1" fmla="*/ 325648 w 325648"/>
                <a:gd name="connsiteY1" fmla="*/ 242695 h 242695"/>
                <a:gd name="connsiteX2" fmla="*/ 0 w 325648"/>
                <a:gd name="connsiteY2" fmla="*/ 242695 h 242695"/>
                <a:gd name="connsiteX3" fmla="*/ 0 w 325648"/>
                <a:gd name="connsiteY3" fmla="*/ 0 h 242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695">
                  <a:moveTo>
                    <a:pt x="325648" y="0"/>
                  </a:moveTo>
                  <a:lnTo>
                    <a:pt x="325648" y="242695"/>
                  </a:lnTo>
                  <a:lnTo>
                    <a:pt x="0" y="242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row: Pentagon 23">
              <a:extLst>
                <a:ext uri="{FF2B5EF4-FFF2-40B4-BE49-F238E27FC236}">
                  <a16:creationId xmlns:a16="http://schemas.microsoft.com/office/drawing/2014/main" id="{7DBE4608-5871-FA05-7F18-D19537665877}"/>
                </a:ext>
              </a:extLst>
            </p:cNvPr>
            <p:cNvSpPr/>
            <p:nvPr/>
          </p:nvSpPr>
          <p:spPr>
            <a:xfrm>
              <a:off x="5619626" y="3428213"/>
              <a:ext cx="3448104" cy="325648"/>
            </a:xfrm>
            <a:prstGeom prst="homePlate">
              <a:avLst>
                <a:gd name="adj" fmla="val 65232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Ins="129731" rtlCol="0" anchor="ctr"/>
            <a:lstStyle/>
            <a:p>
              <a:pPr algn="r"/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F601DB7-6F5F-A1F3-D110-16B12967B770}"/>
              </a:ext>
            </a:extLst>
          </p:cNvPr>
          <p:cNvGrpSpPr/>
          <p:nvPr/>
        </p:nvGrpSpPr>
        <p:grpSpPr>
          <a:xfrm rot="10800000">
            <a:off x="2593149" y="1925686"/>
            <a:ext cx="1701302" cy="508717"/>
            <a:chOff x="3124270" y="4008473"/>
            <a:chExt cx="3597467" cy="107570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FAA81B-97EF-01CF-ED9B-68E1A959DD27}"/>
                </a:ext>
              </a:extLst>
            </p:cNvPr>
            <p:cNvSpPr/>
            <p:nvPr/>
          </p:nvSpPr>
          <p:spPr>
            <a:xfrm flipH="1">
              <a:off x="6409670" y="4409173"/>
              <a:ext cx="312067" cy="512822"/>
            </a:xfrm>
            <a:prstGeom prst="roundRect">
              <a:avLst>
                <a:gd name="adj" fmla="val 3598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CE9DC02-A5B3-465D-693F-8864A4AA9D1D}"/>
                </a:ext>
              </a:extLst>
            </p:cNvPr>
            <p:cNvSpPr/>
            <p:nvPr/>
          </p:nvSpPr>
          <p:spPr>
            <a:xfrm flipH="1">
              <a:off x="6104562" y="4734821"/>
              <a:ext cx="610215" cy="187174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Notched Right Arrow 69">
              <a:extLst>
                <a:ext uri="{FF2B5EF4-FFF2-40B4-BE49-F238E27FC236}">
                  <a16:creationId xmlns:a16="http://schemas.microsoft.com/office/drawing/2014/main" id="{98BCD7D6-144A-3F1B-0D11-BEDFECEEE163}"/>
                </a:ext>
              </a:extLst>
            </p:cNvPr>
            <p:cNvSpPr/>
            <p:nvPr/>
          </p:nvSpPr>
          <p:spPr>
            <a:xfrm rot="5400000" flipH="1">
              <a:off x="5554560" y="4425211"/>
              <a:ext cx="1075702" cy="24222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E1D598D-70F3-D2BB-CB4C-D96364D79BF2}"/>
                </a:ext>
              </a:extLst>
            </p:cNvPr>
            <p:cNvSpPr/>
            <p:nvPr/>
          </p:nvSpPr>
          <p:spPr>
            <a:xfrm rot="5400000" flipH="1">
              <a:off x="5929587" y="4492446"/>
              <a:ext cx="325648" cy="242225"/>
            </a:xfrm>
            <a:custGeom>
              <a:avLst/>
              <a:gdLst>
                <a:gd name="connsiteX0" fmla="*/ 325648 w 325648"/>
                <a:gd name="connsiteY0" fmla="*/ 242225 h 242225"/>
                <a:gd name="connsiteX1" fmla="*/ 325648 w 325648"/>
                <a:gd name="connsiteY1" fmla="*/ 0 h 242225"/>
                <a:gd name="connsiteX2" fmla="*/ 0 w 325648"/>
                <a:gd name="connsiteY2" fmla="*/ 0 h 242225"/>
                <a:gd name="connsiteX3" fmla="*/ 0 w 325648"/>
                <a:gd name="connsiteY3" fmla="*/ 242225 h 242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225">
                  <a:moveTo>
                    <a:pt x="325648" y="242225"/>
                  </a:moveTo>
                  <a:lnTo>
                    <a:pt x="325648" y="0"/>
                  </a:lnTo>
                  <a:lnTo>
                    <a:pt x="0" y="0"/>
                  </a:lnTo>
                  <a:lnTo>
                    <a:pt x="0" y="242225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Arrow: Pentagon 30">
              <a:extLst>
                <a:ext uri="{FF2B5EF4-FFF2-40B4-BE49-F238E27FC236}">
                  <a16:creationId xmlns:a16="http://schemas.microsoft.com/office/drawing/2014/main" id="{8E383D77-8131-79C5-454A-BA4B6FECAF9A}"/>
                </a:ext>
              </a:extLst>
            </p:cNvPr>
            <p:cNvSpPr/>
            <p:nvPr/>
          </p:nvSpPr>
          <p:spPr>
            <a:xfrm flipH="1">
              <a:off x="3124270" y="4409173"/>
              <a:ext cx="3441433" cy="325648"/>
            </a:xfrm>
            <a:prstGeom prst="homePlate">
              <a:avLst>
                <a:gd name="adj" fmla="val 6523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tlCol="0" anchor="ctr"/>
            <a:lstStyle/>
            <a:p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C1A8E99-F2F1-1A58-8737-986161CB527B}"/>
              </a:ext>
            </a:extLst>
          </p:cNvPr>
          <p:cNvGrpSpPr/>
          <p:nvPr/>
        </p:nvGrpSpPr>
        <p:grpSpPr>
          <a:xfrm rot="10800000">
            <a:off x="1483457" y="585849"/>
            <a:ext cx="1704600" cy="508717"/>
            <a:chOff x="5463290" y="1065595"/>
            <a:chExt cx="3604440" cy="1075702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48C018DD-5BDA-D31D-A223-5D022471BC29}"/>
                </a:ext>
              </a:extLst>
            </p:cNvPr>
            <p:cNvSpPr/>
            <p:nvPr/>
          </p:nvSpPr>
          <p:spPr>
            <a:xfrm>
              <a:off x="5463290" y="1466295"/>
              <a:ext cx="312672" cy="512822"/>
            </a:xfrm>
            <a:prstGeom prst="roundRect">
              <a:avLst>
                <a:gd name="adj" fmla="val 3598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6A3A984A-E2EE-1234-CDF2-CBB7348232D9}"/>
                </a:ext>
              </a:extLst>
            </p:cNvPr>
            <p:cNvSpPr/>
            <p:nvPr/>
          </p:nvSpPr>
          <p:spPr>
            <a:xfrm>
              <a:off x="5470263" y="1791943"/>
              <a:ext cx="611398" cy="187174"/>
            </a:xfrm>
            <a:prstGeom prst="roundRect">
              <a:avLst>
                <a:gd name="adj" fmla="val 50000"/>
              </a:avLst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Notched Right Arrow 69">
              <a:extLst>
                <a:ext uri="{FF2B5EF4-FFF2-40B4-BE49-F238E27FC236}">
                  <a16:creationId xmlns:a16="http://schemas.microsoft.com/office/drawing/2014/main" id="{5D263FF7-B7BD-FEFB-8796-A793ED0F7319}"/>
                </a:ext>
              </a:extLst>
            </p:cNvPr>
            <p:cNvSpPr/>
            <p:nvPr/>
          </p:nvSpPr>
          <p:spPr>
            <a:xfrm rot="16200000">
              <a:off x="5555985" y="1482098"/>
              <a:ext cx="1075702" cy="24269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100000">
                  <a:schemeClr val="accent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5FE90CB-BD51-9531-CB0C-C370BF90B628}"/>
                </a:ext>
              </a:extLst>
            </p:cNvPr>
            <p:cNvSpPr/>
            <p:nvPr/>
          </p:nvSpPr>
          <p:spPr>
            <a:xfrm rot="16200000">
              <a:off x="5931012" y="1549334"/>
              <a:ext cx="325648" cy="242695"/>
            </a:xfrm>
            <a:custGeom>
              <a:avLst/>
              <a:gdLst>
                <a:gd name="connsiteX0" fmla="*/ 325648 w 325648"/>
                <a:gd name="connsiteY0" fmla="*/ 0 h 242695"/>
                <a:gd name="connsiteX1" fmla="*/ 325648 w 325648"/>
                <a:gd name="connsiteY1" fmla="*/ 242695 h 242695"/>
                <a:gd name="connsiteX2" fmla="*/ 0 w 325648"/>
                <a:gd name="connsiteY2" fmla="*/ 242695 h 242695"/>
                <a:gd name="connsiteX3" fmla="*/ 0 w 325648"/>
                <a:gd name="connsiteY3" fmla="*/ 0 h 242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695">
                  <a:moveTo>
                    <a:pt x="325648" y="0"/>
                  </a:moveTo>
                  <a:lnTo>
                    <a:pt x="325648" y="242695"/>
                  </a:lnTo>
                  <a:lnTo>
                    <a:pt x="0" y="242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Arrow: Pentagon 44">
              <a:extLst>
                <a:ext uri="{FF2B5EF4-FFF2-40B4-BE49-F238E27FC236}">
                  <a16:creationId xmlns:a16="http://schemas.microsoft.com/office/drawing/2014/main" id="{89FDC30E-4CFF-7ED0-F291-65F67F91DAF5}"/>
                </a:ext>
              </a:extLst>
            </p:cNvPr>
            <p:cNvSpPr/>
            <p:nvPr/>
          </p:nvSpPr>
          <p:spPr>
            <a:xfrm>
              <a:off x="5619626" y="1466296"/>
              <a:ext cx="3448104" cy="325647"/>
            </a:xfrm>
            <a:prstGeom prst="homePlate">
              <a:avLst>
                <a:gd name="adj" fmla="val 65232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Ins="129731" rtlCol="0" anchor="ctr"/>
            <a:lstStyle/>
            <a:p>
              <a:pPr algn="r"/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272B72-B23E-6577-E5D9-9C13E9CD9012}"/>
                </a:ext>
              </a:extLst>
            </p:cNvPr>
            <p:cNvSpPr txBox="1"/>
            <p:nvPr/>
          </p:nvSpPr>
          <p:spPr>
            <a:xfrm>
              <a:off x="5886352" y="1233508"/>
              <a:ext cx="390621" cy="78096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endParaRPr lang="en-US" b="1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679F41A-66CA-77C5-1F8C-3E3E71F8E215}"/>
              </a:ext>
            </a:extLst>
          </p:cNvPr>
          <p:cNvSpPr txBox="1"/>
          <p:nvPr/>
        </p:nvSpPr>
        <p:spPr>
          <a:xfrm>
            <a:off x="928370" y="136800"/>
            <a:ext cx="4669790" cy="338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1970"/>
              </a:lnSpc>
              <a:buNone/>
            </a:pPr>
            <a:r>
              <a:rPr lang="en-US" sz="1600" b="1" dirty="0">
                <a:solidFill>
                  <a:schemeClr val="accent2">
                    <a:lumMod val="76000"/>
                  </a:schemeClr>
                </a:solidFill>
                <a:latin typeface="+mn-lt"/>
                <a:ea typeface="Tomorrow Semi Bold" pitchFamily="34" charset="-122"/>
                <a:cs typeface="Tomorrow Semi Bold" pitchFamily="34" charset="-120"/>
              </a:rPr>
              <a:t>Evolution of DSS Frameworks</a:t>
            </a:r>
            <a:endParaRPr lang="en-US" sz="1600" dirty="0">
              <a:solidFill>
                <a:schemeClr val="accent2">
                  <a:lumMod val="76000"/>
                </a:schemeClr>
              </a:solidFill>
              <a:latin typeface="+mn-lt"/>
            </a:endParaRPr>
          </a:p>
        </p:txBody>
      </p:sp>
      <p:sp>
        <p:nvSpPr>
          <p:cNvPr id="47" name="TextBox 3">
            <a:extLst>
              <a:ext uri="{FF2B5EF4-FFF2-40B4-BE49-F238E27FC236}">
                <a16:creationId xmlns:a16="http://schemas.microsoft.com/office/drawing/2014/main" id="{1D2E599F-5DE4-47ED-AD2E-925D704F2584}"/>
              </a:ext>
            </a:extLst>
          </p:cNvPr>
          <p:cNvSpPr txBox="1"/>
          <p:nvPr/>
        </p:nvSpPr>
        <p:spPr>
          <a:xfrm>
            <a:off x="885463" y="1898024"/>
            <a:ext cx="1795304" cy="548933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algn="l"/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Coordination of specialized agents and tools to integrate </a:t>
            </a:r>
            <a:r>
              <a:rPr lang="en-US" sz="800" dirty="0" err="1">
                <a:latin typeface="+mn-lt"/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 and perform multiple tasks</a:t>
            </a:r>
            <a:endParaRPr lang="en-US" sz="800" dirty="0">
              <a:latin typeface="+mn-lt"/>
            </a:endParaRPr>
          </a:p>
          <a:p>
            <a:pPr algn="just"/>
            <a:r>
              <a: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39F2F0D-55B3-4F80-87CF-86318361EC8A}"/>
              </a:ext>
            </a:extLst>
          </p:cNvPr>
          <p:cNvSpPr txBox="1"/>
          <p:nvPr/>
        </p:nvSpPr>
        <p:spPr>
          <a:xfrm>
            <a:off x="1909174" y="713896"/>
            <a:ext cx="8322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Rule </a:t>
            </a:r>
            <a:r>
              <a:rPr lang="it-IT" sz="800" b="1" dirty="0" err="1">
                <a:latin typeface="+mn-lt"/>
              </a:rPr>
              <a:t>based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73EA3CAF-CFAA-4844-B670-80AB4B0D3616}"/>
              </a:ext>
            </a:extLst>
          </p:cNvPr>
          <p:cNvSpPr txBox="1"/>
          <p:nvPr/>
        </p:nvSpPr>
        <p:spPr>
          <a:xfrm>
            <a:off x="3040189" y="1159597"/>
            <a:ext cx="86273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Data </a:t>
            </a:r>
            <a:r>
              <a:rPr lang="it-IT" sz="800" b="1" dirty="0" err="1">
                <a:latin typeface="+mn-lt"/>
              </a:rPr>
              <a:t>driven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EAE7F7B7-922F-414D-B18E-CED2E45983C3}"/>
              </a:ext>
            </a:extLst>
          </p:cNvPr>
          <p:cNvSpPr txBox="1"/>
          <p:nvPr/>
        </p:nvSpPr>
        <p:spPr>
          <a:xfrm>
            <a:off x="1870514" y="1612183"/>
            <a:ext cx="8290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LLM-</a:t>
            </a:r>
            <a:r>
              <a:rPr lang="it-IT" sz="800" b="1" dirty="0" err="1">
                <a:latin typeface="+mn-lt"/>
              </a:rPr>
              <a:t>based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5A5DF82B-A723-437D-BB8F-F898B244DC8E}"/>
              </a:ext>
            </a:extLst>
          </p:cNvPr>
          <p:cNvSpPr txBox="1"/>
          <p:nvPr/>
        </p:nvSpPr>
        <p:spPr>
          <a:xfrm>
            <a:off x="3108268" y="204300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 err="1">
                <a:latin typeface="+mn-lt"/>
              </a:rPr>
              <a:t>Agentic</a:t>
            </a:r>
            <a:r>
              <a:rPr lang="it-IT" sz="800" b="1" dirty="0">
                <a:latin typeface="+mn-lt"/>
              </a:rPr>
              <a:t> DSS</a:t>
            </a:r>
          </a:p>
        </p:txBody>
      </p:sp>
    </p:spTree>
    <p:extLst>
      <p:ext uri="{BB962C8B-B14F-4D97-AF65-F5344CB8AC3E}">
        <p14:creationId xmlns:p14="http://schemas.microsoft.com/office/powerpoint/2010/main" val="2824358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A15520-A692-2428-37BF-BE781BB5C1FD}"/>
              </a:ext>
            </a:extLst>
          </p:cNvPr>
          <p:cNvSpPr txBox="1"/>
          <p:nvPr/>
        </p:nvSpPr>
        <p:spPr>
          <a:xfrm>
            <a:off x="1318003" y="188368"/>
            <a:ext cx="392474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 dirty="0">
                <a:solidFill>
                  <a:srgbClr val="812433"/>
                </a:solidFill>
                <a:latin typeface="Calibri"/>
                <a:ea typeface="Calibri"/>
                <a:cs typeface="Calibri"/>
              </a:rPr>
              <a:t>Current SOTA for DSS in space missions</a:t>
            </a:r>
            <a:endParaRPr lang="en-US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CE6616CA-366A-4F42-8A3A-938A0B000489}"/>
              </a:ext>
            </a:extLst>
          </p:cNvPr>
          <p:cNvSpPr/>
          <p:nvPr/>
        </p:nvSpPr>
        <p:spPr>
          <a:xfrm>
            <a:off x="708843" y="835025"/>
            <a:ext cx="2139950" cy="1225550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4E49A34-0609-4488-8E05-49BE070187A0}"/>
              </a:ext>
            </a:extLst>
          </p:cNvPr>
          <p:cNvSpPr txBox="1"/>
          <p:nvPr/>
        </p:nvSpPr>
        <p:spPr>
          <a:xfrm>
            <a:off x="765993" y="909191"/>
            <a:ext cx="196215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Kaisheng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et al. |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Autonomous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EVA [2026] </a:t>
            </a:r>
          </a:p>
          <a:p>
            <a:pPr algn="ctr"/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>
                <a:solidFill>
                  <a:schemeClr val="tx1"/>
                </a:solidFill>
                <a:latin typeface="+mn-lt"/>
              </a:rPr>
              <a:t>Earth-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independent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DSS for deep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space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operations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.</a:t>
            </a: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 err="1">
                <a:solidFill>
                  <a:schemeClr val="tx1"/>
                </a:solidFill>
                <a:latin typeface="+mn-lt"/>
              </a:rPr>
              <a:t>Agentic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AI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integrating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fine-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tuned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LLMs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, RAG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physics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based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simulations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. </a:t>
            </a:r>
          </a:p>
          <a:p>
            <a:endParaRPr lang="it-IT" sz="800" dirty="0">
              <a:latin typeface="+mn-lt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EE7423C-8018-496A-AF38-AD834FC6A18E}"/>
              </a:ext>
            </a:extLst>
          </p:cNvPr>
          <p:cNvSpPr/>
          <p:nvPr/>
        </p:nvSpPr>
        <p:spPr>
          <a:xfrm>
            <a:off x="3102793" y="835025"/>
            <a:ext cx="2139950" cy="1225550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4BEBD4D-2115-49E0-9137-8A1AFD73F5B0}"/>
              </a:ext>
            </a:extLst>
          </p:cNvPr>
          <p:cNvSpPr txBox="1"/>
          <p:nvPr/>
        </p:nvSpPr>
        <p:spPr>
          <a:xfrm>
            <a:off x="3159943" y="909191"/>
            <a:ext cx="196215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Maranto et al. | LLMSAT [2024]</a:t>
            </a:r>
          </a:p>
          <a:p>
            <a:pPr algn="ctr"/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>
                <a:solidFill>
                  <a:schemeClr val="tx1"/>
                </a:solidFill>
                <a:latin typeface="+mn-lt"/>
              </a:rPr>
              <a:t>LLM for high-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level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mission planning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decision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support.</a:t>
            </a: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 err="1">
                <a:solidFill>
                  <a:schemeClr val="tx1"/>
                </a:solidFill>
                <a:latin typeface="+mn-lt"/>
              </a:rPr>
              <a:t>Hierarchical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LLM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integrating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RAG,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flight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-software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interfaces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simulation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based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planning.</a:t>
            </a:r>
          </a:p>
          <a:p>
            <a:endParaRPr lang="it-IT" sz="800" dirty="0">
              <a:latin typeface="+mn-lt"/>
            </a:endParaRP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DFE8BEB6-FE51-45BB-8EFC-8A4C1B6A25AE}"/>
              </a:ext>
            </a:extLst>
          </p:cNvPr>
          <p:cNvSpPr/>
          <p:nvPr/>
        </p:nvSpPr>
        <p:spPr>
          <a:xfrm>
            <a:off x="708843" y="2181151"/>
            <a:ext cx="4530725" cy="605454"/>
          </a:xfrm>
          <a:prstGeom prst="roundRect">
            <a:avLst/>
          </a:prstGeom>
          <a:solidFill>
            <a:schemeClr val="accent3">
              <a:alpha val="4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</a:rPr>
              <a:t>Research</a:t>
            </a:r>
            <a:r>
              <a:rPr lang="it-IT" sz="800" b="1" dirty="0">
                <a:solidFill>
                  <a:schemeClr val="tx1"/>
                </a:solidFill>
              </a:rPr>
              <a:t> GAP</a:t>
            </a:r>
          </a:p>
          <a:p>
            <a:pPr algn="ctr">
              <a:spcAft>
                <a:spcPts val="300"/>
              </a:spcAft>
            </a:pPr>
            <a:r>
              <a:rPr lang="it-IT" sz="800" dirty="0" err="1">
                <a:solidFill>
                  <a:schemeClr val="tx1"/>
                </a:solidFill>
              </a:rPr>
              <a:t>Existing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solutions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remain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b="1" dirty="0">
                <a:solidFill>
                  <a:schemeClr val="tx1"/>
                </a:solidFill>
              </a:rPr>
              <a:t>domain </a:t>
            </a:r>
            <a:r>
              <a:rPr lang="it-IT" sz="800" b="1" dirty="0" err="1">
                <a:solidFill>
                  <a:schemeClr val="tx1"/>
                </a:solidFill>
              </a:rPr>
              <a:t>specific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dirty="0">
                <a:solidFill>
                  <a:schemeClr val="tx1"/>
                </a:solidFill>
              </a:rPr>
              <a:t>and </a:t>
            </a:r>
            <a:r>
              <a:rPr lang="it-IT" sz="800" b="1" dirty="0" err="1">
                <a:solidFill>
                  <a:schemeClr val="tx1"/>
                </a:solidFill>
              </a:rPr>
              <a:t>prototype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b="1" dirty="0" err="1">
                <a:solidFill>
                  <a:schemeClr val="tx1"/>
                </a:solidFill>
              </a:rPr>
              <a:t>oriented</a:t>
            </a:r>
            <a:r>
              <a:rPr lang="it-IT" sz="800" dirty="0">
                <a:solidFill>
                  <a:schemeClr val="tx1"/>
                </a:solidFill>
              </a:rPr>
              <a:t>, with </a:t>
            </a:r>
            <a:r>
              <a:rPr lang="it-IT" sz="800" b="1" dirty="0">
                <a:solidFill>
                  <a:schemeClr val="tx1"/>
                </a:solidFill>
              </a:rPr>
              <a:t>limited </a:t>
            </a:r>
            <a:r>
              <a:rPr lang="it-IT" sz="800" b="1" dirty="0" err="1">
                <a:solidFill>
                  <a:schemeClr val="tx1"/>
                </a:solidFill>
              </a:rPr>
              <a:t>integration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dirty="0">
                <a:solidFill>
                  <a:schemeClr val="tx1"/>
                </a:solidFill>
              </a:rPr>
              <a:t>of </a:t>
            </a:r>
            <a:r>
              <a:rPr lang="it-IT" sz="800" dirty="0" err="1">
                <a:solidFill>
                  <a:schemeClr val="tx1"/>
                </a:solidFill>
              </a:rPr>
              <a:t>heterogeneous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operational</a:t>
            </a:r>
            <a:r>
              <a:rPr lang="it-IT" sz="800" dirty="0">
                <a:solidFill>
                  <a:schemeClr val="tx1"/>
                </a:solidFill>
              </a:rPr>
              <a:t> data and knowledge.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B787028-E50A-41CD-9526-7EDA67C66F88}"/>
              </a:ext>
            </a:extLst>
          </p:cNvPr>
          <p:cNvCxnSpPr/>
          <p:nvPr/>
        </p:nvCxnSpPr>
        <p:spPr>
          <a:xfrm>
            <a:off x="804093" y="1139825"/>
            <a:ext cx="197167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7DF9B02C-DD70-422B-9C4E-270F508E5067}"/>
              </a:ext>
            </a:extLst>
          </p:cNvPr>
          <p:cNvCxnSpPr/>
          <p:nvPr/>
        </p:nvCxnSpPr>
        <p:spPr>
          <a:xfrm>
            <a:off x="3185343" y="1139825"/>
            <a:ext cx="197167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360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BDBAB-029E-5500-EB43-65EF0A615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53D708FC-4FE0-4A53-7CD6-4A2294BCF336}"/>
              </a:ext>
            </a:extLst>
          </p:cNvPr>
          <p:cNvSpPr txBox="1"/>
          <p:nvPr/>
        </p:nvSpPr>
        <p:spPr>
          <a:xfrm>
            <a:off x="869002" y="114827"/>
            <a:ext cx="48333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Proposed system</a:t>
            </a:r>
            <a:endParaRPr lang="en-US" sz="1400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D63FAADA-CA51-461D-A739-147A84D30EBA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C5A44A9B-B611-4C0F-8691-507EA1CCC007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7F574058-D938-43EA-B61C-23DBAFEB2261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C4504D77-F28A-44C7-881F-0D6134113B61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C6940200-DF6C-480B-B240-CDCC62429EE8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CAF2043C-A1FC-4C38-B724-B35D15D7A12F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76EF6A27-549E-40E4-838D-9148F7BFAD4B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B5FD8CEC-39B5-46F5-97FD-C8EE8619952A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9AEB08C6-7647-488F-BEF4-2427143D2CA1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3C88C559-D95E-4E1E-B14A-261372B8062A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A873E1EC-3683-4D5A-8CDD-3DDA4ADFAB98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B6922FAA-BD8B-4B52-AE9B-FC2A23D975C4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D3A39B89-1263-44BE-ACC6-15AE5220956C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8B4D5D00-B5A8-4E4C-AF88-55DB23EC2882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15854ADD-0B0E-48F6-9914-4981FFDCB08E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DD100861-9E1E-404B-8C6A-9C9FA5CEC44E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2DDF2F81-3E5B-4D65-96BE-98B90A54CF1C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9309A60F-0116-47FA-A362-B3EC6489AE6E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9569F5E-3AFD-429F-9C1A-1E3C80C8579A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CC9A9436-DABB-4C75-A891-EC246013C98E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98F319FB-DF36-4F7C-B517-8DEF00A5DC1F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F2096A87-D7DB-49D3-9B10-E8F5E5080FB7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55F5B11E-C027-45A7-B3C9-54BC83C01605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37470297-237C-46DF-BF60-1C06637EE0D9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46559341-5BFC-4DCE-AE34-4567F7BD40CE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3F22B2A2-0CBC-413F-B382-98FD30FF09FD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FA693E53-A414-4BF0-9FE9-F1CFFD66A0A6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788BA6C4-3595-49AE-8E1F-8FE4423CE9E5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5193166C-4B86-4502-ACC6-A97220CC3D1C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1E1C450E-65F1-4BA8-A607-603E75E8CC0C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9151C725-96F0-4289-A08A-41B41052B996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59D73C24-C618-4606-BA3A-27F199293A86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B6AD38E7-2D3B-4048-B0E5-720CCD72D3AC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BF060646-F392-40FE-9EE5-C994C1EC970A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A92C83CC-50E1-40F4-A2A4-4D7F56D8474B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D035D648-B23C-45C9-A078-0786848454EB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61D1E6F6-17EE-46E2-AC38-832A6CA95042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703F03B8-2BF8-4A12-97BB-EDC87664AA50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E608C453-6424-4559-8DE3-FC6C9DAE63FC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175485A2-CBFE-49FA-BDCF-51A3FE6B6001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D7FA9E16-1299-477B-9973-E5B607820A43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06992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598710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FUNES System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BFE429E-FA6D-4399-9A10-FCAC21F65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7065" y="585302"/>
            <a:ext cx="3094790" cy="2122305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F9EC3A17-BB72-4A01-9667-F99C01ADBA9F}"/>
              </a:ext>
            </a:extLst>
          </p:cNvPr>
          <p:cNvSpPr txBox="1"/>
          <p:nvPr/>
        </p:nvSpPr>
        <p:spPr>
          <a:xfrm>
            <a:off x="283945" y="802822"/>
            <a:ext cx="218012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dirty="0"/>
              <a:t>The </a:t>
            </a:r>
            <a:r>
              <a:rPr lang="it-IT" sz="900" dirty="0">
                <a:ea typeface="Calibri"/>
              </a:rPr>
              <a:t>FUNES </a:t>
            </a:r>
            <a:r>
              <a:rPr lang="it-IT" sz="900" dirty="0"/>
              <a:t>system </a:t>
            </a:r>
            <a:r>
              <a:rPr lang="it-IT" sz="900" dirty="0" err="1"/>
              <a:t>is</a:t>
            </a:r>
            <a:r>
              <a:rPr lang="it-IT" sz="900" dirty="0"/>
              <a:t> </a:t>
            </a:r>
            <a:r>
              <a:rPr lang="it-IT" sz="900" dirty="0" err="1"/>
              <a:t>designed</a:t>
            </a:r>
            <a:r>
              <a:rPr lang="it-IT" sz="900" dirty="0"/>
              <a:t> to</a:t>
            </a:r>
            <a:r>
              <a:rPr lang="en-US" sz="900" dirty="0"/>
              <a:t> be an </a:t>
            </a:r>
            <a:r>
              <a:rPr lang="en-US" sz="900" b="1" dirty="0"/>
              <a:t>intermediate layer </a:t>
            </a:r>
            <a:r>
              <a:rPr lang="en-US" sz="900" dirty="0"/>
              <a:t>between existing mission operational systems and human operators</a:t>
            </a:r>
            <a:r>
              <a:rPr lang="it-IT" sz="900" dirty="0"/>
              <a:t>.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900" dirty="0"/>
              <a:t>It does not replace mission operators, it </a:t>
            </a:r>
            <a:r>
              <a:rPr lang="en-US" sz="900" b="1" dirty="0"/>
              <a:t>supports </a:t>
            </a:r>
            <a:r>
              <a:rPr lang="en-US" sz="900" dirty="0"/>
              <a:t>human decision-making by </a:t>
            </a:r>
            <a:r>
              <a:rPr lang="en-US" sz="900" b="1" dirty="0"/>
              <a:t>improving</a:t>
            </a:r>
            <a:r>
              <a:rPr lang="en-US" sz="900" dirty="0"/>
              <a:t> situational awareness, reducing information fragmentation, and providing </a:t>
            </a:r>
            <a:r>
              <a:rPr lang="en-US" sz="900" b="1" dirty="0"/>
              <a:t>recommendations</a:t>
            </a:r>
            <a:r>
              <a:rPr lang="en-US" sz="900" dirty="0"/>
              <a:t>.</a:t>
            </a:r>
            <a:endParaRPr lang="it-IT" sz="900" dirty="0"/>
          </a:p>
        </p:txBody>
      </p:sp>
    </p:spTree>
    <p:extLst>
      <p:ext uri="{BB962C8B-B14F-4D97-AF65-F5344CB8AC3E}">
        <p14:creationId xmlns:p14="http://schemas.microsoft.com/office/powerpoint/2010/main" val="4120668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598710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FUNES System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681C3AE-344A-4E07-8693-CF2B69FF3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945" y="606389"/>
            <a:ext cx="4022398" cy="2431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7805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297826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AI Module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0395179-CCC3-4D40-8E64-EC8F0D1EC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89" y="630455"/>
            <a:ext cx="2730298" cy="206677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38CEDCAD-175F-4CEE-AE11-C75F26B18933}"/>
              </a:ext>
            </a:extLst>
          </p:cNvPr>
          <p:cNvSpPr txBox="1"/>
          <p:nvPr/>
        </p:nvSpPr>
        <p:spPr>
          <a:xfrm>
            <a:off x="336885" y="837398"/>
            <a:ext cx="1891364" cy="1731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b="1" dirty="0"/>
              <a:t>Multi-Agent Graph-Based Architecture (</a:t>
            </a:r>
            <a:r>
              <a:rPr lang="en-US" sz="800" b="1" dirty="0" err="1"/>
              <a:t>LangGraph</a:t>
            </a:r>
            <a:r>
              <a:rPr lang="en-US" sz="800" b="1" dirty="0"/>
              <a:t>):</a:t>
            </a:r>
            <a:r>
              <a:rPr lang="en-US" sz="800" dirty="0"/>
              <a:t> The system decomposes the decision-making process into specialized LLM components, coordinated through a shared execution state.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b="1" dirty="0"/>
              <a:t>Role Specialization and Separation:</a:t>
            </a:r>
            <a:r>
              <a:rPr lang="en-US" sz="800" dirty="0"/>
              <a:t> Agents are divided into core orchestration roles and tool-support agents, ensuring evidence-grounded assessments with structured JSON outputs.</a:t>
            </a:r>
            <a:endParaRPr lang="it-IT" sz="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ECD526D-428C-4219-98EB-9700D5590C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723836" y="796470"/>
            <a:ext cx="416315" cy="41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344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297826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LLM Agents</a:t>
            </a:r>
            <a:endParaRPr lang="en-US" dirty="0"/>
          </a:p>
        </p:txBody>
      </p:sp>
      <p:graphicFrame>
        <p:nvGraphicFramePr>
          <p:cNvPr id="3" name="Tabella 3">
            <a:extLst>
              <a:ext uri="{FF2B5EF4-FFF2-40B4-BE49-F238E27FC236}">
                <a16:creationId xmlns:a16="http://schemas.microsoft.com/office/drawing/2014/main" id="{5E25A50D-1A6C-4E65-AF2D-527E72F6C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697000"/>
              </p:ext>
            </p:extLst>
          </p:nvPr>
        </p:nvGraphicFramePr>
        <p:xfrm>
          <a:off x="541116" y="720205"/>
          <a:ext cx="4832431" cy="2230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048">
                  <a:extLst>
                    <a:ext uri="{9D8B030D-6E8A-4147-A177-3AD203B41FA5}">
                      <a16:colId xmlns:a16="http://schemas.microsoft.com/office/drawing/2014/main" val="30451511"/>
                    </a:ext>
                  </a:extLst>
                </a:gridCol>
                <a:gridCol w="994499">
                  <a:extLst>
                    <a:ext uri="{9D8B030D-6E8A-4147-A177-3AD203B41FA5}">
                      <a16:colId xmlns:a16="http://schemas.microsoft.com/office/drawing/2014/main" val="4096913135"/>
                    </a:ext>
                  </a:extLst>
                </a:gridCol>
                <a:gridCol w="821803">
                  <a:extLst>
                    <a:ext uri="{9D8B030D-6E8A-4147-A177-3AD203B41FA5}">
                      <a16:colId xmlns:a16="http://schemas.microsoft.com/office/drawing/2014/main" val="1863079205"/>
                    </a:ext>
                  </a:extLst>
                </a:gridCol>
                <a:gridCol w="2066081">
                  <a:extLst>
                    <a:ext uri="{9D8B030D-6E8A-4147-A177-3AD203B41FA5}">
                      <a16:colId xmlns:a16="http://schemas.microsoft.com/office/drawing/2014/main" val="3405836027"/>
                    </a:ext>
                  </a:extLst>
                </a:gridCol>
              </a:tblGrid>
              <a:tr h="249175">
                <a:tc>
                  <a:txBody>
                    <a:bodyPr/>
                    <a:lstStyle/>
                    <a:p>
                      <a:r>
                        <a:rPr lang="it-IT" sz="800" dirty="0"/>
                        <a:t>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Category</a:t>
                      </a:r>
                      <a:endParaRPr lang="it-IT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Task </a:t>
                      </a:r>
                      <a:r>
                        <a:rPr lang="it-IT" sz="800" dirty="0" err="1"/>
                        <a:t>Description</a:t>
                      </a:r>
                      <a:endParaRPr lang="it-IT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809549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Planner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Generates</a:t>
                      </a:r>
                      <a:r>
                        <a:rPr lang="it-IT" sz="800" dirty="0"/>
                        <a:t> the </a:t>
                      </a:r>
                      <a:r>
                        <a:rPr lang="it-IT" sz="800" dirty="0" err="1"/>
                        <a:t>step-by-step</a:t>
                      </a:r>
                      <a:r>
                        <a:rPr lang="it-IT" sz="800" dirty="0"/>
                        <a:t> </a:t>
                      </a:r>
                      <a:r>
                        <a:rPr lang="it-IT" sz="800" b="1" dirty="0" err="1"/>
                        <a:t>execution</a:t>
                      </a:r>
                      <a:r>
                        <a:rPr lang="it-IT" sz="800" b="1" dirty="0"/>
                        <a:t> plan</a:t>
                      </a:r>
                      <a:r>
                        <a:rPr lang="it-IT" sz="800" dirty="0"/>
                        <a:t> to solve the query.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487465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 err="1"/>
                        <a:t>Synthesizer</a:t>
                      </a:r>
                      <a:endParaRPr lang="it-IT" sz="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b="1" dirty="0" err="1"/>
                        <a:t>Correlates</a:t>
                      </a:r>
                      <a:r>
                        <a:rPr lang="it-IT" sz="800" dirty="0"/>
                        <a:t> the tool </a:t>
                      </a:r>
                      <a:r>
                        <a:rPr lang="it-IT" sz="800" b="1" dirty="0" err="1"/>
                        <a:t>results</a:t>
                      </a:r>
                      <a:r>
                        <a:rPr lang="it-IT" sz="800" dirty="0"/>
                        <a:t> and </a:t>
                      </a:r>
                      <a:r>
                        <a:rPr lang="it-IT" sz="800" dirty="0" err="1"/>
                        <a:t>gives</a:t>
                      </a:r>
                      <a:r>
                        <a:rPr lang="it-IT" sz="800" dirty="0"/>
                        <a:t> the </a:t>
                      </a:r>
                      <a:r>
                        <a:rPr lang="it-IT" sz="800" dirty="0" err="1"/>
                        <a:t>final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answer</a:t>
                      </a:r>
                      <a:endParaRPr lang="it-IT" sz="8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2556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 err="1"/>
                        <a:t>Critic</a:t>
                      </a:r>
                      <a:endParaRPr lang="it-IT" sz="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b="1" dirty="0"/>
                        <a:t>Checks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whether</a:t>
                      </a:r>
                      <a:r>
                        <a:rPr lang="it-IT" sz="800" dirty="0"/>
                        <a:t> more </a:t>
                      </a:r>
                      <a:r>
                        <a:rPr lang="it-IT" sz="800" b="1" dirty="0" err="1"/>
                        <a:t>investigation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is</a:t>
                      </a:r>
                      <a:r>
                        <a:rPr lang="it-IT" sz="800" dirty="0"/>
                        <a:t> </a:t>
                      </a:r>
                      <a:r>
                        <a:rPr lang="it-IT" sz="800" b="0" dirty="0" err="1"/>
                        <a:t>required</a:t>
                      </a:r>
                      <a:endParaRPr lang="it-IT" sz="800" b="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264817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Query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Rewrites</a:t>
                      </a:r>
                      <a:r>
                        <a:rPr lang="it-IT" sz="800" dirty="0"/>
                        <a:t> the query for the RAG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70115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Planning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Uses</a:t>
                      </a:r>
                      <a:r>
                        <a:rPr lang="it-IT" sz="800" dirty="0"/>
                        <a:t> the planning tool to filter the </a:t>
                      </a:r>
                      <a:r>
                        <a:rPr lang="it-IT" sz="800" dirty="0" err="1"/>
                        <a:t>required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satellites</a:t>
                      </a:r>
                      <a:r>
                        <a:rPr lang="it-IT" sz="800" dirty="0"/>
                        <a:t> planning data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58659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Knowledge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Selects</a:t>
                      </a:r>
                      <a:r>
                        <a:rPr lang="it-IT" sz="800" dirty="0"/>
                        <a:t> and </a:t>
                      </a:r>
                      <a:r>
                        <a:rPr lang="it-IT" sz="800" dirty="0" err="1"/>
                        <a:t>prioritizes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retrieved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documents</a:t>
                      </a:r>
                      <a:endParaRPr lang="it-IT" sz="8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555511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Ticket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Analyzes</a:t>
                      </a:r>
                      <a:r>
                        <a:rPr lang="it-IT" sz="800" dirty="0"/>
                        <a:t> and filters the open tickets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447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7005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D1B18-96C0-B4EE-C81F-033F8F570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6EC5769F-5883-E614-255B-EB03D91030AB}"/>
              </a:ext>
            </a:extLst>
          </p:cNvPr>
          <p:cNvSpPr txBox="1"/>
          <p:nvPr/>
        </p:nvSpPr>
        <p:spPr>
          <a:xfrm>
            <a:off x="245275" y="2643365"/>
            <a:ext cx="1089429" cy="266996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noProof="1"/>
              <a:t>Introduction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AEB3F5-2171-33DF-EC72-F4BA6120FBE1}"/>
              </a:ext>
            </a:extLst>
          </p:cNvPr>
          <p:cNvSpPr txBox="1"/>
          <p:nvPr/>
        </p:nvSpPr>
        <p:spPr>
          <a:xfrm>
            <a:off x="245276" y="2864167"/>
            <a:ext cx="1089429" cy="179601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567" noProof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54DFA91-37A0-F850-2C73-53011ACD183C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3781F1F-34CD-AA46-05D0-054AA433947A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>
                  <a:ea typeface="Calibri"/>
                  <a:cs typeface="Calibri"/>
                </a:rPr>
                <a:t>Foundation and Existing Approaches</a:t>
              </a:r>
              <a:endParaRPr lang="en-US" sz="110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8676406-3203-6F63-3E57-523FE79024A0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518B78C-AE0E-91F3-13CA-984D5EB5F4B6}"/>
              </a:ext>
            </a:extLst>
          </p:cNvPr>
          <p:cNvSpPr txBox="1"/>
          <p:nvPr/>
        </p:nvSpPr>
        <p:spPr>
          <a:xfrm>
            <a:off x="869002" y="114827"/>
            <a:ext cx="32389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System Evaluation</a:t>
            </a:r>
            <a:endParaRPr lang="en-US" sz="1400" dirty="0"/>
          </a:p>
        </p:txBody>
      </p:sp>
      <p:sp>
        <p:nvSpPr>
          <p:cNvPr id="83" name="TextBox 35">
            <a:extLst>
              <a:ext uri="{FF2B5EF4-FFF2-40B4-BE49-F238E27FC236}">
                <a16:creationId xmlns:a16="http://schemas.microsoft.com/office/drawing/2014/main" id="{4619040B-CF8A-4011-B2FB-FEB37BF0C14C}"/>
              </a:ext>
            </a:extLst>
          </p:cNvPr>
          <p:cNvSpPr txBox="1"/>
          <p:nvPr/>
        </p:nvSpPr>
        <p:spPr>
          <a:xfrm>
            <a:off x="245276" y="2864167"/>
            <a:ext cx="1089429" cy="179601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567" noProof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DD36EBF4-A377-423F-98E9-1EE2DFE24415}"/>
              </a:ext>
            </a:extLst>
          </p:cNvPr>
          <p:cNvSpPr txBox="1"/>
          <p:nvPr/>
        </p:nvSpPr>
        <p:spPr>
          <a:xfrm>
            <a:off x="4169419" y="2556353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5F091013-CDCB-497B-910E-EB1C165AF600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81A7D411-3BF1-455C-8471-FE1FF84806ED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FD29E8BF-A0D8-421B-8AA6-2BF93A9C0428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92" name="TextBox 46">
            <a:extLst>
              <a:ext uri="{FF2B5EF4-FFF2-40B4-BE49-F238E27FC236}">
                <a16:creationId xmlns:a16="http://schemas.microsoft.com/office/drawing/2014/main" id="{C6003E6B-15F2-4D08-8504-C7938680FB19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b="1" dirty="0">
              <a:latin typeface="+mn-lt"/>
            </a:endParaRPr>
          </a:p>
        </p:txBody>
      </p:sp>
      <p:sp>
        <p:nvSpPr>
          <p:cNvPr id="94" name="Shape">
            <a:extLst>
              <a:ext uri="{FF2B5EF4-FFF2-40B4-BE49-F238E27FC236}">
                <a16:creationId xmlns:a16="http://schemas.microsoft.com/office/drawing/2014/main" id="{2A4CE568-5AF2-4CA6-94E7-9BA4790E1EE8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5" name="Shape">
            <a:extLst>
              <a:ext uri="{FF2B5EF4-FFF2-40B4-BE49-F238E27FC236}">
                <a16:creationId xmlns:a16="http://schemas.microsoft.com/office/drawing/2014/main" id="{ABFBB2A3-0A50-46E5-BFCA-753BD4619F54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6" name="Shape">
            <a:extLst>
              <a:ext uri="{FF2B5EF4-FFF2-40B4-BE49-F238E27FC236}">
                <a16:creationId xmlns:a16="http://schemas.microsoft.com/office/drawing/2014/main" id="{FC662A30-6576-4836-9A3A-A2E00D6B4712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7" name="Shape">
            <a:extLst>
              <a:ext uri="{FF2B5EF4-FFF2-40B4-BE49-F238E27FC236}">
                <a16:creationId xmlns:a16="http://schemas.microsoft.com/office/drawing/2014/main" id="{FB99FFA8-4DC8-491E-8A03-91BEDA3D8132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8" name="Shape">
            <a:extLst>
              <a:ext uri="{FF2B5EF4-FFF2-40B4-BE49-F238E27FC236}">
                <a16:creationId xmlns:a16="http://schemas.microsoft.com/office/drawing/2014/main" id="{52C600D1-BC20-451F-B9CA-B36E1ED7A406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9" name="Shape">
            <a:extLst>
              <a:ext uri="{FF2B5EF4-FFF2-40B4-BE49-F238E27FC236}">
                <a16:creationId xmlns:a16="http://schemas.microsoft.com/office/drawing/2014/main" id="{240866BA-8813-42E0-B494-1F2EC690E4A9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0" name="Shape">
            <a:extLst>
              <a:ext uri="{FF2B5EF4-FFF2-40B4-BE49-F238E27FC236}">
                <a16:creationId xmlns:a16="http://schemas.microsoft.com/office/drawing/2014/main" id="{4BB52A43-1ECF-435E-9777-3C38C6823F81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1" name="Shape">
            <a:extLst>
              <a:ext uri="{FF2B5EF4-FFF2-40B4-BE49-F238E27FC236}">
                <a16:creationId xmlns:a16="http://schemas.microsoft.com/office/drawing/2014/main" id="{9F4D4BD1-9CDB-4899-B537-BC8317A331BB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2" name="Shape">
            <a:extLst>
              <a:ext uri="{FF2B5EF4-FFF2-40B4-BE49-F238E27FC236}">
                <a16:creationId xmlns:a16="http://schemas.microsoft.com/office/drawing/2014/main" id="{DB56E515-3F89-4823-8C16-759888BE49A4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3" name="Freeform: Shape 11">
            <a:extLst>
              <a:ext uri="{FF2B5EF4-FFF2-40B4-BE49-F238E27FC236}">
                <a16:creationId xmlns:a16="http://schemas.microsoft.com/office/drawing/2014/main" id="{2216FE47-ACE2-41DA-AEF3-4C21E91DD037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4" name="Freeform: Shape 12">
            <a:extLst>
              <a:ext uri="{FF2B5EF4-FFF2-40B4-BE49-F238E27FC236}">
                <a16:creationId xmlns:a16="http://schemas.microsoft.com/office/drawing/2014/main" id="{2E19BC26-7FD0-4519-B609-E09EFCF5EC63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5" name="Freeform: Shape 13">
            <a:extLst>
              <a:ext uri="{FF2B5EF4-FFF2-40B4-BE49-F238E27FC236}">
                <a16:creationId xmlns:a16="http://schemas.microsoft.com/office/drawing/2014/main" id="{04E9AA76-F5E5-4CDF-B9D6-00AFEE6BCA38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6" name="Freeform: Shape 14">
            <a:extLst>
              <a:ext uri="{FF2B5EF4-FFF2-40B4-BE49-F238E27FC236}">
                <a16:creationId xmlns:a16="http://schemas.microsoft.com/office/drawing/2014/main" id="{5B4342D4-6CAF-4B9A-918C-E5B1CC6C6D87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7" name="Freeform: Shape 15">
            <a:extLst>
              <a:ext uri="{FF2B5EF4-FFF2-40B4-BE49-F238E27FC236}">
                <a16:creationId xmlns:a16="http://schemas.microsoft.com/office/drawing/2014/main" id="{1C571149-7758-4BCB-85C2-90ABDD53E478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8" name="Shape">
            <a:extLst>
              <a:ext uri="{FF2B5EF4-FFF2-40B4-BE49-F238E27FC236}">
                <a16:creationId xmlns:a16="http://schemas.microsoft.com/office/drawing/2014/main" id="{5F6EBB60-B81F-4416-8BFC-5944E151CD44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9" name="Shape">
            <a:extLst>
              <a:ext uri="{FF2B5EF4-FFF2-40B4-BE49-F238E27FC236}">
                <a16:creationId xmlns:a16="http://schemas.microsoft.com/office/drawing/2014/main" id="{5FEAF7BC-545B-46C8-A356-1E9DE5066834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0" name="Shape">
            <a:extLst>
              <a:ext uri="{FF2B5EF4-FFF2-40B4-BE49-F238E27FC236}">
                <a16:creationId xmlns:a16="http://schemas.microsoft.com/office/drawing/2014/main" id="{C1075DF1-0986-4944-A7D2-4792575403D8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1" name="Shape">
            <a:extLst>
              <a:ext uri="{FF2B5EF4-FFF2-40B4-BE49-F238E27FC236}">
                <a16:creationId xmlns:a16="http://schemas.microsoft.com/office/drawing/2014/main" id="{B079F367-D370-4DB0-971F-01082EC742E0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2" name="Shape">
            <a:extLst>
              <a:ext uri="{FF2B5EF4-FFF2-40B4-BE49-F238E27FC236}">
                <a16:creationId xmlns:a16="http://schemas.microsoft.com/office/drawing/2014/main" id="{D331D4B2-D230-4483-873E-BF3E4D526406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3" name="Shape">
            <a:extLst>
              <a:ext uri="{FF2B5EF4-FFF2-40B4-BE49-F238E27FC236}">
                <a16:creationId xmlns:a16="http://schemas.microsoft.com/office/drawing/2014/main" id="{156CED4F-D6A1-4A4F-A814-0E7C23CAE700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4" name="Shape">
            <a:extLst>
              <a:ext uri="{FF2B5EF4-FFF2-40B4-BE49-F238E27FC236}">
                <a16:creationId xmlns:a16="http://schemas.microsoft.com/office/drawing/2014/main" id="{FF905577-9B1D-4FC3-BADD-4196255D2D8B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5" name="Shape">
            <a:extLst>
              <a:ext uri="{FF2B5EF4-FFF2-40B4-BE49-F238E27FC236}">
                <a16:creationId xmlns:a16="http://schemas.microsoft.com/office/drawing/2014/main" id="{5046A3FF-43EA-44CD-9E6E-1209EC3561DF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6" name="Shape">
            <a:extLst>
              <a:ext uri="{FF2B5EF4-FFF2-40B4-BE49-F238E27FC236}">
                <a16:creationId xmlns:a16="http://schemas.microsoft.com/office/drawing/2014/main" id="{73780784-0E76-41C2-8E47-39232E6CDB98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7" name="Shape">
            <a:extLst>
              <a:ext uri="{FF2B5EF4-FFF2-40B4-BE49-F238E27FC236}">
                <a16:creationId xmlns:a16="http://schemas.microsoft.com/office/drawing/2014/main" id="{849DA10E-6283-43F7-96DE-E2634A75B752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8" name="Shape">
            <a:extLst>
              <a:ext uri="{FF2B5EF4-FFF2-40B4-BE49-F238E27FC236}">
                <a16:creationId xmlns:a16="http://schemas.microsoft.com/office/drawing/2014/main" id="{C5C94019-F0FD-463C-9B50-FCDE1C045961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9" name="Shape">
            <a:extLst>
              <a:ext uri="{FF2B5EF4-FFF2-40B4-BE49-F238E27FC236}">
                <a16:creationId xmlns:a16="http://schemas.microsoft.com/office/drawing/2014/main" id="{BE0C5F79-E227-45C3-B65B-3767E655FB25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20" name="Shape">
            <a:extLst>
              <a:ext uri="{FF2B5EF4-FFF2-40B4-BE49-F238E27FC236}">
                <a16:creationId xmlns:a16="http://schemas.microsoft.com/office/drawing/2014/main" id="{E38EA571-196F-42E8-B6F7-CB34280ECF08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21" name="TextBox 29">
            <a:extLst>
              <a:ext uri="{FF2B5EF4-FFF2-40B4-BE49-F238E27FC236}">
                <a16:creationId xmlns:a16="http://schemas.microsoft.com/office/drawing/2014/main" id="{783EBC7D-5156-460C-85B8-6F1892BFEC48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123" name="TextBox 31">
            <a:extLst>
              <a:ext uri="{FF2B5EF4-FFF2-40B4-BE49-F238E27FC236}">
                <a16:creationId xmlns:a16="http://schemas.microsoft.com/office/drawing/2014/main" id="{79964D2E-5E89-4527-8E71-C5033569929D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125" name="TextBox 36">
            <a:extLst>
              <a:ext uri="{FF2B5EF4-FFF2-40B4-BE49-F238E27FC236}">
                <a16:creationId xmlns:a16="http://schemas.microsoft.com/office/drawing/2014/main" id="{290B483B-8EED-40F0-ABCD-4DD423A39E5D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126" name="TextBox 43">
            <a:extLst>
              <a:ext uri="{FF2B5EF4-FFF2-40B4-BE49-F238E27FC236}">
                <a16:creationId xmlns:a16="http://schemas.microsoft.com/office/drawing/2014/main" id="{8C71013D-CAE2-4E75-BA24-1BB07163EE8B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127" name="Shape">
            <a:extLst>
              <a:ext uri="{FF2B5EF4-FFF2-40B4-BE49-F238E27FC236}">
                <a16:creationId xmlns:a16="http://schemas.microsoft.com/office/drawing/2014/main" id="{08E6EF0F-C533-42DF-9C6A-B547BCC6FB7A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128" name="TextBox 45">
            <a:extLst>
              <a:ext uri="{FF2B5EF4-FFF2-40B4-BE49-F238E27FC236}">
                <a16:creationId xmlns:a16="http://schemas.microsoft.com/office/drawing/2014/main" id="{1DE57D37-FF24-49AE-B992-E798B9847F01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46796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141B5-4EF5-0F3F-4E27-8D04D8389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7295" y="252930"/>
            <a:ext cx="2432685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Proposed Scenario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D1465F2-06CD-41A9-8019-4BF3500B87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8738" y="445168"/>
            <a:ext cx="2358304" cy="2354513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AE4779-900A-41FF-A163-42DF5921F833}"/>
              </a:ext>
            </a:extLst>
          </p:cNvPr>
          <p:cNvSpPr txBox="1"/>
          <p:nvPr/>
        </p:nvSpPr>
        <p:spPr>
          <a:xfrm>
            <a:off x="288758" y="736092"/>
            <a:ext cx="2727866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 fontAlgn="base"/>
            <a:r>
              <a:rPr lang="en-US" sz="800" b="1" dirty="0"/>
              <a:t>Planning:</a:t>
            </a:r>
            <a:r>
              <a:rPr lang="en-US" sz="800" dirty="0"/>
              <a:t> 32 </a:t>
            </a:r>
            <a:r>
              <a:rPr lang="en-US" sz="800" dirty="0" err="1"/>
              <a:t>hrs</a:t>
            </a:r>
            <a:r>
              <a:rPr lang="en-US" sz="800" dirty="0"/>
              <a:t> of planning data for each satellite</a:t>
            </a:r>
          </a:p>
          <a:p>
            <a:pPr rtl="0" fontAlgn="base"/>
            <a:endParaRPr lang="en-US" sz="800" b="1" dirty="0"/>
          </a:p>
          <a:p>
            <a:pPr rtl="0" fontAlgn="base"/>
            <a:r>
              <a:rPr lang="en-US" sz="800" b="1" dirty="0"/>
              <a:t>Network State: 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GS-01 is degraded: 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ANT-02 offline 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ANT-03 exhibits increased latency and packet loss.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GS-01 </a:t>
            </a:r>
            <a:r>
              <a:rPr lang="it-IT" sz="800" dirty="0"/>
              <a:t>↔</a:t>
            </a:r>
            <a:r>
              <a:rPr lang="en-US" sz="800" dirty="0"/>
              <a:t> GS-02 degraded</a:t>
            </a:r>
          </a:p>
          <a:p>
            <a:pPr lvl="3" rtl="0" fontAlgn="base"/>
            <a:endParaRPr lang="en-US" sz="800" dirty="0"/>
          </a:p>
          <a:p>
            <a:r>
              <a:rPr lang="en-US" sz="800" b="1" dirty="0"/>
              <a:t>32 operational tickets</a:t>
            </a:r>
            <a:r>
              <a:rPr lang="en-US" sz="800" dirty="0"/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3 are related to the malfunctions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1 is for preventive maintenance on GS-02/ANT-02 that requires </a:t>
            </a:r>
            <a:r>
              <a:rPr lang="en-US" sz="800" dirty="0" err="1"/>
              <a:t>replanning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1 is about an urgent acquisition that requires </a:t>
            </a:r>
            <a:r>
              <a:rPr lang="en-US" sz="800" dirty="0" err="1"/>
              <a:t>replanning</a:t>
            </a:r>
            <a:r>
              <a:rPr lang="en-US" sz="800" dirty="0"/>
              <a:t> of activities</a:t>
            </a:r>
          </a:p>
          <a:p>
            <a:endParaRPr lang="en-US" sz="800" dirty="0"/>
          </a:p>
          <a:p>
            <a:r>
              <a:rPr lang="en-US" sz="800" b="1" dirty="0"/>
              <a:t>Knowledge base</a:t>
            </a:r>
            <a:r>
              <a:rPr lang="en-US" sz="800" dirty="0"/>
              <a:t>: 20 documents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11188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Benchmark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80453EE-5981-47E7-B714-D09033DAD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188" y="492280"/>
            <a:ext cx="3466827" cy="2674025"/>
          </a:xfrm>
          <a:prstGeom prst="rect">
            <a:avLst/>
          </a:prstGeom>
        </p:spPr>
      </p:pic>
      <p:sp>
        <p:nvSpPr>
          <p:cNvPr id="6" name="Parentesi graffa aperta 5">
            <a:extLst>
              <a:ext uri="{FF2B5EF4-FFF2-40B4-BE49-F238E27FC236}">
                <a16:creationId xmlns:a16="http://schemas.microsoft.com/office/drawing/2014/main" id="{59FD414C-22E1-4582-B003-4CBEEF22BDA7}"/>
              </a:ext>
            </a:extLst>
          </p:cNvPr>
          <p:cNvSpPr/>
          <p:nvPr/>
        </p:nvSpPr>
        <p:spPr>
          <a:xfrm>
            <a:off x="1578720" y="708212"/>
            <a:ext cx="97680" cy="1241612"/>
          </a:xfrm>
          <a:prstGeom prst="leftBrace">
            <a:avLst/>
          </a:prstGeom>
          <a:ln w="127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Parentesi graffa aperta 8">
            <a:extLst>
              <a:ext uri="{FF2B5EF4-FFF2-40B4-BE49-F238E27FC236}">
                <a16:creationId xmlns:a16="http://schemas.microsoft.com/office/drawing/2014/main" id="{A2A4B7EE-9D04-48A4-A4BF-59EE21DD5817}"/>
              </a:ext>
            </a:extLst>
          </p:cNvPr>
          <p:cNvSpPr/>
          <p:nvPr/>
        </p:nvSpPr>
        <p:spPr>
          <a:xfrm>
            <a:off x="1566456" y="2003612"/>
            <a:ext cx="112311" cy="578224"/>
          </a:xfrm>
          <a:prstGeom prst="leftBrac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aperta 9">
            <a:extLst>
              <a:ext uri="{FF2B5EF4-FFF2-40B4-BE49-F238E27FC236}">
                <a16:creationId xmlns:a16="http://schemas.microsoft.com/office/drawing/2014/main" id="{E6F7CDB6-E4FA-45AC-98EE-AD7FDE375838}"/>
              </a:ext>
            </a:extLst>
          </p:cNvPr>
          <p:cNvSpPr/>
          <p:nvPr/>
        </p:nvSpPr>
        <p:spPr>
          <a:xfrm>
            <a:off x="1578720" y="2649476"/>
            <a:ext cx="87784" cy="424723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1F5ECB7-82D0-4AA3-94DC-DC5AFFA012D2}"/>
              </a:ext>
            </a:extLst>
          </p:cNvPr>
          <p:cNvSpPr txBox="1"/>
          <p:nvPr/>
        </p:nvSpPr>
        <p:spPr>
          <a:xfrm>
            <a:off x="866104" y="120590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chemeClr val="accent3">
                    <a:lumMod val="50000"/>
                  </a:schemeClr>
                </a:solidFill>
              </a:rPr>
              <a:t>10 Easy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1FF2B0-C7C8-42B8-9B92-BE37579C165C}"/>
              </a:ext>
            </a:extLst>
          </p:cNvPr>
          <p:cNvSpPr txBox="1"/>
          <p:nvPr/>
        </p:nvSpPr>
        <p:spPr>
          <a:xfrm>
            <a:off x="769318" y="2165755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chemeClr val="accent6">
                    <a:lumMod val="75000"/>
                  </a:schemeClr>
                </a:solidFill>
              </a:rPr>
              <a:t>6 Medium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420D578-2A1C-479D-B56A-095062039C41}"/>
              </a:ext>
            </a:extLst>
          </p:cNvPr>
          <p:cNvSpPr txBox="1"/>
          <p:nvPr/>
        </p:nvSpPr>
        <p:spPr>
          <a:xfrm>
            <a:off x="933064" y="2738726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rgbClr val="FF0000"/>
                </a:solidFill>
              </a:rPr>
              <a:t>4 Hard</a:t>
            </a:r>
          </a:p>
        </p:txBody>
      </p:sp>
    </p:spTree>
    <p:extLst>
      <p:ext uri="{BB962C8B-B14F-4D97-AF65-F5344CB8AC3E}">
        <p14:creationId xmlns:p14="http://schemas.microsoft.com/office/powerpoint/2010/main" val="572085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Methodology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EA985-A8C4-453F-93C6-C78EF370D5C6}"/>
              </a:ext>
            </a:extLst>
          </p:cNvPr>
          <p:cNvSpPr/>
          <p:nvPr/>
        </p:nvSpPr>
        <p:spPr>
          <a:xfrm>
            <a:off x="659219" y="1003741"/>
            <a:ext cx="1385362" cy="2079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tx1"/>
                </a:solidFill>
              </a:rPr>
              <a:t>FUNES</a:t>
            </a:r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A55732E-A5EF-4041-9E9F-AA842053BDCC}"/>
              </a:ext>
            </a:extLst>
          </p:cNvPr>
          <p:cNvSpPr/>
          <p:nvPr/>
        </p:nvSpPr>
        <p:spPr>
          <a:xfrm>
            <a:off x="659219" y="1211698"/>
            <a:ext cx="1385362" cy="57346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 err="1">
                <a:solidFill>
                  <a:schemeClr val="tx1"/>
                </a:solidFill>
              </a:rPr>
              <a:t>Retrieved</a:t>
            </a:r>
            <a:r>
              <a:rPr lang="it-IT" sz="700" dirty="0">
                <a:solidFill>
                  <a:schemeClr val="tx1"/>
                </a:solidFill>
              </a:rPr>
              <a:t> </a:t>
            </a:r>
            <a:r>
              <a:rPr lang="it-IT" sz="700" dirty="0" err="1">
                <a:solidFill>
                  <a:schemeClr val="tx1"/>
                </a:solidFill>
              </a:rPr>
              <a:t>useful</a:t>
            </a:r>
            <a:r>
              <a:rPr lang="it-IT" sz="700" dirty="0">
                <a:solidFill>
                  <a:schemeClr val="tx1"/>
                </a:solidFill>
              </a:rPr>
              <a:t> </a:t>
            </a:r>
            <a:r>
              <a:rPr lang="it-IT" sz="700" dirty="0" err="1">
                <a:solidFill>
                  <a:schemeClr val="tx1"/>
                </a:solidFill>
              </a:rPr>
              <a:t>context</a:t>
            </a:r>
            <a:endParaRPr lang="it-IT" sz="700" dirty="0">
              <a:solidFill>
                <a:schemeClr val="tx1"/>
              </a:solidFill>
            </a:endParaRPr>
          </a:p>
        </p:txBody>
      </p:sp>
      <p:sp>
        <p:nvSpPr>
          <p:cNvPr id="53" name="Rettangolo 52">
            <a:extLst>
              <a:ext uri="{FF2B5EF4-FFF2-40B4-BE49-F238E27FC236}">
                <a16:creationId xmlns:a16="http://schemas.microsoft.com/office/drawing/2014/main" id="{560EC6C3-3683-4BF9-90B5-8B36A3163CBD}"/>
              </a:ext>
            </a:extLst>
          </p:cNvPr>
          <p:cNvSpPr/>
          <p:nvPr/>
        </p:nvSpPr>
        <p:spPr>
          <a:xfrm>
            <a:off x="3793359" y="1003740"/>
            <a:ext cx="1385362" cy="2079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 err="1">
                <a:solidFill>
                  <a:schemeClr val="tx1"/>
                </a:solidFill>
              </a:rPr>
              <a:t>Llama</a:t>
            </a:r>
            <a:r>
              <a:rPr lang="it-IT" sz="800" b="1" dirty="0">
                <a:solidFill>
                  <a:schemeClr val="tx1"/>
                </a:solidFill>
              </a:rPr>
              <a:t> 3.3 70B</a:t>
            </a:r>
          </a:p>
        </p:txBody>
      </p:sp>
      <p:sp>
        <p:nvSpPr>
          <p:cNvPr id="54" name="Rettangolo 53">
            <a:extLst>
              <a:ext uri="{FF2B5EF4-FFF2-40B4-BE49-F238E27FC236}">
                <a16:creationId xmlns:a16="http://schemas.microsoft.com/office/drawing/2014/main" id="{3F801AE9-DA59-4430-BE31-41C9FEB8B460}"/>
              </a:ext>
            </a:extLst>
          </p:cNvPr>
          <p:cNvSpPr/>
          <p:nvPr/>
        </p:nvSpPr>
        <p:spPr>
          <a:xfrm>
            <a:off x="3793359" y="1211696"/>
            <a:ext cx="1385362" cy="5734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Full </a:t>
            </a:r>
            <a:r>
              <a:rPr lang="it-IT" sz="700" dirty="0" err="1">
                <a:solidFill>
                  <a:schemeClr val="tx1"/>
                </a:solidFill>
              </a:rPr>
              <a:t>context</a:t>
            </a:r>
            <a:r>
              <a:rPr lang="it-IT" sz="700" dirty="0">
                <a:solidFill>
                  <a:schemeClr val="tx1"/>
                </a:solidFill>
              </a:rPr>
              <a:t> of 24K tokens</a:t>
            </a:r>
          </a:p>
        </p:txBody>
      </p:sp>
      <p:sp>
        <p:nvSpPr>
          <p:cNvPr id="55" name="Rombo 54">
            <a:extLst>
              <a:ext uri="{FF2B5EF4-FFF2-40B4-BE49-F238E27FC236}">
                <a16:creationId xmlns:a16="http://schemas.microsoft.com/office/drawing/2014/main" id="{BEA5C20E-B63F-439E-A7CD-095046DDDA7D}"/>
              </a:ext>
            </a:extLst>
          </p:cNvPr>
          <p:cNvSpPr/>
          <p:nvPr/>
        </p:nvSpPr>
        <p:spPr>
          <a:xfrm>
            <a:off x="2286542" y="627549"/>
            <a:ext cx="1259467" cy="307777"/>
          </a:xfrm>
          <a:prstGeom prst="diamond">
            <a:avLst/>
          </a:prstGeom>
          <a:solidFill>
            <a:schemeClr val="bg1"/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i="1" dirty="0">
                <a:solidFill>
                  <a:schemeClr val="tx1"/>
                </a:solidFill>
                <a:latin typeface="+mj-lt"/>
                <a:ea typeface="Yu Gothic UI" panose="020B0500000000000000" pitchFamily="34" charset="-128"/>
              </a:rPr>
              <a:t>VS</a:t>
            </a:r>
          </a:p>
        </p:txBody>
      </p:sp>
      <p:sp>
        <p:nvSpPr>
          <p:cNvPr id="58" name="Rettangolo 57">
            <a:extLst>
              <a:ext uri="{FF2B5EF4-FFF2-40B4-BE49-F238E27FC236}">
                <a16:creationId xmlns:a16="http://schemas.microsoft.com/office/drawing/2014/main" id="{36B8FD0F-7763-49C8-A15A-BE983F42A5E2}"/>
              </a:ext>
            </a:extLst>
          </p:cNvPr>
          <p:cNvSpPr/>
          <p:nvPr/>
        </p:nvSpPr>
        <p:spPr>
          <a:xfrm>
            <a:off x="2236187" y="1003739"/>
            <a:ext cx="1385362" cy="207957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tx1"/>
                </a:solidFill>
              </a:rPr>
              <a:t>LLM </a:t>
            </a:r>
            <a:r>
              <a:rPr lang="it-IT" sz="800" b="1" dirty="0" err="1">
                <a:solidFill>
                  <a:schemeClr val="tx1"/>
                </a:solidFill>
              </a:rPr>
              <a:t>as</a:t>
            </a:r>
            <a:r>
              <a:rPr lang="it-IT" sz="800" b="1" dirty="0">
                <a:solidFill>
                  <a:schemeClr val="tx1"/>
                </a:solidFill>
              </a:rPr>
              <a:t> a </a:t>
            </a:r>
            <a:r>
              <a:rPr lang="it-IT" sz="800" b="1" dirty="0" err="1">
                <a:solidFill>
                  <a:schemeClr val="tx1"/>
                </a:solidFill>
              </a:rPr>
              <a:t>judge</a:t>
            </a:r>
            <a:endParaRPr lang="it-IT" sz="800" b="1" dirty="0">
              <a:solidFill>
                <a:schemeClr val="tx1"/>
              </a:solidFill>
            </a:endParaRPr>
          </a:p>
        </p:txBody>
      </p:sp>
      <p:sp>
        <p:nvSpPr>
          <p:cNvPr id="59" name="Rettangolo 58">
            <a:extLst>
              <a:ext uri="{FF2B5EF4-FFF2-40B4-BE49-F238E27FC236}">
                <a16:creationId xmlns:a16="http://schemas.microsoft.com/office/drawing/2014/main" id="{9A8E99C0-25E0-445C-A62A-32995BD28A6C}"/>
              </a:ext>
            </a:extLst>
          </p:cNvPr>
          <p:cNvSpPr/>
          <p:nvPr/>
        </p:nvSpPr>
        <p:spPr>
          <a:xfrm>
            <a:off x="2236187" y="1211695"/>
            <a:ext cx="1385362" cy="57346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Scenario </a:t>
            </a:r>
            <a:r>
              <a:rPr lang="it-IT" sz="700" dirty="0" err="1">
                <a:solidFill>
                  <a:schemeClr val="tx1"/>
                </a:solidFill>
              </a:rPr>
              <a:t>description</a:t>
            </a:r>
            <a:endParaRPr lang="it-IT" sz="700" dirty="0">
              <a:solidFill>
                <a:schemeClr val="tx1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Evaluation </a:t>
            </a:r>
            <a:r>
              <a:rPr lang="it-IT" sz="700" dirty="0" err="1">
                <a:solidFill>
                  <a:schemeClr val="tx1"/>
                </a:solidFill>
              </a:rPr>
              <a:t>instructions</a:t>
            </a:r>
            <a:endParaRPr lang="it-IT" sz="700" dirty="0">
              <a:solidFill>
                <a:schemeClr val="tx1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 err="1">
                <a:solidFill>
                  <a:schemeClr val="tx1"/>
                </a:solidFill>
              </a:rPr>
              <a:t>Answers</a:t>
            </a:r>
            <a:endParaRPr lang="it-IT" sz="700" dirty="0">
              <a:solidFill>
                <a:schemeClr val="tx1"/>
              </a:solidFill>
            </a:endParaRPr>
          </a:p>
        </p:txBody>
      </p:sp>
      <p:sp>
        <p:nvSpPr>
          <p:cNvPr id="60" name="Rettangolo con angoli arrotondati 59">
            <a:extLst>
              <a:ext uri="{FF2B5EF4-FFF2-40B4-BE49-F238E27FC236}">
                <a16:creationId xmlns:a16="http://schemas.microsoft.com/office/drawing/2014/main" id="{D5A17998-62D5-4379-8486-75635F6E4E28}"/>
              </a:ext>
            </a:extLst>
          </p:cNvPr>
          <p:cNvSpPr/>
          <p:nvPr/>
        </p:nvSpPr>
        <p:spPr>
          <a:xfrm>
            <a:off x="629988" y="1895397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288836B2-5514-4156-9CC4-D767CCF36B1F}"/>
              </a:ext>
            </a:extLst>
          </p:cNvPr>
          <p:cNvSpPr txBox="1"/>
          <p:nvPr/>
        </p:nvSpPr>
        <p:spPr>
          <a:xfrm>
            <a:off x="721734" y="189233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Answer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correctness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63" name="Connettore diritto 62">
            <a:extLst>
              <a:ext uri="{FF2B5EF4-FFF2-40B4-BE49-F238E27FC236}">
                <a16:creationId xmlns:a16="http://schemas.microsoft.com/office/drawing/2014/main" id="{0294E768-A14B-451B-94DE-730AF9C51A50}"/>
              </a:ext>
            </a:extLst>
          </p:cNvPr>
          <p:cNvCxnSpPr>
            <a:cxnSpLocks/>
          </p:cNvCxnSpPr>
          <p:nvPr/>
        </p:nvCxnSpPr>
        <p:spPr>
          <a:xfrm>
            <a:off x="775251" y="2061911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26318903-2C4B-40B2-9351-66AC7100130B}"/>
              </a:ext>
            </a:extLst>
          </p:cNvPr>
          <p:cNvSpPr txBox="1"/>
          <p:nvPr/>
        </p:nvSpPr>
        <p:spPr>
          <a:xfrm>
            <a:off x="941921" y="26728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2CA9AC68-CF7D-46C1-9250-75299E3BD39B}"/>
              </a:ext>
            </a:extLst>
          </p:cNvPr>
          <p:cNvSpPr txBox="1"/>
          <p:nvPr/>
        </p:nvSpPr>
        <p:spPr>
          <a:xfrm>
            <a:off x="686563" y="2050301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Correctly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addressing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of the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question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given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the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operational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knowledge</a:t>
            </a:r>
          </a:p>
        </p:txBody>
      </p:sp>
      <p:sp>
        <p:nvSpPr>
          <p:cNvPr id="83" name="Rettangolo con angoli arrotondati 82">
            <a:extLst>
              <a:ext uri="{FF2B5EF4-FFF2-40B4-BE49-F238E27FC236}">
                <a16:creationId xmlns:a16="http://schemas.microsoft.com/office/drawing/2014/main" id="{8A946CEA-E729-4E76-B6F0-A07B380B0C9E}"/>
              </a:ext>
            </a:extLst>
          </p:cNvPr>
          <p:cNvSpPr/>
          <p:nvPr/>
        </p:nvSpPr>
        <p:spPr>
          <a:xfrm>
            <a:off x="629988" y="2539095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4" name="CasellaDiTesto 83">
            <a:extLst>
              <a:ext uri="{FF2B5EF4-FFF2-40B4-BE49-F238E27FC236}">
                <a16:creationId xmlns:a16="http://schemas.microsoft.com/office/drawing/2014/main" id="{EE9535BC-EBB7-4184-A259-108C8D642793}"/>
              </a:ext>
            </a:extLst>
          </p:cNvPr>
          <p:cNvSpPr txBox="1"/>
          <p:nvPr/>
        </p:nvSpPr>
        <p:spPr>
          <a:xfrm>
            <a:off x="721734" y="2536037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Noise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Filtering</a:t>
            </a:r>
          </a:p>
        </p:txBody>
      </p:sp>
      <p:cxnSp>
        <p:nvCxnSpPr>
          <p:cNvPr id="85" name="Connettore diritto 84">
            <a:extLst>
              <a:ext uri="{FF2B5EF4-FFF2-40B4-BE49-F238E27FC236}">
                <a16:creationId xmlns:a16="http://schemas.microsoft.com/office/drawing/2014/main" id="{0EE77943-013B-44BF-AC2F-2FAE79F9CBCF}"/>
              </a:ext>
            </a:extLst>
          </p:cNvPr>
          <p:cNvCxnSpPr>
            <a:cxnSpLocks/>
          </p:cNvCxnSpPr>
          <p:nvPr/>
        </p:nvCxnSpPr>
        <p:spPr>
          <a:xfrm>
            <a:off x="775251" y="2705609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5BFE74DB-435C-4050-8D21-FB7EC699FF26}"/>
              </a:ext>
            </a:extLst>
          </p:cNvPr>
          <p:cNvSpPr txBox="1"/>
          <p:nvPr/>
        </p:nvSpPr>
        <p:spPr>
          <a:xfrm>
            <a:off x="686563" y="2711363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Distinguish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relevant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from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unrelated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informations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87" name="Rettangolo con angoli arrotondati 86">
            <a:extLst>
              <a:ext uri="{FF2B5EF4-FFF2-40B4-BE49-F238E27FC236}">
                <a16:creationId xmlns:a16="http://schemas.microsoft.com/office/drawing/2014/main" id="{072FC586-EAFD-4AE3-8618-F192209F8F36}"/>
              </a:ext>
            </a:extLst>
          </p:cNvPr>
          <p:cNvSpPr/>
          <p:nvPr/>
        </p:nvSpPr>
        <p:spPr>
          <a:xfrm>
            <a:off x="2216131" y="1892339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8" name="CasellaDiTesto 87">
            <a:extLst>
              <a:ext uri="{FF2B5EF4-FFF2-40B4-BE49-F238E27FC236}">
                <a16:creationId xmlns:a16="http://schemas.microsoft.com/office/drawing/2014/main" id="{DC20FF97-A7B7-4EF8-8AF2-FA8DBF1E0F44}"/>
              </a:ext>
            </a:extLst>
          </p:cNvPr>
          <p:cNvSpPr txBox="1"/>
          <p:nvPr/>
        </p:nvSpPr>
        <p:spPr>
          <a:xfrm>
            <a:off x="2307877" y="189233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Anomaly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Identification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9" name="Connettore diritto 88">
            <a:extLst>
              <a:ext uri="{FF2B5EF4-FFF2-40B4-BE49-F238E27FC236}">
                <a16:creationId xmlns:a16="http://schemas.microsoft.com/office/drawing/2014/main" id="{75795B96-6E08-48C8-979D-4CB3153D833F}"/>
              </a:ext>
            </a:extLst>
          </p:cNvPr>
          <p:cNvCxnSpPr>
            <a:cxnSpLocks/>
          </p:cNvCxnSpPr>
          <p:nvPr/>
        </p:nvCxnSpPr>
        <p:spPr>
          <a:xfrm>
            <a:off x="2361394" y="2058853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CasellaDiTesto 89">
            <a:extLst>
              <a:ext uri="{FF2B5EF4-FFF2-40B4-BE49-F238E27FC236}">
                <a16:creationId xmlns:a16="http://schemas.microsoft.com/office/drawing/2014/main" id="{96596802-512B-4BFA-9FEB-9E462A8CD513}"/>
              </a:ext>
            </a:extLst>
          </p:cNvPr>
          <p:cNvSpPr txBox="1"/>
          <p:nvPr/>
        </p:nvSpPr>
        <p:spPr>
          <a:xfrm>
            <a:off x="2528064" y="266980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6915BEA7-E946-449F-B082-A0F97BFDF43B}"/>
              </a:ext>
            </a:extLst>
          </p:cNvPr>
          <p:cNvSpPr txBox="1"/>
          <p:nvPr/>
        </p:nvSpPr>
        <p:spPr>
          <a:xfrm>
            <a:off x="2272706" y="2064607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Identify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and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characterize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operational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anomalies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2" name="Rettangolo con angoli arrotondati 91">
            <a:extLst>
              <a:ext uri="{FF2B5EF4-FFF2-40B4-BE49-F238E27FC236}">
                <a16:creationId xmlns:a16="http://schemas.microsoft.com/office/drawing/2014/main" id="{6CB6C9DF-7DC7-4490-84F8-A6289950B53F}"/>
              </a:ext>
            </a:extLst>
          </p:cNvPr>
          <p:cNvSpPr/>
          <p:nvPr/>
        </p:nvSpPr>
        <p:spPr>
          <a:xfrm>
            <a:off x="2216131" y="2536037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93" name="CasellaDiTesto 92">
            <a:extLst>
              <a:ext uri="{FF2B5EF4-FFF2-40B4-BE49-F238E27FC236}">
                <a16:creationId xmlns:a16="http://schemas.microsoft.com/office/drawing/2014/main" id="{C80CDDB7-4DCC-4F49-9B46-A1BD87243AD6}"/>
              </a:ext>
            </a:extLst>
          </p:cNvPr>
          <p:cNvSpPr txBox="1"/>
          <p:nvPr/>
        </p:nvSpPr>
        <p:spPr>
          <a:xfrm>
            <a:off x="2307877" y="253297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>
                <a:solidFill>
                  <a:schemeClr val="tx1"/>
                </a:solidFill>
                <a:latin typeface="+mn-lt"/>
              </a:rPr>
              <a:t>DSS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Role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Adherence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94" name="Connettore diritto 93">
            <a:extLst>
              <a:ext uri="{FF2B5EF4-FFF2-40B4-BE49-F238E27FC236}">
                <a16:creationId xmlns:a16="http://schemas.microsoft.com/office/drawing/2014/main" id="{9B429E92-C849-45E8-AFDD-66EDB46401D3}"/>
              </a:ext>
            </a:extLst>
          </p:cNvPr>
          <p:cNvCxnSpPr>
            <a:cxnSpLocks/>
          </p:cNvCxnSpPr>
          <p:nvPr/>
        </p:nvCxnSpPr>
        <p:spPr>
          <a:xfrm>
            <a:off x="2361394" y="2702551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CasellaDiTesto 94">
            <a:extLst>
              <a:ext uri="{FF2B5EF4-FFF2-40B4-BE49-F238E27FC236}">
                <a16:creationId xmlns:a16="http://schemas.microsoft.com/office/drawing/2014/main" id="{AC4294C1-CCE2-4DA4-A7AA-1AF7187374D8}"/>
              </a:ext>
            </a:extLst>
          </p:cNvPr>
          <p:cNvSpPr txBox="1"/>
          <p:nvPr/>
        </p:nvSpPr>
        <p:spPr>
          <a:xfrm>
            <a:off x="2272706" y="2693835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answer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behaviour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for a DSS (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evidence-based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situational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awareness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etc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…)</a:t>
            </a:r>
          </a:p>
        </p:txBody>
      </p:sp>
      <p:sp>
        <p:nvSpPr>
          <p:cNvPr id="96" name="Rettangolo con angoli arrotondati 95">
            <a:extLst>
              <a:ext uri="{FF2B5EF4-FFF2-40B4-BE49-F238E27FC236}">
                <a16:creationId xmlns:a16="http://schemas.microsoft.com/office/drawing/2014/main" id="{0EAD771C-5DF3-4F92-9588-4C1163A6B232}"/>
              </a:ext>
            </a:extLst>
          </p:cNvPr>
          <p:cNvSpPr/>
          <p:nvPr/>
        </p:nvSpPr>
        <p:spPr>
          <a:xfrm>
            <a:off x="3793625" y="1886223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97" name="CasellaDiTesto 96">
            <a:extLst>
              <a:ext uri="{FF2B5EF4-FFF2-40B4-BE49-F238E27FC236}">
                <a16:creationId xmlns:a16="http://schemas.microsoft.com/office/drawing/2014/main" id="{D35E2260-7DC8-4759-BB23-5A6F0414728E}"/>
              </a:ext>
            </a:extLst>
          </p:cNvPr>
          <p:cNvSpPr txBox="1"/>
          <p:nvPr/>
        </p:nvSpPr>
        <p:spPr>
          <a:xfrm>
            <a:off x="3876197" y="1883165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Evidence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Correlation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98" name="Connettore diritto 97">
            <a:extLst>
              <a:ext uri="{FF2B5EF4-FFF2-40B4-BE49-F238E27FC236}">
                <a16:creationId xmlns:a16="http://schemas.microsoft.com/office/drawing/2014/main" id="{F6DDBE32-251F-4F4B-ADAD-964E90C51276}"/>
              </a:ext>
            </a:extLst>
          </p:cNvPr>
          <p:cNvCxnSpPr>
            <a:cxnSpLocks/>
          </p:cNvCxnSpPr>
          <p:nvPr/>
        </p:nvCxnSpPr>
        <p:spPr>
          <a:xfrm>
            <a:off x="3929714" y="2052737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CasellaDiTesto 98">
            <a:extLst>
              <a:ext uri="{FF2B5EF4-FFF2-40B4-BE49-F238E27FC236}">
                <a16:creationId xmlns:a16="http://schemas.microsoft.com/office/drawing/2014/main" id="{DCD7B5EE-04D4-4451-835B-A17DEB312CB5}"/>
              </a:ext>
            </a:extLst>
          </p:cNvPr>
          <p:cNvSpPr txBox="1"/>
          <p:nvPr/>
        </p:nvSpPr>
        <p:spPr>
          <a:xfrm>
            <a:off x="4096384" y="26636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100" name="CasellaDiTesto 99">
            <a:extLst>
              <a:ext uri="{FF2B5EF4-FFF2-40B4-BE49-F238E27FC236}">
                <a16:creationId xmlns:a16="http://schemas.microsoft.com/office/drawing/2014/main" id="{F86ACA88-167F-46B2-98B0-7E6DD1A4010A}"/>
              </a:ext>
            </a:extLst>
          </p:cNvPr>
          <p:cNvSpPr txBox="1"/>
          <p:nvPr/>
        </p:nvSpPr>
        <p:spPr>
          <a:xfrm>
            <a:off x="3841026" y="2038397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Establish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correlations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between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evidences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from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different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sources</a:t>
            </a:r>
          </a:p>
        </p:txBody>
      </p:sp>
      <p:sp>
        <p:nvSpPr>
          <p:cNvPr id="101" name="Rettangolo con angoli arrotondati 100">
            <a:extLst>
              <a:ext uri="{FF2B5EF4-FFF2-40B4-BE49-F238E27FC236}">
                <a16:creationId xmlns:a16="http://schemas.microsoft.com/office/drawing/2014/main" id="{2BB75DFB-8713-4976-91D4-84CE045BEE0D}"/>
              </a:ext>
            </a:extLst>
          </p:cNvPr>
          <p:cNvSpPr/>
          <p:nvPr/>
        </p:nvSpPr>
        <p:spPr>
          <a:xfrm>
            <a:off x="3793625" y="2529921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102" name="CasellaDiTesto 101">
            <a:extLst>
              <a:ext uri="{FF2B5EF4-FFF2-40B4-BE49-F238E27FC236}">
                <a16:creationId xmlns:a16="http://schemas.microsoft.com/office/drawing/2014/main" id="{0D884F86-2BCD-46E3-B224-E7ED52DF2B4C}"/>
              </a:ext>
            </a:extLst>
          </p:cNvPr>
          <p:cNvSpPr txBox="1"/>
          <p:nvPr/>
        </p:nvSpPr>
        <p:spPr>
          <a:xfrm>
            <a:off x="3876197" y="2526863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>
                <a:solidFill>
                  <a:schemeClr val="tx1"/>
                </a:solidFill>
                <a:latin typeface="+mn-lt"/>
              </a:rPr>
              <a:t>Op.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Reccom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. Quality</a:t>
            </a:r>
          </a:p>
        </p:txBody>
      </p:sp>
      <p:cxnSp>
        <p:nvCxnSpPr>
          <p:cNvPr id="103" name="Connettore diritto 102">
            <a:extLst>
              <a:ext uri="{FF2B5EF4-FFF2-40B4-BE49-F238E27FC236}">
                <a16:creationId xmlns:a16="http://schemas.microsoft.com/office/drawing/2014/main" id="{7D7172F8-5A8E-407E-869A-F27C11AB8E35}"/>
              </a:ext>
            </a:extLst>
          </p:cNvPr>
          <p:cNvCxnSpPr>
            <a:cxnSpLocks/>
          </p:cNvCxnSpPr>
          <p:nvPr/>
        </p:nvCxnSpPr>
        <p:spPr>
          <a:xfrm>
            <a:off x="3929714" y="2696435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CasellaDiTesto 103">
            <a:extLst>
              <a:ext uri="{FF2B5EF4-FFF2-40B4-BE49-F238E27FC236}">
                <a16:creationId xmlns:a16="http://schemas.microsoft.com/office/drawing/2014/main" id="{29C2C4ED-1F1E-489F-B853-4863F42671DD}"/>
              </a:ext>
            </a:extLst>
          </p:cNvPr>
          <p:cNvSpPr txBox="1"/>
          <p:nvPr/>
        </p:nvSpPr>
        <p:spPr>
          <a:xfrm>
            <a:off x="3841026" y="2702189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>
                <a:solidFill>
                  <a:schemeClr val="tx1"/>
                </a:solidFill>
                <a:latin typeface="+mn-lt"/>
              </a:rPr>
              <a:t>Quality of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reccomendations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when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actions are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required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108" name="Connettore diritto 107">
            <a:extLst>
              <a:ext uri="{FF2B5EF4-FFF2-40B4-BE49-F238E27FC236}">
                <a16:creationId xmlns:a16="http://schemas.microsoft.com/office/drawing/2014/main" id="{27E7043A-8846-47D9-98A3-CC89558BC033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1351900" y="781437"/>
            <a:ext cx="0" cy="222304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ttore diritto 109">
            <a:extLst>
              <a:ext uri="{FF2B5EF4-FFF2-40B4-BE49-F238E27FC236}">
                <a16:creationId xmlns:a16="http://schemas.microsoft.com/office/drawing/2014/main" id="{4D07D7EF-1393-4DEE-8DB0-78AD379A4E2B}"/>
              </a:ext>
            </a:extLst>
          </p:cNvPr>
          <p:cNvCxnSpPr>
            <a:cxnSpLocks/>
            <a:stCxn id="55" idx="1"/>
          </p:cNvCxnSpPr>
          <p:nvPr/>
        </p:nvCxnSpPr>
        <p:spPr>
          <a:xfrm flipH="1" flipV="1">
            <a:off x="1351900" y="781436"/>
            <a:ext cx="934642" cy="2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ttore diritto 118">
            <a:extLst>
              <a:ext uri="{FF2B5EF4-FFF2-40B4-BE49-F238E27FC236}">
                <a16:creationId xmlns:a16="http://schemas.microsoft.com/office/drawing/2014/main" id="{603DF251-EC1B-4362-AB07-64B00F1D5C4C}"/>
              </a:ext>
            </a:extLst>
          </p:cNvPr>
          <p:cNvCxnSpPr>
            <a:cxnSpLocks/>
          </p:cNvCxnSpPr>
          <p:nvPr/>
        </p:nvCxnSpPr>
        <p:spPr>
          <a:xfrm flipV="1">
            <a:off x="4483248" y="781435"/>
            <a:ext cx="0" cy="222304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ttore diritto 119">
            <a:extLst>
              <a:ext uri="{FF2B5EF4-FFF2-40B4-BE49-F238E27FC236}">
                <a16:creationId xmlns:a16="http://schemas.microsoft.com/office/drawing/2014/main" id="{17A1E367-37E0-48B1-A6D9-025FA1066726}"/>
              </a:ext>
            </a:extLst>
          </p:cNvPr>
          <p:cNvCxnSpPr>
            <a:cxnSpLocks/>
          </p:cNvCxnSpPr>
          <p:nvPr/>
        </p:nvCxnSpPr>
        <p:spPr>
          <a:xfrm flipH="1" flipV="1">
            <a:off x="3546009" y="780751"/>
            <a:ext cx="934642" cy="2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9946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Methodology – Scoring Instructions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26318903-2C4B-40B2-9351-66AC7100130B}"/>
              </a:ext>
            </a:extLst>
          </p:cNvPr>
          <p:cNvSpPr txBox="1"/>
          <p:nvPr/>
        </p:nvSpPr>
        <p:spPr>
          <a:xfrm>
            <a:off x="823355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3" name="Rettangolo con angoli arrotondati 82">
            <a:extLst>
              <a:ext uri="{FF2B5EF4-FFF2-40B4-BE49-F238E27FC236}">
                <a16:creationId xmlns:a16="http://schemas.microsoft.com/office/drawing/2014/main" id="{8A946CEA-E729-4E76-B6F0-A07B380B0C9E}"/>
              </a:ext>
            </a:extLst>
          </p:cNvPr>
          <p:cNvSpPr/>
          <p:nvPr/>
        </p:nvSpPr>
        <p:spPr>
          <a:xfrm>
            <a:off x="511422" y="723741"/>
            <a:ext cx="1428175" cy="215841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4" name="CasellaDiTesto 83">
            <a:extLst>
              <a:ext uri="{FF2B5EF4-FFF2-40B4-BE49-F238E27FC236}">
                <a16:creationId xmlns:a16="http://schemas.microsoft.com/office/drawing/2014/main" id="{EE9535BC-EBB7-4184-A259-108C8D642793}"/>
              </a:ext>
            </a:extLst>
          </p:cNvPr>
          <p:cNvSpPr txBox="1"/>
          <p:nvPr/>
        </p:nvSpPr>
        <p:spPr>
          <a:xfrm>
            <a:off x="603168" y="720684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0 - Incorrect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5" name="Connettore diritto 84">
            <a:extLst>
              <a:ext uri="{FF2B5EF4-FFF2-40B4-BE49-F238E27FC236}">
                <a16:creationId xmlns:a16="http://schemas.microsoft.com/office/drawing/2014/main" id="{0EE77943-013B-44BF-AC2F-2FAE79F9CBCF}"/>
              </a:ext>
            </a:extLst>
          </p:cNvPr>
          <p:cNvCxnSpPr>
            <a:cxnSpLocks/>
          </p:cNvCxnSpPr>
          <p:nvPr/>
        </p:nvCxnSpPr>
        <p:spPr>
          <a:xfrm>
            <a:off x="656685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5BFE74DB-435C-4050-8D21-FB7EC699FF26}"/>
              </a:ext>
            </a:extLst>
          </p:cNvPr>
          <p:cNvSpPr txBox="1"/>
          <p:nvPr/>
        </p:nvSpPr>
        <p:spPr>
          <a:xfrm>
            <a:off x="567996" y="896010"/>
            <a:ext cx="135063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for </a:t>
            </a:r>
            <a:r>
              <a:rPr lang="en-US" sz="800" b="1" dirty="0"/>
              <a:t>material</a:t>
            </a:r>
            <a:r>
              <a:rPr lang="en-US" sz="800" dirty="0"/>
              <a:t>, </a:t>
            </a:r>
            <a:r>
              <a:rPr lang="en-US" sz="800" b="1" dirty="0"/>
              <a:t>factual</a:t>
            </a:r>
            <a:r>
              <a:rPr lang="en-US" sz="800" dirty="0"/>
              <a:t> or </a:t>
            </a:r>
            <a:r>
              <a:rPr lang="en-US" sz="800" b="1" dirty="0"/>
              <a:t>operational</a:t>
            </a:r>
            <a:r>
              <a:rPr lang="en-US" sz="800" dirty="0"/>
              <a:t> </a:t>
            </a:r>
            <a:r>
              <a:rPr lang="en-US" sz="800" b="1" dirty="0"/>
              <a:t>errors</a:t>
            </a:r>
            <a:r>
              <a:rPr lang="en-US" sz="800" dirty="0"/>
              <a:t> affecting the criterion (e.g., false statements, operational contradictions, incorrect correlations, or incompatible recommendations).</a:t>
            </a:r>
          </a:p>
          <a:p>
            <a:r>
              <a:rPr lang="en-US" sz="800" dirty="0"/>
              <a:t>Minor imprecisions or isolated omissions were not sufficient to warrant a score of 0.</a:t>
            </a:r>
            <a:endParaRPr lang="en-US" sz="700" dirty="0">
              <a:latin typeface="+mn-lt"/>
            </a:endParaRP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3991A80E-8853-42B3-AC9B-DAAF8FD710A3}"/>
              </a:ext>
            </a:extLst>
          </p:cNvPr>
          <p:cNvSpPr txBox="1"/>
          <p:nvPr/>
        </p:nvSpPr>
        <p:spPr>
          <a:xfrm>
            <a:off x="2394173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2" name="Rettangolo con angoli arrotondati 41">
            <a:extLst>
              <a:ext uri="{FF2B5EF4-FFF2-40B4-BE49-F238E27FC236}">
                <a16:creationId xmlns:a16="http://schemas.microsoft.com/office/drawing/2014/main" id="{C6399080-FEA1-44EF-8580-A83B743D1E87}"/>
              </a:ext>
            </a:extLst>
          </p:cNvPr>
          <p:cNvSpPr/>
          <p:nvPr/>
        </p:nvSpPr>
        <p:spPr>
          <a:xfrm>
            <a:off x="2082240" y="723741"/>
            <a:ext cx="1428175" cy="215841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2FBD4D88-E9A1-4DFC-B43F-65C5AD086F0F}"/>
              </a:ext>
            </a:extLst>
          </p:cNvPr>
          <p:cNvSpPr txBox="1"/>
          <p:nvPr/>
        </p:nvSpPr>
        <p:spPr>
          <a:xfrm>
            <a:off x="2083611" y="720684"/>
            <a:ext cx="1371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1 - Partially 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4" name="Connettore diritto 43">
            <a:extLst>
              <a:ext uri="{FF2B5EF4-FFF2-40B4-BE49-F238E27FC236}">
                <a16:creationId xmlns:a16="http://schemas.microsoft.com/office/drawing/2014/main" id="{7FA7B976-D105-4B8B-A46D-0C72B7CD994F}"/>
              </a:ext>
            </a:extLst>
          </p:cNvPr>
          <p:cNvCxnSpPr>
            <a:cxnSpLocks/>
          </p:cNvCxnSpPr>
          <p:nvPr/>
        </p:nvCxnSpPr>
        <p:spPr>
          <a:xfrm>
            <a:off x="2227503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0494A601-F5C1-4C8E-8B59-76A5DD86C6A8}"/>
              </a:ext>
            </a:extLst>
          </p:cNvPr>
          <p:cNvSpPr txBox="1"/>
          <p:nvPr/>
        </p:nvSpPr>
        <p:spPr>
          <a:xfrm>
            <a:off x="2138814" y="896010"/>
            <a:ext cx="136991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when the answer was </a:t>
            </a:r>
            <a:r>
              <a:rPr lang="en-US" sz="800" b="1" dirty="0"/>
              <a:t>substantially correct </a:t>
            </a:r>
            <a:r>
              <a:rPr lang="en-US" sz="800" dirty="0"/>
              <a:t>but had </a:t>
            </a:r>
            <a:r>
              <a:rPr lang="en-US" sz="800" b="1" dirty="0"/>
              <a:t>significant limitations</a:t>
            </a:r>
            <a:r>
              <a:rPr lang="en-US" sz="800" dirty="0"/>
              <a:t>... (e.g., omission of relevant info, partial correlations, unidentified operational impacts, or overly generic recommendations).</a:t>
            </a:r>
          </a:p>
          <a:p>
            <a:r>
              <a:rPr lang="en-US" sz="800" dirty="0"/>
              <a:t>It indicated the answer was useful but did not fully meet the requirements.</a:t>
            </a:r>
            <a:endParaRPr lang="en-US" sz="700" dirty="0">
              <a:latin typeface="+mn-lt"/>
            </a:endParaRP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AAAD64C-A882-46C3-AB65-83EF7D3D7B2E}"/>
              </a:ext>
            </a:extLst>
          </p:cNvPr>
          <p:cNvSpPr txBox="1"/>
          <p:nvPr/>
        </p:nvSpPr>
        <p:spPr>
          <a:xfrm>
            <a:off x="3985960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7" name="Rettangolo con angoli arrotondati 46">
            <a:extLst>
              <a:ext uri="{FF2B5EF4-FFF2-40B4-BE49-F238E27FC236}">
                <a16:creationId xmlns:a16="http://schemas.microsoft.com/office/drawing/2014/main" id="{6E164D75-B5BF-43B7-9F4C-B9CDD8B99299}"/>
              </a:ext>
            </a:extLst>
          </p:cNvPr>
          <p:cNvSpPr/>
          <p:nvPr/>
        </p:nvSpPr>
        <p:spPr>
          <a:xfrm>
            <a:off x="3674027" y="723741"/>
            <a:ext cx="1428175" cy="215841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8BE70AAA-B889-4710-ABF0-82792FE060B3}"/>
              </a:ext>
            </a:extLst>
          </p:cNvPr>
          <p:cNvSpPr txBox="1"/>
          <p:nvPr/>
        </p:nvSpPr>
        <p:spPr>
          <a:xfrm>
            <a:off x="3765773" y="720684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2 - Fully 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9" name="Connettore diritto 48">
            <a:extLst>
              <a:ext uri="{FF2B5EF4-FFF2-40B4-BE49-F238E27FC236}">
                <a16:creationId xmlns:a16="http://schemas.microsoft.com/office/drawing/2014/main" id="{76760E63-BBC9-4C1B-959F-8644EB39A8C9}"/>
              </a:ext>
            </a:extLst>
          </p:cNvPr>
          <p:cNvCxnSpPr>
            <a:cxnSpLocks/>
          </p:cNvCxnSpPr>
          <p:nvPr/>
        </p:nvCxnSpPr>
        <p:spPr>
          <a:xfrm>
            <a:off x="3819290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85A5D42-9159-4A91-A079-426CC5E7C0AF}"/>
              </a:ext>
            </a:extLst>
          </p:cNvPr>
          <p:cNvSpPr txBox="1"/>
          <p:nvPr/>
        </p:nvSpPr>
        <p:spPr>
          <a:xfrm>
            <a:off x="3730602" y="896010"/>
            <a:ext cx="1371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when the answer </a:t>
            </a:r>
            <a:r>
              <a:rPr lang="en-US" sz="800" b="1" dirty="0"/>
              <a:t>fully satisfied </a:t>
            </a:r>
            <a:r>
              <a:rPr lang="en-US" sz="800" dirty="0"/>
              <a:t>the criterion... by providing </a:t>
            </a:r>
            <a:r>
              <a:rPr lang="en-US" sz="800" b="1" dirty="0"/>
              <a:t>all requested info</a:t>
            </a:r>
            <a:r>
              <a:rPr lang="en-US" sz="800" dirty="0"/>
              <a:t>, correctly incorporating operational evidence, </a:t>
            </a:r>
            <a:r>
              <a:rPr lang="en-US" sz="800" b="1" dirty="0"/>
              <a:t>establishing supported correlations</a:t>
            </a:r>
            <a:r>
              <a:rPr lang="en-US" sz="800" dirty="0"/>
              <a:t>, and giving </a:t>
            </a:r>
            <a:r>
              <a:rPr lang="en-US" sz="800" b="1" dirty="0"/>
              <a:t>appropriate</a:t>
            </a:r>
            <a:r>
              <a:rPr lang="en-US" sz="800" dirty="0"/>
              <a:t>, evidence-consistent </a:t>
            </a:r>
            <a:r>
              <a:rPr lang="en-US" sz="800" b="1" dirty="0"/>
              <a:t>recommendations</a:t>
            </a:r>
            <a:r>
              <a:rPr lang="en-US" sz="800" dirty="0"/>
              <a:t>.</a:t>
            </a:r>
            <a:endParaRPr lang="en-US" sz="7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054419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Results</a:t>
            </a:r>
          </a:p>
        </p:txBody>
      </p:sp>
      <p:graphicFrame>
        <p:nvGraphicFramePr>
          <p:cNvPr id="4" name="Grafico 3">
            <a:extLst>
              <a:ext uri="{FF2B5EF4-FFF2-40B4-BE49-F238E27FC236}">
                <a16:creationId xmlns:a16="http://schemas.microsoft.com/office/drawing/2014/main" id="{3D6177CF-9712-4A0F-9ACD-B076EE346C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1033317"/>
              </p:ext>
            </p:extLst>
          </p:nvPr>
        </p:nvGraphicFramePr>
        <p:xfrm>
          <a:off x="2164977" y="694765"/>
          <a:ext cx="3464608" cy="2132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Grafico 6">
            <a:extLst>
              <a:ext uri="{FF2B5EF4-FFF2-40B4-BE49-F238E27FC236}">
                <a16:creationId xmlns:a16="http://schemas.microsoft.com/office/drawing/2014/main" id="{76CF4995-98AB-4418-86F2-3B31E6E4ED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2963134"/>
              </p:ext>
            </p:extLst>
          </p:nvPr>
        </p:nvGraphicFramePr>
        <p:xfrm>
          <a:off x="512730" y="542365"/>
          <a:ext cx="1768787" cy="20610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40664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Results – Some cases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F40763-54BB-4D84-A87D-2EA8BC5E5721}"/>
              </a:ext>
            </a:extLst>
          </p:cNvPr>
          <p:cNvSpPr txBox="1"/>
          <p:nvPr/>
        </p:nvSpPr>
        <p:spPr>
          <a:xfrm>
            <a:off x="994577" y="542367"/>
            <a:ext cx="45400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Q5: </a:t>
            </a:r>
            <a:r>
              <a:rPr lang="en-US" sz="1000" dirty="0"/>
              <a:t>How many passes does satellite SAT-02 have on 2026-05-26 on GS-02?</a:t>
            </a:r>
          </a:p>
          <a:p>
            <a:endParaRPr lang="it-IT" sz="1000" dirty="0"/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16CD8837-6FFA-4539-91BE-465FBE3C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109622"/>
              </p:ext>
            </p:extLst>
          </p:nvPr>
        </p:nvGraphicFramePr>
        <p:xfrm>
          <a:off x="1339718" y="859531"/>
          <a:ext cx="3528116" cy="85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2029">
                  <a:extLst>
                    <a:ext uri="{9D8B030D-6E8A-4147-A177-3AD203B41FA5}">
                      <a16:colId xmlns:a16="http://schemas.microsoft.com/office/drawing/2014/main" val="1987664434"/>
                    </a:ext>
                  </a:extLst>
                </a:gridCol>
                <a:gridCol w="882029">
                  <a:extLst>
                    <a:ext uri="{9D8B030D-6E8A-4147-A177-3AD203B41FA5}">
                      <a16:colId xmlns:a16="http://schemas.microsoft.com/office/drawing/2014/main" val="1428895730"/>
                    </a:ext>
                  </a:extLst>
                </a:gridCol>
                <a:gridCol w="882029">
                  <a:extLst>
                    <a:ext uri="{9D8B030D-6E8A-4147-A177-3AD203B41FA5}">
                      <a16:colId xmlns:a16="http://schemas.microsoft.com/office/drawing/2014/main" val="1461133488"/>
                    </a:ext>
                  </a:extLst>
                </a:gridCol>
                <a:gridCol w="882029">
                  <a:extLst>
                    <a:ext uri="{9D8B030D-6E8A-4147-A177-3AD203B41FA5}">
                      <a16:colId xmlns:a16="http://schemas.microsoft.com/office/drawing/2014/main" val="3230732041"/>
                    </a:ext>
                  </a:extLst>
                </a:gridCol>
              </a:tblGrid>
              <a:tr h="366184"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371653"/>
                  </a:ext>
                </a:extLst>
              </a:tr>
              <a:tr h="225344">
                <a:tc>
                  <a:txBody>
                    <a:bodyPr/>
                    <a:lstStyle/>
                    <a:p>
                      <a:r>
                        <a:rPr lang="it-IT" sz="1000" b="1" dirty="0" err="1"/>
                        <a:t>Llama</a:t>
                      </a:r>
                      <a:endParaRPr lang="it-IT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0/4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31668"/>
                  </a:ext>
                </a:extLst>
              </a:tr>
              <a:tr h="225344">
                <a:tc>
                  <a:txBody>
                    <a:bodyPr/>
                    <a:lstStyle/>
                    <a:p>
                      <a:r>
                        <a:rPr lang="it-IT" sz="1000" b="1" dirty="0"/>
                        <a:t>FUNES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4/4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8646"/>
                  </a:ext>
                </a:extLst>
              </a:tr>
            </a:tbl>
          </a:graphicData>
        </a:graphic>
      </p:graphicFrame>
      <p:sp>
        <p:nvSpPr>
          <p:cNvPr id="9" name="CasellaDiTesto 8">
            <a:extLst>
              <a:ext uri="{FF2B5EF4-FFF2-40B4-BE49-F238E27FC236}">
                <a16:creationId xmlns:a16="http://schemas.microsoft.com/office/drawing/2014/main" id="{03FFC837-AAD0-4D35-B5D1-8D964A816DE8}"/>
              </a:ext>
            </a:extLst>
          </p:cNvPr>
          <p:cNvSpPr txBox="1"/>
          <p:nvPr/>
        </p:nvSpPr>
        <p:spPr>
          <a:xfrm>
            <a:off x="1012509" y="1846716"/>
            <a:ext cx="19351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Q11: </a:t>
            </a:r>
            <a:r>
              <a:rPr lang="it-IT" sz="1000" dirty="0" err="1"/>
              <a:t>Why</a:t>
            </a:r>
            <a:r>
              <a:rPr lang="it-IT" sz="1000" dirty="0"/>
              <a:t> </a:t>
            </a:r>
            <a:r>
              <a:rPr lang="it-IT" sz="1000" dirty="0" err="1"/>
              <a:t>is</a:t>
            </a:r>
            <a:r>
              <a:rPr lang="it-IT" sz="1000" dirty="0"/>
              <a:t> GS-01 </a:t>
            </a:r>
            <a:r>
              <a:rPr lang="it-IT" sz="1000" dirty="0" err="1"/>
              <a:t>degraded</a:t>
            </a:r>
            <a:r>
              <a:rPr lang="it-IT" sz="1000" dirty="0"/>
              <a:t>?</a:t>
            </a:r>
          </a:p>
          <a:p>
            <a:endParaRPr lang="it-IT" sz="1000" dirty="0"/>
          </a:p>
        </p:txBody>
      </p: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4B856DDE-0679-4ECF-8C23-ADAEB2B4F2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516057"/>
              </p:ext>
            </p:extLst>
          </p:nvPr>
        </p:nvGraphicFramePr>
        <p:xfrm>
          <a:off x="1357650" y="2163880"/>
          <a:ext cx="3528114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019">
                  <a:extLst>
                    <a:ext uri="{9D8B030D-6E8A-4147-A177-3AD203B41FA5}">
                      <a16:colId xmlns:a16="http://schemas.microsoft.com/office/drawing/2014/main" val="1987664434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1428895730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1461133488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3183869135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4161182784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3230732041"/>
                    </a:ext>
                  </a:extLst>
                </a:gridCol>
              </a:tblGrid>
              <a:tr h="200574"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371653"/>
                  </a:ext>
                </a:extLst>
              </a:tr>
              <a:tr h="200574">
                <a:tc>
                  <a:txBody>
                    <a:bodyPr/>
                    <a:lstStyle/>
                    <a:p>
                      <a:r>
                        <a:rPr lang="it-IT" sz="1000" b="1" dirty="0" err="1"/>
                        <a:t>Llama</a:t>
                      </a:r>
                      <a:endParaRPr lang="it-IT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3/8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31668"/>
                  </a:ext>
                </a:extLst>
              </a:tr>
              <a:tr h="200574">
                <a:tc>
                  <a:txBody>
                    <a:bodyPr/>
                    <a:lstStyle/>
                    <a:p>
                      <a:r>
                        <a:rPr lang="it-IT" sz="1000" b="1" dirty="0"/>
                        <a:t>FUNES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8/8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8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642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Results – Some cases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F40763-54BB-4D84-A87D-2EA8BC5E5721}"/>
              </a:ext>
            </a:extLst>
          </p:cNvPr>
          <p:cNvSpPr txBox="1"/>
          <p:nvPr/>
        </p:nvSpPr>
        <p:spPr>
          <a:xfrm>
            <a:off x="994577" y="542367"/>
            <a:ext cx="35974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Q16: </a:t>
            </a:r>
            <a:r>
              <a:rPr lang="en-US" sz="1000" dirty="0"/>
              <a:t>Can the urgent acquisition request be accommodated?</a:t>
            </a:r>
          </a:p>
          <a:p>
            <a:endParaRPr lang="it-IT" sz="10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3FFC837-AAD0-4D35-B5D1-8D964A816DE8}"/>
              </a:ext>
            </a:extLst>
          </p:cNvPr>
          <p:cNvSpPr txBox="1"/>
          <p:nvPr/>
        </p:nvSpPr>
        <p:spPr>
          <a:xfrm>
            <a:off x="1012509" y="1846716"/>
            <a:ext cx="459939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Q19: </a:t>
            </a:r>
            <a:r>
              <a:rPr lang="en-US" sz="1000" dirty="0"/>
              <a:t>Identify risks for planned activities on 2026-05-26 and report the affected activities with their corresponding datetime.</a:t>
            </a:r>
          </a:p>
          <a:p>
            <a:endParaRPr lang="it-IT" sz="1000" dirty="0"/>
          </a:p>
        </p:txBody>
      </p: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4B856DDE-0679-4ECF-8C23-ADAEB2B4F2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528601"/>
              </p:ext>
            </p:extLst>
          </p:nvPr>
        </p:nvGraphicFramePr>
        <p:xfrm>
          <a:off x="1200733" y="2226628"/>
          <a:ext cx="396738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69">
                  <a:extLst>
                    <a:ext uri="{9D8B030D-6E8A-4147-A177-3AD203B41FA5}">
                      <a16:colId xmlns:a16="http://schemas.microsoft.com/office/drawing/2014/main" val="1987664434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1428895730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1461133488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3183869135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4161182784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359356166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3230732041"/>
                    </a:ext>
                  </a:extLst>
                </a:gridCol>
              </a:tblGrid>
              <a:tr h="200574"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DSS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371653"/>
                  </a:ext>
                </a:extLst>
              </a:tr>
              <a:tr h="200574">
                <a:tc>
                  <a:txBody>
                    <a:bodyPr/>
                    <a:lstStyle/>
                    <a:p>
                      <a:r>
                        <a:rPr lang="it-IT" sz="1000" b="1" dirty="0" err="1"/>
                        <a:t>Llama</a:t>
                      </a:r>
                      <a:endParaRPr lang="it-IT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10/10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31668"/>
                  </a:ext>
                </a:extLst>
              </a:tr>
              <a:tr h="200574">
                <a:tc>
                  <a:txBody>
                    <a:bodyPr/>
                    <a:lstStyle/>
                    <a:p>
                      <a:r>
                        <a:rPr lang="it-IT" sz="1000" b="1" dirty="0"/>
                        <a:t>FUNES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7/10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8646"/>
                  </a:ext>
                </a:extLst>
              </a:tr>
            </a:tbl>
          </a:graphicData>
        </a:graphic>
      </p:graphicFrame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F267AFC5-4CB4-41EE-B34E-66FDEC8F9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536287"/>
              </p:ext>
            </p:extLst>
          </p:nvPr>
        </p:nvGraphicFramePr>
        <p:xfrm>
          <a:off x="1075697" y="847988"/>
          <a:ext cx="4298576" cy="865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322">
                  <a:extLst>
                    <a:ext uri="{9D8B030D-6E8A-4147-A177-3AD203B41FA5}">
                      <a16:colId xmlns:a16="http://schemas.microsoft.com/office/drawing/2014/main" val="1987664434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1428895730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1461133488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3183869135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4161182784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359356166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3261098646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3230732041"/>
                    </a:ext>
                  </a:extLst>
                </a:gridCol>
              </a:tblGrid>
              <a:tr h="288565"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DSS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ORQ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371653"/>
                  </a:ext>
                </a:extLst>
              </a:tr>
              <a:tr h="288565">
                <a:tc>
                  <a:txBody>
                    <a:bodyPr/>
                    <a:lstStyle/>
                    <a:p>
                      <a:r>
                        <a:rPr lang="it-IT" sz="1000" b="1" dirty="0" err="1"/>
                        <a:t>Llama</a:t>
                      </a:r>
                      <a:endParaRPr lang="it-IT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12/12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31668"/>
                  </a:ext>
                </a:extLst>
              </a:tr>
              <a:tr h="288565">
                <a:tc>
                  <a:txBody>
                    <a:bodyPr/>
                    <a:lstStyle/>
                    <a:p>
                      <a:r>
                        <a:rPr lang="it-IT" sz="1000" b="1" dirty="0"/>
                        <a:t>FUNES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8/12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8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0100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6B17E-0935-8A13-568F-AD132AC87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B50CBBB4-A13F-C2CE-42DE-AB03E2F0DC50}"/>
              </a:ext>
            </a:extLst>
          </p:cNvPr>
          <p:cNvSpPr txBox="1"/>
          <p:nvPr/>
        </p:nvSpPr>
        <p:spPr>
          <a:xfrm>
            <a:off x="869001" y="114827"/>
            <a:ext cx="42290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Conclusions, Limitations and Future Work</a:t>
            </a:r>
            <a:endParaRPr lang="en-US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AD734EF3-A6CA-420E-ACA5-A1644EF6EEAB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F9A68588-2C64-4B33-9CB4-E8F53BDD81BB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4237950C-D3EB-4CFF-9B52-B294D2EDDACA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96C3EC0B-AAB1-4363-BE39-988C4C5EE4C5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2A3B3226-3131-4F75-9B67-E6F0D6050817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BD35ECA9-4B34-47A3-B389-CF0B83EFBBB5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42F51974-1707-4BDD-9E44-F9A55FD7335D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04EAECB5-AE61-4593-BCD3-80134C3BA980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9EAD5779-5E9C-4DF2-B14C-C320DB34C9DF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2E170DD1-BD73-4522-9492-4A88AFBD9570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7A7BFE90-7E80-4260-956E-AD7143AD4780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B5F7AE4E-396F-4528-92C0-9CDE1394166E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BDA6D1CE-2087-4BE6-8389-223BBA11F876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23585F9E-FD1E-4B82-A8FB-450B8FB09CCD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C91C132F-6D17-48E3-A24B-C8749AA0D1DC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808A24AA-D792-4758-BDD1-744C2584943C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443E6ACA-A9AA-4B43-8775-2B5705F97CE8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75D0A903-23EF-4783-A048-E8FB691489E0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8736D9D-96F5-4298-95A5-09DC68706129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FC1B6971-2241-456B-90B7-251E65B19DE8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45B58B32-19F2-4B0B-8A79-9E29234AFD1E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B2DC019C-FF64-4938-8DAD-501F394050E4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8C9BE5F0-8953-4CC5-94D8-693BAC7BFA74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AD34BF70-DB80-4CC6-AB1C-4E5E944062A3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7D24C5A5-98D3-4EBE-82B7-A4087D05D912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5D4B2222-BE7F-461D-A972-AF34EB379FC1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079FD2A6-2736-4F63-A8AF-A598FC48C104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7011DA63-FACA-49B8-B1EC-59014C6C2808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948F074E-BF90-4D71-A4C1-1128C4B42553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80" name="TextBox 32">
            <a:extLst>
              <a:ext uri="{FF2B5EF4-FFF2-40B4-BE49-F238E27FC236}">
                <a16:creationId xmlns:a16="http://schemas.microsoft.com/office/drawing/2014/main" id="{004A3330-B5B2-4DCB-ABCF-6065EEB725FB}"/>
              </a:ext>
            </a:extLst>
          </p:cNvPr>
          <p:cNvSpPr txBox="1"/>
          <p:nvPr/>
        </p:nvSpPr>
        <p:spPr>
          <a:xfrm>
            <a:off x="4463847" y="1325076"/>
            <a:ext cx="370656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7EEA0960-EF54-4FA8-8A2D-834016195719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99866BB6-E63D-4397-B4A6-C3881E7ACABA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1F21F5B6-4CE9-4331-AC2B-65E098007B29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F245064A-3922-4B9E-AD5F-2BA27FA5060F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8C58C64F-9C17-42FA-BA25-3240332857A0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b="1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036EA2D6-7D2B-4BD5-BFFE-815965A35B99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B2D7BC7B-6293-48A4-BD3A-3A393DCFA6DE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500D2EEF-5D13-4501-8F4F-A25005E58A36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C891E03C-2AC1-4F68-A472-6D7AAE72D747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11037EE7-CE57-42F0-9FB5-81CA29300359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9AD44760-4DBF-45AE-A7CF-FA64612FF966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D6CBE640-961C-440F-BD93-7A1BD0E5018B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6994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Conclusions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4B9F7B-8F6C-4C19-963D-EF17160B9B08}"/>
              </a:ext>
            </a:extLst>
          </p:cNvPr>
          <p:cNvSpPr txBox="1"/>
          <p:nvPr/>
        </p:nvSpPr>
        <p:spPr>
          <a:xfrm>
            <a:off x="953840" y="2303190"/>
            <a:ext cx="39950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800" dirty="0"/>
              <a:t>The </a:t>
            </a:r>
            <a:r>
              <a:rPr lang="it-IT" sz="800" dirty="0" err="1"/>
              <a:t>observations</a:t>
            </a:r>
            <a:r>
              <a:rPr lang="it-IT" sz="800" dirty="0"/>
              <a:t> must be </a:t>
            </a:r>
            <a:r>
              <a:rPr lang="it-IT" sz="800" dirty="0" err="1"/>
              <a:t>interpreted</a:t>
            </a:r>
            <a:r>
              <a:rPr lang="it-IT" sz="800" dirty="0"/>
              <a:t>  </a:t>
            </a:r>
            <a:r>
              <a:rPr lang="it-IT" sz="800" dirty="0" err="1"/>
              <a:t>within</a:t>
            </a:r>
            <a:r>
              <a:rPr lang="it-IT" sz="800" dirty="0"/>
              <a:t> the </a:t>
            </a:r>
            <a:r>
              <a:rPr lang="it-IT" sz="800" dirty="0" err="1"/>
              <a:t>limits</a:t>
            </a:r>
            <a:r>
              <a:rPr lang="it-IT" sz="800" dirty="0"/>
              <a:t> of the </a:t>
            </a:r>
            <a:r>
              <a:rPr lang="it-IT" sz="800" dirty="0" err="1"/>
              <a:t>proposed</a:t>
            </a:r>
            <a:r>
              <a:rPr lang="it-IT" sz="800" dirty="0"/>
              <a:t> benchmark. </a:t>
            </a:r>
          </a:p>
          <a:p>
            <a:pPr algn="ctr"/>
            <a:r>
              <a:rPr lang="it-IT" sz="800" dirty="0" err="1"/>
              <a:t>They</a:t>
            </a:r>
            <a:r>
              <a:rPr lang="it-IT" sz="800" dirty="0"/>
              <a:t> </a:t>
            </a:r>
            <a:r>
              <a:rPr lang="it-IT" sz="800" b="1" u="sng" dirty="0"/>
              <a:t>do </a:t>
            </a:r>
            <a:r>
              <a:rPr lang="it-IT" sz="800" b="1" u="sng" dirty="0" err="1"/>
              <a:t>not</a:t>
            </a:r>
            <a:r>
              <a:rPr lang="it-IT" sz="800" b="1" u="sng" dirty="0"/>
              <a:t> </a:t>
            </a:r>
            <a:r>
              <a:rPr lang="it-IT" sz="800" b="1" u="sng" dirty="0" err="1"/>
              <a:t>establish</a:t>
            </a:r>
            <a:r>
              <a:rPr lang="it-IT" sz="800" b="1" u="sng" dirty="0"/>
              <a:t> a general rule </a:t>
            </a:r>
            <a:r>
              <a:rPr lang="it-IT" sz="800" dirty="0"/>
              <a:t>for task-</a:t>
            </a:r>
            <a:r>
              <a:rPr lang="it-IT" sz="800" dirty="0" err="1"/>
              <a:t>dependent</a:t>
            </a:r>
            <a:r>
              <a:rPr lang="it-IT" sz="800" dirty="0"/>
              <a:t> performances.</a:t>
            </a:r>
          </a:p>
        </p:txBody>
      </p: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4BF79EC4-5800-45D8-A240-7291BB7E1AA8}"/>
              </a:ext>
            </a:extLst>
          </p:cNvPr>
          <p:cNvSpPr/>
          <p:nvPr/>
        </p:nvSpPr>
        <p:spPr>
          <a:xfrm>
            <a:off x="612715" y="797445"/>
            <a:ext cx="1473485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</a:t>
            </a:r>
            <a:r>
              <a:rPr lang="it-IT" sz="800" dirty="0" err="1">
                <a:solidFill>
                  <a:schemeClr val="tx1"/>
                </a:solidFill>
              </a:rPr>
              <a:t>results</a:t>
            </a:r>
            <a:r>
              <a:rPr lang="it-IT" sz="800" dirty="0">
                <a:solidFill>
                  <a:schemeClr val="tx1"/>
                </a:solidFill>
              </a:rPr>
              <a:t> indicate </a:t>
            </a:r>
            <a:r>
              <a:rPr lang="it-IT" sz="800" dirty="0" err="1">
                <a:solidFill>
                  <a:schemeClr val="tx1"/>
                </a:solidFill>
              </a:rPr>
              <a:t>that</a:t>
            </a:r>
            <a:r>
              <a:rPr lang="it-IT" sz="800" dirty="0">
                <a:solidFill>
                  <a:schemeClr val="tx1"/>
                </a:solidFill>
              </a:rPr>
              <a:t> the benefits of FUNES </a:t>
            </a:r>
            <a:r>
              <a:rPr lang="it-IT" sz="800" dirty="0" err="1">
                <a:solidFill>
                  <a:schemeClr val="tx1"/>
                </a:solidFill>
              </a:rPr>
              <a:t>depend</a:t>
            </a:r>
            <a:r>
              <a:rPr lang="it-IT" sz="800" dirty="0">
                <a:solidFill>
                  <a:schemeClr val="tx1"/>
                </a:solidFill>
              </a:rPr>
              <a:t> on the </a:t>
            </a:r>
            <a:r>
              <a:rPr lang="it-IT" sz="800" dirty="0" err="1">
                <a:solidFill>
                  <a:schemeClr val="tx1"/>
                </a:solidFill>
              </a:rPr>
              <a:t>type</a:t>
            </a:r>
            <a:r>
              <a:rPr lang="it-IT" sz="800" dirty="0">
                <a:solidFill>
                  <a:schemeClr val="tx1"/>
                </a:solidFill>
              </a:rPr>
              <a:t> of </a:t>
            </a:r>
            <a:r>
              <a:rPr lang="it-IT" sz="800" dirty="0" err="1">
                <a:solidFill>
                  <a:schemeClr val="tx1"/>
                </a:solidFill>
              </a:rPr>
              <a:t>reasoning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required</a:t>
            </a:r>
            <a:r>
              <a:rPr lang="it-IT" sz="800" dirty="0">
                <a:solidFill>
                  <a:schemeClr val="tx1"/>
                </a:solidFill>
              </a:rPr>
              <a:t> by </a:t>
            </a:r>
            <a:r>
              <a:rPr lang="it-IT" sz="800">
                <a:solidFill>
                  <a:schemeClr val="tx1"/>
                </a:solidFill>
              </a:rPr>
              <a:t>the task.</a:t>
            </a:r>
            <a:endParaRPr lang="it-IT" sz="8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318772E8-B392-4B05-BA45-F151B301D691}"/>
              </a:ext>
            </a:extLst>
          </p:cNvPr>
          <p:cNvSpPr/>
          <p:nvPr/>
        </p:nvSpPr>
        <p:spPr>
          <a:xfrm>
            <a:off x="2270309" y="796702"/>
            <a:ext cx="1473484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system </a:t>
            </a:r>
            <a:r>
              <a:rPr lang="it-IT" sz="800" dirty="0" err="1">
                <a:solidFill>
                  <a:schemeClr val="tx1"/>
                </a:solidFill>
              </a:rPr>
              <a:t>is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effective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at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limiting</a:t>
            </a:r>
            <a:r>
              <a:rPr lang="it-IT" sz="800" dirty="0">
                <a:solidFill>
                  <a:schemeClr val="tx1"/>
                </a:solidFill>
              </a:rPr>
              <a:t> the </a:t>
            </a:r>
            <a:r>
              <a:rPr lang="it-IT" sz="800" dirty="0" err="1">
                <a:solidFill>
                  <a:schemeClr val="tx1"/>
                </a:solidFill>
              </a:rPr>
              <a:t>required</a:t>
            </a:r>
            <a:r>
              <a:rPr lang="it-IT" sz="800" dirty="0">
                <a:solidFill>
                  <a:schemeClr val="tx1"/>
                </a:solidFill>
              </a:rPr>
              <a:t> information </a:t>
            </a:r>
            <a:r>
              <a:rPr lang="it-IT" sz="800" dirty="0" err="1">
                <a:solidFill>
                  <a:schemeClr val="tx1"/>
                </a:solidFill>
              </a:rPr>
              <a:t>but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this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does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not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translate</a:t>
            </a:r>
            <a:r>
              <a:rPr lang="it-IT" sz="800" dirty="0">
                <a:solidFill>
                  <a:schemeClr val="tx1"/>
                </a:solidFill>
              </a:rPr>
              <a:t> to the </a:t>
            </a:r>
            <a:r>
              <a:rPr lang="it-IT" sz="800" dirty="0" err="1">
                <a:solidFill>
                  <a:schemeClr val="tx1"/>
                </a:solidFill>
              </a:rPr>
              <a:t>ability</a:t>
            </a:r>
            <a:r>
              <a:rPr lang="it-IT" sz="800" dirty="0">
                <a:solidFill>
                  <a:schemeClr val="tx1"/>
                </a:solidFill>
              </a:rPr>
              <a:t> of </a:t>
            </a:r>
            <a:r>
              <a:rPr lang="it-IT" sz="800" dirty="0" err="1">
                <a:solidFill>
                  <a:schemeClr val="tx1"/>
                </a:solidFill>
              </a:rPr>
              <a:t>fully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answering</a:t>
            </a:r>
            <a:r>
              <a:rPr lang="it-IT" sz="800" dirty="0">
                <a:solidFill>
                  <a:schemeClr val="tx1"/>
                </a:solidFill>
              </a:rPr>
              <a:t> the query.</a:t>
            </a:r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96EE2F0-830F-43F5-AF40-9AFC64028D9C}"/>
              </a:ext>
            </a:extLst>
          </p:cNvPr>
          <p:cNvSpPr/>
          <p:nvPr/>
        </p:nvSpPr>
        <p:spPr>
          <a:xfrm>
            <a:off x="3858334" y="796702"/>
            <a:ext cx="1473484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</a:t>
            </a:r>
            <a:r>
              <a:rPr lang="it-IT" sz="800" dirty="0" err="1">
                <a:solidFill>
                  <a:schemeClr val="tx1"/>
                </a:solidFill>
              </a:rPr>
              <a:t>advantage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diminishes</a:t>
            </a:r>
            <a:r>
              <a:rPr lang="it-IT" sz="800" dirty="0">
                <a:solidFill>
                  <a:schemeClr val="tx1"/>
                </a:solidFill>
              </a:rPr>
              <a:t> on </a:t>
            </a:r>
            <a:r>
              <a:rPr lang="it-IT" sz="800" dirty="0" err="1">
                <a:solidFill>
                  <a:schemeClr val="tx1"/>
                </a:solidFill>
              </a:rPr>
              <a:t>complex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questions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that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require</a:t>
            </a:r>
            <a:r>
              <a:rPr lang="it-IT" sz="800" dirty="0">
                <a:solidFill>
                  <a:schemeClr val="tx1"/>
                </a:solidFill>
              </a:rPr>
              <a:t> more </a:t>
            </a:r>
            <a:r>
              <a:rPr lang="it-IT" sz="800" dirty="0" err="1">
                <a:solidFill>
                  <a:schemeClr val="tx1"/>
                </a:solidFill>
              </a:rPr>
              <a:t>informations</a:t>
            </a:r>
            <a:endParaRPr lang="it-IT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6357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Limitations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CBB7E483-3380-46EE-885A-32115515353F}"/>
              </a:ext>
            </a:extLst>
          </p:cNvPr>
          <p:cNvSpPr/>
          <p:nvPr/>
        </p:nvSpPr>
        <p:spPr>
          <a:xfrm>
            <a:off x="790089" y="733224"/>
            <a:ext cx="1895006" cy="820524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2D91C1C-4A3D-4F35-96CE-612E7831BCA8}"/>
              </a:ext>
            </a:extLst>
          </p:cNvPr>
          <p:cNvSpPr txBox="1"/>
          <p:nvPr/>
        </p:nvSpPr>
        <p:spPr>
          <a:xfrm>
            <a:off x="868813" y="79241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Benchmark Scope &amp; sample size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</a:t>
            </a:r>
            <a:r>
              <a:rPr lang="it-IT" sz="800" dirty="0" err="1">
                <a:latin typeface="+mn-lt"/>
              </a:rPr>
              <a:t>evaluation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is</a:t>
            </a:r>
            <a:r>
              <a:rPr lang="it-IT" sz="800" dirty="0">
                <a:latin typeface="+mn-lt"/>
              </a:rPr>
              <a:t> limited to 20 </a:t>
            </a:r>
            <a:r>
              <a:rPr lang="it-IT" sz="800" dirty="0" err="1">
                <a:latin typeface="+mn-lt"/>
              </a:rPr>
              <a:t>questions</a:t>
            </a:r>
            <a:r>
              <a:rPr lang="it-IT" sz="800" dirty="0">
                <a:latin typeface="+mn-lt"/>
              </a:rPr>
              <a:t> in a single scenario, </a:t>
            </a:r>
            <a:r>
              <a:rPr lang="it-IT" sz="800" dirty="0" err="1">
                <a:latin typeface="+mn-lt"/>
              </a:rPr>
              <a:t>limiting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statistical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robustness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B87EEFA-9BD2-462C-9E36-5709B9F86AE4}"/>
              </a:ext>
            </a:extLst>
          </p:cNvPr>
          <p:cNvCxnSpPr>
            <a:cxnSpLocks/>
          </p:cNvCxnSpPr>
          <p:nvPr/>
        </p:nvCxnSpPr>
        <p:spPr>
          <a:xfrm>
            <a:off x="879809" y="98080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E1D6714-B4FE-4F44-9672-AA07E7DE6169}"/>
              </a:ext>
            </a:extLst>
          </p:cNvPr>
          <p:cNvSpPr/>
          <p:nvPr/>
        </p:nvSpPr>
        <p:spPr>
          <a:xfrm>
            <a:off x="2990985" y="748288"/>
            <a:ext cx="1895006" cy="797456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B8777A7-53CD-42E8-8709-02C28642C00F}"/>
              </a:ext>
            </a:extLst>
          </p:cNvPr>
          <p:cNvSpPr txBox="1"/>
          <p:nvPr/>
        </p:nvSpPr>
        <p:spPr>
          <a:xfrm>
            <a:off x="3069709" y="807477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Single baseline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</a:t>
            </a:r>
            <a:r>
              <a:rPr lang="it-IT" sz="800" dirty="0" err="1">
                <a:latin typeface="+mn-lt"/>
              </a:rPr>
              <a:t>evaluation</a:t>
            </a:r>
            <a:r>
              <a:rPr lang="it-IT" sz="800" dirty="0">
                <a:latin typeface="+mn-lt"/>
              </a:rPr>
              <a:t> compare FUNES </a:t>
            </a:r>
            <a:r>
              <a:rPr lang="it-IT" sz="800" dirty="0" err="1">
                <a:latin typeface="+mn-lt"/>
              </a:rPr>
              <a:t>against</a:t>
            </a:r>
            <a:r>
              <a:rPr lang="it-IT" sz="800" dirty="0">
                <a:latin typeface="+mn-lt"/>
              </a:rPr>
              <a:t> a single model, general </a:t>
            </a:r>
            <a:r>
              <a:rPr lang="it-IT" sz="800" dirty="0" err="1">
                <a:latin typeface="+mn-lt"/>
              </a:rPr>
              <a:t>superiority</a:t>
            </a:r>
            <a:r>
              <a:rPr lang="it-IT" sz="800" dirty="0">
                <a:latin typeface="+mn-lt"/>
              </a:rPr>
              <a:t> over </a:t>
            </a:r>
            <a:r>
              <a:rPr lang="it-IT" sz="800" dirty="0" err="1">
                <a:latin typeface="+mn-lt"/>
              </a:rPr>
              <a:t>other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LLMs</a:t>
            </a:r>
            <a:r>
              <a:rPr lang="it-IT" sz="800" dirty="0">
                <a:latin typeface="+mn-lt"/>
              </a:rPr>
              <a:t> must be </a:t>
            </a:r>
            <a:r>
              <a:rPr lang="it-IT" sz="800" dirty="0" err="1">
                <a:latin typeface="+mn-lt"/>
              </a:rPr>
              <a:t>studied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76735C1-AA23-4E6D-B56E-823AFA179185}"/>
              </a:ext>
            </a:extLst>
          </p:cNvPr>
          <p:cNvCxnSpPr>
            <a:cxnSpLocks/>
          </p:cNvCxnSpPr>
          <p:nvPr/>
        </p:nvCxnSpPr>
        <p:spPr>
          <a:xfrm>
            <a:off x="3077800" y="99586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122BA3C-9DE5-40C8-8C39-F0652E8690D4}"/>
              </a:ext>
            </a:extLst>
          </p:cNvPr>
          <p:cNvSpPr/>
          <p:nvPr/>
        </p:nvSpPr>
        <p:spPr>
          <a:xfrm>
            <a:off x="778937" y="1604048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5AD3AAE-23DC-44EB-A9B3-37F18D69BFB0}"/>
              </a:ext>
            </a:extLst>
          </p:cNvPr>
          <p:cNvSpPr txBox="1"/>
          <p:nvPr/>
        </p:nvSpPr>
        <p:spPr>
          <a:xfrm>
            <a:off x="8576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API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Constraint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Groq</a:t>
            </a:r>
            <a:r>
              <a:rPr lang="it-IT" sz="800" dirty="0">
                <a:latin typeface="+mn-lt"/>
              </a:rPr>
              <a:t> API rate/token </a:t>
            </a:r>
            <a:r>
              <a:rPr lang="it-IT" sz="800" dirty="0" err="1">
                <a:latin typeface="+mn-lt"/>
              </a:rPr>
              <a:t>limits</a:t>
            </a:r>
            <a:r>
              <a:rPr lang="it-IT" sz="800" dirty="0">
                <a:latin typeface="+mn-lt"/>
              </a:rPr>
              <a:t> restricted </a:t>
            </a:r>
            <a:r>
              <a:rPr lang="it-IT" sz="800" dirty="0" err="1">
                <a:latin typeface="+mn-lt"/>
              </a:rPr>
              <a:t>repeated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runs</a:t>
            </a:r>
            <a:r>
              <a:rPr lang="it-IT" sz="800" dirty="0">
                <a:latin typeface="+mn-lt"/>
              </a:rPr>
              <a:t> under </a:t>
            </a:r>
            <a:r>
              <a:rPr lang="it-IT" sz="800" dirty="0" err="1">
                <a:latin typeface="+mn-lt"/>
              </a:rPr>
              <a:t>identical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experimental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conditions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88AF39C3-22B6-4280-992A-53DB8EDB036D}"/>
              </a:ext>
            </a:extLst>
          </p:cNvPr>
          <p:cNvCxnSpPr>
            <a:cxnSpLocks/>
          </p:cNvCxnSpPr>
          <p:nvPr/>
        </p:nvCxnSpPr>
        <p:spPr>
          <a:xfrm>
            <a:off x="8686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2308EEE6-AE7E-40F3-9BF5-87DF4956ECF5}"/>
              </a:ext>
            </a:extLst>
          </p:cNvPr>
          <p:cNvSpPr/>
          <p:nvPr/>
        </p:nvSpPr>
        <p:spPr>
          <a:xfrm>
            <a:off x="3002137" y="1604048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4659245-39F4-48BD-B0D5-ECCF9B058D7F}"/>
              </a:ext>
            </a:extLst>
          </p:cNvPr>
          <p:cNvSpPr txBox="1"/>
          <p:nvPr/>
        </p:nvSpPr>
        <p:spPr>
          <a:xfrm>
            <a:off x="30808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latin typeface="+mn-lt"/>
              </a:rPr>
              <a:t>Evaluation and </a:t>
            </a:r>
            <a:r>
              <a:rPr lang="it-IT" sz="800" b="1" dirty="0" err="1">
                <a:latin typeface="+mn-lt"/>
              </a:rPr>
              <a:t>Metrics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Constraints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LLM </a:t>
            </a:r>
            <a:r>
              <a:rPr lang="it-IT" sz="800" dirty="0" err="1">
                <a:latin typeface="+mn-lt"/>
              </a:rPr>
              <a:t>as</a:t>
            </a:r>
            <a:r>
              <a:rPr lang="it-IT" sz="800" dirty="0">
                <a:latin typeface="+mn-lt"/>
              </a:rPr>
              <a:t> a </a:t>
            </a:r>
            <a:r>
              <a:rPr lang="it-IT" sz="800" dirty="0" err="1">
                <a:latin typeface="+mn-lt"/>
              </a:rPr>
              <a:t>judge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unweighted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criteria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may</a:t>
            </a:r>
            <a:r>
              <a:rPr lang="it-IT" sz="800" dirty="0">
                <a:latin typeface="+mn-lt"/>
              </a:rPr>
              <a:t> introduce </a:t>
            </a:r>
            <a:r>
              <a:rPr lang="it-IT" sz="800" dirty="0" err="1">
                <a:latin typeface="+mn-lt"/>
              </a:rPr>
              <a:t>bias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ignore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criticality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specific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metrics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07EBE778-9D2B-4FA4-9323-E92AED734519}"/>
              </a:ext>
            </a:extLst>
          </p:cNvPr>
          <p:cNvCxnSpPr>
            <a:cxnSpLocks/>
          </p:cNvCxnSpPr>
          <p:nvPr/>
        </p:nvCxnSpPr>
        <p:spPr>
          <a:xfrm>
            <a:off x="30918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485975AD-56AE-4C9C-B860-1977FA633B39}"/>
              </a:ext>
            </a:extLst>
          </p:cNvPr>
          <p:cNvSpPr/>
          <p:nvPr/>
        </p:nvSpPr>
        <p:spPr>
          <a:xfrm>
            <a:off x="788901" y="2345674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5E403FA-708D-4FFC-BD8C-6B92717F5BE8}"/>
              </a:ext>
            </a:extLst>
          </p:cNvPr>
          <p:cNvSpPr txBox="1"/>
          <p:nvPr/>
        </p:nvSpPr>
        <p:spPr>
          <a:xfrm>
            <a:off x="867625" y="240486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Ablation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Study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system </a:t>
            </a:r>
            <a:r>
              <a:rPr lang="it-IT" sz="800" dirty="0" err="1">
                <a:latin typeface="+mn-lt"/>
              </a:rPr>
              <a:t>is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evaluated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as</a:t>
            </a:r>
            <a:r>
              <a:rPr lang="it-IT" sz="800" dirty="0">
                <a:latin typeface="+mn-lt"/>
              </a:rPr>
              <a:t> a complete </a:t>
            </a:r>
            <a:r>
              <a:rPr lang="it-IT" sz="800" dirty="0" err="1">
                <a:latin typeface="+mn-lt"/>
              </a:rPr>
              <a:t>architecture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preventing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isolation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individual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contributions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CC57727-467D-42D2-8B41-2EF37EA9A066}"/>
              </a:ext>
            </a:extLst>
          </p:cNvPr>
          <p:cNvCxnSpPr>
            <a:cxnSpLocks/>
          </p:cNvCxnSpPr>
          <p:nvPr/>
        </p:nvCxnSpPr>
        <p:spPr>
          <a:xfrm>
            <a:off x="878621" y="259325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16663FCB-4D70-4922-AB87-7C069F09DFBA}"/>
              </a:ext>
            </a:extLst>
          </p:cNvPr>
          <p:cNvSpPr/>
          <p:nvPr/>
        </p:nvSpPr>
        <p:spPr>
          <a:xfrm>
            <a:off x="3013133" y="2340815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07881B8-7F68-4FFC-8A5C-0C38292D2A82}"/>
              </a:ext>
            </a:extLst>
          </p:cNvPr>
          <p:cNvSpPr txBox="1"/>
          <p:nvPr/>
        </p:nvSpPr>
        <p:spPr>
          <a:xfrm>
            <a:off x="3091857" y="2400004"/>
            <a:ext cx="1737557" cy="500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Static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Context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Tested</a:t>
            </a:r>
            <a:r>
              <a:rPr lang="it-IT" sz="800" dirty="0">
                <a:latin typeface="+mn-lt"/>
              </a:rPr>
              <a:t> on a </a:t>
            </a:r>
            <a:r>
              <a:rPr lang="it-IT" sz="800" dirty="0" err="1">
                <a:latin typeface="+mn-lt"/>
              </a:rPr>
              <a:t>static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context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rather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than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dynamic</a:t>
            </a:r>
            <a:r>
              <a:rPr lang="it-IT" sz="800" dirty="0">
                <a:latin typeface="+mn-lt"/>
              </a:rPr>
              <a:t>, real-time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data.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43312EDF-97A2-4BB3-8399-DFC74590DF54}"/>
              </a:ext>
            </a:extLst>
          </p:cNvPr>
          <p:cNvCxnSpPr>
            <a:cxnSpLocks/>
          </p:cNvCxnSpPr>
          <p:nvPr/>
        </p:nvCxnSpPr>
        <p:spPr>
          <a:xfrm>
            <a:off x="3102853" y="2588391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4438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Future Work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CBB7E483-3380-46EE-885A-32115515353F}"/>
              </a:ext>
            </a:extLst>
          </p:cNvPr>
          <p:cNvSpPr/>
          <p:nvPr/>
        </p:nvSpPr>
        <p:spPr>
          <a:xfrm>
            <a:off x="790089" y="733224"/>
            <a:ext cx="1895006" cy="8205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2D91C1C-4A3D-4F35-96CE-612E7831BCA8}"/>
              </a:ext>
            </a:extLst>
          </p:cNvPr>
          <p:cNvSpPr txBox="1"/>
          <p:nvPr/>
        </p:nvSpPr>
        <p:spPr>
          <a:xfrm>
            <a:off x="868813" y="792413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Synthesis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&amp;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Validation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Extend</a:t>
            </a:r>
            <a:r>
              <a:rPr lang="it-IT" sz="800" dirty="0">
                <a:latin typeface="+mn-lt"/>
              </a:rPr>
              <a:t> the </a:t>
            </a:r>
            <a:r>
              <a:rPr lang="it-IT" sz="800" dirty="0" err="1">
                <a:latin typeface="+mn-lt"/>
              </a:rPr>
              <a:t>critic</a:t>
            </a:r>
            <a:r>
              <a:rPr lang="it-IT" sz="800" dirty="0">
                <a:latin typeface="+mn-lt"/>
              </a:rPr>
              <a:t> agent to track </a:t>
            </a:r>
            <a:r>
              <a:rPr lang="it-IT" sz="800" dirty="0" err="1">
                <a:latin typeface="+mn-lt"/>
              </a:rPr>
              <a:t>factual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completeness</a:t>
            </a:r>
            <a:r>
              <a:rPr lang="it-IT" sz="800" dirty="0">
                <a:latin typeface="+mn-lt"/>
              </a:rPr>
              <a:t> (e.g. </a:t>
            </a:r>
            <a:r>
              <a:rPr lang="it-IT" sz="800" dirty="0" err="1">
                <a:latin typeface="+mn-lt"/>
              </a:rPr>
              <a:t>verify</a:t>
            </a:r>
            <a:r>
              <a:rPr lang="it-IT" sz="800" dirty="0">
                <a:latin typeface="+mn-lt"/>
              </a:rPr>
              <a:t> precise </a:t>
            </a:r>
            <a:r>
              <a:rPr lang="it-IT" sz="800" dirty="0" err="1">
                <a:latin typeface="+mn-lt"/>
              </a:rPr>
              <a:t>datetimes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affected</a:t>
            </a:r>
            <a:r>
              <a:rPr lang="it-IT" sz="800" dirty="0">
                <a:latin typeface="+mn-lt"/>
              </a:rPr>
              <a:t> assets and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scope)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B87EEFA-9BD2-462C-9E36-5709B9F86AE4}"/>
              </a:ext>
            </a:extLst>
          </p:cNvPr>
          <p:cNvCxnSpPr>
            <a:cxnSpLocks/>
          </p:cNvCxnSpPr>
          <p:nvPr/>
        </p:nvCxnSpPr>
        <p:spPr>
          <a:xfrm>
            <a:off x="879809" y="98080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E1D6714-B4FE-4F44-9672-AA07E7DE6169}"/>
              </a:ext>
            </a:extLst>
          </p:cNvPr>
          <p:cNvSpPr/>
          <p:nvPr/>
        </p:nvSpPr>
        <p:spPr>
          <a:xfrm>
            <a:off x="2990985" y="748288"/>
            <a:ext cx="1895006" cy="79745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B8777A7-53CD-42E8-8709-02C28642C00F}"/>
              </a:ext>
            </a:extLst>
          </p:cNvPr>
          <p:cNvSpPr txBox="1"/>
          <p:nvPr/>
        </p:nvSpPr>
        <p:spPr>
          <a:xfrm>
            <a:off x="3069709" y="807477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LLM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Efficiency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Evaluate</a:t>
            </a:r>
            <a:r>
              <a:rPr lang="it-IT" sz="800" dirty="0">
                <a:latin typeface="+mn-lt"/>
              </a:rPr>
              <a:t> FUNES </a:t>
            </a:r>
            <a:r>
              <a:rPr lang="it-IT" sz="800" dirty="0" err="1">
                <a:latin typeface="+mn-lt"/>
              </a:rPr>
              <a:t>efficiency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across</a:t>
            </a:r>
            <a:r>
              <a:rPr lang="it-IT" sz="800" dirty="0">
                <a:latin typeface="+mn-lt"/>
              </a:rPr>
              <a:t> diverse model sizes. (The </a:t>
            </a:r>
            <a:r>
              <a:rPr lang="it-IT" sz="800" dirty="0" err="1">
                <a:latin typeface="+mn-lt"/>
              </a:rPr>
              <a:t>orchestration</a:t>
            </a:r>
            <a:r>
              <a:rPr lang="it-IT" sz="800" dirty="0">
                <a:latin typeface="+mn-lt"/>
              </a:rPr>
              <a:t> can compensate </a:t>
            </a:r>
            <a:r>
              <a:rPr lang="it-IT" sz="800" dirty="0" err="1">
                <a:latin typeface="+mn-lt"/>
              </a:rPr>
              <a:t>smaller</a:t>
            </a:r>
            <a:r>
              <a:rPr lang="it-IT" sz="800" dirty="0">
                <a:latin typeface="+mn-lt"/>
              </a:rPr>
              <a:t> models)</a:t>
            </a:r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76735C1-AA23-4E6D-B56E-823AFA179185}"/>
              </a:ext>
            </a:extLst>
          </p:cNvPr>
          <p:cNvCxnSpPr>
            <a:cxnSpLocks/>
          </p:cNvCxnSpPr>
          <p:nvPr/>
        </p:nvCxnSpPr>
        <p:spPr>
          <a:xfrm>
            <a:off x="3077800" y="99586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122BA3C-9DE5-40C8-8C39-F0652E8690D4}"/>
              </a:ext>
            </a:extLst>
          </p:cNvPr>
          <p:cNvSpPr/>
          <p:nvPr/>
        </p:nvSpPr>
        <p:spPr>
          <a:xfrm>
            <a:off x="778937" y="1604048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it-IT" sz="800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88AF39C3-22B6-4280-992A-53DB8EDB036D}"/>
              </a:ext>
            </a:extLst>
          </p:cNvPr>
          <p:cNvCxnSpPr>
            <a:cxnSpLocks/>
          </p:cNvCxnSpPr>
          <p:nvPr/>
        </p:nvCxnSpPr>
        <p:spPr>
          <a:xfrm>
            <a:off x="8686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2308EEE6-AE7E-40F3-9BF5-87DF4956ECF5}"/>
              </a:ext>
            </a:extLst>
          </p:cNvPr>
          <p:cNvSpPr/>
          <p:nvPr/>
        </p:nvSpPr>
        <p:spPr>
          <a:xfrm>
            <a:off x="3002137" y="1604048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4659245-39F4-48BD-B0D5-ECCF9B058D7F}"/>
              </a:ext>
            </a:extLst>
          </p:cNvPr>
          <p:cNvSpPr txBox="1"/>
          <p:nvPr/>
        </p:nvSpPr>
        <p:spPr>
          <a:xfrm>
            <a:off x="30808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latin typeface="+mn-lt"/>
              </a:rPr>
              <a:t>Benchmark Scaling</a:t>
            </a:r>
          </a:p>
          <a:p>
            <a:pPr algn="ctr"/>
            <a:r>
              <a:rPr lang="it-IT" sz="800" dirty="0" err="1">
                <a:latin typeface="+mn-lt"/>
              </a:rPr>
              <a:t>Expand</a:t>
            </a:r>
            <a:r>
              <a:rPr lang="it-IT" sz="800" dirty="0">
                <a:latin typeface="+mn-lt"/>
              </a:rPr>
              <a:t> the benchmark with </a:t>
            </a:r>
            <a:r>
              <a:rPr lang="it-IT" sz="800" dirty="0" err="1">
                <a:latin typeface="+mn-lt"/>
              </a:rPr>
              <a:t>larger</a:t>
            </a:r>
            <a:r>
              <a:rPr lang="it-IT" sz="800" dirty="0">
                <a:latin typeface="+mn-lt"/>
              </a:rPr>
              <a:t> datasets, </a:t>
            </a:r>
            <a:r>
              <a:rPr lang="it-IT" sz="800" dirty="0" err="1">
                <a:latin typeface="+mn-lt"/>
              </a:rPr>
              <a:t>complex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temporal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dependencies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ambiguities</a:t>
            </a:r>
            <a:endParaRPr lang="it-IT" sz="800" dirty="0">
              <a:latin typeface="+mn-lt"/>
            </a:endParaRP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07EBE778-9D2B-4FA4-9323-E92AED734519}"/>
              </a:ext>
            </a:extLst>
          </p:cNvPr>
          <p:cNvCxnSpPr>
            <a:cxnSpLocks/>
          </p:cNvCxnSpPr>
          <p:nvPr/>
        </p:nvCxnSpPr>
        <p:spPr>
          <a:xfrm>
            <a:off x="30918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485975AD-56AE-4C9C-B860-1977FA633B39}"/>
              </a:ext>
            </a:extLst>
          </p:cNvPr>
          <p:cNvSpPr/>
          <p:nvPr/>
        </p:nvSpPr>
        <p:spPr>
          <a:xfrm>
            <a:off x="788901" y="2345674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5E403FA-708D-4FFC-BD8C-6B92717F5BE8}"/>
              </a:ext>
            </a:extLst>
          </p:cNvPr>
          <p:cNvSpPr txBox="1"/>
          <p:nvPr/>
        </p:nvSpPr>
        <p:spPr>
          <a:xfrm>
            <a:off x="867625" y="240486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Human in the Loop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Evaluate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real</a:t>
            </a:r>
            <a:r>
              <a:rPr lang="it-IT" sz="800" dirty="0">
                <a:latin typeface="+mn-lt"/>
              </a:rPr>
              <a:t>-world </a:t>
            </a:r>
            <a:r>
              <a:rPr lang="it-IT" sz="800" dirty="0" err="1">
                <a:latin typeface="+mn-lt"/>
              </a:rPr>
              <a:t>usability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trust and impact </a:t>
            </a:r>
            <a:r>
              <a:rPr lang="it-IT" sz="800" dirty="0" err="1">
                <a:latin typeface="+mn-lt"/>
              </a:rPr>
              <a:t>metrics</a:t>
            </a:r>
            <a:r>
              <a:rPr lang="it-IT" sz="800" dirty="0">
                <a:latin typeface="+mn-lt"/>
              </a:rPr>
              <a:t> like time-to-</a:t>
            </a:r>
            <a:r>
              <a:rPr lang="it-IT" sz="800" dirty="0" err="1">
                <a:latin typeface="+mn-lt"/>
              </a:rPr>
              <a:t>decision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CC57727-467D-42D2-8B41-2EF37EA9A066}"/>
              </a:ext>
            </a:extLst>
          </p:cNvPr>
          <p:cNvCxnSpPr>
            <a:cxnSpLocks/>
          </p:cNvCxnSpPr>
          <p:nvPr/>
        </p:nvCxnSpPr>
        <p:spPr>
          <a:xfrm>
            <a:off x="878621" y="259325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16663FCB-4D70-4922-AB87-7C069F09DFBA}"/>
              </a:ext>
            </a:extLst>
          </p:cNvPr>
          <p:cNvSpPr/>
          <p:nvPr/>
        </p:nvSpPr>
        <p:spPr>
          <a:xfrm>
            <a:off x="3013133" y="2340815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07881B8-7F68-4FFC-8A5C-0C38292D2A82}"/>
              </a:ext>
            </a:extLst>
          </p:cNvPr>
          <p:cNvSpPr txBox="1"/>
          <p:nvPr/>
        </p:nvSpPr>
        <p:spPr>
          <a:xfrm>
            <a:off x="3091857" y="2400004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Evidence</a:t>
            </a:r>
            <a:r>
              <a:rPr lang="it-IT" sz="800" b="1" dirty="0">
                <a:latin typeface="+mn-lt"/>
              </a:rPr>
              <a:t> Grounding</a:t>
            </a:r>
          </a:p>
          <a:p>
            <a:pPr algn="ctr"/>
            <a:r>
              <a:rPr lang="it-IT" sz="800" dirty="0">
                <a:latin typeface="+mn-lt"/>
              </a:rPr>
              <a:t>Introduce </a:t>
            </a:r>
            <a:r>
              <a:rPr lang="it-IT" sz="800" dirty="0" err="1">
                <a:latin typeface="+mn-lt"/>
              </a:rPr>
              <a:t>evidence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graphs</a:t>
            </a:r>
            <a:r>
              <a:rPr lang="it-IT" sz="800" dirty="0">
                <a:latin typeface="+mn-lt"/>
              </a:rPr>
              <a:t> for full e2e </a:t>
            </a:r>
            <a:r>
              <a:rPr lang="it-IT" sz="800" dirty="0" err="1">
                <a:latin typeface="+mn-lt"/>
              </a:rPr>
              <a:t>treceability</a:t>
            </a:r>
            <a:r>
              <a:rPr lang="it-IT" sz="800" dirty="0">
                <a:latin typeface="+mn-lt"/>
              </a:rPr>
              <a:t> of the </a:t>
            </a:r>
            <a:r>
              <a:rPr lang="it-IT" sz="800" dirty="0" err="1">
                <a:latin typeface="+mn-lt"/>
              </a:rPr>
              <a:t>whole</a:t>
            </a:r>
            <a:r>
              <a:rPr lang="it-IT" sz="800" dirty="0">
                <a:latin typeface="+mn-lt"/>
              </a:rPr>
              <a:t> system </a:t>
            </a:r>
            <a:r>
              <a:rPr lang="it-IT" sz="800" dirty="0" err="1">
                <a:latin typeface="+mn-lt"/>
              </a:rPr>
              <a:t>reasoning</a:t>
            </a:r>
            <a:r>
              <a:rPr lang="it-IT" sz="800" dirty="0">
                <a:latin typeface="+mn-lt"/>
              </a:rPr>
              <a:t> steps.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43312EDF-97A2-4BB3-8399-DFC74590DF54}"/>
              </a:ext>
            </a:extLst>
          </p:cNvPr>
          <p:cNvCxnSpPr>
            <a:cxnSpLocks/>
          </p:cNvCxnSpPr>
          <p:nvPr/>
        </p:nvCxnSpPr>
        <p:spPr>
          <a:xfrm>
            <a:off x="3102853" y="2588391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18DD4CA6-475A-4E7C-A38A-D6F7A46ABCB8}"/>
              </a:ext>
            </a:extLst>
          </p:cNvPr>
          <p:cNvSpPr txBox="1"/>
          <p:nvPr/>
        </p:nvSpPr>
        <p:spPr>
          <a:xfrm>
            <a:off x="867625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Controlled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Ablation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Systematically</a:t>
            </a:r>
            <a:r>
              <a:rPr lang="it-IT" sz="800" dirty="0">
                <a:latin typeface="+mn-lt"/>
              </a:rPr>
              <a:t> isolate and </a:t>
            </a:r>
            <a:r>
              <a:rPr lang="it-IT" sz="800" dirty="0" err="1">
                <a:latin typeface="+mn-lt"/>
              </a:rPr>
              <a:t>quantify</a:t>
            </a:r>
            <a:r>
              <a:rPr lang="it-IT" sz="800" dirty="0">
                <a:latin typeface="+mn-lt"/>
              </a:rPr>
              <a:t> the </a:t>
            </a:r>
            <a:r>
              <a:rPr lang="it-IT" sz="800" dirty="0" err="1">
                <a:latin typeface="+mn-lt"/>
              </a:rPr>
              <a:t>individual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contributions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each</a:t>
            </a:r>
            <a:r>
              <a:rPr lang="it-IT" sz="800" dirty="0">
                <a:latin typeface="+mn-lt"/>
              </a:rPr>
              <a:t> agent.</a:t>
            </a:r>
          </a:p>
        </p:txBody>
      </p:sp>
    </p:spTree>
    <p:extLst>
      <p:ext uri="{BB962C8B-B14F-4D97-AF65-F5344CB8AC3E}">
        <p14:creationId xmlns:p14="http://schemas.microsoft.com/office/powerpoint/2010/main" val="393133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934F94-9817-7D20-FF6B-AA29BE8CA3E5}"/>
              </a:ext>
            </a:extLst>
          </p:cNvPr>
          <p:cNvSpPr/>
          <p:nvPr/>
        </p:nvSpPr>
        <p:spPr>
          <a:xfrm>
            <a:off x="721475" y="1206926"/>
            <a:ext cx="4403771" cy="83099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2400" b="1" cap="none" spc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 for your Attention</a:t>
            </a:r>
            <a:endParaRPr lang="en-US" sz="24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  <a:p>
            <a:pPr algn="ctr"/>
            <a:r>
              <a:rPr lang="en-US" sz="24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Any Questions?</a:t>
            </a:r>
            <a:endParaRPr lang="en-US" sz="2400" b="1" cap="none" spc="0">
              <a:ln w="6600">
                <a:solidFill>
                  <a:srgbClr val="C0504D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rgbClr val="C0504D"/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D5774BA-2CC2-4B17-E8B4-A922C5B7F3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889" y="1713925"/>
            <a:ext cx="1082715" cy="1443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47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4918</TotalTime>
  <Words>1501</Words>
  <Application>Microsoft Office PowerPoint</Application>
  <PresentationFormat>Personalizzato</PresentationFormat>
  <Paragraphs>333</Paragraphs>
  <Slides>26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4" baseType="lpstr">
      <vt:lpstr>Yu Gothic UI</vt:lpstr>
      <vt:lpstr>Arial</vt:lpstr>
      <vt:lpstr>Calibri</vt:lpstr>
      <vt:lpstr>Sora Semi Bold</vt:lpstr>
      <vt:lpstr>Tomorrow</vt:lpstr>
      <vt:lpstr>Tomorrow Light</vt:lpstr>
      <vt:lpstr>Tomorrow Semi Bold</vt:lpstr>
      <vt:lpstr>Office Theme</vt:lpstr>
      <vt:lpstr>Multi-Agent Decision Support System for Space Mission Operations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FUNES System</vt:lpstr>
      <vt:lpstr>FUNES System</vt:lpstr>
      <vt:lpstr>AI Module</vt:lpstr>
      <vt:lpstr>LLM Agents</vt:lpstr>
      <vt:lpstr>Presentazione standard di PowerPoint</vt:lpstr>
      <vt:lpstr>Proposed Scenario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Framework for Automated Penetration Testing with LLM Integration - Master's Thesis Defense</dc:title>
  <dc:creator>Wendy Rosettini</dc:creator>
  <cp:lastModifiedBy>Antonio Lissa Lattanzio</cp:lastModifiedBy>
  <cp:revision>237</cp:revision>
  <dcterms:created xsi:type="dcterms:W3CDTF">2025-09-12T10:37:12Z</dcterms:created>
  <dcterms:modified xsi:type="dcterms:W3CDTF">2026-10-18T14:00:36Z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2025-09-12T00:00:00Z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3-Heights(TM) PDF Security Shell 4.8.25.2 (http://www.pdf-tools.com)</vt:lpwstr>
  </property>
</Properties>
</file>