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2.xml" ContentType="application/vnd.openxmlformats-officedocument.presentationml.comments+xml"/>
  <Override PartName="/ppt/notesSlides/notesSlide5.xml" ContentType="application/vnd.openxmlformats-officedocument.presentationml.notesSlide+xml"/>
  <Override PartName="/ppt/comments/comment3.xml" ContentType="application/vnd.openxmlformats-officedocument.presentationml.comment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351" r:id="rId3"/>
    <p:sldId id="327" r:id="rId4"/>
    <p:sldId id="352" r:id="rId5"/>
    <p:sldId id="328" r:id="rId6"/>
    <p:sldId id="354" r:id="rId7"/>
    <p:sldId id="332" r:id="rId8"/>
    <p:sldId id="355" r:id="rId9"/>
    <p:sldId id="279" r:id="rId10"/>
    <p:sldId id="401" r:id="rId11"/>
    <p:sldId id="393" r:id="rId12"/>
    <p:sldId id="356" r:id="rId13"/>
    <p:sldId id="324" r:id="rId14"/>
    <p:sldId id="381" r:id="rId15"/>
    <p:sldId id="403" r:id="rId16"/>
    <p:sldId id="395" r:id="rId17"/>
    <p:sldId id="402" r:id="rId18"/>
    <p:sldId id="396" r:id="rId19"/>
    <p:sldId id="357" r:id="rId20"/>
    <p:sldId id="398" r:id="rId21"/>
    <p:sldId id="400" r:id="rId22"/>
    <p:sldId id="360" r:id="rId23"/>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ndy Rosettini" initials="WR" lastIdx="2" clrIdx="0">
    <p:extLst>
      <p:ext uri="{19B8F6BF-5375-455C-9EA6-DF929625EA0E}">
        <p15:presenceInfo xmlns:p15="http://schemas.microsoft.com/office/powerpoint/2012/main" userId="S::Rosettini.2150048@studenti.uniroma1.it::5a731347-898b-4581-9e3d-594f5d22a839" providerId="AD"/>
      </p:ext>
    </p:extLst>
  </p:cmAuthor>
  <p:cmAuthor id="2" name="Antonio Lissa Lattanzio" initials="ALL" lastIdx="10" clrIdx="1">
    <p:extLst>
      <p:ext uri="{19B8F6BF-5375-455C-9EA6-DF929625EA0E}">
        <p15:presenceInfo xmlns:p15="http://schemas.microsoft.com/office/powerpoint/2012/main" userId="S-1-5-21-199485690-3798236883-1769567645-5861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3432"/>
    <a:srgbClr val="802B2A"/>
    <a:srgbClr val="802B2B"/>
    <a:srgbClr val="590302"/>
    <a:srgbClr val="9537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312" d="100"/>
          <a:sy n="312" d="100"/>
        </p:scale>
        <p:origin x="2076" y="23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it-IT" sz="1200" baseline="0" dirty="0"/>
              <a:t>Results by Task </a:t>
            </a:r>
            <a:r>
              <a:rPr lang="it-IT" sz="1200" baseline="0" dirty="0" err="1"/>
              <a:t>Complexity</a:t>
            </a:r>
            <a:r>
              <a:rPr lang="it-IT" sz="1200" baseline="0" dirty="0"/>
              <a:t> (%)</a:t>
            </a:r>
            <a:endParaRPr lang="it-IT" sz="1200" dirty="0"/>
          </a:p>
        </c:rich>
      </c:tx>
      <c:layout>
        <c:manualLayout>
          <c:xMode val="edge"/>
          <c:yMode val="edge"/>
          <c:x val="0.25084656041895648"/>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plotArea>
      <c:layout>
        <c:manualLayout>
          <c:layoutTarget val="inner"/>
          <c:xMode val="edge"/>
          <c:yMode val="edge"/>
          <c:x val="0.12488491407220904"/>
          <c:y val="0.17819125895875171"/>
          <c:w val="0.8453794056870334"/>
          <c:h val="0.54838564913926524"/>
        </c:manualLayout>
      </c:layout>
      <c:barChart>
        <c:barDir val="col"/>
        <c:grouping val="clustered"/>
        <c:varyColors val="0"/>
        <c:ser>
          <c:idx val="0"/>
          <c:order val="0"/>
          <c:tx>
            <c:strRef>
              <c:f>Foglio1!$B$1</c:f>
              <c:strCache>
                <c:ptCount val="1"/>
                <c:pt idx="0">
                  <c:v>FUNES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Foglio1!$A$2:$A$4</c:f>
              <c:strCache>
                <c:ptCount val="3"/>
                <c:pt idx="0">
                  <c:v>Easy</c:v>
                </c:pt>
                <c:pt idx="1">
                  <c:v>Medium</c:v>
                </c:pt>
                <c:pt idx="2">
                  <c:v>Hard</c:v>
                </c:pt>
              </c:strCache>
            </c:strRef>
          </c:cat>
          <c:val>
            <c:numRef>
              <c:f>Foglio1!$B$2:$B$4</c:f>
              <c:numCache>
                <c:formatCode>General</c:formatCode>
                <c:ptCount val="3"/>
                <c:pt idx="0">
                  <c:v>96</c:v>
                </c:pt>
                <c:pt idx="1">
                  <c:v>87</c:v>
                </c:pt>
                <c:pt idx="2">
                  <c:v>86</c:v>
                </c:pt>
              </c:numCache>
            </c:numRef>
          </c:val>
          <c:extLst>
            <c:ext xmlns:c16="http://schemas.microsoft.com/office/drawing/2014/chart" uri="{C3380CC4-5D6E-409C-BE32-E72D297353CC}">
              <c16:uniqueId val="{00000000-8788-4B50-B590-06E6B881C16E}"/>
            </c:ext>
          </c:extLst>
        </c:ser>
        <c:ser>
          <c:idx val="1"/>
          <c:order val="1"/>
          <c:tx>
            <c:strRef>
              <c:f>Foglio1!$C$1</c:f>
              <c:strCache>
                <c:ptCount val="1"/>
                <c:pt idx="0">
                  <c:v>Llama</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Foglio1!$A$2:$A$4</c:f>
              <c:strCache>
                <c:ptCount val="3"/>
                <c:pt idx="0">
                  <c:v>Easy</c:v>
                </c:pt>
                <c:pt idx="1">
                  <c:v>Medium</c:v>
                </c:pt>
                <c:pt idx="2">
                  <c:v>Hard</c:v>
                </c:pt>
              </c:strCache>
            </c:strRef>
          </c:cat>
          <c:val>
            <c:numRef>
              <c:f>Foglio1!$C$2:$C$4</c:f>
              <c:numCache>
                <c:formatCode>General</c:formatCode>
                <c:ptCount val="3"/>
                <c:pt idx="0">
                  <c:v>46</c:v>
                </c:pt>
                <c:pt idx="1">
                  <c:v>72</c:v>
                </c:pt>
                <c:pt idx="2">
                  <c:v>74</c:v>
                </c:pt>
              </c:numCache>
            </c:numRef>
          </c:val>
          <c:extLst>
            <c:ext xmlns:c16="http://schemas.microsoft.com/office/drawing/2014/chart" uri="{C3380CC4-5D6E-409C-BE32-E72D297353CC}">
              <c16:uniqueId val="{00000001-8788-4B50-B590-06E6B881C16E}"/>
            </c:ext>
          </c:extLst>
        </c:ser>
        <c:dLbls>
          <c:showLegendKey val="0"/>
          <c:showVal val="0"/>
          <c:showCatName val="0"/>
          <c:showSerName val="0"/>
          <c:showPercent val="0"/>
          <c:showBubbleSize val="0"/>
        </c:dLbls>
        <c:gapWidth val="219"/>
        <c:overlap val="-27"/>
        <c:axId val="560901647"/>
        <c:axId val="74138399"/>
      </c:barChart>
      <c:catAx>
        <c:axId val="560901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74138399"/>
        <c:crosses val="autoZero"/>
        <c:auto val="1"/>
        <c:lblAlgn val="ctr"/>
        <c:lblOffset val="100"/>
        <c:noMultiLvlLbl val="0"/>
      </c:catAx>
      <c:valAx>
        <c:axId val="74138399"/>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5609016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it-IT" sz="1200" dirty="0" err="1"/>
              <a:t>Overall</a:t>
            </a:r>
            <a:r>
              <a:rPr lang="it-IT" sz="1200" baseline="0" dirty="0"/>
              <a:t> Results (%)</a:t>
            </a:r>
            <a:endParaRPr lang="it-IT" sz="1200" dirty="0"/>
          </a:p>
        </c:rich>
      </c:tx>
      <c:layout>
        <c:manualLayout>
          <c:xMode val="edge"/>
          <c:yMode val="edge"/>
          <c:x val="0.15947256509687147"/>
          <c:y val="6.7913550104995946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plotArea>
      <c:layout>
        <c:manualLayout>
          <c:layoutTarget val="inner"/>
          <c:xMode val="edge"/>
          <c:yMode val="edge"/>
          <c:x val="0.22976197812399118"/>
          <c:y val="0.25048373824375364"/>
          <c:w val="0.58975501289867005"/>
          <c:h val="0.51536172170058503"/>
        </c:manualLayout>
      </c:layout>
      <c:barChart>
        <c:barDir val="col"/>
        <c:grouping val="clustered"/>
        <c:varyColors val="0"/>
        <c:ser>
          <c:idx val="0"/>
          <c:order val="0"/>
          <c:tx>
            <c:strRef>
              <c:f>Foglio1!$B$1</c:f>
              <c:strCache>
                <c:ptCount val="1"/>
                <c:pt idx="0">
                  <c:v>FUNES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c:f>
              <c:strCache>
                <c:ptCount val="1"/>
                <c:pt idx="0">
                  <c:v>Overall result</c:v>
                </c:pt>
              </c:strCache>
            </c:strRef>
          </c:cat>
          <c:val>
            <c:numRef>
              <c:f>Foglio1!$B$2</c:f>
              <c:numCache>
                <c:formatCode>General</c:formatCode>
                <c:ptCount val="1"/>
                <c:pt idx="0">
                  <c:v>90</c:v>
                </c:pt>
              </c:numCache>
            </c:numRef>
          </c:val>
          <c:extLst>
            <c:ext xmlns:c16="http://schemas.microsoft.com/office/drawing/2014/chart" uri="{C3380CC4-5D6E-409C-BE32-E72D297353CC}">
              <c16:uniqueId val="{00000000-F82D-46C7-BDC4-368B9EEB381B}"/>
            </c:ext>
          </c:extLst>
        </c:ser>
        <c:ser>
          <c:idx val="1"/>
          <c:order val="1"/>
          <c:tx>
            <c:strRef>
              <c:f>Foglio1!$C$1</c:f>
              <c:strCache>
                <c:ptCount val="1"/>
                <c:pt idx="0">
                  <c:v>Llama</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c:f>
              <c:strCache>
                <c:ptCount val="1"/>
                <c:pt idx="0">
                  <c:v>Overall result</c:v>
                </c:pt>
              </c:strCache>
            </c:strRef>
          </c:cat>
          <c:val>
            <c:numRef>
              <c:f>Foglio1!$C$2</c:f>
              <c:numCache>
                <c:formatCode>General</c:formatCode>
                <c:ptCount val="1"/>
                <c:pt idx="0">
                  <c:v>63</c:v>
                </c:pt>
              </c:numCache>
            </c:numRef>
          </c:val>
          <c:extLst>
            <c:ext xmlns:c16="http://schemas.microsoft.com/office/drawing/2014/chart" uri="{C3380CC4-5D6E-409C-BE32-E72D297353CC}">
              <c16:uniqueId val="{00000001-F82D-46C7-BDC4-368B9EEB381B}"/>
            </c:ext>
          </c:extLst>
        </c:ser>
        <c:dLbls>
          <c:showLegendKey val="0"/>
          <c:showVal val="0"/>
          <c:showCatName val="0"/>
          <c:showSerName val="0"/>
          <c:showPercent val="0"/>
          <c:showBubbleSize val="0"/>
        </c:dLbls>
        <c:gapWidth val="219"/>
        <c:overlap val="-27"/>
        <c:axId val="748663887"/>
        <c:axId val="668043631"/>
      </c:barChart>
      <c:catAx>
        <c:axId val="748663887"/>
        <c:scaling>
          <c:orientation val="minMax"/>
        </c:scaling>
        <c:delete val="1"/>
        <c:axPos val="b"/>
        <c:numFmt formatCode="General" sourceLinked="1"/>
        <c:majorTickMark val="out"/>
        <c:minorTickMark val="none"/>
        <c:tickLblPos val="nextTo"/>
        <c:crossAx val="668043631"/>
        <c:crosses val="autoZero"/>
        <c:auto val="1"/>
        <c:lblAlgn val="ctr"/>
        <c:lblOffset val="100"/>
        <c:noMultiLvlLbl val="0"/>
      </c:catAx>
      <c:valAx>
        <c:axId val="668043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748663887"/>
        <c:crosses val="autoZero"/>
        <c:crossBetween val="between"/>
      </c:valAx>
      <c:spPr>
        <a:noFill/>
        <a:ln>
          <a:noFill/>
        </a:ln>
        <a:effectLst/>
      </c:spPr>
    </c:plotArea>
    <c:legend>
      <c:legendPos val="r"/>
      <c:layout>
        <c:manualLayout>
          <c:xMode val="edge"/>
          <c:yMode val="edge"/>
          <c:x val="0.20334217743572289"/>
          <c:y val="0.77049216120855957"/>
          <c:w val="0.63869646260403312"/>
          <c:h val="0.2209417418070170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2" dt="2026-10-26T16:50:28.660" idx="10">
    <p:pos x="10" y="10"/>
    <p:text>The AI module is based on a multi agent graph based architecture developed in langgraph.
The systen decomposes the decision-making process into specialized agents that are divided into core-orchestration agents: Planner, synthesizer and critic. And tool-support agents.
It works in the following way:
- the mm makes a question
- the question is given to the planner llm which makes a step-by-step plan of how the question can be resolved, so it decides what toolsa re needed and what input to give to each tool.
- the infromations returned by the tools are gathered and given to the synthesizer that is the most important LLM because it is the one that performs the correlations between the evidences and provides the final answer to the MM.
- the critic gets the tools results and the answer and checks if further investigation is required, if so it will give a feedback to the planner on what extra tool is needed ant the process is repeated.
So for example the MM can ask something banal like "tell me whats going on with the network", the Planner will call the network tool, but maybe the tool returns that there is an error with an antenna, so the critic in this case would tell the planner to include the ticket tool in order to check if the problem is known and if it is beign addressed.
This loop process can be repeated up to two times.</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6-10-19T11:03:59.193" idx="1">
    <p:pos x="16" y="10"/>
    <p:text>The overall results indicate that funes provides a substantial improvement in the evaluation score of the proposed benchmark.
Since the baseline receives the full 24K token context with all the avaiable data, the performance difference cannot be attributed to the baseline lacking access to specific pieces of informations, but rather they indicate that providing the full context to a general purpose LLM  does not always result in the most effective use of it.
The improvement is consistent with the hypothesis that selective information restrieval and filtering is highly effective, which is also the main objective of the proposed architecture: information flow and control.
The results by task complexity show a quite large gap in the easy task questions where FUNES surpasses the baseline of 50% points, this gap however tends to diminish as the task complexity gets higher. 
This is mostly for three reasons:
1. The easy questions are very specific, this means that for the baseline is difficult to focus to the right part of the whole context.
2. The number of questions and thus scoring gets lower since for medium and hard task we have a smaller set of questions.
3. Hard tasks shift the challenge from information filtering to advanced reasoning and logical synthesis. Since both systems utilize the same underlying reasoning engine (Llama 3.3), their ultimate cognitive constraints align.</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6-10-26T15:02:04.099" idx="9">
    <p:pos x="1955" y="463"/>
    <p:text>the natural convergence of performance in high-complexity tasks is a highly valuable scientific finding. It demonstrates that while our structural layer successfully eliminates context noise, the ultimate bottleneck in advanced scenarios remains the raw reasoning capacity of the underlying LLM. This explicitly maps out the trajectory for future research, pointing toward the integration of more, specialized reasoning models into the FUNES architecture."</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78A6E14B-A849-425A-B41B-03349DE57C16}" type="datetimeFigureOut">
              <a:t>28/10/2026</a:t>
            </a:fld>
            <a:endParaRPr lang="en-US"/>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C7114311-0793-4092-B8E1-5884292E5B92}" type="slidenum">
              <a:t>‹N›</a:t>
            </a:fld>
            <a:endParaRPr lang="en-US"/>
          </a:p>
        </p:txBody>
      </p:sp>
    </p:spTree>
    <p:extLst>
      <p:ext uri="{BB962C8B-B14F-4D97-AF65-F5344CB8AC3E}">
        <p14:creationId xmlns:p14="http://schemas.microsoft.com/office/powerpoint/2010/main" val="2269558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The AI module is based on a multi agent graph based architecture developed in </a:t>
            </a:r>
            <a:r>
              <a:rPr lang="en-US" dirty="0" err="1"/>
              <a:t>langgraph</a:t>
            </a:r>
            <a:r>
              <a:rPr lang="en-US" dirty="0"/>
              <a:t>.</a:t>
            </a:r>
          </a:p>
          <a:p>
            <a:r>
              <a:rPr lang="en-US" dirty="0"/>
              <a:t>The </a:t>
            </a:r>
            <a:r>
              <a:rPr lang="en-US" dirty="0" err="1"/>
              <a:t>systen</a:t>
            </a:r>
            <a:r>
              <a:rPr lang="en-US" dirty="0"/>
              <a:t> decomposes the decision-making process into specialized agents that are divided into core-orchestration agents: Planner, synthesizer and critic. And tool-support agents.</a:t>
            </a:r>
          </a:p>
          <a:p>
            <a:r>
              <a:rPr lang="en-US" dirty="0"/>
              <a:t>It works in the following way:</a:t>
            </a:r>
          </a:p>
          <a:p>
            <a:r>
              <a:rPr lang="en-US" dirty="0"/>
              <a:t>- the mm makes a question</a:t>
            </a:r>
          </a:p>
          <a:p>
            <a:r>
              <a:rPr lang="en-US" dirty="0"/>
              <a:t>- the question is given to the planner </a:t>
            </a:r>
            <a:r>
              <a:rPr lang="en-US" dirty="0" err="1"/>
              <a:t>llm</a:t>
            </a:r>
            <a:r>
              <a:rPr lang="en-US" dirty="0"/>
              <a:t> which makes a step-by-step plan of how the question can be resolved, so it decides what </a:t>
            </a:r>
            <a:r>
              <a:rPr lang="en-US" dirty="0" err="1"/>
              <a:t>toolsa</a:t>
            </a:r>
            <a:r>
              <a:rPr lang="en-US" dirty="0"/>
              <a:t> re needed and what input to give to each tool.</a:t>
            </a:r>
          </a:p>
          <a:p>
            <a:r>
              <a:rPr lang="en-US" dirty="0"/>
              <a:t>- the </a:t>
            </a:r>
            <a:r>
              <a:rPr lang="en-US" dirty="0" err="1"/>
              <a:t>infromations</a:t>
            </a:r>
            <a:r>
              <a:rPr lang="en-US" dirty="0"/>
              <a:t> returned by the tools are gathered and given to the synthesizer that is the most important LLM because it is the one that performs the correlations between the evidences and provides the final answer to the MM.</a:t>
            </a:r>
          </a:p>
          <a:p>
            <a:r>
              <a:rPr lang="en-US" dirty="0"/>
              <a:t>- the critic gets the tools results and the answer and checks if further investigation is required, if so it will give a feedback to the planner on what extra tool is needed ant the process is repeated.</a:t>
            </a:r>
          </a:p>
          <a:p>
            <a:endParaRPr lang="en-US" dirty="0"/>
          </a:p>
          <a:p>
            <a:r>
              <a:rPr lang="en-US" dirty="0"/>
              <a:t>So for example the MM can ask something banal like "tell me </a:t>
            </a:r>
            <a:r>
              <a:rPr lang="en-US" dirty="0" err="1"/>
              <a:t>whats</a:t>
            </a:r>
            <a:r>
              <a:rPr lang="en-US" dirty="0"/>
              <a:t> going on with the network", the Planner will call the network tool, but maybe the tool returns that there is an error with an antenna, so the critic in this case would tell the planner to include the ticket tool in order to check if the problem is known and if it is </a:t>
            </a:r>
            <a:r>
              <a:rPr lang="en-US" dirty="0" err="1"/>
              <a:t>beign</a:t>
            </a:r>
            <a:r>
              <a:rPr lang="en-US" dirty="0"/>
              <a:t> addressed.</a:t>
            </a:r>
          </a:p>
          <a:p>
            <a:endParaRPr lang="en-US" dirty="0"/>
          </a:p>
          <a:p>
            <a:r>
              <a:rPr lang="en-US" dirty="0"/>
              <a:t>This loop process can be repeated up to two times.</a:t>
            </a:r>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11</a:t>
            </a:fld>
            <a:endParaRPr lang="it-IT"/>
          </a:p>
        </p:txBody>
      </p:sp>
    </p:spTree>
    <p:extLst>
      <p:ext uri="{BB962C8B-B14F-4D97-AF65-F5344CB8AC3E}">
        <p14:creationId xmlns:p14="http://schemas.microsoft.com/office/powerpoint/2010/main" val="3937720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16</a:t>
            </a:fld>
            <a:endParaRPr lang="it-IT"/>
          </a:p>
        </p:txBody>
      </p:sp>
    </p:spTree>
    <p:extLst>
      <p:ext uri="{BB962C8B-B14F-4D97-AF65-F5344CB8AC3E}">
        <p14:creationId xmlns:p14="http://schemas.microsoft.com/office/powerpoint/2010/main" val="3723721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17</a:t>
            </a:fld>
            <a:endParaRPr lang="it-IT"/>
          </a:p>
        </p:txBody>
      </p:sp>
    </p:spTree>
    <p:extLst>
      <p:ext uri="{BB962C8B-B14F-4D97-AF65-F5344CB8AC3E}">
        <p14:creationId xmlns:p14="http://schemas.microsoft.com/office/powerpoint/2010/main" val="2669104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The overall results indicate that </a:t>
            </a:r>
            <a:r>
              <a:rPr lang="en-US" dirty="0" err="1"/>
              <a:t>funes</a:t>
            </a:r>
            <a:r>
              <a:rPr lang="en-US" dirty="0"/>
              <a:t> provides a substantial improvement in the evaluation score of the proposed benchmark.</a:t>
            </a:r>
          </a:p>
          <a:p>
            <a:endParaRPr lang="en-US" dirty="0"/>
          </a:p>
          <a:p>
            <a:r>
              <a:rPr lang="en-US" dirty="0"/>
              <a:t>Since the baseline receives the full 24K token context with all the </a:t>
            </a:r>
            <a:r>
              <a:rPr lang="en-US" dirty="0" err="1"/>
              <a:t>avaiable</a:t>
            </a:r>
            <a:r>
              <a:rPr lang="en-US" dirty="0"/>
              <a:t> data, the performance difference cannot be attributed to the baseline lacking access to specific pieces of </a:t>
            </a:r>
            <a:r>
              <a:rPr lang="en-US" dirty="0" err="1"/>
              <a:t>informations</a:t>
            </a:r>
            <a:r>
              <a:rPr lang="en-US" dirty="0"/>
              <a:t>, but rather they indicate that providing the full context to a general purpose LLM  does not always result in the most effective use of it.</a:t>
            </a:r>
          </a:p>
          <a:p>
            <a:endParaRPr lang="en-US" dirty="0"/>
          </a:p>
          <a:p>
            <a:r>
              <a:rPr lang="en-US" dirty="0"/>
              <a:t>The improvement is consistent with the hypothesis that selective information </a:t>
            </a:r>
            <a:r>
              <a:rPr lang="en-US" dirty="0" err="1"/>
              <a:t>restrieval</a:t>
            </a:r>
            <a:r>
              <a:rPr lang="en-US" dirty="0"/>
              <a:t> and filtering is highly effective, which is also the main objective of the proposed architecture: information flow and control.</a:t>
            </a:r>
          </a:p>
          <a:p>
            <a:endParaRPr lang="en-US" dirty="0"/>
          </a:p>
          <a:p>
            <a:endParaRPr lang="en-US" dirty="0"/>
          </a:p>
          <a:p>
            <a:r>
              <a:rPr lang="en-US" dirty="0"/>
              <a:t>The results by task complexity show a quite large gap in the easy task questions where FUNES surpasses the baseline of 50% points, this gap however tends to diminish as the task complexity gets higher. </a:t>
            </a:r>
          </a:p>
          <a:p>
            <a:r>
              <a:rPr lang="en-US" dirty="0"/>
              <a:t>This is mostly for three reasons:</a:t>
            </a:r>
          </a:p>
          <a:p>
            <a:r>
              <a:rPr lang="en-US" dirty="0"/>
              <a:t>1. The easy questions are very specific, this means that for the baseline is difficult to focus to the right part of the whole context.</a:t>
            </a:r>
          </a:p>
          <a:p>
            <a:endParaRPr lang="en-US" dirty="0"/>
          </a:p>
          <a:p>
            <a:r>
              <a:rPr lang="en-US" dirty="0"/>
              <a:t>2. The number of questions and thus scoring gets lower since for medium and hard task we have a smaller set of questions.</a:t>
            </a:r>
          </a:p>
          <a:p>
            <a:endParaRPr lang="en-US" dirty="0"/>
          </a:p>
          <a:p>
            <a:r>
              <a:rPr lang="en-US" dirty="0"/>
              <a:t>3. Hard tasks shift the challenge from information filtering to advanced reasoning and logical synthesis. Since both systems utilize the same underlying reasoning engine (Llama 3.3), their ultimate cognitive constraints align.</a:t>
            </a:r>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18</a:t>
            </a:fld>
            <a:endParaRPr lang="it-IT"/>
          </a:p>
        </p:txBody>
      </p:sp>
    </p:spTree>
    <p:extLst>
      <p:ext uri="{BB962C8B-B14F-4D97-AF65-F5344CB8AC3E}">
        <p14:creationId xmlns:p14="http://schemas.microsoft.com/office/powerpoint/2010/main" val="3826769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20</a:t>
            </a:fld>
            <a:endParaRPr lang="it-IT"/>
          </a:p>
        </p:txBody>
      </p:sp>
    </p:spTree>
    <p:extLst>
      <p:ext uri="{BB962C8B-B14F-4D97-AF65-F5344CB8AC3E}">
        <p14:creationId xmlns:p14="http://schemas.microsoft.com/office/powerpoint/2010/main" val="3476253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21</a:t>
            </a:fld>
            <a:endParaRPr lang="it-IT"/>
          </a:p>
        </p:txBody>
      </p:sp>
    </p:spTree>
    <p:extLst>
      <p:ext uri="{BB962C8B-B14F-4D97-AF65-F5344CB8AC3E}">
        <p14:creationId xmlns:p14="http://schemas.microsoft.com/office/powerpoint/2010/main" val="19999615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760085" cy="3240405"/>
          </a:xfrm>
          <a:custGeom>
            <a:avLst/>
            <a:gdLst/>
            <a:ahLst/>
            <a:cxnLst/>
            <a:rect l="l" t="t" r="r" b="b"/>
            <a:pathLst>
              <a:path w="5760085" h="3240405">
                <a:moveTo>
                  <a:pt x="5759996" y="0"/>
                </a:moveTo>
                <a:lnTo>
                  <a:pt x="0" y="0"/>
                </a:lnTo>
                <a:lnTo>
                  <a:pt x="0" y="3239998"/>
                </a:lnTo>
                <a:lnTo>
                  <a:pt x="5759996" y="3239998"/>
                </a:lnTo>
                <a:lnTo>
                  <a:pt x="5759996" y="0"/>
                </a:lnTo>
                <a:close/>
              </a:path>
            </a:pathLst>
          </a:custGeom>
          <a:solidFill>
            <a:srgbClr val="812433"/>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345579" y="3"/>
            <a:ext cx="518378" cy="617051"/>
          </a:xfrm>
          <a:prstGeom prst="rect">
            <a:avLst/>
          </a:prstGeom>
        </p:spPr>
      </p:pic>
      <p:sp>
        <p:nvSpPr>
          <p:cNvPr id="2" name="Holder 2"/>
          <p:cNvSpPr>
            <a:spLocks noGrp="1"/>
          </p:cNvSpPr>
          <p:nvPr>
            <p:ph type="ctrTitle"/>
          </p:nvPr>
        </p:nvSpPr>
        <p:spPr>
          <a:xfrm>
            <a:off x="369760" y="939316"/>
            <a:ext cx="5020945" cy="970280"/>
          </a:xfrm>
          <a:prstGeom prst="rect">
            <a:avLst/>
          </a:prstGeom>
        </p:spPr>
        <p:txBody>
          <a:bodyPr wrap="square" lIns="0" tIns="0" rIns="0" bIns="0">
            <a:spAutoFit/>
          </a:bodyPr>
          <a:lstStyle>
            <a:lvl1pPr>
              <a:defRPr sz="1400" b="1" i="0">
                <a:solidFill>
                  <a:srgbClr val="812433"/>
                </a:solidFill>
                <a:latin typeface="Calibri"/>
                <a:cs typeface="Calibri"/>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200" b="1" i="0">
                <a:solidFill>
                  <a:schemeClr val="bg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812433"/>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1" i="0">
                <a:solidFill>
                  <a:schemeClr val="bg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812433"/>
                </a:solidFill>
                <a:latin typeface="Calibri"/>
                <a:cs typeface="Calibri"/>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7" name="Holder 7"/>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225575" y="-25"/>
            <a:ext cx="2534420" cy="3240024"/>
          </a:xfrm>
          <a:prstGeom prst="rect">
            <a:avLst/>
          </a:prstGeom>
        </p:spPr>
      </p:pic>
      <p:sp>
        <p:nvSpPr>
          <p:cNvPr id="17" name="bg object 17"/>
          <p:cNvSpPr/>
          <p:nvPr/>
        </p:nvSpPr>
        <p:spPr>
          <a:xfrm>
            <a:off x="0" y="940600"/>
            <a:ext cx="3588385" cy="1249045"/>
          </a:xfrm>
          <a:custGeom>
            <a:avLst/>
            <a:gdLst/>
            <a:ahLst/>
            <a:cxnLst/>
            <a:rect l="l" t="t" r="r" b="b"/>
            <a:pathLst>
              <a:path w="3588385" h="1249045">
                <a:moveTo>
                  <a:pt x="3588130" y="0"/>
                </a:moveTo>
                <a:lnTo>
                  <a:pt x="0" y="0"/>
                </a:lnTo>
                <a:lnTo>
                  <a:pt x="0" y="1248486"/>
                </a:lnTo>
                <a:lnTo>
                  <a:pt x="3588130" y="1248486"/>
                </a:lnTo>
                <a:lnTo>
                  <a:pt x="3588130"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1" i="0">
                <a:solidFill>
                  <a:srgbClr val="812433"/>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5" name="Holder 5"/>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4" name="Holder 4"/>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2089424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2258718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164617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1010842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562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a:xfrm>
            <a:off x="288290" y="3017710"/>
            <a:ext cx="1326134" cy="276999"/>
          </a:xfrm>
        </p:spPr>
        <p:txBody>
          <a:bodyPr rtlCol="0"/>
          <a:lstStyle/>
          <a:p>
            <a:pPr rtl="0"/>
            <a:fld id="{05A4C22A-DE1A-451D-93AE-EA558C0F4942}" type="datetime1">
              <a:rPr lang="it-IT" noProof="0" smtClean="0"/>
              <a:t>28/10/2026</a:t>
            </a:fld>
            <a:endParaRPr lang="it-IT" noProof="0"/>
          </a:p>
        </p:txBody>
      </p:sp>
      <p:sp>
        <p:nvSpPr>
          <p:cNvPr id="3" name="Segnaposto piè di pagina 2"/>
          <p:cNvSpPr>
            <a:spLocks noGrp="1"/>
          </p:cNvSpPr>
          <p:nvPr>
            <p:ph type="ftr" sz="quarter" idx="11"/>
          </p:nvPr>
        </p:nvSpPr>
        <p:spPr>
          <a:xfrm>
            <a:off x="1960372" y="3017710"/>
            <a:ext cx="1845056" cy="276999"/>
          </a:xfrm>
        </p:spPr>
        <p:txBody>
          <a:bodyPr rtlCol="0"/>
          <a:lstStyle/>
          <a:p>
            <a:pPr rtl="0"/>
            <a:endParaRPr lang="it-IT" noProof="0"/>
          </a:p>
        </p:txBody>
      </p:sp>
      <p:sp>
        <p:nvSpPr>
          <p:cNvPr id="4" name="Segnaposto numero diapositiva 3"/>
          <p:cNvSpPr>
            <a:spLocks noGrp="1"/>
          </p:cNvSpPr>
          <p:nvPr>
            <p:ph type="sldNum" sz="quarter" idx="12"/>
          </p:nvPr>
        </p:nvSpPr>
        <p:spPr>
          <a:xfrm>
            <a:off x="321894" y="3016594"/>
            <a:ext cx="273684" cy="123111"/>
          </a:xfrm>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4025501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5765800" cy="3244850"/>
          </a:xfrm>
          <a:prstGeom prst="rect">
            <a:avLst/>
          </a:prstGeom>
          <a:solidFill>
            <a:srgbClr val="EFEFEF"/>
          </a:solidFill>
          <a:ln/>
        </p:spPr>
      </p:sp>
      <p:sp>
        <p:nvSpPr>
          <p:cNvPr id="3" name="Shape 1"/>
          <p:cNvSpPr/>
          <p:nvPr/>
        </p:nvSpPr>
        <p:spPr>
          <a:xfrm>
            <a:off x="0" y="0"/>
            <a:ext cx="5765800" cy="324485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95566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noProof="0"/>
              <a:t>Fare clic per modificare lo stile del titolo</a:t>
            </a:r>
          </a:p>
        </p:txBody>
      </p:sp>
      <p:sp>
        <p:nvSpPr>
          <p:cNvPr id="3" name="Segnaposto data 2"/>
          <p:cNvSpPr>
            <a:spLocks noGrp="1"/>
          </p:cNvSpPr>
          <p:nvPr>
            <p:ph type="dt" sz="half" idx="10"/>
          </p:nvPr>
        </p:nvSpPr>
        <p:spPr/>
        <p:txBody>
          <a:bodyPr rtlCol="0"/>
          <a:lstStyle/>
          <a:p>
            <a:pPr rtl="0"/>
            <a:fld id="{6E20A04D-C6B1-464E-A9D6-9B6756A0049A}" type="datetime1">
              <a:rPr lang="it-IT" noProof="0" smtClean="0"/>
              <a:t>28/10/2026</a:t>
            </a:fld>
            <a:endParaRPr lang="it-IT" noProof="0"/>
          </a:p>
        </p:txBody>
      </p:sp>
      <p:sp>
        <p:nvSpPr>
          <p:cNvPr id="4" name="Segnaposto piè di pagina 3"/>
          <p:cNvSpPr>
            <a:spLocks noGrp="1"/>
          </p:cNvSpPr>
          <p:nvPr>
            <p:ph type="ftr" sz="quarter" idx="11"/>
          </p:nvPr>
        </p:nvSpPr>
        <p:spPr/>
        <p:txBody>
          <a:bodyPr rtlCol="0"/>
          <a:lstStyle/>
          <a:p>
            <a:pPr rtl="0"/>
            <a:endParaRPr lang="it-IT" noProof="0"/>
          </a:p>
        </p:txBody>
      </p:sp>
      <p:sp>
        <p:nvSpPr>
          <p:cNvPr id="5" name="Segnaposto numero diapositiva 4"/>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2014108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3">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CF0B1-5FBF-6F99-DA2D-C2AE165C78B8}"/>
              </a:ext>
            </a:extLst>
          </p:cNvPr>
          <p:cNvSpPr>
            <a:spLocks noGrp="1"/>
          </p:cNvSpPr>
          <p:nvPr>
            <p:ph type="title" hasCustomPrompt="1"/>
          </p:nvPr>
        </p:nvSpPr>
        <p:spPr>
          <a:xfrm>
            <a:off x="369642" y="133124"/>
            <a:ext cx="5033543" cy="432647"/>
          </a:xfrm>
        </p:spPr>
        <p:txBody>
          <a:bodyPr/>
          <a:lstStyle>
            <a:lvl1pPr>
              <a:defRPr cap="all" baseline="0"/>
            </a:lvl1pPr>
          </a:lstStyle>
          <a:p>
            <a:r>
              <a:rPr lang="en-US" b="0">
                <a:solidFill>
                  <a:schemeClr val="bg1"/>
                </a:solidFill>
              </a:rPr>
              <a:t>CLICK TO ADD TITLE</a:t>
            </a:r>
            <a:endParaRPr lang="en-US">
              <a:solidFill>
                <a:schemeClr val="bg1"/>
              </a:solidFill>
            </a:endParaRPr>
          </a:p>
        </p:txBody>
      </p:sp>
      <p:sp>
        <p:nvSpPr>
          <p:cNvPr id="23" name="Rectangle 22">
            <a:extLst>
              <a:ext uri="{FF2B5EF4-FFF2-40B4-BE49-F238E27FC236}">
                <a16:creationId xmlns:a16="http://schemas.microsoft.com/office/drawing/2014/main" id="{D19906B8-0130-4CE3-A402-AD14F694B174}"/>
              </a:ext>
              <a:ext uri="{C183D7F6-B498-43B3-948B-1728B52AA6E4}">
                <adec:decorative xmlns:adec="http://schemas.microsoft.com/office/drawing/2017/decorative" val="1"/>
              </a:ext>
            </a:extLst>
          </p:cNvPr>
          <p:cNvSpPr/>
          <p:nvPr userDrawn="1"/>
        </p:nvSpPr>
        <p:spPr>
          <a:xfrm>
            <a:off x="368291" y="632590"/>
            <a:ext cx="5029219" cy="240135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7" name="Text Placeholder 6">
            <a:extLst>
              <a:ext uri="{FF2B5EF4-FFF2-40B4-BE49-F238E27FC236}">
                <a16:creationId xmlns:a16="http://schemas.microsoft.com/office/drawing/2014/main" id="{B5DEA1F5-0E0B-B85B-D1EB-BEBCBED6E5B8}"/>
              </a:ext>
            </a:extLst>
          </p:cNvPr>
          <p:cNvSpPr>
            <a:spLocks noGrp="1"/>
          </p:cNvSpPr>
          <p:nvPr>
            <p:ph type="body" sz="quarter" idx="10" hasCustomPrompt="1"/>
          </p:nvPr>
        </p:nvSpPr>
        <p:spPr>
          <a:xfrm>
            <a:off x="473495"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2" name="Text Placeholder 6">
            <a:extLst>
              <a:ext uri="{FF2B5EF4-FFF2-40B4-BE49-F238E27FC236}">
                <a16:creationId xmlns:a16="http://schemas.microsoft.com/office/drawing/2014/main" id="{0927EF45-A807-DB68-1EE5-226052417123}"/>
              </a:ext>
            </a:extLst>
          </p:cNvPr>
          <p:cNvSpPr>
            <a:spLocks noGrp="1"/>
          </p:cNvSpPr>
          <p:nvPr>
            <p:ph type="body" sz="quarter" idx="15" hasCustomPrompt="1"/>
          </p:nvPr>
        </p:nvSpPr>
        <p:spPr>
          <a:xfrm>
            <a:off x="473495"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25" name="Text Placeholder 24">
            <a:extLst>
              <a:ext uri="{FF2B5EF4-FFF2-40B4-BE49-F238E27FC236}">
                <a16:creationId xmlns:a16="http://schemas.microsoft.com/office/drawing/2014/main" id="{D0FD1A64-5429-B203-D1FD-902607CD1A09}"/>
              </a:ext>
            </a:extLst>
          </p:cNvPr>
          <p:cNvSpPr>
            <a:spLocks noGrp="1"/>
          </p:cNvSpPr>
          <p:nvPr>
            <p:ph type="body" sz="quarter" idx="30" hasCustomPrompt="1"/>
          </p:nvPr>
        </p:nvSpPr>
        <p:spPr>
          <a:xfrm>
            <a:off x="384276"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6" name="Picture Placeholder 5">
            <a:extLst>
              <a:ext uri="{FF2B5EF4-FFF2-40B4-BE49-F238E27FC236}">
                <a16:creationId xmlns:a16="http://schemas.microsoft.com/office/drawing/2014/main" id="{A2EC95D5-1A0A-6660-B6C6-30CA65A39383}"/>
              </a:ext>
            </a:extLst>
          </p:cNvPr>
          <p:cNvSpPr>
            <a:spLocks noGrp="1"/>
          </p:cNvSpPr>
          <p:nvPr>
            <p:ph type="pic" sz="quarter" idx="25"/>
          </p:nvPr>
        </p:nvSpPr>
        <p:spPr>
          <a:xfrm>
            <a:off x="710752" y="2611117"/>
            <a:ext cx="324326" cy="324485"/>
          </a:xfrm>
        </p:spPr>
        <p:txBody>
          <a:bodyPr>
            <a:normAutofit/>
          </a:bodyPr>
          <a:lstStyle>
            <a:lvl1pPr marL="0" indent="0" algn="ctr">
              <a:buNone/>
              <a:defRPr sz="473"/>
            </a:lvl1pPr>
          </a:lstStyle>
          <a:p>
            <a:endParaRPr lang="en-US"/>
          </a:p>
        </p:txBody>
      </p:sp>
      <p:sp>
        <p:nvSpPr>
          <p:cNvPr id="8" name="Text Placeholder 6">
            <a:extLst>
              <a:ext uri="{FF2B5EF4-FFF2-40B4-BE49-F238E27FC236}">
                <a16:creationId xmlns:a16="http://schemas.microsoft.com/office/drawing/2014/main" id="{C99194BA-C71C-FB82-7058-42ECFE165A71}"/>
              </a:ext>
            </a:extLst>
          </p:cNvPr>
          <p:cNvSpPr>
            <a:spLocks noGrp="1"/>
          </p:cNvSpPr>
          <p:nvPr>
            <p:ph type="body" sz="quarter" idx="11" hasCustomPrompt="1"/>
          </p:nvPr>
        </p:nvSpPr>
        <p:spPr>
          <a:xfrm>
            <a:off x="1482510"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3" name="Text Placeholder 6">
            <a:extLst>
              <a:ext uri="{FF2B5EF4-FFF2-40B4-BE49-F238E27FC236}">
                <a16:creationId xmlns:a16="http://schemas.microsoft.com/office/drawing/2014/main" id="{1C9BA2BC-110F-DB84-10C1-221D101343C3}"/>
              </a:ext>
            </a:extLst>
          </p:cNvPr>
          <p:cNvSpPr>
            <a:spLocks noGrp="1"/>
          </p:cNvSpPr>
          <p:nvPr>
            <p:ph type="body" sz="quarter" idx="16" hasCustomPrompt="1"/>
          </p:nvPr>
        </p:nvSpPr>
        <p:spPr>
          <a:xfrm>
            <a:off x="1482510"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26" name="Text Placeholder 25">
            <a:extLst>
              <a:ext uri="{FF2B5EF4-FFF2-40B4-BE49-F238E27FC236}">
                <a16:creationId xmlns:a16="http://schemas.microsoft.com/office/drawing/2014/main" id="{7D9324C6-8649-EB3C-8916-E1EA3B89150F}"/>
              </a:ext>
            </a:extLst>
          </p:cNvPr>
          <p:cNvSpPr>
            <a:spLocks noGrp="1"/>
          </p:cNvSpPr>
          <p:nvPr>
            <p:ph type="body" sz="quarter" idx="31" hasCustomPrompt="1"/>
          </p:nvPr>
        </p:nvSpPr>
        <p:spPr>
          <a:xfrm>
            <a:off x="1389307"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28" name="Picture Placeholder 5">
            <a:extLst>
              <a:ext uri="{FF2B5EF4-FFF2-40B4-BE49-F238E27FC236}">
                <a16:creationId xmlns:a16="http://schemas.microsoft.com/office/drawing/2014/main" id="{FF90473A-C83D-5DEA-ED9A-7152AD2E5AFD}"/>
              </a:ext>
            </a:extLst>
          </p:cNvPr>
          <p:cNvSpPr>
            <a:spLocks noGrp="1"/>
          </p:cNvSpPr>
          <p:nvPr>
            <p:ph type="pic" sz="quarter" idx="26"/>
          </p:nvPr>
        </p:nvSpPr>
        <p:spPr>
          <a:xfrm>
            <a:off x="1721253" y="2611117"/>
            <a:ext cx="324326" cy="324485"/>
          </a:xfrm>
        </p:spPr>
        <p:txBody>
          <a:bodyPr>
            <a:normAutofit/>
          </a:bodyPr>
          <a:lstStyle>
            <a:lvl1pPr marL="0" indent="0" algn="ctr">
              <a:buNone/>
              <a:defRPr sz="473"/>
            </a:lvl1pPr>
          </a:lstStyle>
          <a:p>
            <a:endParaRPr lang="en-US"/>
          </a:p>
        </p:txBody>
      </p:sp>
      <p:sp>
        <p:nvSpPr>
          <p:cNvPr id="9" name="Text Placeholder 6">
            <a:extLst>
              <a:ext uri="{FF2B5EF4-FFF2-40B4-BE49-F238E27FC236}">
                <a16:creationId xmlns:a16="http://schemas.microsoft.com/office/drawing/2014/main" id="{3E9B7D98-8661-78D4-B906-E82F8AA1DBF2}"/>
              </a:ext>
            </a:extLst>
          </p:cNvPr>
          <p:cNvSpPr>
            <a:spLocks noGrp="1"/>
          </p:cNvSpPr>
          <p:nvPr>
            <p:ph type="body" sz="quarter" idx="12" hasCustomPrompt="1"/>
          </p:nvPr>
        </p:nvSpPr>
        <p:spPr>
          <a:xfrm>
            <a:off x="2490515"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4" name="Text Placeholder 6">
            <a:extLst>
              <a:ext uri="{FF2B5EF4-FFF2-40B4-BE49-F238E27FC236}">
                <a16:creationId xmlns:a16="http://schemas.microsoft.com/office/drawing/2014/main" id="{42B64643-487D-62DA-ED87-8BFFC06F474A}"/>
              </a:ext>
            </a:extLst>
          </p:cNvPr>
          <p:cNvSpPr>
            <a:spLocks noGrp="1"/>
          </p:cNvSpPr>
          <p:nvPr>
            <p:ph type="body" sz="quarter" idx="17" hasCustomPrompt="1"/>
          </p:nvPr>
        </p:nvSpPr>
        <p:spPr>
          <a:xfrm>
            <a:off x="2490515"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27" name="Text Placeholder 26">
            <a:extLst>
              <a:ext uri="{FF2B5EF4-FFF2-40B4-BE49-F238E27FC236}">
                <a16:creationId xmlns:a16="http://schemas.microsoft.com/office/drawing/2014/main" id="{4179D1CF-4097-FC8C-51C1-CE6ECEE017BD}"/>
              </a:ext>
            </a:extLst>
          </p:cNvPr>
          <p:cNvSpPr>
            <a:spLocks noGrp="1"/>
          </p:cNvSpPr>
          <p:nvPr>
            <p:ph type="body" sz="quarter" idx="32" hasCustomPrompt="1"/>
          </p:nvPr>
        </p:nvSpPr>
        <p:spPr>
          <a:xfrm>
            <a:off x="2394338"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29" name="Picture Placeholder 5">
            <a:extLst>
              <a:ext uri="{FF2B5EF4-FFF2-40B4-BE49-F238E27FC236}">
                <a16:creationId xmlns:a16="http://schemas.microsoft.com/office/drawing/2014/main" id="{022FCC6D-3088-C2FB-FC8F-E636A7F53A13}"/>
              </a:ext>
            </a:extLst>
          </p:cNvPr>
          <p:cNvSpPr>
            <a:spLocks noGrp="1"/>
          </p:cNvSpPr>
          <p:nvPr>
            <p:ph type="pic" sz="quarter" idx="27"/>
          </p:nvPr>
        </p:nvSpPr>
        <p:spPr>
          <a:xfrm>
            <a:off x="2718484" y="2611117"/>
            <a:ext cx="324326" cy="324485"/>
          </a:xfrm>
        </p:spPr>
        <p:txBody>
          <a:bodyPr>
            <a:normAutofit/>
          </a:bodyPr>
          <a:lstStyle>
            <a:lvl1pPr marL="0" indent="0" algn="ctr">
              <a:buNone/>
              <a:defRPr sz="473"/>
            </a:lvl1pPr>
          </a:lstStyle>
          <a:p>
            <a:endParaRPr lang="en-US"/>
          </a:p>
        </p:txBody>
      </p:sp>
      <p:sp>
        <p:nvSpPr>
          <p:cNvPr id="10" name="Text Placeholder 6">
            <a:extLst>
              <a:ext uri="{FF2B5EF4-FFF2-40B4-BE49-F238E27FC236}">
                <a16:creationId xmlns:a16="http://schemas.microsoft.com/office/drawing/2014/main" id="{4D3EA25A-8DAD-D356-C0BA-9C67D9A4279F}"/>
              </a:ext>
            </a:extLst>
          </p:cNvPr>
          <p:cNvSpPr>
            <a:spLocks noGrp="1"/>
          </p:cNvSpPr>
          <p:nvPr>
            <p:ph type="body" sz="quarter" idx="13" hasCustomPrompt="1"/>
          </p:nvPr>
        </p:nvSpPr>
        <p:spPr>
          <a:xfrm>
            <a:off x="3480311"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5" name="Text Placeholder 6">
            <a:extLst>
              <a:ext uri="{FF2B5EF4-FFF2-40B4-BE49-F238E27FC236}">
                <a16:creationId xmlns:a16="http://schemas.microsoft.com/office/drawing/2014/main" id="{3BB83F7C-5495-8D46-6D74-3F64F38469B4}"/>
              </a:ext>
            </a:extLst>
          </p:cNvPr>
          <p:cNvSpPr>
            <a:spLocks noGrp="1"/>
          </p:cNvSpPr>
          <p:nvPr>
            <p:ph type="body" sz="quarter" idx="18" hasCustomPrompt="1"/>
          </p:nvPr>
        </p:nvSpPr>
        <p:spPr>
          <a:xfrm>
            <a:off x="3480311"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32" name="Text Placeholder 31">
            <a:extLst>
              <a:ext uri="{FF2B5EF4-FFF2-40B4-BE49-F238E27FC236}">
                <a16:creationId xmlns:a16="http://schemas.microsoft.com/office/drawing/2014/main" id="{6806C076-7B20-8C54-8D7C-15B7E32E8B60}"/>
              </a:ext>
            </a:extLst>
          </p:cNvPr>
          <p:cNvSpPr>
            <a:spLocks noGrp="1"/>
          </p:cNvSpPr>
          <p:nvPr>
            <p:ph type="body" sz="quarter" idx="33" hasCustomPrompt="1"/>
          </p:nvPr>
        </p:nvSpPr>
        <p:spPr>
          <a:xfrm>
            <a:off x="3399369"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30" name="Picture Placeholder 5">
            <a:extLst>
              <a:ext uri="{FF2B5EF4-FFF2-40B4-BE49-F238E27FC236}">
                <a16:creationId xmlns:a16="http://schemas.microsoft.com/office/drawing/2014/main" id="{3F3E8A8F-E827-C446-AF20-B093FE645711}"/>
              </a:ext>
            </a:extLst>
          </p:cNvPr>
          <p:cNvSpPr>
            <a:spLocks noGrp="1"/>
          </p:cNvSpPr>
          <p:nvPr>
            <p:ph type="pic" sz="quarter" idx="28"/>
          </p:nvPr>
        </p:nvSpPr>
        <p:spPr>
          <a:xfrm>
            <a:off x="3656912" y="2611117"/>
            <a:ext cx="324326" cy="324485"/>
          </a:xfrm>
        </p:spPr>
        <p:txBody>
          <a:bodyPr>
            <a:normAutofit/>
          </a:bodyPr>
          <a:lstStyle>
            <a:lvl1pPr marL="0" indent="0" algn="ctr">
              <a:buNone/>
              <a:defRPr sz="473"/>
            </a:lvl1pPr>
          </a:lstStyle>
          <a:p>
            <a:endParaRPr lang="en-US"/>
          </a:p>
        </p:txBody>
      </p:sp>
      <p:sp>
        <p:nvSpPr>
          <p:cNvPr id="11" name="Text Placeholder 6">
            <a:extLst>
              <a:ext uri="{FF2B5EF4-FFF2-40B4-BE49-F238E27FC236}">
                <a16:creationId xmlns:a16="http://schemas.microsoft.com/office/drawing/2014/main" id="{9926F0D6-3D6F-CF88-7E9C-73E88C5C4B26}"/>
              </a:ext>
            </a:extLst>
          </p:cNvPr>
          <p:cNvSpPr>
            <a:spLocks noGrp="1"/>
          </p:cNvSpPr>
          <p:nvPr>
            <p:ph type="body" sz="quarter" idx="14" hasCustomPrompt="1"/>
          </p:nvPr>
        </p:nvSpPr>
        <p:spPr>
          <a:xfrm>
            <a:off x="4488957"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6" name="Text Placeholder 6">
            <a:extLst>
              <a:ext uri="{FF2B5EF4-FFF2-40B4-BE49-F238E27FC236}">
                <a16:creationId xmlns:a16="http://schemas.microsoft.com/office/drawing/2014/main" id="{A285DCD4-48AB-6937-6F44-D27E776530CD}"/>
              </a:ext>
            </a:extLst>
          </p:cNvPr>
          <p:cNvSpPr>
            <a:spLocks noGrp="1"/>
          </p:cNvSpPr>
          <p:nvPr>
            <p:ph type="body" sz="quarter" idx="19" hasCustomPrompt="1"/>
          </p:nvPr>
        </p:nvSpPr>
        <p:spPr>
          <a:xfrm>
            <a:off x="4488957"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33" name="Text Placeholder 32">
            <a:extLst>
              <a:ext uri="{FF2B5EF4-FFF2-40B4-BE49-F238E27FC236}">
                <a16:creationId xmlns:a16="http://schemas.microsoft.com/office/drawing/2014/main" id="{8550EAA6-FAF3-B60B-E55B-E2D09B5B32C7}"/>
              </a:ext>
            </a:extLst>
          </p:cNvPr>
          <p:cNvSpPr>
            <a:spLocks noGrp="1"/>
          </p:cNvSpPr>
          <p:nvPr>
            <p:ph type="body" sz="quarter" idx="34" hasCustomPrompt="1"/>
          </p:nvPr>
        </p:nvSpPr>
        <p:spPr>
          <a:xfrm>
            <a:off x="4404400"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31" name="Picture Placeholder 5">
            <a:extLst>
              <a:ext uri="{FF2B5EF4-FFF2-40B4-BE49-F238E27FC236}">
                <a16:creationId xmlns:a16="http://schemas.microsoft.com/office/drawing/2014/main" id="{BF1B1D02-C803-3AEC-B070-F54F61C0ED50}"/>
              </a:ext>
            </a:extLst>
          </p:cNvPr>
          <p:cNvSpPr>
            <a:spLocks noGrp="1"/>
          </p:cNvSpPr>
          <p:nvPr>
            <p:ph type="pic" sz="quarter" idx="29"/>
          </p:nvPr>
        </p:nvSpPr>
        <p:spPr>
          <a:xfrm>
            <a:off x="4722555" y="2611117"/>
            <a:ext cx="324326" cy="324485"/>
          </a:xfrm>
        </p:spPr>
        <p:txBody>
          <a:bodyPr>
            <a:normAutofit/>
          </a:bodyPr>
          <a:lstStyle>
            <a:lvl1pPr marL="0" indent="0" algn="ctr">
              <a:buNone/>
              <a:defRPr sz="473"/>
            </a:lvl1pPr>
          </a:lstStyle>
          <a:p>
            <a:endParaRPr lang="en-US"/>
          </a:p>
        </p:txBody>
      </p:sp>
      <p:cxnSp>
        <p:nvCxnSpPr>
          <p:cNvPr id="3" name="Straight Connector 2">
            <a:extLst>
              <a:ext uri="{FF2B5EF4-FFF2-40B4-BE49-F238E27FC236}">
                <a16:creationId xmlns:a16="http://schemas.microsoft.com/office/drawing/2014/main" id="{73030AAA-2CDD-F298-9062-1132B681919B}"/>
              </a:ext>
              <a:ext uri="{C183D7F6-B498-43B3-948B-1728B52AA6E4}">
                <adec:decorative xmlns:adec="http://schemas.microsoft.com/office/drawing/2017/decorative" val="1"/>
              </a:ext>
            </a:extLst>
          </p:cNvPr>
          <p:cNvCxnSpPr>
            <a:cxnSpLocks/>
          </p:cNvCxnSpPr>
          <p:nvPr userDrawn="1"/>
        </p:nvCxnSpPr>
        <p:spPr>
          <a:xfrm>
            <a:off x="1381158"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46D0763-9E6E-FF42-0267-56F3338C0975}"/>
              </a:ext>
              <a:ext uri="{C183D7F6-B498-43B3-948B-1728B52AA6E4}">
                <adec:decorative xmlns:adec="http://schemas.microsoft.com/office/drawing/2017/decorative" val="1"/>
              </a:ext>
            </a:extLst>
          </p:cNvPr>
          <p:cNvCxnSpPr>
            <a:cxnSpLocks/>
          </p:cNvCxnSpPr>
          <p:nvPr userDrawn="1"/>
        </p:nvCxnSpPr>
        <p:spPr>
          <a:xfrm>
            <a:off x="3387792"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F6EBB92-E236-06E9-FC5C-300CD3E9807D}"/>
              </a:ext>
              <a:ext uri="{C183D7F6-B498-43B3-948B-1728B52AA6E4}">
                <adec:decorative xmlns:adec="http://schemas.microsoft.com/office/drawing/2017/decorative" val="1"/>
              </a:ext>
            </a:extLst>
          </p:cNvPr>
          <p:cNvCxnSpPr>
            <a:cxnSpLocks/>
          </p:cNvCxnSpPr>
          <p:nvPr userDrawn="1"/>
        </p:nvCxnSpPr>
        <p:spPr>
          <a:xfrm>
            <a:off x="4390732"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49919DC-1013-927F-4E81-1EBFB7517122}"/>
              </a:ext>
              <a:ext uri="{C183D7F6-B498-43B3-948B-1728B52AA6E4}">
                <adec:decorative xmlns:adec="http://schemas.microsoft.com/office/drawing/2017/decorative" val="1"/>
              </a:ext>
            </a:extLst>
          </p:cNvPr>
          <p:cNvCxnSpPr>
            <a:cxnSpLocks/>
          </p:cNvCxnSpPr>
          <p:nvPr userDrawn="1"/>
        </p:nvCxnSpPr>
        <p:spPr>
          <a:xfrm>
            <a:off x="2385605"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CFA93D-825C-5D1C-6391-7C5F1C82D4B0}"/>
              </a:ext>
              <a:ext uri="{C183D7F6-B498-43B3-948B-1728B52AA6E4}">
                <adec:decorative xmlns:adec="http://schemas.microsoft.com/office/drawing/2017/decorative" val="1"/>
              </a:ext>
            </a:extLst>
          </p:cNvPr>
          <p:cNvCxnSpPr/>
          <p:nvPr userDrawn="1"/>
        </p:nvCxnSpPr>
        <p:spPr>
          <a:xfrm flipV="1">
            <a:off x="363966" y="2554712"/>
            <a:ext cx="503354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826202"/>
      </p:ext>
    </p:extLst>
  </p:cSld>
  <p:clrMapOvr>
    <a:masterClrMapping/>
  </p:clrMapOvr>
  <p:extLst>
    <p:ext uri="{DCECCB84-F9BA-43D5-87BE-67443E8EF086}">
      <p15:sldGuideLst xmlns:p15="http://schemas.microsoft.com/office/powerpoint/2012/main">
        <p15:guide id="1" orient="horz" pos="1022" userDrawn="1">
          <p15:clr>
            <a:srgbClr val="FBAE40"/>
          </p15:clr>
        </p15:guide>
        <p15:guide id="2" pos="181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6" cstate="print"/>
          <a:stretch>
            <a:fillRect/>
          </a:stretch>
        </p:blipFill>
        <p:spPr>
          <a:xfrm>
            <a:off x="345579" y="3"/>
            <a:ext cx="518378" cy="617051"/>
          </a:xfrm>
          <a:prstGeom prst="rect">
            <a:avLst/>
          </a:prstGeom>
        </p:spPr>
      </p:pic>
      <p:sp>
        <p:nvSpPr>
          <p:cNvPr id="2" name="Holder 2"/>
          <p:cNvSpPr>
            <a:spLocks noGrp="1"/>
          </p:cNvSpPr>
          <p:nvPr>
            <p:ph type="title"/>
          </p:nvPr>
        </p:nvSpPr>
        <p:spPr>
          <a:xfrm>
            <a:off x="1067295" y="252930"/>
            <a:ext cx="2432685" cy="369570"/>
          </a:xfrm>
          <a:prstGeom prst="rect">
            <a:avLst/>
          </a:prstGeom>
        </p:spPr>
        <p:txBody>
          <a:bodyPr wrap="square" lIns="0" tIns="0" rIns="0" bIns="0">
            <a:spAutoFit/>
          </a:bodyPr>
          <a:lstStyle>
            <a:lvl1pPr>
              <a:defRPr sz="1400" b="1" i="0">
                <a:solidFill>
                  <a:srgbClr val="812433"/>
                </a:solidFill>
                <a:latin typeface="Calibri"/>
                <a:cs typeface="Calibri"/>
              </a:defRPr>
            </a:lvl1pPr>
          </a:lstStyle>
          <a:p>
            <a:endParaRPr/>
          </a:p>
        </p:txBody>
      </p:sp>
      <p:sp>
        <p:nvSpPr>
          <p:cNvPr id="3" name="Holder 3"/>
          <p:cNvSpPr>
            <a:spLocks noGrp="1"/>
          </p:cNvSpPr>
          <p:nvPr>
            <p:ph type="body" idx="1"/>
          </p:nvPr>
        </p:nvSpPr>
        <p:spPr>
          <a:xfrm>
            <a:off x="347294" y="656118"/>
            <a:ext cx="5071211" cy="2200275"/>
          </a:xfrm>
          <a:prstGeom prst="rect">
            <a:avLst/>
          </a:prstGeom>
        </p:spPr>
        <p:txBody>
          <a:bodyPr wrap="square" lIns="0" tIns="0" rIns="0" bIns="0">
            <a:spAutoFit/>
          </a:bodyPr>
          <a:lstStyle>
            <a:lvl1pPr>
              <a:defRPr sz="1200" b="1" i="0">
                <a:solidFill>
                  <a:schemeClr val="bg1"/>
                </a:solidFill>
                <a:latin typeface="Calibri"/>
                <a:cs typeface="Calibri"/>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a:xfrm>
            <a:off x="321894" y="3016594"/>
            <a:ext cx="273684" cy="154305"/>
          </a:xfrm>
          <a:prstGeom prst="rect">
            <a:avLst/>
          </a:prstGeom>
        </p:spPr>
        <p:txBody>
          <a:bodyPr wrap="square" lIns="0" tIns="0" rIns="0" bIns="0">
            <a:spAutoFit/>
          </a:bodyPr>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72" r:id="rId12"/>
    <p:sldLayoutId id="2147483673" r:id="rId13"/>
    <p:sldLayoutId id="2147483674" r:id="rId14"/>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hyperlink" Target="https://blog.csdn.net/FrontAI/article/details/160418907" TargetMode="Externa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comments" Target="../comments/comment2.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comments" Target="../comments/commen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149" y="641165"/>
            <a:ext cx="3096260" cy="419923"/>
          </a:xfrm>
          <a:prstGeom prst="rect">
            <a:avLst/>
          </a:prstGeom>
        </p:spPr>
        <p:txBody>
          <a:bodyPr vert="horz" wrap="square" lIns="0" tIns="57785" rIns="0" bIns="0" rtlCol="0" anchor="t">
            <a:spAutoFit/>
          </a:bodyPr>
          <a:lstStyle/>
          <a:p>
            <a:pPr marL="12700" marR="5080">
              <a:lnSpc>
                <a:spcPts val="1350"/>
              </a:lnSpc>
              <a:spcBef>
                <a:spcPts val="455"/>
              </a:spcBef>
            </a:pPr>
            <a:r>
              <a:rPr spc="-10" dirty="0"/>
              <a:t>Multi-</a:t>
            </a:r>
            <a:r>
              <a:rPr dirty="0"/>
              <a:t>Agent</a:t>
            </a:r>
            <a:r>
              <a:rPr spc="65" dirty="0"/>
              <a:t> </a:t>
            </a:r>
            <a:r>
              <a:rPr lang="it-IT" dirty="0" err="1"/>
              <a:t>Decision</a:t>
            </a:r>
            <a:r>
              <a:rPr lang="it-IT" dirty="0"/>
              <a:t> Support System for Space Mission Operations</a:t>
            </a:r>
            <a:endParaRPr lang="en-US" spc="15" dirty="0">
              <a:ea typeface="Calibri"/>
            </a:endParaRPr>
          </a:p>
        </p:txBody>
      </p:sp>
      <p:sp>
        <p:nvSpPr>
          <p:cNvPr id="3" name="object 3"/>
          <p:cNvSpPr txBox="1"/>
          <p:nvPr/>
        </p:nvSpPr>
        <p:spPr>
          <a:xfrm>
            <a:off x="361149" y="1376632"/>
            <a:ext cx="1551305" cy="515782"/>
          </a:xfrm>
          <a:prstGeom prst="rect">
            <a:avLst/>
          </a:prstGeom>
        </p:spPr>
        <p:txBody>
          <a:bodyPr vert="horz" wrap="square" lIns="0" tIns="6350" rIns="0" bIns="0" rtlCol="0" anchor="t">
            <a:spAutoFit/>
          </a:bodyPr>
          <a:lstStyle/>
          <a:p>
            <a:pPr marL="12700" marR="5080">
              <a:lnSpc>
                <a:spcPct val="130100"/>
              </a:lnSpc>
              <a:spcBef>
                <a:spcPts val="50"/>
              </a:spcBef>
            </a:pPr>
            <a:r>
              <a:rPr sz="900" spc="-10" dirty="0">
                <a:solidFill>
                  <a:srgbClr val="812433"/>
                </a:solidFill>
                <a:latin typeface="Calibri"/>
                <a:cs typeface="Calibri"/>
              </a:rPr>
              <a:t>Master’s</a:t>
            </a:r>
            <a:r>
              <a:rPr sz="900" spc="-15" dirty="0">
                <a:solidFill>
                  <a:srgbClr val="812433"/>
                </a:solidFill>
                <a:latin typeface="Calibri"/>
                <a:cs typeface="Calibri"/>
              </a:rPr>
              <a:t> </a:t>
            </a:r>
            <a:r>
              <a:rPr sz="900" dirty="0">
                <a:solidFill>
                  <a:srgbClr val="812433"/>
                </a:solidFill>
                <a:latin typeface="Calibri"/>
                <a:cs typeface="Calibri"/>
              </a:rPr>
              <a:t>Degree</a:t>
            </a:r>
            <a:r>
              <a:rPr sz="900" spc="-20" dirty="0">
                <a:solidFill>
                  <a:srgbClr val="812433"/>
                </a:solidFill>
                <a:latin typeface="Calibri"/>
                <a:cs typeface="Calibri"/>
              </a:rPr>
              <a:t> </a:t>
            </a:r>
            <a:r>
              <a:rPr sz="900" dirty="0">
                <a:solidFill>
                  <a:srgbClr val="812433"/>
                </a:solidFill>
                <a:latin typeface="Calibri"/>
                <a:cs typeface="Calibri"/>
              </a:rPr>
              <a:t>in</a:t>
            </a:r>
            <a:r>
              <a:rPr sz="900" spc="-15" dirty="0">
                <a:solidFill>
                  <a:srgbClr val="812433"/>
                </a:solidFill>
                <a:latin typeface="Calibri"/>
                <a:cs typeface="Calibri"/>
              </a:rPr>
              <a:t> </a:t>
            </a:r>
            <a:r>
              <a:rPr lang="it-IT" sz="900" spc="-10" dirty="0">
                <a:solidFill>
                  <a:srgbClr val="812433"/>
                </a:solidFill>
                <a:latin typeface="Calibri"/>
                <a:cs typeface="Calibri"/>
              </a:rPr>
              <a:t>AI &amp; </a:t>
            </a:r>
            <a:r>
              <a:rPr lang="it-IT" sz="900" spc="-10" dirty="0" err="1">
                <a:solidFill>
                  <a:srgbClr val="812433"/>
                </a:solidFill>
                <a:latin typeface="Calibri"/>
                <a:cs typeface="Calibri"/>
              </a:rPr>
              <a:t>Robotics</a:t>
            </a:r>
            <a:r>
              <a:rPr sz="900" spc="500" dirty="0">
                <a:solidFill>
                  <a:srgbClr val="812433"/>
                </a:solidFill>
                <a:latin typeface="Calibri"/>
                <a:cs typeface="Calibri"/>
              </a:rPr>
              <a:t> </a:t>
            </a:r>
            <a:r>
              <a:rPr lang="it-IT" sz="800" b="1" dirty="0">
                <a:latin typeface="Calibri"/>
                <a:cs typeface="Calibri"/>
              </a:rPr>
              <a:t>Antonio Lissa Lattanzio </a:t>
            </a:r>
            <a:r>
              <a:rPr sz="800" spc="-10" dirty="0">
                <a:latin typeface="Calibri"/>
                <a:cs typeface="Calibri"/>
              </a:rPr>
              <a:t>(215</a:t>
            </a:r>
            <a:r>
              <a:rPr lang="it-IT" sz="800" spc="-10" dirty="0">
                <a:latin typeface="Calibri"/>
                <a:cs typeface="Calibri"/>
              </a:rPr>
              <a:t>4208</a:t>
            </a:r>
            <a:r>
              <a:rPr sz="800" spc="-10" dirty="0">
                <a:latin typeface="Calibri"/>
                <a:cs typeface="Calibri"/>
              </a:rPr>
              <a:t>)</a:t>
            </a:r>
            <a:endParaRPr sz="800" dirty="0">
              <a:latin typeface="Calibri"/>
              <a:cs typeface="Calibri"/>
            </a:endParaRPr>
          </a:p>
          <a:p>
            <a:pPr marL="12700">
              <a:lnSpc>
                <a:spcPct val="100000"/>
              </a:lnSpc>
              <a:spcBef>
                <a:spcPts val="595"/>
              </a:spcBef>
            </a:pPr>
            <a:r>
              <a:rPr sz="600" dirty="0">
                <a:latin typeface="Calibri"/>
                <a:cs typeface="Calibri"/>
              </a:rPr>
              <a:t>Academic</a:t>
            </a:r>
            <a:r>
              <a:rPr sz="600" spc="-20" dirty="0">
                <a:latin typeface="Calibri"/>
                <a:cs typeface="Calibri"/>
              </a:rPr>
              <a:t> </a:t>
            </a:r>
            <a:r>
              <a:rPr sz="600" spc="-10" dirty="0">
                <a:latin typeface="Calibri"/>
                <a:cs typeface="Calibri"/>
              </a:rPr>
              <a:t>Year</a:t>
            </a:r>
            <a:r>
              <a:rPr sz="600" spc="-15" dirty="0">
                <a:latin typeface="Calibri"/>
                <a:cs typeface="Calibri"/>
              </a:rPr>
              <a:t> </a:t>
            </a:r>
            <a:r>
              <a:rPr sz="600" spc="-10" dirty="0">
                <a:latin typeface="Calibri"/>
                <a:cs typeface="Calibri"/>
              </a:rPr>
              <a:t>202</a:t>
            </a:r>
            <a:r>
              <a:rPr lang="it-IT" sz="600" spc="-10" dirty="0">
                <a:latin typeface="Calibri"/>
                <a:cs typeface="Calibri"/>
              </a:rPr>
              <a:t>5</a:t>
            </a:r>
            <a:r>
              <a:rPr sz="600" spc="-10" dirty="0">
                <a:latin typeface="Calibri"/>
                <a:cs typeface="Calibri"/>
              </a:rPr>
              <a:t>/202</a:t>
            </a:r>
            <a:r>
              <a:rPr lang="it-IT" sz="600" spc="-10" dirty="0">
                <a:latin typeface="Calibri"/>
                <a:cs typeface="Calibri"/>
              </a:rPr>
              <a:t>6</a:t>
            </a:r>
            <a:endParaRPr sz="600" dirty="0">
              <a:latin typeface="Calibri"/>
              <a:cs typeface="Calibri"/>
            </a:endParaRPr>
          </a:p>
        </p:txBody>
      </p:sp>
      <p:sp>
        <p:nvSpPr>
          <p:cNvPr id="4" name="TextBox 3">
            <a:extLst>
              <a:ext uri="{FF2B5EF4-FFF2-40B4-BE49-F238E27FC236}">
                <a16:creationId xmlns:a16="http://schemas.microsoft.com/office/drawing/2014/main" id="{CA7B287B-7242-39E5-4FBC-6D822E97A784}"/>
              </a:ext>
            </a:extLst>
          </p:cNvPr>
          <p:cNvSpPr txBox="1"/>
          <p:nvPr/>
        </p:nvSpPr>
        <p:spPr>
          <a:xfrm>
            <a:off x="225940" y="2679485"/>
            <a:ext cx="15919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t>Advisor</a:t>
            </a:r>
            <a:r>
              <a:rPr lang="en-US" sz="600" dirty="0"/>
              <a:t> </a:t>
            </a:r>
          </a:p>
          <a:p>
            <a:r>
              <a:rPr lang="en-US" sz="600" dirty="0"/>
              <a:t>Prof. Danilo </a:t>
            </a:r>
            <a:r>
              <a:rPr lang="en-US" sz="600" dirty="0" err="1"/>
              <a:t>Comminiello</a:t>
            </a:r>
            <a:endParaRPr lang="en-US" sz="600" dirty="0">
              <a:solidFill>
                <a:srgbClr val="000000"/>
              </a:solidFill>
            </a:endParaRPr>
          </a:p>
        </p:txBody>
      </p:sp>
      <p:sp>
        <p:nvSpPr>
          <p:cNvPr id="5" name="TextBox 4">
            <a:extLst>
              <a:ext uri="{FF2B5EF4-FFF2-40B4-BE49-F238E27FC236}">
                <a16:creationId xmlns:a16="http://schemas.microsoft.com/office/drawing/2014/main" id="{6E0C9956-11E6-C3CD-2301-BD9071AC965F}"/>
              </a:ext>
            </a:extLst>
          </p:cNvPr>
          <p:cNvSpPr txBox="1"/>
          <p:nvPr/>
        </p:nvSpPr>
        <p:spPr>
          <a:xfrm>
            <a:off x="1706038" y="2679542"/>
            <a:ext cx="1357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t>Co-Advisor</a:t>
            </a:r>
            <a:endParaRPr lang="en-US" sz="600" b="1" dirty="0">
              <a:solidFill>
                <a:srgbClr val="000000"/>
              </a:solidFill>
            </a:endParaRPr>
          </a:p>
          <a:p>
            <a:r>
              <a:rPr lang="en-US" sz="600" dirty="0"/>
              <a:t>Daniele </a:t>
            </a:r>
            <a:r>
              <a:rPr lang="en-US" sz="600" dirty="0" err="1"/>
              <a:t>Baldassini</a:t>
            </a:r>
            <a:endParaRPr lang="en-US" sz="600" dirty="0">
              <a:solidFill>
                <a:srgbClr val="000000"/>
              </a:solidFill>
            </a:endParaRPr>
          </a:p>
        </p:txBody>
      </p:sp>
      <p:pic>
        <p:nvPicPr>
          <p:cNvPr id="7" name="Immagine 6">
            <a:extLst>
              <a:ext uri="{FF2B5EF4-FFF2-40B4-BE49-F238E27FC236}">
                <a16:creationId xmlns:a16="http://schemas.microsoft.com/office/drawing/2014/main" id="{6A88D24B-1374-44BC-BCD4-84EC2AF0D4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729" t="36380" r="7653" b="43546"/>
          <a:stretch/>
        </p:blipFill>
        <p:spPr>
          <a:xfrm>
            <a:off x="361149" y="192660"/>
            <a:ext cx="1274985" cy="313593"/>
          </a:xfrm>
          <a:prstGeom prst="rect">
            <a:avLst/>
          </a:prstGeom>
        </p:spPr>
      </p:pic>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531172-F094-0E42-2F93-64AA2DC8F070}"/>
              </a:ext>
            </a:extLst>
          </p:cNvPr>
          <p:cNvGrpSpPr/>
          <p:nvPr/>
        </p:nvGrpSpPr>
        <p:grpSpPr>
          <a:xfrm>
            <a:off x="660207" y="1248423"/>
            <a:ext cx="4170592" cy="1303011"/>
            <a:chOff x="1683152" y="2210302"/>
            <a:chExt cx="8818873" cy="2755265"/>
          </a:xfrm>
        </p:grpSpPr>
        <p:sp>
          <p:nvSpPr>
            <p:cNvPr id="3" name="Shape">
              <a:extLst>
                <a:ext uri="{FF2B5EF4-FFF2-40B4-BE49-F238E27FC236}">
                  <a16:creationId xmlns:a16="http://schemas.microsoft.com/office/drawing/2014/main" id="{0A626A05-316A-3D03-628A-219F80079ABC}"/>
                </a:ext>
              </a:extLst>
            </p:cNvPr>
            <p:cNvSpPr/>
            <p:nvPr/>
          </p:nvSpPr>
          <p:spPr>
            <a:xfrm>
              <a:off x="2492478" y="2210302"/>
              <a:ext cx="1597106"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2">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4" name="Shape">
              <a:extLst>
                <a:ext uri="{FF2B5EF4-FFF2-40B4-BE49-F238E27FC236}">
                  <a16:creationId xmlns:a16="http://schemas.microsoft.com/office/drawing/2014/main" id="{EEFACBA1-2303-B3F1-6EC3-9EFEA7FE5BFA}"/>
                </a:ext>
              </a:extLst>
            </p:cNvPr>
            <p:cNvSpPr/>
            <p:nvPr/>
          </p:nvSpPr>
          <p:spPr>
            <a:xfrm>
              <a:off x="1744883"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 name="Shape">
              <a:extLst>
                <a:ext uri="{FF2B5EF4-FFF2-40B4-BE49-F238E27FC236}">
                  <a16:creationId xmlns:a16="http://schemas.microsoft.com/office/drawing/2014/main" id="{0FD2F78D-3711-CACD-6456-48E84ECC27B3}"/>
                </a:ext>
              </a:extLst>
            </p:cNvPr>
            <p:cNvSpPr/>
            <p:nvPr/>
          </p:nvSpPr>
          <p:spPr>
            <a:xfrm>
              <a:off x="4385565" y="2210302"/>
              <a:ext cx="1597108"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4">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 name="Shape">
              <a:extLst>
                <a:ext uri="{FF2B5EF4-FFF2-40B4-BE49-F238E27FC236}">
                  <a16:creationId xmlns:a16="http://schemas.microsoft.com/office/drawing/2014/main" id="{67357D14-84F5-B9D9-55B5-8A0EA59EF06D}"/>
                </a:ext>
              </a:extLst>
            </p:cNvPr>
            <p:cNvSpPr/>
            <p:nvPr/>
          </p:nvSpPr>
          <p:spPr>
            <a:xfrm>
              <a:off x="3624216"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 name="Shape">
              <a:extLst>
                <a:ext uri="{FF2B5EF4-FFF2-40B4-BE49-F238E27FC236}">
                  <a16:creationId xmlns:a16="http://schemas.microsoft.com/office/drawing/2014/main" id="{386A9F83-B52A-11A7-83E9-A8466509C4EA}"/>
                </a:ext>
              </a:extLst>
            </p:cNvPr>
            <p:cNvSpPr/>
            <p:nvPr/>
          </p:nvSpPr>
          <p:spPr>
            <a:xfrm>
              <a:off x="6258074" y="2210302"/>
              <a:ext cx="1597108"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5">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8" name="Shape">
              <a:extLst>
                <a:ext uri="{FF2B5EF4-FFF2-40B4-BE49-F238E27FC236}">
                  <a16:creationId xmlns:a16="http://schemas.microsoft.com/office/drawing/2014/main" id="{F36A582B-7F1E-9CEC-2D07-3D8E2FA9F203}"/>
                </a:ext>
              </a:extLst>
            </p:cNvPr>
            <p:cNvSpPr/>
            <p:nvPr/>
          </p:nvSpPr>
          <p:spPr>
            <a:xfrm>
              <a:off x="5511011"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 name="Shape">
              <a:extLst>
                <a:ext uri="{FF2B5EF4-FFF2-40B4-BE49-F238E27FC236}">
                  <a16:creationId xmlns:a16="http://schemas.microsoft.com/office/drawing/2014/main" id="{1F696A37-63DF-EF18-0EDD-989700FE75BC}"/>
                </a:ext>
              </a:extLst>
            </p:cNvPr>
            <p:cNvSpPr/>
            <p:nvPr/>
          </p:nvSpPr>
          <p:spPr>
            <a:xfrm>
              <a:off x="8130583" y="2210302"/>
              <a:ext cx="1597108"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3">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 name="Shape">
              <a:extLst>
                <a:ext uri="{FF2B5EF4-FFF2-40B4-BE49-F238E27FC236}">
                  <a16:creationId xmlns:a16="http://schemas.microsoft.com/office/drawing/2014/main" id="{FFB164F3-679E-C00C-76AD-2BB42314CA30}"/>
                </a:ext>
              </a:extLst>
            </p:cNvPr>
            <p:cNvSpPr/>
            <p:nvPr/>
          </p:nvSpPr>
          <p:spPr>
            <a:xfrm>
              <a:off x="7389812"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 name="Shape">
              <a:extLst>
                <a:ext uri="{FF2B5EF4-FFF2-40B4-BE49-F238E27FC236}">
                  <a16:creationId xmlns:a16="http://schemas.microsoft.com/office/drawing/2014/main" id="{CA3413CC-9427-DD1F-9D3B-7DAFDFCB3FCC}"/>
                </a:ext>
              </a:extLst>
            </p:cNvPr>
            <p:cNvSpPr/>
            <p:nvPr/>
          </p:nvSpPr>
          <p:spPr>
            <a:xfrm>
              <a:off x="9257559"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2" name="Freeform: Shape 11">
              <a:extLst>
                <a:ext uri="{FF2B5EF4-FFF2-40B4-BE49-F238E27FC236}">
                  <a16:creationId xmlns:a16="http://schemas.microsoft.com/office/drawing/2014/main" id="{85C80983-4E71-D0E9-0239-F61A10C5E5FA}"/>
                </a:ext>
              </a:extLst>
            </p:cNvPr>
            <p:cNvSpPr/>
            <p:nvPr/>
          </p:nvSpPr>
          <p:spPr>
            <a:xfrm>
              <a:off x="1884441" y="4104152"/>
              <a:ext cx="757637" cy="830553"/>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3" name="Freeform: Shape 12">
              <a:extLst>
                <a:ext uri="{FF2B5EF4-FFF2-40B4-BE49-F238E27FC236}">
                  <a16:creationId xmlns:a16="http://schemas.microsoft.com/office/drawing/2014/main" id="{87E184C9-1C35-CBE9-01E2-C86A64440F1D}"/>
                </a:ext>
              </a:extLst>
            </p:cNvPr>
            <p:cNvSpPr/>
            <p:nvPr/>
          </p:nvSpPr>
          <p:spPr>
            <a:xfrm>
              <a:off x="3765736" y="4092046"/>
              <a:ext cx="757637" cy="83964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4" name="Freeform: Shape 13">
              <a:extLst>
                <a:ext uri="{FF2B5EF4-FFF2-40B4-BE49-F238E27FC236}">
                  <a16:creationId xmlns:a16="http://schemas.microsoft.com/office/drawing/2014/main" id="{82BEC7CF-FF2B-0E74-7825-39E317D9484C}"/>
                </a:ext>
              </a:extLst>
            </p:cNvPr>
            <p:cNvSpPr/>
            <p:nvPr/>
          </p:nvSpPr>
          <p:spPr>
            <a:xfrm>
              <a:off x="5650896" y="4102138"/>
              <a:ext cx="757637" cy="832066"/>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5" name="Freeform: Shape 14">
              <a:extLst>
                <a:ext uri="{FF2B5EF4-FFF2-40B4-BE49-F238E27FC236}">
                  <a16:creationId xmlns:a16="http://schemas.microsoft.com/office/drawing/2014/main" id="{45087047-6811-DECA-445A-971696D4826B}"/>
                </a:ext>
              </a:extLst>
            </p:cNvPr>
            <p:cNvSpPr/>
            <p:nvPr/>
          </p:nvSpPr>
          <p:spPr>
            <a:xfrm>
              <a:off x="7529448" y="4103675"/>
              <a:ext cx="757637" cy="83091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6" name="Freeform: Shape 15">
              <a:extLst>
                <a:ext uri="{FF2B5EF4-FFF2-40B4-BE49-F238E27FC236}">
                  <a16:creationId xmlns:a16="http://schemas.microsoft.com/office/drawing/2014/main" id="{4D88A354-C177-BBCE-C86B-F9C351E899EF}"/>
                </a:ext>
              </a:extLst>
            </p:cNvPr>
            <p:cNvSpPr/>
            <p:nvPr/>
          </p:nvSpPr>
          <p:spPr>
            <a:xfrm>
              <a:off x="9398384" y="4096334"/>
              <a:ext cx="757637" cy="836421"/>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7" name="Shape">
              <a:extLst>
                <a:ext uri="{FF2B5EF4-FFF2-40B4-BE49-F238E27FC236}">
                  <a16:creationId xmlns:a16="http://schemas.microsoft.com/office/drawing/2014/main" id="{DB845F88-8E4F-B121-E499-5633C00D111F}"/>
                </a:ext>
              </a:extLst>
            </p:cNvPr>
            <p:cNvSpPr/>
            <p:nvPr/>
          </p:nvSpPr>
          <p:spPr>
            <a:xfrm>
              <a:off x="1683152" y="2992229"/>
              <a:ext cx="1301437"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8" name="Shape">
              <a:extLst>
                <a:ext uri="{FF2B5EF4-FFF2-40B4-BE49-F238E27FC236}">
                  <a16:creationId xmlns:a16="http://schemas.microsoft.com/office/drawing/2014/main" id="{626FDCEF-B3C1-7087-DFFD-433A6A8A5289}"/>
                </a:ext>
              </a:extLst>
            </p:cNvPr>
            <p:cNvSpPr/>
            <p:nvPr/>
          </p:nvSpPr>
          <p:spPr>
            <a:xfrm>
              <a:off x="1786037" y="3095116"/>
              <a:ext cx="1109926"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9" name="Shape">
              <a:extLst>
                <a:ext uri="{FF2B5EF4-FFF2-40B4-BE49-F238E27FC236}">
                  <a16:creationId xmlns:a16="http://schemas.microsoft.com/office/drawing/2014/main" id="{FF0C8A74-CB68-0765-B7B4-2003E1969042}"/>
                </a:ext>
              </a:extLst>
            </p:cNvPr>
            <p:cNvSpPr/>
            <p:nvPr/>
          </p:nvSpPr>
          <p:spPr>
            <a:xfrm>
              <a:off x="3583061" y="2992229"/>
              <a:ext cx="1301437"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0" name="Shape">
              <a:extLst>
                <a:ext uri="{FF2B5EF4-FFF2-40B4-BE49-F238E27FC236}">
                  <a16:creationId xmlns:a16="http://schemas.microsoft.com/office/drawing/2014/main" id="{5F2B16CA-A5C6-DD0F-D2C7-603FA3163F04}"/>
                </a:ext>
              </a:extLst>
            </p:cNvPr>
            <p:cNvSpPr/>
            <p:nvPr/>
          </p:nvSpPr>
          <p:spPr>
            <a:xfrm>
              <a:off x="3665370" y="3095116"/>
              <a:ext cx="1109921"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1" name="Shape">
              <a:extLst>
                <a:ext uri="{FF2B5EF4-FFF2-40B4-BE49-F238E27FC236}">
                  <a16:creationId xmlns:a16="http://schemas.microsoft.com/office/drawing/2014/main" id="{ED968B0C-8020-388F-DC3A-81C58552686F}"/>
                </a:ext>
              </a:extLst>
            </p:cNvPr>
            <p:cNvSpPr/>
            <p:nvPr/>
          </p:nvSpPr>
          <p:spPr>
            <a:xfrm>
              <a:off x="5455571" y="2992229"/>
              <a:ext cx="1301435"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2" name="Shape">
              <a:extLst>
                <a:ext uri="{FF2B5EF4-FFF2-40B4-BE49-F238E27FC236}">
                  <a16:creationId xmlns:a16="http://schemas.microsoft.com/office/drawing/2014/main" id="{74D199CC-CFA9-9861-FD41-F7766FC245FB}"/>
                </a:ext>
              </a:extLst>
            </p:cNvPr>
            <p:cNvSpPr/>
            <p:nvPr/>
          </p:nvSpPr>
          <p:spPr>
            <a:xfrm>
              <a:off x="5537880" y="3095116"/>
              <a:ext cx="1109921"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3" name="Shape">
              <a:extLst>
                <a:ext uri="{FF2B5EF4-FFF2-40B4-BE49-F238E27FC236}">
                  <a16:creationId xmlns:a16="http://schemas.microsoft.com/office/drawing/2014/main" id="{558296EA-E9C0-3893-9F39-B3EDCE1A85F2}"/>
                </a:ext>
              </a:extLst>
            </p:cNvPr>
            <p:cNvSpPr/>
            <p:nvPr/>
          </p:nvSpPr>
          <p:spPr>
            <a:xfrm>
              <a:off x="7328081" y="2992229"/>
              <a:ext cx="1301435"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4" name="Shape">
              <a:extLst>
                <a:ext uri="{FF2B5EF4-FFF2-40B4-BE49-F238E27FC236}">
                  <a16:creationId xmlns:a16="http://schemas.microsoft.com/office/drawing/2014/main" id="{6B33D7EF-A9B8-C1FA-5D06-3630E097B8F6}"/>
                </a:ext>
              </a:extLst>
            </p:cNvPr>
            <p:cNvSpPr/>
            <p:nvPr/>
          </p:nvSpPr>
          <p:spPr>
            <a:xfrm>
              <a:off x="7430966" y="3095116"/>
              <a:ext cx="1109921"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5" name="Shape">
              <a:extLst>
                <a:ext uri="{FF2B5EF4-FFF2-40B4-BE49-F238E27FC236}">
                  <a16:creationId xmlns:a16="http://schemas.microsoft.com/office/drawing/2014/main" id="{A447F9FC-9FEA-A105-47D0-9C74099CFD7C}"/>
                </a:ext>
              </a:extLst>
            </p:cNvPr>
            <p:cNvSpPr/>
            <p:nvPr/>
          </p:nvSpPr>
          <p:spPr>
            <a:xfrm>
              <a:off x="9200590" y="2992229"/>
              <a:ext cx="1301435"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6" name="Shape">
              <a:extLst>
                <a:ext uri="{FF2B5EF4-FFF2-40B4-BE49-F238E27FC236}">
                  <a16:creationId xmlns:a16="http://schemas.microsoft.com/office/drawing/2014/main" id="{BAB6186A-89C1-03C4-3682-EBCFFC630FA8}"/>
                </a:ext>
              </a:extLst>
            </p:cNvPr>
            <p:cNvSpPr/>
            <p:nvPr/>
          </p:nvSpPr>
          <p:spPr>
            <a:xfrm>
              <a:off x="3192099" y="3486079"/>
              <a:ext cx="234256"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7" name="Shape">
              <a:extLst>
                <a:ext uri="{FF2B5EF4-FFF2-40B4-BE49-F238E27FC236}">
                  <a16:creationId xmlns:a16="http://schemas.microsoft.com/office/drawing/2014/main" id="{7164A9A6-AADC-E1C0-447C-2B37F122309C}"/>
                </a:ext>
              </a:extLst>
            </p:cNvPr>
            <p:cNvSpPr/>
            <p:nvPr/>
          </p:nvSpPr>
          <p:spPr>
            <a:xfrm>
              <a:off x="5064608" y="3486079"/>
              <a:ext cx="234257"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8" name="Shape">
              <a:extLst>
                <a:ext uri="{FF2B5EF4-FFF2-40B4-BE49-F238E27FC236}">
                  <a16:creationId xmlns:a16="http://schemas.microsoft.com/office/drawing/2014/main" id="{5EFA6E09-0ED6-DA54-AD13-F88842DDFCE6}"/>
                </a:ext>
              </a:extLst>
            </p:cNvPr>
            <p:cNvSpPr/>
            <p:nvPr/>
          </p:nvSpPr>
          <p:spPr>
            <a:xfrm>
              <a:off x="6937117" y="3486079"/>
              <a:ext cx="234256"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9" name="Shape">
              <a:extLst>
                <a:ext uri="{FF2B5EF4-FFF2-40B4-BE49-F238E27FC236}">
                  <a16:creationId xmlns:a16="http://schemas.microsoft.com/office/drawing/2014/main" id="{E0822CC8-F5A2-F232-4A01-802281BE2E38}"/>
                </a:ext>
              </a:extLst>
            </p:cNvPr>
            <p:cNvSpPr/>
            <p:nvPr/>
          </p:nvSpPr>
          <p:spPr>
            <a:xfrm>
              <a:off x="8809626" y="3486079"/>
              <a:ext cx="234256"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grpSp>
      <p:sp>
        <p:nvSpPr>
          <p:cNvPr id="30" name="TextBox 29">
            <a:extLst>
              <a:ext uri="{FF2B5EF4-FFF2-40B4-BE49-F238E27FC236}">
                <a16:creationId xmlns:a16="http://schemas.microsoft.com/office/drawing/2014/main" id="{C6513D7C-D60D-A759-F385-71585EA38056}"/>
              </a:ext>
            </a:extLst>
          </p:cNvPr>
          <p:cNvSpPr txBox="1"/>
          <p:nvPr/>
        </p:nvSpPr>
        <p:spPr>
          <a:xfrm>
            <a:off x="789990" y="1795910"/>
            <a:ext cx="369613" cy="276999"/>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31" name="TextBox 30">
            <a:extLst>
              <a:ext uri="{FF2B5EF4-FFF2-40B4-BE49-F238E27FC236}">
                <a16:creationId xmlns:a16="http://schemas.microsoft.com/office/drawing/2014/main" id="{61ACD215-A8D4-492F-00AD-BABAAA6A35BA}"/>
              </a:ext>
            </a:extLst>
          </p:cNvPr>
          <p:cNvSpPr txBox="1"/>
          <p:nvPr/>
        </p:nvSpPr>
        <p:spPr>
          <a:xfrm>
            <a:off x="1720269" y="1323879"/>
            <a:ext cx="487650"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sp>
        <p:nvSpPr>
          <p:cNvPr id="32" name="TextBox 31">
            <a:extLst>
              <a:ext uri="{FF2B5EF4-FFF2-40B4-BE49-F238E27FC236}">
                <a16:creationId xmlns:a16="http://schemas.microsoft.com/office/drawing/2014/main" id="{95852DC9-4098-E355-8F85-74BFAABA76EF}"/>
              </a:ext>
            </a:extLst>
          </p:cNvPr>
          <p:cNvSpPr txBox="1"/>
          <p:nvPr/>
        </p:nvSpPr>
        <p:spPr>
          <a:xfrm>
            <a:off x="2576516" y="1785961"/>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sp>
        <p:nvSpPr>
          <p:cNvPr id="33" name="TextBox 32">
            <a:extLst>
              <a:ext uri="{FF2B5EF4-FFF2-40B4-BE49-F238E27FC236}">
                <a16:creationId xmlns:a16="http://schemas.microsoft.com/office/drawing/2014/main" id="{D23DB38D-17D7-E499-93E4-85F2CE2D3336}"/>
              </a:ext>
            </a:extLst>
          </p:cNvPr>
          <p:cNvSpPr txBox="1"/>
          <p:nvPr/>
        </p:nvSpPr>
        <p:spPr>
          <a:xfrm>
            <a:off x="4463847" y="1325076"/>
            <a:ext cx="370656"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grpSp>
        <p:nvGrpSpPr>
          <p:cNvPr id="34" name="Group 33">
            <a:extLst>
              <a:ext uri="{FF2B5EF4-FFF2-40B4-BE49-F238E27FC236}">
                <a16:creationId xmlns:a16="http://schemas.microsoft.com/office/drawing/2014/main" id="{5331E06A-BED7-749B-F2C4-B211A4825A85}"/>
              </a:ext>
            </a:extLst>
          </p:cNvPr>
          <p:cNvGrpSpPr/>
          <p:nvPr/>
        </p:nvGrpSpPr>
        <p:grpSpPr>
          <a:xfrm>
            <a:off x="245275" y="2643365"/>
            <a:ext cx="1089430" cy="400403"/>
            <a:chOff x="332933" y="2620027"/>
            <a:chExt cx="2926083" cy="846667"/>
          </a:xfrm>
        </p:grpSpPr>
        <p:sp>
          <p:nvSpPr>
            <p:cNvPr id="35" name="TextBox 34">
              <a:extLst>
                <a:ext uri="{FF2B5EF4-FFF2-40B4-BE49-F238E27FC236}">
                  <a16:creationId xmlns:a16="http://schemas.microsoft.com/office/drawing/2014/main" id="{0AF60371-0B5D-D2E5-3640-3117396A3F97}"/>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noProof="1"/>
                <a:t>Operative Context</a:t>
              </a:r>
            </a:p>
          </p:txBody>
        </p:sp>
        <p:sp>
          <p:nvSpPr>
            <p:cNvPr id="36" name="TextBox 35">
              <a:extLst>
                <a:ext uri="{FF2B5EF4-FFF2-40B4-BE49-F238E27FC236}">
                  <a16:creationId xmlns:a16="http://schemas.microsoft.com/office/drawing/2014/main" id="{0768B416-7E8F-1A2B-6E54-5576C5549B58}"/>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37" name="TextBox 36">
            <a:extLst>
              <a:ext uri="{FF2B5EF4-FFF2-40B4-BE49-F238E27FC236}">
                <a16:creationId xmlns:a16="http://schemas.microsoft.com/office/drawing/2014/main" id="{0D1EB1DE-A344-48F5-AA52-053BAD085BF3}"/>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39" name="TextBox 38">
            <a:extLst>
              <a:ext uri="{FF2B5EF4-FFF2-40B4-BE49-F238E27FC236}">
                <a16:creationId xmlns:a16="http://schemas.microsoft.com/office/drawing/2014/main" id="{187DA2CC-0034-16D2-6AC9-26A85AC90BDA}"/>
              </a:ext>
            </a:extLst>
          </p:cNvPr>
          <p:cNvSpPr txBox="1"/>
          <p:nvPr/>
        </p:nvSpPr>
        <p:spPr>
          <a:xfrm>
            <a:off x="4245974" y="2716321"/>
            <a:ext cx="1089429" cy="35400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and Future Work</a:t>
            </a:r>
            <a:endParaRPr lang="en-US" sz="1100" dirty="0"/>
          </a:p>
        </p:txBody>
      </p:sp>
      <p:grpSp>
        <p:nvGrpSpPr>
          <p:cNvPr id="41" name="Group 40">
            <a:extLst>
              <a:ext uri="{FF2B5EF4-FFF2-40B4-BE49-F238E27FC236}">
                <a16:creationId xmlns:a16="http://schemas.microsoft.com/office/drawing/2014/main" id="{DEE8C409-B6E1-7F00-E057-2D50153214C5}"/>
              </a:ext>
            </a:extLst>
          </p:cNvPr>
          <p:cNvGrpSpPr/>
          <p:nvPr/>
        </p:nvGrpSpPr>
        <p:grpSpPr>
          <a:xfrm>
            <a:off x="1482835" y="722003"/>
            <a:ext cx="1376480" cy="640848"/>
            <a:chOff x="332936" y="2111597"/>
            <a:chExt cx="3697066" cy="1355097"/>
          </a:xfrm>
        </p:grpSpPr>
        <p:sp>
          <p:nvSpPr>
            <p:cNvPr id="42" name="TextBox 41">
              <a:extLst>
                <a:ext uri="{FF2B5EF4-FFF2-40B4-BE49-F238E27FC236}">
                  <a16:creationId xmlns:a16="http://schemas.microsoft.com/office/drawing/2014/main" id="{F16E3BA6-2315-B6BD-844B-3E46EB2A698A}"/>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43" name="TextBox 42">
              <a:extLst>
                <a:ext uri="{FF2B5EF4-FFF2-40B4-BE49-F238E27FC236}">
                  <a16:creationId xmlns:a16="http://schemas.microsoft.com/office/drawing/2014/main" id="{15A5A5F8-3CB2-1D26-6E82-1B6C30EF3B5D}"/>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44" name="TextBox 43">
            <a:extLst>
              <a:ext uri="{FF2B5EF4-FFF2-40B4-BE49-F238E27FC236}">
                <a16:creationId xmlns:a16="http://schemas.microsoft.com/office/drawing/2014/main" id="{E70EDB18-CB83-88DC-6B14-9FF034087B96}"/>
              </a:ext>
            </a:extLst>
          </p:cNvPr>
          <p:cNvSpPr txBox="1"/>
          <p:nvPr/>
        </p:nvSpPr>
        <p:spPr>
          <a:xfrm>
            <a:off x="3438475" y="1803604"/>
            <a:ext cx="362694"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45" name="Shape">
            <a:extLst>
              <a:ext uri="{FF2B5EF4-FFF2-40B4-BE49-F238E27FC236}">
                <a16:creationId xmlns:a16="http://schemas.microsoft.com/office/drawing/2014/main" id="{D39CF3D5-EB2D-5E50-7563-A8E6E4434738}"/>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46" name="TextBox 45">
            <a:extLst>
              <a:ext uri="{FF2B5EF4-FFF2-40B4-BE49-F238E27FC236}">
                <a16:creationId xmlns:a16="http://schemas.microsoft.com/office/drawing/2014/main" id="{9234A480-39B0-42BB-CFE4-B29EDE0F1622}"/>
              </a:ext>
            </a:extLst>
          </p:cNvPr>
          <p:cNvSpPr txBox="1"/>
          <p:nvPr/>
        </p:nvSpPr>
        <p:spPr>
          <a:xfrm>
            <a:off x="1687762" y="1811299"/>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47" name="TextBox 46">
            <a:extLst>
              <a:ext uri="{FF2B5EF4-FFF2-40B4-BE49-F238E27FC236}">
                <a16:creationId xmlns:a16="http://schemas.microsoft.com/office/drawing/2014/main" id="{3E1D4EA8-96A7-7C0E-1C77-AF14F10D009E}"/>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
        <p:nvSpPr>
          <p:cNvPr id="49" name="TextBox 48">
            <a:extLst>
              <a:ext uri="{FF2B5EF4-FFF2-40B4-BE49-F238E27FC236}">
                <a16:creationId xmlns:a16="http://schemas.microsoft.com/office/drawing/2014/main" id="{7A91A24B-0C39-65F5-7979-E9B90F08C6D6}"/>
              </a:ext>
            </a:extLst>
          </p:cNvPr>
          <p:cNvSpPr txBox="1"/>
          <p:nvPr/>
        </p:nvSpPr>
        <p:spPr>
          <a:xfrm>
            <a:off x="869002" y="114827"/>
            <a:ext cx="2882900" cy="307777"/>
          </a:xfrm>
          <a:prstGeom prst="rect">
            <a:avLst/>
          </a:prstGeom>
          <a:noFill/>
        </p:spPr>
        <p:txBody>
          <a:bodyPr wrap="square">
            <a:spAutoFit/>
          </a:bodyPr>
          <a:lstStyle/>
          <a:p>
            <a:r>
              <a:rPr lang="en-US" sz="1400" b="1" dirty="0">
                <a:solidFill>
                  <a:srgbClr val="953735"/>
                </a:solidFill>
                <a:latin typeface="Calibri"/>
                <a:ea typeface="Calibri"/>
                <a:cs typeface="Calibri"/>
              </a:rPr>
              <a:t>Presentation Outline</a:t>
            </a:r>
            <a:endParaRPr lang="en-US" sz="1400" dirty="0"/>
          </a:p>
        </p:txBody>
      </p:sp>
    </p:spTree>
    <p:extLst>
      <p:ext uri="{BB962C8B-B14F-4D97-AF65-F5344CB8AC3E}">
        <p14:creationId xmlns:p14="http://schemas.microsoft.com/office/powerpoint/2010/main" val="2859005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6D54FDD-7F6F-CA73-489C-569D69D3F4D3}"/>
              </a:ext>
            </a:extLst>
          </p:cNvPr>
          <p:cNvSpPr/>
          <p:nvPr/>
        </p:nvSpPr>
        <p:spPr>
          <a:xfrm>
            <a:off x="1013267" y="270137"/>
            <a:ext cx="4204012" cy="253943"/>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1990"/>
              </a:lnSpc>
              <a:buNone/>
            </a:pPr>
            <a:r>
              <a:rPr lang="en-US" sz="1400" b="1" dirty="0">
                <a:solidFill>
                  <a:schemeClr val="accent2">
                    <a:lumMod val="76000"/>
                  </a:schemeClr>
                </a:solidFill>
                <a:ea typeface="Tomorrow Semi Bold" pitchFamily="34" charset="-122"/>
                <a:cs typeface="Tomorrow Semi Bold" pitchFamily="34" charset="-120"/>
              </a:rPr>
              <a:t>Ground Segment Organization</a:t>
            </a:r>
            <a:endParaRPr lang="en-US" sz="1400" b="1" dirty="0">
              <a:solidFill>
                <a:schemeClr val="accent2">
                  <a:lumMod val="76000"/>
                </a:schemeClr>
              </a:solidFill>
            </a:endParaRPr>
          </a:p>
        </p:txBody>
      </p:sp>
      <p:sp>
        <p:nvSpPr>
          <p:cNvPr id="2" name="CasellaDiTesto 1">
            <a:extLst>
              <a:ext uri="{FF2B5EF4-FFF2-40B4-BE49-F238E27FC236}">
                <a16:creationId xmlns:a16="http://schemas.microsoft.com/office/drawing/2014/main" id="{29B7B780-6653-4596-BD16-31F25D642964}"/>
              </a:ext>
            </a:extLst>
          </p:cNvPr>
          <p:cNvSpPr txBox="1"/>
          <p:nvPr/>
        </p:nvSpPr>
        <p:spPr>
          <a:xfrm>
            <a:off x="165142" y="755374"/>
            <a:ext cx="4115229" cy="938719"/>
          </a:xfrm>
          <a:prstGeom prst="rect">
            <a:avLst/>
          </a:prstGeom>
          <a:noFill/>
        </p:spPr>
        <p:txBody>
          <a:bodyPr wrap="none" rtlCol="0">
            <a:spAutoFit/>
          </a:bodyPr>
          <a:lstStyle/>
          <a:p>
            <a:pPr marL="285750" indent="-285750">
              <a:spcAft>
                <a:spcPts val="300"/>
              </a:spcAft>
              <a:buFont typeface="Arial" panose="020B0604020202020204" pitchFamily="34" charset="0"/>
              <a:buChar char="•"/>
            </a:pPr>
            <a:r>
              <a:rPr lang="it-IT" sz="900" b="1" dirty="0">
                <a:latin typeface="+mn-lt"/>
              </a:rPr>
              <a:t>Satellite Control Center: </a:t>
            </a:r>
            <a:r>
              <a:rPr lang="it-IT" sz="900" dirty="0" err="1">
                <a:latin typeface="+mn-lt"/>
              </a:rPr>
              <a:t>spacecraft</a:t>
            </a:r>
            <a:r>
              <a:rPr lang="it-IT" sz="900" dirty="0">
                <a:latin typeface="+mn-lt"/>
              </a:rPr>
              <a:t> monitoring and </a:t>
            </a:r>
            <a:r>
              <a:rPr lang="it-IT" sz="900" dirty="0" err="1">
                <a:latin typeface="+mn-lt"/>
              </a:rPr>
              <a:t>command</a:t>
            </a:r>
            <a:r>
              <a:rPr lang="it-IT" sz="900" dirty="0">
                <a:latin typeface="+mn-lt"/>
              </a:rPr>
              <a:t> </a:t>
            </a:r>
            <a:r>
              <a:rPr lang="it-IT" sz="900" dirty="0" err="1">
                <a:latin typeface="+mn-lt"/>
              </a:rPr>
              <a:t>execution</a:t>
            </a:r>
            <a:r>
              <a:rPr lang="it-IT" sz="900" dirty="0">
                <a:latin typeface="+mn-lt"/>
              </a:rPr>
              <a:t>.</a:t>
            </a:r>
          </a:p>
          <a:p>
            <a:pPr marL="285750" indent="-285750">
              <a:spcAft>
                <a:spcPts val="300"/>
              </a:spcAft>
              <a:buFont typeface="Arial" panose="020B0604020202020204" pitchFamily="34" charset="0"/>
              <a:buChar char="•"/>
            </a:pPr>
            <a:r>
              <a:rPr lang="it-IT" sz="900" b="1" dirty="0">
                <a:latin typeface="+mn-lt"/>
              </a:rPr>
              <a:t>Mission Planning Center: </a:t>
            </a:r>
            <a:r>
              <a:rPr lang="it-IT" sz="900" dirty="0">
                <a:latin typeface="+mn-lt"/>
              </a:rPr>
              <a:t>planning of </a:t>
            </a:r>
            <a:r>
              <a:rPr lang="it-IT" sz="900" dirty="0" err="1">
                <a:latin typeface="+mn-lt"/>
              </a:rPr>
              <a:t>operational</a:t>
            </a:r>
            <a:r>
              <a:rPr lang="it-IT" sz="900" dirty="0">
                <a:latin typeface="+mn-lt"/>
              </a:rPr>
              <a:t> activities and mission tasks.</a:t>
            </a:r>
          </a:p>
          <a:p>
            <a:pPr marL="285750" indent="-285750">
              <a:spcAft>
                <a:spcPts val="300"/>
              </a:spcAft>
              <a:buFont typeface="Arial" panose="020B0604020202020204" pitchFamily="34" charset="0"/>
              <a:buChar char="•"/>
            </a:pPr>
            <a:r>
              <a:rPr lang="it-IT" sz="900" b="1" dirty="0">
                <a:latin typeface="+mn-lt"/>
              </a:rPr>
              <a:t>TT&amp;C: </a:t>
            </a:r>
            <a:r>
              <a:rPr lang="it-IT" sz="900" dirty="0" err="1">
                <a:latin typeface="+mn-lt"/>
              </a:rPr>
              <a:t>telemetry</a:t>
            </a:r>
            <a:r>
              <a:rPr lang="it-IT" sz="900" dirty="0">
                <a:latin typeface="+mn-lt"/>
              </a:rPr>
              <a:t> </a:t>
            </a:r>
            <a:r>
              <a:rPr lang="it-IT" sz="900" dirty="0" err="1">
                <a:latin typeface="+mn-lt"/>
              </a:rPr>
              <a:t>acquisition</a:t>
            </a:r>
            <a:r>
              <a:rPr lang="it-IT" sz="900" dirty="0">
                <a:latin typeface="+mn-lt"/>
              </a:rPr>
              <a:t>, </a:t>
            </a:r>
            <a:r>
              <a:rPr lang="it-IT" sz="900" dirty="0" err="1">
                <a:latin typeface="+mn-lt"/>
              </a:rPr>
              <a:t>spacecraft</a:t>
            </a:r>
            <a:r>
              <a:rPr lang="it-IT" sz="900" dirty="0">
                <a:latin typeface="+mn-lt"/>
              </a:rPr>
              <a:t> tracking and </a:t>
            </a:r>
            <a:r>
              <a:rPr lang="it-IT" sz="900" dirty="0" err="1">
                <a:latin typeface="+mn-lt"/>
              </a:rPr>
              <a:t>command</a:t>
            </a:r>
            <a:r>
              <a:rPr lang="it-IT" sz="900" dirty="0">
                <a:latin typeface="+mn-lt"/>
              </a:rPr>
              <a:t> uplink</a:t>
            </a:r>
          </a:p>
          <a:p>
            <a:pPr marL="285750" indent="-285750">
              <a:spcAft>
                <a:spcPts val="300"/>
              </a:spcAft>
              <a:buFont typeface="Arial" panose="020B0604020202020204" pitchFamily="34" charset="0"/>
              <a:buChar char="•"/>
            </a:pPr>
            <a:r>
              <a:rPr lang="it-IT" sz="900" b="1" dirty="0">
                <a:latin typeface="+mn-lt"/>
              </a:rPr>
              <a:t>Flight Dynamics: </a:t>
            </a:r>
            <a:r>
              <a:rPr lang="it-IT" sz="900" dirty="0" err="1">
                <a:latin typeface="+mn-lt"/>
              </a:rPr>
              <a:t>orbit</a:t>
            </a:r>
            <a:r>
              <a:rPr lang="it-IT" sz="900" dirty="0">
                <a:latin typeface="+mn-lt"/>
              </a:rPr>
              <a:t> </a:t>
            </a:r>
            <a:r>
              <a:rPr lang="it-IT" sz="900" dirty="0" err="1">
                <a:latin typeface="+mn-lt"/>
              </a:rPr>
              <a:t>determination</a:t>
            </a:r>
            <a:r>
              <a:rPr lang="it-IT" sz="900" dirty="0">
                <a:latin typeface="+mn-lt"/>
              </a:rPr>
              <a:t>, </a:t>
            </a:r>
            <a:r>
              <a:rPr lang="it-IT" sz="900" dirty="0" err="1">
                <a:latin typeface="+mn-lt"/>
              </a:rPr>
              <a:t>maneuver</a:t>
            </a:r>
            <a:r>
              <a:rPr lang="it-IT" sz="900" dirty="0">
                <a:latin typeface="+mn-lt"/>
              </a:rPr>
              <a:t> planning and </a:t>
            </a:r>
            <a:r>
              <a:rPr lang="it-IT" sz="900" dirty="0" err="1">
                <a:latin typeface="+mn-lt"/>
              </a:rPr>
              <a:t>analysis</a:t>
            </a:r>
            <a:r>
              <a:rPr lang="it-IT" sz="900" dirty="0">
                <a:latin typeface="+mn-lt"/>
              </a:rPr>
              <a:t>.</a:t>
            </a:r>
          </a:p>
          <a:p>
            <a:pPr marL="285750" indent="-285750">
              <a:spcAft>
                <a:spcPts val="300"/>
              </a:spcAft>
              <a:buFont typeface="Arial" panose="020B0604020202020204" pitchFamily="34" charset="0"/>
              <a:buChar char="•"/>
            </a:pPr>
            <a:r>
              <a:rPr lang="it-IT" sz="900" dirty="0">
                <a:latin typeface="+mn-lt"/>
              </a:rPr>
              <a:t>...</a:t>
            </a:r>
          </a:p>
        </p:txBody>
      </p:sp>
      <p:sp>
        <p:nvSpPr>
          <p:cNvPr id="4" name="CasellaDiTesto 3">
            <a:extLst>
              <a:ext uri="{FF2B5EF4-FFF2-40B4-BE49-F238E27FC236}">
                <a16:creationId xmlns:a16="http://schemas.microsoft.com/office/drawing/2014/main" id="{4535B321-102B-4295-A8A6-8ADC654285E3}"/>
              </a:ext>
            </a:extLst>
          </p:cNvPr>
          <p:cNvSpPr txBox="1"/>
          <p:nvPr/>
        </p:nvSpPr>
        <p:spPr>
          <a:xfrm>
            <a:off x="382392" y="1763405"/>
            <a:ext cx="2865632" cy="507831"/>
          </a:xfrm>
          <a:prstGeom prst="rect">
            <a:avLst/>
          </a:prstGeom>
          <a:noFill/>
        </p:spPr>
        <p:txBody>
          <a:bodyPr wrap="square" rtlCol="0">
            <a:spAutoFit/>
          </a:bodyPr>
          <a:lstStyle/>
          <a:p>
            <a:r>
              <a:rPr lang="it-IT" sz="900" dirty="0" err="1">
                <a:latin typeface="+mn-lt"/>
              </a:rPr>
              <a:t>Although</a:t>
            </a:r>
            <a:r>
              <a:rPr lang="it-IT" sz="900" dirty="0">
                <a:latin typeface="+mn-lt"/>
              </a:rPr>
              <a:t> </a:t>
            </a:r>
            <a:r>
              <a:rPr lang="it-IT" sz="900" dirty="0" err="1">
                <a:latin typeface="+mn-lt"/>
              </a:rPr>
              <a:t>each</a:t>
            </a:r>
            <a:r>
              <a:rPr lang="it-IT" sz="900" dirty="0">
                <a:latin typeface="+mn-lt"/>
              </a:rPr>
              <a:t> system </a:t>
            </a:r>
            <a:r>
              <a:rPr lang="it-IT" sz="900" dirty="0" err="1">
                <a:latin typeface="+mn-lt"/>
              </a:rPr>
              <a:t>performs</a:t>
            </a:r>
            <a:r>
              <a:rPr lang="it-IT" sz="900" dirty="0">
                <a:latin typeface="+mn-lt"/>
              </a:rPr>
              <a:t> a </a:t>
            </a:r>
            <a:r>
              <a:rPr lang="it-IT" sz="900" dirty="0" err="1">
                <a:latin typeface="+mn-lt"/>
              </a:rPr>
              <a:t>well-defined</a:t>
            </a:r>
            <a:r>
              <a:rPr lang="it-IT" sz="900" dirty="0">
                <a:latin typeface="+mn-lt"/>
              </a:rPr>
              <a:t> </a:t>
            </a:r>
            <a:r>
              <a:rPr lang="it-IT" sz="900" dirty="0" err="1">
                <a:latin typeface="+mn-lt"/>
              </a:rPr>
              <a:t>function</a:t>
            </a:r>
            <a:r>
              <a:rPr lang="it-IT" sz="900" dirty="0">
                <a:latin typeface="+mn-lt"/>
              </a:rPr>
              <a:t>, mission </a:t>
            </a:r>
            <a:r>
              <a:rPr lang="it-IT" sz="900" dirty="0" err="1">
                <a:latin typeface="+mn-lt"/>
              </a:rPr>
              <a:t>operations</a:t>
            </a:r>
            <a:r>
              <a:rPr lang="it-IT" sz="900" dirty="0">
                <a:latin typeface="+mn-lt"/>
              </a:rPr>
              <a:t> emerge from </a:t>
            </a:r>
            <a:r>
              <a:rPr lang="it-IT" sz="900" dirty="0" err="1">
                <a:latin typeface="+mn-lt"/>
              </a:rPr>
              <a:t>their</a:t>
            </a:r>
            <a:r>
              <a:rPr lang="it-IT" sz="900" dirty="0">
                <a:latin typeface="+mn-lt"/>
              </a:rPr>
              <a:t> </a:t>
            </a:r>
            <a:r>
              <a:rPr lang="it-IT" sz="900" b="1" dirty="0" err="1">
                <a:latin typeface="+mn-lt"/>
              </a:rPr>
              <a:t>continuous</a:t>
            </a:r>
            <a:r>
              <a:rPr lang="it-IT" sz="900" b="1" dirty="0">
                <a:latin typeface="+mn-lt"/>
              </a:rPr>
              <a:t> interaction</a:t>
            </a:r>
            <a:r>
              <a:rPr lang="it-IT" sz="900" dirty="0">
                <a:latin typeface="+mn-lt"/>
              </a:rPr>
              <a:t>.</a:t>
            </a:r>
          </a:p>
        </p:txBody>
      </p:sp>
      <p:pic>
        <p:nvPicPr>
          <p:cNvPr id="8" name="Immagine 7">
            <a:extLst>
              <a:ext uri="{FF2B5EF4-FFF2-40B4-BE49-F238E27FC236}">
                <a16:creationId xmlns:a16="http://schemas.microsoft.com/office/drawing/2014/main" id="{257A9754-A8CA-41F2-BAF0-6361EB16F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1023" y="1566044"/>
            <a:ext cx="2352633" cy="1322703"/>
          </a:xfrm>
          <a:prstGeom prst="ellipse">
            <a:avLst/>
          </a:prstGeom>
          <a:ln w="190500" cap="rnd">
            <a:no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7" name="Rettangolo con angoli arrotondati 6">
            <a:extLst>
              <a:ext uri="{FF2B5EF4-FFF2-40B4-BE49-F238E27FC236}">
                <a16:creationId xmlns:a16="http://schemas.microsoft.com/office/drawing/2014/main" id="{30FA58B9-709A-4E6D-BE95-AF1997808D81}"/>
              </a:ext>
            </a:extLst>
          </p:cNvPr>
          <p:cNvSpPr/>
          <p:nvPr/>
        </p:nvSpPr>
        <p:spPr>
          <a:xfrm>
            <a:off x="382392" y="2418839"/>
            <a:ext cx="2923633" cy="555874"/>
          </a:xfrm>
          <a:prstGeom prst="roundRect">
            <a:avLst/>
          </a:prstGeom>
          <a:solidFill>
            <a:schemeClr val="accent2">
              <a:lumMod val="20000"/>
              <a:lumOff val="80000"/>
            </a:schemeClr>
          </a:solidFill>
          <a:ln w="12700">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900" b="1" dirty="0">
                <a:solidFill>
                  <a:schemeClr val="tx1"/>
                </a:solidFill>
              </a:rPr>
              <a:t>Mission Manager: </a:t>
            </a:r>
            <a:r>
              <a:rPr lang="it-IT" sz="900" dirty="0">
                <a:solidFill>
                  <a:schemeClr val="tx1"/>
                </a:solidFill>
              </a:rPr>
              <a:t>The </a:t>
            </a:r>
            <a:r>
              <a:rPr lang="it-IT" sz="900" dirty="0" err="1">
                <a:solidFill>
                  <a:schemeClr val="tx1"/>
                </a:solidFill>
              </a:rPr>
              <a:t>person</a:t>
            </a:r>
            <a:r>
              <a:rPr lang="it-IT" sz="900" dirty="0">
                <a:solidFill>
                  <a:schemeClr val="tx1"/>
                </a:solidFill>
              </a:rPr>
              <a:t> </a:t>
            </a:r>
            <a:r>
              <a:rPr lang="it-IT" sz="900" dirty="0" err="1">
                <a:solidFill>
                  <a:schemeClr val="tx1"/>
                </a:solidFill>
              </a:rPr>
              <a:t>responsible</a:t>
            </a:r>
            <a:r>
              <a:rPr lang="it-IT" sz="900" dirty="0">
                <a:solidFill>
                  <a:schemeClr val="tx1"/>
                </a:solidFill>
              </a:rPr>
              <a:t> for </a:t>
            </a:r>
            <a:r>
              <a:rPr lang="it-IT" sz="900" dirty="0" err="1">
                <a:solidFill>
                  <a:schemeClr val="tx1"/>
                </a:solidFill>
              </a:rPr>
              <a:t>supervising</a:t>
            </a:r>
            <a:r>
              <a:rPr lang="it-IT" sz="900" dirty="0">
                <a:solidFill>
                  <a:schemeClr val="tx1"/>
                </a:solidFill>
              </a:rPr>
              <a:t> the overall </a:t>
            </a:r>
            <a:r>
              <a:rPr lang="it-IT" sz="900" dirty="0" err="1">
                <a:solidFill>
                  <a:schemeClr val="tx1"/>
                </a:solidFill>
              </a:rPr>
              <a:t>execution</a:t>
            </a:r>
            <a:r>
              <a:rPr lang="it-IT" sz="900" dirty="0">
                <a:solidFill>
                  <a:schemeClr val="tx1"/>
                </a:solidFill>
              </a:rPr>
              <a:t> and state of the mission.</a:t>
            </a:r>
          </a:p>
        </p:txBody>
      </p:sp>
    </p:spTree>
    <p:extLst>
      <p:ext uri="{BB962C8B-B14F-4D97-AF65-F5344CB8AC3E}">
        <p14:creationId xmlns:p14="http://schemas.microsoft.com/office/powerpoint/2010/main" val="3576859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B7083-B3CD-AEE1-C95C-34864AC227CE}"/>
            </a:ext>
          </a:extLst>
        </p:cNvPr>
        <p:cNvGrpSpPr/>
        <p:nvPr/>
      </p:nvGrpSpPr>
      <p:grpSpPr>
        <a:xfrm>
          <a:off x="0" y="0"/>
          <a:ext cx="0" cy="0"/>
          <a:chOff x="0" y="0"/>
          <a:chExt cx="0" cy="0"/>
        </a:xfrm>
      </p:grpSpPr>
      <p:sp>
        <p:nvSpPr>
          <p:cNvPr id="14" name="Text 0">
            <a:extLst>
              <a:ext uri="{FF2B5EF4-FFF2-40B4-BE49-F238E27FC236}">
                <a16:creationId xmlns:a16="http://schemas.microsoft.com/office/drawing/2014/main" id="{3B19C818-FA4E-1DC6-BB35-844AADE3B17B}"/>
              </a:ext>
            </a:extLst>
          </p:cNvPr>
          <p:cNvSpPr/>
          <p:nvPr/>
        </p:nvSpPr>
        <p:spPr>
          <a:xfrm>
            <a:off x="1076000" y="256315"/>
            <a:ext cx="4449631" cy="476448"/>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1990"/>
              </a:lnSpc>
              <a:buNone/>
            </a:pPr>
            <a:r>
              <a:rPr lang="en-US" sz="1400" b="1" dirty="0">
                <a:solidFill>
                  <a:schemeClr val="accent2">
                    <a:lumMod val="76000"/>
                  </a:schemeClr>
                </a:solidFill>
                <a:ea typeface="Tomorrow Semi Bold" pitchFamily="34" charset="-122"/>
                <a:cs typeface="Tomorrow Semi Bold" pitchFamily="34" charset="-120"/>
              </a:rPr>
              <a:t>Mission Manager’s Role &amp; Challenges</a:t>
            </a:r>
            <a:endParaRPr lang="en-US" sz="1400" b="1" dirty="0">
              <a:solidFill>
                <a:schemeClr val="accent2">
                  <a:lumMod val="76000"/>
                </a:schemeClr>
              </a:solidFill>
            </a:endParaRPr>
          </a:p>
        </p:txBody>
      </p:sp>
      <p:sp>
        <p:nvSpPr>
          <p:cNvPr id="22" name="Text 3">
            <a:extLst>
              <a:ext uri="{FF2B5EF4-FFF2-40B4-BE49-F238E27FC236}">
                <a16:creationId xmlns:a16="http://schemas.microsoft.com/office/drawing/2014/main" id="{5D5AEE96-F21A-823F-7022-C140FA55DA6B}"/>
              </a:ext>
            </a:extLst>
          </p:cNvPr>
          <p:cNvSpPr/>
          <p:nvPr/>
        </p:nvSpPr>
        <p:spPr>
          <a:xfrm>
            <a:off x="844717" y="732763"/>
            <a:ext cx="2081435" cy="169156"/>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ctr">
              <a:lnSpc>
                <a:spcPts val="926"/>
              </a:lnSpc>
              <a:buNone/>
            </a:pPr>
            <a:r>
              <a:rPr lang="en-US" sz="800" b="1" dirty="0">
                <a:latin typeface="Tomorrow Semi Bold"/>
                <a:ea typeface="Tomorrow Semi Bold" pitchFamily="34" charset="-122"/>
                <a:cs typeface="Tomorrow Semi Bold" pitchFamily="34" charset="-120"/>
              </a:rPr>
              <a:t>Situational Awareness</a:t>
            </a:r>
            <a:endParaRPr lang="en-US" sz="800" b="1" dirty="0">
              <a:latin typeface="Tomorrow Semi Bold"/>
            </a:endParaRPr>
          </a:p>
        </p:txBody>
      </p:sp>
      <p:sp>
        <p:nvSpPr>
          <p:cNvPr id="24" name="Text 4">
            <a:extLst>
              <a:ext uri="{FF2B5EF4-FFF2-40B4-BE49-F238E27FC236}">
                <a16:creationId xmlns:a16="http://schemas.microsoft.com/office/drawing/2014/main" id="{E939039B-2D4B-88C8-8CA5-8E5F8109F530}"/>
              </a:ext>
            </a:extLst>
          </p:cNvPr>
          <p:cNvSpPr/>
          <p:nvPr/>
        </p:nvSpPr>
        <p:spPr>
          <a:xfrm>
            <a:off x="852158" y="936914"/>
            <a:ext cx="2130219" cy="850349"/>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171450" indent="-171450">
              <a:lnSpc>
                <a:spcPts val="946"/>
              </a:lnSpc>
              <a:spcAft>
                <a:spcPts val="300"/>
              </a:spcAft>
              <a:buFont typeface="Arial" panose="020B0604020202020204" pitchFamily="34" charset="0"/>
              <a:buChar char="•"/>
            </a:pPr>
            <a:r>
              <a:rPr lang="en-US" sz="800" dirty="0"/>
              <a:t>Supervise the mission execution and anomaly responses.</a:t>
            </a:r>
          </a:p>
          <a:p>
            <a:pPr marL="171450" indent="-171450">
              <a:lnSpc>
                <a:spcPts val="946"/>
              </a:lnSpc>
              <a:spcAft>
                <a:spcPts val="300"/>
              </a:spcAft>
              <a:buFont typeface="Arial" panose="020B0604020202020204" pitchFamily="34" charset="0"/>
              <a:buChar char="•"/>
            </a:pPr>
            <a:r>
              <a:rPr lang="en-US" sz="800" dirty="0"/>
              <a:t>Evaluate operational events</a:t>
            </a:r>
          </a:p>
          <a:p>
            <a:pPr marL="171450" indent="-171450">
              <a:lnSpc>
                <a:spcPts val="946"/>
              </a:lnSpc>
              <a:spcAft>
                <a:spcPts val="300"/>
              </a:spcAft>
              <a:buFont typeface="Arial" panose="020B0604020202020204" pitchFamily="34" charset="0"/>
              <a:buChar char="•"/>
            </a:pPr>
            <a:r>
              <a:rPr lang="en-US" sz="800" dirty="0"/>
              <a:t>Coordinate the responses of many teams</a:t>
            </a:r>
          </a:p>
          <a:p>
            <a:pPr marL="171450" indent="-171450">
              <a:lnSpc>
                <a:spcPts val="946"/>
              </a:lnSpc>
              <a:spcAft>
                <a:spcPts val="300"/>
              </a:spcAft>
              <a:buFont typeface="Arial" panose="020B0604020202020204" pitchFamily="34" charset="0"/>
              <a:buChar char="•"/>
            </a:pPr>
            <a:r>
              <a:rPr lang="en-US" sz="800" dirty="0"/>
              <a:t>Support of decision-making during nominal and contingency scenarios.</a:t>
            </a:r>
          </a:p>
        </p:txBody>
      </p:sp>
      <p:sp>
        <p:nvSpPr>
          <p:cNvPr id="32" name="Text 7">
            <a:extLst>
              <a:ext uri="{FF2B5EF4-FFF2-40B4-BE49-F238E27FC236}">
                <a16:creationId xmlns:a16="http://schemas.microsoft.com/office/drawing/2014/main" id="{49CB2644-B405-0CB4-D642-A699C6B5522D}"/>
              </a:ext>
            </a:extLst>
          </p:cNvPr>
          <p:cNvSpPr/>
          <p:nvPr/>
        </p:nvSpPr>
        <p:spPr>
          <a:xfrm>
            <a:off x="3126796" y="725356"/>
            <a:ext cx="2070420" cy="169156"/>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ctr">
              <a:lnSpc>
                <a:spcPts val="926"/>
              </a:lnSpc>
              <a:buNone/>
            </a:pPr>
            <a:r>
              <a:rPr lang="en-US" sz="800" b="1" dirty="0">
                <a:latin typeface="Tomorrow Semi Bold"/>
                <a:ea typeface="Tomorrow Semi Bold" pitchFamily="34" charset="-122"/>
                <a:cs typeface="Tomorrow Semi Bold" pitchFamily="34" charset="-120"/>
              </a:rPr>
              <a:t>Information Fragmentation</a:t>
            </a:r>
            <a:endParaRPr lang="en-US" sz="800" b="1" dirty="0">
              <a:latin typeface="Tomorrow Semi Bold"/>
            </a:endParaRPr>
          </a:p>
        </p:txBody>
      </p:sp>
      <p:sp>
        <p:nvSpPr>
          <p:cNvPr id="34" name="Text 8">
            <a:extLst>
              <a:ext uri="{FF2B5EF4-FFF2-40B4-BE49-F238E27FC236}">
                <a16:creationId xmlns:a16="http://schemas.microsoft.com/office/drawing/2014/main" id="{89C758DD-68A2-B54B-6945-ECE23CE00C4E}"/>
              </a:ext>
            </a:extLst>
          </p:cNvPr>
          <p:cNvSpPr/>
          <p:nvPr/>
        </p:nvSpPr>
        <p:spPr>
          <a:xfrm>
            <a:off x="3126796" y="930890"/>
            <a:ext cx="2205183" cy="856375"/>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171450" indent="-171450">
              <a:lnSpc>
                <a:spcPts val="946"/>
              </a:lnSpc>
              <a:spcAft>
                <a:spcPts val="300"/>
              </a:spcAft>
              <a:buFont typeface="Arial" panose="020B0604020202020204" pitchFamily="34" charset="0"/>
              <a:buChar char="•"/>
            </a:pPr>
            <a:r>
              <a:rPr lang="en-US" sz="800" dirty="0">
                <a:ea typeface="Tomorrow" pitchFamily="34" charset="-122"/>
                <a:cs typeface="Tomorrow" pitchFamily="34" charset="-120"/>
              </a:rPr>
              <a:t>Integrate </a:t>
            </a:r>
            <a:r>
              <a:rPr lang="en-US" sz="800" dirty="0" err="1">
                <a:ea typeface="Tomorrow" pitchFamily="34" charset="-122"/>
                <a:cs typeface="Tomorrow" pitchFamily="34" charset="-120"/>
              </a:rPr>
              <a:t>informations</a:t>
            </a:r>
            <a:r>
              <a:rPr lang="en-US" sz="800" dirty="0">
                <a:ea typeface="Tomorrow" pitchFamily="34" charset="-122"/>
                <a:cs typeface="Tomorrow" pitchFamily="34" charset="-120"/>
              </a:rPr>
              <a:t> from multiple sources.</a:t>
            </a:r>
          </a:p>
          <a:p>
            <a:pPr marL="171450" indent="-171450">
              <a:lnSpc>
                <a:spcPts val="946"/>
              </a:lnSpc>
              <a:spcAft>
                <a:spcPts val="300"/>
              </a:spcAft>
              <a:buFont typeface="Arial" panose="020B0604020202020204" pitchFamily="34" charset="0"/>
              <a:buChar char="•"/>
            </a:pPr>
            <a:r>
              <a:rPr lang="en-US" sz="800" dirty="0">
                <a:ea typeface="Tomorrow" pitchFamily="34" charset="-122"/>
                <a:cs typeface="Tomorrow" pitchFamily="34" charset="-120"/>
              </a:rPr>
              <a:t>The evidence are heterogeneous, asynchronous, incomplete or even conflicting.</a:t>
            </a:r>
          </a:p>
          <a:p>
            <a:pPr marL="171450" indent="-171450">
              <a:lnSpc>
                <a:spcPts val="946"/>
              </a:lnSpc>
              <a:spcAft>
                <a:spcPts val="300"/>
              </a:spcAft>
              <a:buFont typeface="Arial" panose="020B0604020202020204" pitchFamily="34" charset="0"/>
              <a:buChar char="•"/>
            </a:pPr>
            <a:r>
              <a:rPr lang="en-US" sz="800" dirty="0">
                <a:ea typeface="Tomorrow" pitchFamily="34" charset="-122"/>
                <a:cs typeface="Tomorrow" pitchFamily="34" charset="-120"/>
              </a:rPr>
              <a:t>Rapid identification of important </a:t>
            </a:r>
            <a:r>
              <a:rPr lang="en-US" sz="800" dirty="0" err="1">
                <a:ea typeface="Tomorrow" pitchFamily="34" charset="-122"/>
                <a:cs typeface="Tomorrow" pitchFamily="34" charset="-120"/>
              </a:rPr>
              <a:t>informations</a:t>
            </a:r>
            <a:r>
              <a:rPr lang="en-US" sz="800" dirty="0">
                <a:ea typeface="Tomorrow" pitchFamily="34" charset="-122"/>
                <a:cs typeface="Tomorrow" pitchFamily="34" charset="-120"/>
              </a:rPr>
              <a:t> and their implications.</a:t>
            </a:r>
          </a:p>
          <a:p>
            <a:pPr>
              <a:lnSpc>
                <a:spcPts val="946"/>
              </a:lnSpc>
            </a:pPr>
            <a:endParaRPr lang="en-US" sz="800" dirty="0"/>
          </a:p>
        </p:txBody>
      </p:sp>
      <p:pic>
        <p:nvPicPr>
          <p:cNvPr id="40" name="Image 3" descr="preencoded.png">
            <a:extLst>
              <a:ext uri="{FF2B5EF4-FFF2-40B4-BE49-F238E27FC236}">
                <a16:creationId xmlns:a16="http://schemas.microsoft.com/office/drawing/2014/main" id="{00183E0B-58AB-05AF-E086-C7A15CB80ADA}"/>
              </a:ext>
            </a:extLst>
          </p:cNvPr>
          <p:cNvPicPr>
            <a:picLocks noChangeAspect="1"/>
          </p:cNvPicPr>
          <p:nvPr/>
        </p:nvPicPr>
        <p:blipFill>
          <a:blip r:embed="rId2"/>
          <a:stretch>
            <a:fillRect/>
          </a:stretch>
        </p:blipFill>
        <p:spPr>
          <a:xfrm>
            <a:off x="2532328" y="2245926"/>
            <a:ext cx="102900" cy="128614"/>
          </a:xfrm>
          <a:prstGeom prst="rect">
            <a:avLst/>
          </a:prstGeom>
        </p:spPr>
      </p:pic>
      <p:pic>
        <p:nvPicPr>
          <p:cNvPr id="2050" name="Picture 2" descr="Breach &amp; Attack Simulation, Vulnerability Assessment e Penetration Test nel  Cyber Risk Management - Telsy">
            <a:extLst>
              <a:ext uri="{FF2B5EF4-FFF2-40B4-BE49-F238E27FC236}">
                <a16:creationId xmlns:a16="http://schemas.microsoft.com/office/drawing/2014/main" id="{01A5A82F-5342-1823-D17D-FD3407599D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486" y="1878591"/>
            <a:ext cx="4777782" cy="128180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A62A7C40-F66E-D301-C9E6-4A2D1613A7A8}"/>
              </a:ext>
            </a:extLst>
          </p:cNvPr>
          <p:cNvCxnSpPr>
            <a:cxnSpLocks/>
          </p:cNvCxnSpPr>
          <p:nvPr/>
        </p:nvCxnSpPr>
        <p:spPr>
          <a:xfrm>
            <a:off x="852158" y="901919"/>
            <a:ext cx="2070877"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20A364B8-8841-0B10-2BBE-4875B06C51FB}"/>
              </a:ext>
            </a:extLst>
          </p:cNvPr>
          <p:cNvCxnSpPr>
            <a:cxnSpLocks/>
          </p:cNvCxnSpPr>
          <p:nvPr/>
        </p:nvCxnSpPr>
        <p:spPr>
          <a:xfrm>
            <a:off x="3126796" y="903686"/>
            <a:ext cx="2070420" cy="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6481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596988B2-2CB7-951D-F4EE-448E5A81244B}"/>
              </a:ext>
            </a:extLst>
          </p:cNvPr>
          <p:cNvPicPr>
            <a:picLocks noChangeAspect="1"/>
          </p:cNvPicPr>
          <p:nvPr/>
        </p:nvPicPr>
        <p:blipFill>
          <a:blip r:embed="rId2"/>
          <a:stretch>
            <a:fillRect/>
          </a:stretch>
        </p:blipFill>
        <p:spPr>
          <a:xfrm>
            <a:off x="341853" y="685783"/>
            <a:ext cx="1653149" cy="2482009"/>
          </a:xfrm>
          <a:prstGeom prst="rect">
            <a:avLst/>
          </a:prstGeom>
        </p:spPr>
      </p:pic>
      <p:sp>
        <p:nvSpPr>
          <p:cNvPr id="5" name="Text 0">
            <a:extLst>
              <a:ext uri="{FF2B5EF4-FFF2-40B4-BE49-F238E27FC236}">
                <a16:creationId xmlns:a16="http://schemas.microsoft.com/office/drawing/2014/main" id="{D64030A1-3200-2C2D-FCCE-F484CC1F8003}"/>
              </a:ext>
            </a:extLst>
          </p:cNvPr>
          <p:cNvSpPr/>
          <p:nvPr/>
        </p:nvSpPr>
        <p:spPr>
          <a:xfrm>
            <a:off x="1113506" y="240604"/>
            <a:ext cx="4591721" cy="234802"/>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1852"/>
              </a:lnSpc>
              <a:buNone/>
            </a:pPr>
            <a:r>
              <a:rPr lang="en-US" sz="1400" b="1" dirty="0">
                <a:solidFill>
                  <a:schemeClr val="accent2">
                    <a:lumMod val="76000"/>
                  </a:schemeClr>
                </a:solidFill>
                <a:ea typeface="Tomorrow Semi Bold"/>
                <a:cs typeface="Tomorrow Semi Bold" pitchFamily="34" charset="-120"/>
              </a:rPr>
              <a:t>Research Questions</a:t>
            </a:r>
            <a:endParaRPr lang="en-US" sz="1400" dirty="0">
              <a:solidFill>
                <a:schemeClr val="accent2">
                  <a:lumMod val="76000"/>
                </a:schemeClr>
              </a:solidFill>
              <a:ea typeface="Tomorrow Semi Bold"/>
            </a:endParaRPr>
          </a:p>
        </p:txBody>
      </p:sp>
      <p:sp>
        <p:nvSpPr>
          <p:cNvPr id="7" name="Text 1">
            <a:extLst>
              <a:ext uri="{FF2B5EF4-FFF2-40B4-BE49-F238E27FC236}">
                <a16:creationId xmlns:a16="http://schemas.microsoft.com/office/drawing/2014/main" id="{33E0B1DB-FBA2-4D51-68F5-254A2176135E}"/>
              </a:ext>
            </a:extLst>
          </p:cNvPr>
          <p:cNvSpPr/>
          <p:nvPr/>
        </p:nvSpPr>
        <p:spPr>
          <a:xfrm>
            <a:off x="2426910" y="855247"/>
            <a:ext cx="75639" cy="94548"/>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b="1">
                <a:solidFill>
                  <a:srgbClr val="953734"/>
                </a:solidFill>
                <a:latin typeface="Tomorrow Light"/>
                <a:ea typeface="Tomorrow Light"/>
                <a:cs typeface="Tomorrow Light" pitchFamily="34" charset="-120"/>
              </a:rPr>
              <a:t>01</a:t>
            </a:r>
            <a:endParaRPr lang="en-US" sz="900" b="1">
              <a:solidFill>
                <a:srgbClr val="953734"/>
              </a:solidFill>
              <a:latin typeface="Tomorrow Light"/>
              <a:ea typeface="Tomorrow Light"/>
              <a:cs typeface="Calibri"/>
            </a:endParaRPr>
          </a:p>
        </p:txBody>
      </p:sp>
      <p:sp>
        <p:nvSpPr>
          <p:cNvPr id="9" name="Shape 2">
            <a:extLst>
              <a:ext uri="{FF2B5EF4-FFF2-40B4-BE49-F238E27FC236}">
                <a16:creationId xmlns:a16="http://schemas.microsoft.com/office/drawing/2014/main" id="{A4ACF4AE-5D70-3E16-5911-025A8B20C858}"/>
              </a:ext>
            </a:extLst>
          </p:cNvPr>
          <p:cNvSpPr/>
          <p:nvPr/>
        </p:nvSpPr>
        <p:spPr>
          <a:xfrm>
            <a:off x="2426910" y="974805"/>
            <a:ext cx="3074155" cy="9009"/>
          </a:xfrm>
          <a:prstGeom prst="rect">
            <a:avLst/>
          </a:prstGeom>
          <a:solidFill>
            <a:srgbClr val="1D1D1B"/>
          </a:solidFill>
          <a:ln>
            <a:solidFill>
              <a:srgbClr val="953735"/>
            </a:solidFill>
          </a:ln>
        </p:spPr>
      </p:sp>
      <p:sp>
        <p:nvSpPr>
          <p:cNvPr id="11" name="Text 3">
            <a:extLst>
              <a:ext uri="{FF2B5EF4-FFF2-40B4-BE49-F238E27FC236}">
                <a16:creationId xmlns:a16="http://schemas.microsoft.com/office/drawing/2014/main" id="{056BCD3E-7F40-7169-2212-8989F3F45BD6}"/>
              </a:ext>
            </a:extLst>
          </p:cNvPr>
          <p:cNvSpPr/>
          <p:nvPr/>
        </p:nvSpPr>
        <p:spPr>
          <a:xfrm>
            <a:off x="2426910" y="1030642"/>
            <a:ext cx="1423619" cy="118150"/>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26"/>
              </a:lnSpc>
              <a:buNone/>
            </a:pPr>
            <a:r>
              <a:rPr lang="en-US" sz="1000" b="1" dirty="0">
                <a:solidFill>
                  <a:schemeClr val="accent2">
                    <a:lumMod val="76000"/>
                  </a:schemeClr>
                </a:solidFill>
                <a:latin typeface="+mj-lt"/>
                <a:ea typeface="Tomorrow Semi Bold"/>
                <a:cs typeface="Tomorrow Semi Bold" pitchFamily="34" charset="-120"/>
              </a:rPr>
              <a:t>Autonomous LLM Capabilities</a:t>
            </a:r>
            <a:endParaRPr lang="en-US" sz="1000" b="1" dirty="0">
              <a:solidFill>
                <a:schemeClr val="accent2">
                  <a:lumMod val="76000"/>
                </a:schemeClr>
              </a:solidFill>
              <a:latin typeface="+mj-lt"/>
              <a:ea typeface="Calibri"/>
              <a:cs typeface="Calibri"/>
            </a:endParaRPr>
          </a:p>
        </p:txBody>
      </p:sp>
      <p:sp>
        <p:nvSpPr>
          <p:cNvPr id="13" name="Text 4">
            <a:extLst>
              <a:ext uri="{FF2B5EF4-FFF2-40B4-BE49-F238E27FC236}">
                <a16:creationId xmlns:a16="http://schemas.microsoft.com/office/drawing/2014/main" id="{7BEDE68F-4001-D240-85D9-3917AE8B560F}"/>
              </a:ext>
            </a:extLst>
          </p:cNvPr>
          <p:cNvSpPr/>
          <p:nvPr/>
        </p:nvSpPr>
        <p:spPr>
          <a:xfrm>
            <a:off x="2426910" y="1194167"/>
            <a:ext cx="3074155" cy="363037"/>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dirty="0">
                <a:solidFill>
                  <a:srgbClr val="000000"/>
                </a:solidFill>
                <a:ea typeface="Tomorrow" pitchFamily="34" charset="-122"/>
                <a:cs typeface="Tomorrow" pitchFamily="34" charset="-120"/>
              </a:rPr>
              <a:t>To what extent can Large Language Models autonomously conduct </a:t>
            </a:r>
            <a:r>
              <a:rPr lang="en-US" sz="900" b="1" dirty="0">
                <a:solidFill>
                  <a:srgbClr val="000000"/>
                </a:solidFill>
                <a:ea typeface="Tomorrow" pitchFamily="34" charset="-122"/>
                <a:cs typeface="Tomorrow" pitchFamily="34" charset="-120"/>
              </a:rPr>
              <a:t>cross-domain </a:t>
            </a:r>
            <a:r>
              <a:rPr lang="en-US" sz="900" dirty="0">
                <a:solidFill>
                  <a:srgbClr val="000000"/>
                </a:solidFill>
                <a:ea typeface="Tomorrow" pitchFamily="34" charset="-122"/>
                <a:cs typeface="Tomorrow" pitchFamily="34" charset="-120"/>
              </a:rPr>
              <a:t>reasoning while maintaining </a:t>
            </a:r>
            <a:r>
              <a:rPr lang="en-US" sz="900" b="1" dirty="0">
                <a:solidFill>
                  <a:srgbClr val="000000"/>
                </a:solidFill>
                <a:ea typeface="Tomorrow" pitchFamily="34" charset="-122"/>
                <a:cs typeface="Tomorrow" pitchFamily="34" charset="-120"/>
              </a:rPr>
              <a:t>accuracy and robustness?</a:t>
            </a:r>
            <a:endParaRPr lang="en-US" sz="900" dirty="0">
              <a:solidFill>
                <a:srgbClr val="000000"/>
              </a:solidFill>
              <a:latin typeface="Tomorrow"/>
            </a:endParaRPr>
          </a:p>
        </p:txBody>
      </p:sp>
      <p:sp>
        <p:nvSpPr>
          <p:cNvPr id="15" name="Text 5">
            <a:extLst>
              <a:ext uri="{FF2B5EF4-FFF2-40B4-BE49-F238E27FC236}">
                <a16:creationId xmlns:a16="http://schemas.microsoft.com/office/drawing/2014/main" id="{16C29244-5E39-28FD-889E-E822D8F8A85A}"/>
              </a:ext>
            </a:extLst>
          </p:cNvPr>
          <p:cNvSpPr/>
          <p:nvPr/>
        </p:nvSpPr>
        <p:spPr>
          <a:xfrm>
            <a:off x="2426910" y="1839420"/>
            <a:ext cx="75639" cy="94548"/>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b="1">
                <a:solidFill>
                  <a:srgbClr val="953734"/>
                </a:solidFill>
                <a:latin typeface="Tomorrow Light"/>
                <a:ea typeface="Tomorrow Light"/>
                <a:cs typeface="Tomorrow Light" pitchFamily="34" charset="-120"/>
              </a:rPr>
              <a:t>02</a:t>
            </a:r>
            <a:endParaRPr lang="en-US" sz="700" b="1">
              <a:solidFill>
                <a:srgbClr val="953734"/>
              </a:solidFill>
              <a:latin typeface="Calibri"/>
              <a:ea typeface="Tomorrow Light"/>
              <a:cs typeface="Calibri"/>
            </a:endParaRPr>
          </a:p>
        </p:txBody>
      </p:sp>
      <p:sp>
        <p:nvSpPr>
          <p:cNvPr id="17" name="Shape 6">
            <a:extLst>
              <a:ext uri="{FF2B5EF4-FFF2-40B4-BE49-F238E27FC236}">
                <a16:creationId xmlns:a16="http://schemas.microsoft.com/office/drawing/2014/main" id="{6CADE75B-040C-2B87-67F3-EE9FA6C4480E}"/>
              </a:ext>
            </a:extLst>
          </p:cNvPr>
          <p:cNvSpPr/>
          <p:nvPr/>
        </p:nvSpPr>
        <p:spPr>
          <a:xfrm>
            <a:off x="2426910" y="1958978"/>
            <a:ext cx="3074155" cy="9009"/>
          </a:xfrm>
          <a:prstGeom prst="rect">
            <a:avLst/>
          </a:prstGeom>
          <a:solidFill>
            <a:srgbClr val="C00000"/>
          </a:solidFill>
          <a:ln>
            <a:solidFill>
              <a:srgbClr val="953735"/>
            </a:solidFill>
          </a:ln>
        </p:spPr>
      </p:sp>
      <p:sp>
        <p:nvSpPr>
          <p:cNvPr id="19" name="Text 7">
            <a:extLst>
              <a:ext uri="{FF2B5EF4-FFF2-40B4-BE49-F238E27FC236}">
                <a16:creationId xmlns:a16="http://schemas.microsoft.com/office/drawing/2014/main" id="{C213BDC3-4491-2717-C070-62D56BB9227A}"/>
              </a:ext>
            </a:extLst>
          </p:cNvPr>
          <p:cNvSpPr/>
          <p:nvPr/>
        </p:nvSpPr>
        <p:spPr>
          <a:xfrm>
            <a:off x="2426909" y="2014814"/>
            <a:ext cx="1653149" cy="129505"/>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26"/>
              </a:lnSpc>
              <a:buNone/>
            </a:pPr>
            <a:r>
              <a:rPr lang="en-US" sz="1000" b="1" dirty="0">
                <a:solidFill>
                  <a:srgbClr val="8F3432"/>
                </a:solidFill>
                <a:latin typeface="+mj-lt"/>
                <a:ea typeface="Tomorrow Semi Bold"/>
                <a:cs typeface="Tomorrow Semi Bold" pitchFamily="34" charset="-120"/>
              </a:rPr>
              <a:t>Retrieval Pipeline</a:t>
            </a:r>
            <a:endParaRPr lang="en-US" sz="1000" b="1" dirty="0">
              <a:solidFill>
                <a:srgbClr val="8F3432"/>
              </a:solidFill>
              <a:latin typeface="+mj-lt"/>
              <a:ea typeface="Calibri"/>
              <a:cs typeface="Calibri"/>
            </a:endParaRPr>
          </a:p>
        </p:txBody>
      </p:sp>
      <p:sp>
        <p:nvSpPr>
          <p:cNvPr id="21" name="Text 8">
            <a:extLst>
              <a:ext uri="{FF2B5EF4-FFF2-40B4-BE49-F238E27FC236}">
                <a16:creationId xmlns:a16="http://schemas.microsoft.com/office/drawing/2014/main" id="{33DB51A0-9755-D583-D58D-983949970326}"/>
              </a:ext>
            </a:extLst>
          </p:cNvPr>
          <p:cNvSpPr/>
          <p:nvPr/>
        </p:nvSpPr>
        <p:spPr>
          <a:xfrm>
            <a:off x="2426910" y="2178339"/>
            <a:ext cx="3074155" cy="335650"/>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dirty="0">
                <a:solidFill>
                  <a:srgbClr val="000000"/>
                </a:solidFill>
                <a:ea typeface="Tomorrow" pitchFamily="34" charset="-122"/>
                <a:cs typeface="Tomorrow" pitchFamily="34" charset="-120"/>
              </a:rPr>
              <a:t>Can a specialized </a:t>
            </a:r>
            <a:r>
              <a:rPr lang="en-US" sz="900" b="1" dirty="0">
                <a:solidFill>
                  <a:srgbClr val="000000"/>
                </a:solidFill>
                <a:ea typeface="Tomorrow" pitchFamily="34" charset="-122"/>
                <a:cs typeface="Tomorrow" pitchFamily="34" charset="-120"/>
              </a:rPr>
              <a:t>agentic</a:t>
            </a:r>
            <a:r>
              <a:rPr lang="en-US" sz="900" dirty="0">
                <a:solidFill>
                  <a:srgbClr val="000000"/>
                </a:solidFill>
                <a:ea typeface="Tomorrow" pitchFamily="34" charset="-122"/>
                <a:cs typeface="Tomorrow" pitchFamily="34" charset="-120"/>
              </a:rPr>
              <a:t> retrieval pipeline </a:t>
            </a:r>
            <a:r>
              <a:rPr lang="en-US" sz="900" b="1" dirty="0">
                <a:solidFill>
                  <a:srgbClr val="000000"/>
                </a:solidFill>
                <a:ea typeface="Tomorrow" pitchFamily="34" charset="-122"/>
                <a:cs typeface="Tomorrow" pitchFamily="34" charset="-120"/>
              </a:rPr>
              <a:t>improve</a:t>
            </a:r>
            <a:r>
              <a:rPr lang="en-US" sz="900" dirty="0">
                <a:solidFill>
                  <a:srgbClr val="000000"/>
                </a:solidFill>
                <a:ea typeface="Tomorrow" pitchFamily="34" charset="-122"/>
                <a:cs typeface="Tomorrow" pitchFamily="34" charset="-120"/>
              </a:rPr>
              <a:t> the quality of the decision support task compared to a general purpose LLM?</a:t>
            </a:r>
            <a:endParaRPr lang="en-US" sz="800" dirty="0">
              <a:solidFill>
                <a:srgbClr val="000000"/>
              </a:solidFill>
            </a:endParaRPr>
          </a:p>
        </p:txBody>
      </p:sp>
    </p:spTree>
    <p:extLst>
      <p:ext uri="{BB962C8B-B14F-4D97-AF65-F5344CB8AC3E}">
        <p14:creationId xmlns:p14="http://schemas.microsoft.com/office/powerpoint/2010/main" val="1949353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06B17-9768-B209-0488-129AAA34DA63}"/>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0443E9D1-CC86-D2F2-EEFB-93FD26BD75C5}"/>
              </a:ext>
            </a:extLst>
          </p:cNvPr>
          <p:cNvSpPr txBox="1"/>
          <p:nvPr/>
        </p:nvSpPr>
        <p:spPr>
          <a:xfrm>
            <a:off x="869002" y="114827"/>
            <a:ext cx="3748948" cy="307777"/>
          </a:xfrm>
          <a:prstGeom prst="rect">
            <a:avLst/>
          </a:prstGeom>
          <a:noFill/>
        </p:spPr>
        <p:txBody>
          <a:bodyPr wrap="square">
            <a:spAutoFit/>
          </a:bodyPr>
          <a:lstStyle/>
          <a:p>
            <a:r>
              <a:rPr lang="en-US" sz="1400" b="1" dirty="0">
                <a:solidFill>
                  <a:srgbClr val="953735"/>
                </a:solidFill>
                <a:latin typeface="Calibri"/>
                <a:ea typeface="Calibri"/>
                <a:cs typeface="Calibri"/>
              </a:rPr>
              <a:t>Foundation and Existing Approaches</a:t>
            </a:r>
            <a:endParaRPr lang="en-US" sz="1400" dirty="0"/>
          </a:p>
        </p:txBody>
      </p:sp>
      <p:sp>
        <p:nvSpPr>
          <p:cNvPr id="50" name="Shape">
            <a:extLst>
              <a:ext uri="{FF2B5EF4-FFF2-40B4-BE49-F238E27FC236}">
                <a16:creationId xmlns:a16="http://schemas.microsoft.com/office/drawing/2014/main" id="{B0FFCF8B-E40A-45FC-9BE9-6C5AC7590240}"/>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1" name="Shape">
            <a:extLst>
              <a:ext uri="{FF2B5EF4-FFF2-40B4-BE49-F238E27FC236}">
                <a16:creationId xmlns:a16="http://schemas.microsoft.com/office/drawing/2014/main" id="{84C1FF30-2E05-4867-B89D-C73DE2A22231}"/>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2" name="Shape">
            <a:extLst>
              <a:ext uri="{FF2B5EF4-FFF2-40B4-BE49-F238E27FC236}">
                <a16:creationId xmlns:a16="http://schemas.microsoft.com/office/drawing/2014/main" id="{C1B1188E-B26D-43B1-BFFA-955B12FD2CEC}"/>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4">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3" name="Shape">
            <a:extLst>
              <a:ext uri="{FF2B5EF4-FFF2-40B4-BE49-F238E27FC236}">
                <a16:creationId xmlns:a16="http://schemas.microsoft.com/office/drawing/2014/main" id="{A43E6E2F-0B30-4D26-823D-66D58DCB21A2}"/>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4" name="Shape">
            <a:extLst>
              <a:ext uri="{FF2B5EF4-FFF2-40B4-BE49-F238E27FC236}">
                <a16:creationId xmlns:a16="http://schemas.microsoft.com/office/drawing/2014/main" id="{72ACFA31-AF2E-48ED-A13E-661E753AF95E}"/>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5" name="Shape">
            <a:extLst>
              <a:ext uri="{FF2B5EF4-FFF2-40B4-BE49-F238E27FC236}">
                <a16:creationId xmlns:a16="http://schemas.microsoft.com/office/drawing/2014/main" id="{38622F77-BC13-416B-9F65-8AFCB46E0C31}"/>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6" name="Shape">
            <a:extLst>
              <a:ext uri="{FF2B5EF4-FFF2-40B4-BE49-F238E27FC236}">
                <a16:creationId xmlns:a16="http://schemas.microsoft.com/office/drawing/2014/main" id="{1DC1BF6D-1624-4B79-B424-48BA9823EA74}"/>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7" name="Shape">
            <a:extLst>
              <a:ext uri="{FF2B5EF4-FFF2-40B4-BE49-F238E27FC236}">
                <a16:creationId xmlns:a16="http://schemas.microsoft.com/office/drawing/2014/main" id="{A86E7E81-C355-4E92-ABD4-2E4ED7B7ACF1}"/>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8" name="Shape">
            <a:extLst>
              <a:ext uri="{FF2B5EF4-FFF2-40B4-BE49-F238E27FC236}">
                <a16:creationId xmlns:a16="http://schemas.microsoft.com/office/drawing/2014/main" id="{41A8A17A-FAA7-4621-B596-AD4B314A5BBA}"/>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9" name="Freeform: Shape 11">
            <a:extLst>
              <a:ext uri="{FF2B5EF4-FFF2-40B4-BE49-F238E27FC236}">
                <a16:creationId xmlns:a16="http://schemas.microsoft.com/office/drawing/2014/main" id="{97AC11AD-0EC3-4A2D-9C38-E25CE8CF85FA}"/>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0" name="Freeform: Shape 12">
            <a:extLst>
              <a:ext uri="{FF2B5EF4-FFF2-40B4-BE49-F238E27FC236}">
                <a16:creationId xmlns:a16="http://schemas.microsoft.com/office/drawing/2014/main" id="{CEA6ECC3-4B5B-4CFD-876B-49C4EDC28AA7}"/>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1" name="Freeform: Shape 13">
            <a:extLst>
              <a:ext uri="{FF2B5EF4-FFF2-40B4-BE49-F238E27FC236}">
                <a16:creationId xmlns:a16="http://schemas.microsoft.com/office/drawing/2014/main" id="{34B2965F-02F7-4F16-90ED-08969A033032}"/>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2" name="Freeform: Shape 14">
            <a:extLst>
              <a:ext uri="{FF2B5EF4-FFF2-40B4-BE49-F238E27FC236}">
                <a16:creationId xmlns:a16="http://schemas.microsoft.com/office/drawing/2014/main" id="{B3F78951-664E-4A75-80ED-269F44E4CD58}"/>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3" name="Freeform: Shape 15">
            <a:extLst>
              <a:ext uri="{FF2B5EF4-FFF2-40B4-BE49-F238E27FC236}">
                <a16:creationId xmlns:a16="http://schemas.microsoft.com/office/drawing/2014/main" id="{6759C065-224A-4D2A-B325-0566CEAC7923}"/>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4" name="Shape">
            <a:extLst>
              <a:ext uri="{FF2B5EF4-FFF2-40B4-BE49-F238E27FC236}">
                <a16:creationId xmlns:a16="http://schemas.microsoft.com/office/drawing/2014/main" id="{88C69627-7EA4-403E-A47E-7DB46458E32A}"/>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5" name="Shape">
            <a:extLst>
              <a:ext uri="{FF2B5EF4-FFF2-40B4-BE49-F238E27FC236}">
                <a16:creationId xmlns:a16="http://schemas.microsoft.com/office/drawing/2014/main" id="{B7D10978-8629-4BEE-829A-5DD4AB7FFCB9}"/>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6" name="Shape">
            <a:extLst>
              <a:ext uri="{FF2B5EF4-FFF2-40B4-BE49-F238E27FC236}">
                <a16:creationId xmlns:a16="http://schemas.microsoft.com/office/drawing/2014/main" id="{2C885619-9C30-46E2-A419-76C805B46C11}"/>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7" name="Shape">
            <a:extLst>
              <a:ext uri="{FF2B5EF4-FFF2-40B4-BE49-F238E27FC236}">
                <a16:creationId xmlns:a16="http://schemas.microsoft.com/office/drawing/2014/main" id="{A8C3DDD8-8961-4C4F-AB44-C15CF0584F61}"/>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8" name="Shape">
            <a:extLst>
              <a:ext uri="{FF2B5EF4-FFF2-40B4-BE49-F238E27FC236}">
                <a16:creationId xmlns:a16="http://schemas.microsoft.com/office/drawing/2014/main" id="{8B721E62-B4F9-4737-B536-FA4ECED063AF}"/>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9" name="Shape">
            <a:extLst>
              <a:ext uri="{FF2B5EF4-FFF2-40B4-BE49-F238E27FC236}">
                <a16:creationId xmlns:a16="http://schemas.microsoft.com/office/drawing/2014/main" id="{B827F09D-5048-4FBB-B2C8-6164B6263CDB}"/>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0" name="Shape">
            <a:extLst>
              <a:ext uri="{FF2B5EF4-FFF2-40B4-BE49-F238E27FC236}">
                <a16:creationId xmlns:a16="http://schemas.microsoft.com/office/drawing/2014/main" id="{85BAA661-C50E-45C9-98DC-EF9EA004A0F7}"/>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1" name="Shape">
            <a:extLst>
              <a:ext uri="{FF2B5EF4-FFF2-40B4-BE49-F238E27FC236}">
                <a16:creationId xmlns:a16="http://schemas.microsoft.com/office/drawing/2014/main" id="{5ED99607-A1BD-454A-B43A-B6EB39757194}"/>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2" name="Shape">
            <a:extLst>
              <a:ext uri="{FF2B5EF4-FFF2-40B4-BE49-F238E27FC236}">
                <a16:creationId xmlns:a16="http://schemas.microsoft.com/office/drawing/2014/main" id="{BEA136D6-9708-47D9-AF33-F0619929B7B3}"/>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3" name="Shape">
            <a:extLst>
              <a:ext uri="{FF2B5EF4-FFF2-40B4-BE49-F238E27FC236}">
                <a16:creationId xmlns:a16="http://schemas.microsoft.com/office/drawing/2014/main" id="{FB413190-DA43-4EA0-BCD9-C0AA91811A86}"/>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4" name="Shape">
            <a:extLst>
              <a:ext uri="{FF2B5EF4-FFF2-40B4-BE49-F238E27FC236}">
                <a16:creationId xmlns:a16="http://schemas.microsoft.com/office/drawing/2014/main" id="{61A7A11A-8E4D-41A2-B144-D7D2348A6D87}"/>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5" name="Shape">
            <a:extLst>
              <a:ext uri="{FF2B5EF4-FFF2-40B4-BE49-F238E27FC236}">
                <a16:creationId xmlns:a16="http://schemas.microsoft.com/office/drawing/2014/main" id="{038883AB-6AE8-4497-9ED8-AB3B3374E65C}"/>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6" name="Shape">
            <a:extLst>
              <a:ext uri="{FF2B5EF4-FFF2-40B4-BE49-F238E27FC236}">
                <a16:creationId xmlns:a16="http://schemas.microsoft.com/office/drawing/2014/main" id="{B99A1FA0-A010-4089-B620-EA58003D3EB5}"/>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7" name="TextBox 29">
            <a:extLst>
              <a:ext uri="{FF2B5EF4-FFF2-40B4-BE49-F238E27FC236}">
                <a16:creationId xmlns:a16="http://schemas.microsoft.com/office/drawing/2014/main" id="{32099392-CB3D-48D7-B5C7-FECAF3B52D26}"/>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78" name="TextBox 30">
            <a:extLst>
              <a:ext uri="{FF2B5EF4-FFF2-40B4-BE49-F238E27FC236}">
                <a16:creationId xmlns:a16="http://schemas.microsoft.com/office/drawing/2014/main" id="{58C1ED4E-EB04-466A-ACDC-A476C4D1249B}"/>
              </a:ext>
            </a:extLst>
          </p:cNvPr>
          <p:cNvSpPr txBox="1"/>
          <p:nvPr/>
        </p:nvSpPr>
        <p:spPr>
          <a:xfrm>
            <a:off x="1720269" y="1323879"/>
            <a:ext cx="487650"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sp>
        <p:nvSpPr>
          <p:cNvPr id="79" name="TextBox 31">
            <a:extLst>
              <a:ext uri="{FF2B5EF4-FFF2-40B4-BE49-F238E27FC236}">
                <a16:creationId xmlns:a16="http://schemas.microsoft.com/office/drawing/2014/main" id="{5E996A40-3223-46E1-93DD-66D32651F58A}"/>
              </a:ext>
            </a:extLst>
          </p:cNvPr>
          <p:cNvSpPr txBox="1"/>
          <p:nvPr/>
        </p:nvSpPr>
        <p:spPr>
          <a:xfrm>
            <a:off x="2576516" y="1785961"/>
            <a:ext cx="337975" cy="261610"/>
          </a:xfrm>
          <a:prstGeom prst="rect">
            <a:avLst/>
          </a:prstGeom>
          <a:solidFill>
            <a:schemeClr val="bg2"/>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dirty="0"/>
              <a:t>03</a:t>
            </a:r>
          </a:p>
        </p:txBody>
      </p:sp>
      <p:grpSp>
        <p:nvGrpSpPr>
          <p:cNvPr id="81" name="Group 33">
            <a:extLst>
              <a:ext uri="{FF2B5EF4-FFF2-40B4-BE49-F238E27FC236}">
                <a16:creationId xmlns:a16="http://schemas.microsoft.com/office/drawing/2014/main" id="{E4005E55-4396-49A0-913A-BFD58F4F47DA}"/>
              </a:ext>
            </a:extLst>
          </p:cNvPr>
          <p:cNvGrpSpPr/>
          <p:nvPr/>
        </p:nvGrpSpPr>
        <p:grpSpPr>
          <a:xfrm>
            <a:off x="245275" y="2643365"/>
            <a:ext cx="1089430" cy="400403"/>
            <a:chOff x="332933" y="2620027"/>
            <a:chExt cx="2926083" cy="846667"/>
          </a:xfrm>
        </p:grpSpPr>
        <p:sp>
          <p:nvSpPr>
            <p:cNvPr id="82" name="TextBox 34">
              <a:extLst>
                <a:ext uri="{FF2B5EF4-FFF2-40B4-BE49-F238E27FC236}">
                  <a16:creationId xmlns:a16="http://schemas.microsoft.com/office/drawing/2014/main" id="{BD52D18C-5980-4D79-85F9-4044B5BB0AB7}"/>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Operative Context</a:t>
              </a:r>
            </a:p>
          </p:txBody>
        </p:sp>
        <p:sp>
          <p:nvSpPr>
            <p:cNvPr id="83" name="TextBox 35">
              <a:extLst>
                <a:ext uri="{FF2B5EF4-FFF2-40B4-BE49-F238E27FC236}">
                  <a16:creationId xmlns:a16="http://schemas.microsoft.com/office/drawing/2014/main" id="{B257DF70-39A9-40E4-A05E-9262A5B97C84}"/>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4" name="TextBox 36">
            <a:extLst>
              <a:ext uri="{FF2B5EF4-FFF2-40B4-BE49-F238E27FC236}">
                <a16:creationId xmlns:a16="http://schemas.microsoft.com/office/drawing/2014/main" id="{BC7D07EF-05AB-4A99-8258-3FA39D4999DB}"/>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85" name="TextBox 38">
            <a:extLst>
              <a:ext uri="{FF2B5EF4-FFF2-40B4-BE49-F238E27FC236}">
                <a16:creationId xmlns:a16="http://schemas.microsoft.com/office/drawing/2014/main" id="{E42B35C2-3CD7-4F10-A5FE-450782541781}"/>
              </a:ext>
            </a:extLst>
          </p:cNvPr>
          <p:cNvSpPr txBox="1"/>
          <p:nvPr/>
        </p:nvSpPr>
        <p:spPr>
          <a:xfrm>
            <a:off x="4245974" y="2716321"/>
            <a:ext cx="1089429" cy="35400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and Future Work</a:t>
            </a:r>
            <a:endParaRPr lang="en-US" sz="1100" dirty="0"/>
          </a:p>
        </p:txBody>
      </p:sp>
      <p:grpSp>
        <p:nvGrpSpPr>
          <p:cNvPr id="86" name="Group 40">
            <a:extLst>
              <a:ext uri="{FF2B5EF4-FFF2-40B4-BE49-F238E27FC236}">
                <a16:creationId xmlns:a16="http://schemas.microsoft.com/office/drawing/2014/main" id="{96770F31-3FB1-47AE-A26A-53677CD4D272}"/>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EB7047E6-DD19-490A-A543-09EB02CE4840}"/>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b="1" dirty="0">
                  <a:latin typeface="+mj-lt"/>
                  <a:ea typeface="Calibri"/>
                  <a:cs typeface="Calibri"/>
                </a:rPr>
                <a:t>Foundation and Existing Approaches</a:t>
              </a:r>
              <a:endParaRPr lang="en-US" sz="1100" b="1" dirty="0">
                <a:latin typeface="+mj-lt"/>
              </a:endParaRPr>
            </a:p>
          </p:txBody>
        </p:sp>
        <p:sp>
          <p:nvSpPr>
            <p:cNvPr id="88" name="TextBox 42">
              <a:extLst>
                <a:ext uri="{FF2B5EF4-FFF2-40B4-BE49-F238E27FC236}">
                  <a16:creationId xmlns:a16="http://schemas.microsoft.com/office/drawing/2014/main" id="{4E88C763-99A0-4FDB-AE4D-658DF252245F}"/>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9" name="TextBox 43">
            <a:extLst>
              <a:ext uri="{FF2B5EF4-FFF2-40B4-BE49-F238E27FC236}">
                <a16:creationId xmlns:a16="http://schemas.microsoft.com/office/drawing/2014/main" id="{CEDCAD10-921D-400D-BE21-9E0F19DD074B}"/>
              </a:ext>
            </a:extLst>
          </p:cNvPr>
          <p:cNvSpPr txBox="1"/>
          <p:nvPr/>
        </p:nvSpPr>
        <p:spPr>
          <a:xfrm>
            <a:off x="3438475" y="1803604"/>
            <a:ext cx="362694" cy="261610"/>
          </a:xfrm>
          <a:prstGeom prst="rect">
            <a:avLst/>
          </a:prstGeom>
          <a:solidFill>
            <a:schemeClr val="bg2"/>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0" name="Shape">
            <a:extLst>
              <a:ext uri="{FF2B5EF4-FFF2-40B4-BE49-F238E27FC236}">
                <a16:creationId xmlns:a16="http://schemas.microsoft.com/office/drawing/2014/main" id="{20AB7A13-87F2-4FEB-8F9D-46FA11A02530}"/>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91" name="TextBox 45">
            <a:extLst>
              <a:ext uri="{FF2B5EF4-FFF2-40B4-BE49-F238E27FC236}">
                <a16:creationId xmlns:a16="http://schemas.microsoft.com/office/drawing/2014/main" id="{6D9C1BC3-A854-409C-9817-7C1F5D3C5DEE}"/>
              </a:ext>
            </a:extLst>
          </p:cNvPr>
          <p:cNvSpPr txBox="1"/>
          <p:nvPr/>
        </p:nvSpPr>
        <p:spPr>
          <a:xfrm>
            <a:off x="1687762" y="1811299"/>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92" name="TextBox 46">
            <a:extLst>
              <a:ext uri="{FF2B5EF4-FFF2-40B4-BE49-F238E27FC236}">
                <a16:creationId xmlns:a16="http://schemas.microsoft.com/office/drawing/2014/main" id="{ED86F850-1143-4A80-BD07-BAF2B5856991}"/>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
        <p:nvSpPr>
          <p:cNvPr id="47" name="Shape">
            <a:extLst>
              <a:ext uri="{FF2B5EF4-FFF2-40B4-BE49-F238E27FC236}">
                <a16:creationId xmlns:a16="http://schemas.microsoft.com/office/drawing/2014/main" id="{29463D4E-D343-475F-9E1C-B1D5B2970758}"/>
              </a:ext>
            </a:extLst>
          </p:cNvPr>
          <p:cNvSpPr/>
          <p:nvPr/>
        </p:nvSpPr>
        <p:spPr>
          <a:xfrm>
            <a:off x="247700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3" name="Shape">
            <a:extLst>
              <a:ext uri="{FF2B5EF4-FFF2-40B4-BE49-F238E27FC236}">
                <a16:creationId xmlns:a16="http://schemas.microsoft.com/office/drawing/2014/main" id="{69710625-0FEC-40D5-BD8E-157A8F75C2FE}"/>
              </a:ext>
            </a:extLst>
          </p:cNvPr>
          <p:cNvSpPr/>
          <p:nvPr/>
        </p:nvSpPr>
        <p:spPr>
          <a:xfrm>
            <a:off x="337227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4" name="TextBox 31">
            <a:extLst>
              <a:ext uri="{FF2B5EF4-FFF2-40B4-BE49-F238E27FC236}">
                <a16:creationId xmlns:a16="http://schemas.microsoft.com/office/drawing/2014/main" id="{F42E83AA-3769-4E0D-A89B-96FC97115CF7}"/>
              </a:ext>
            </a:extLst>
          </p:cNvPr>
          <p:cNvSpPr txBox="1"/>
          <p:nvPr/>
        </p:nvSpPr>
        <p:spPr>
          <a:xfrm>
            <a:off x="2570346" y="1785961"/>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dirty="0"/>
              <a:t>03</a:t>
            </a:r>
          </a:p>
        </p:txBody>
      </p:sp>
      <p:sp>
        <p:nvSpPr>
          <p:cNvPr id="95" name="TextBox 43">
            <a:extLst>
              <a:ext uri="{FF2B5EF4-FFF2-40B4-BE49-F238E27FC236}">
                <a16:creationId xmlns:a16="http://schemas.microsoft.com/office/drawing/2014/main" id="{F24582C4-9490-45F2-B452-6BD6BD3148F6}"/>
              </a:ext>
            </a:extLst>
          </p:cNvPr>
          <p:cNvSpPr txBox="1"/>
          <p:nvPr/>
        </p:nvSpPr>
        <p:spPr>
          <a:xfrm>
            <a:off x="3432305" y="1803604"/>
            <a:ext cx="362694"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6" name="Shape">
            <a:extLst>
              <a:ext uri="{FF2B5EF4-FFF2-40B4-BE49-F238E27FC236}">
                <a16:creationId xmlns:a16="http://schemas.microsoft.com/office/drawing/2014/main" id="{8496EB34-C1CC-42A2-91E1-0A96C11841A1}"/>
              </a:ext>
            </a:extLst>
          </p:cNvPr>
          <p:cNvSpPr/>
          <p:nvPr/>
        </p:nvSpPr>
        <p:spPr>
          <a:xfrm>
            <a:off x="424998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Tree>
    <p:extLst>
      <p:ext uri="{BB962C8B-B14F-4D97-AF65-F5344CB8AC3E}">
        <p14:creationId xmlns:p14="http://schemas.microsoft.com/office/powerpoint/2010/main" val="826483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A15520-A692-2428-37BF-BE781BB5C1FD}"/>
              </a:ext>
            </a:extLst>
          </p:cNvPr>
          <p:cNvSpPr txBox="1"/>
          <p:nvPr/>
        </p:nvSpPr>
        <p:spPr>
          <a:xfrm>
            <a:off x="1318003" y="188368"/>
            <a:ext cx="392474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812433"/>
                </a:solidFill>
                <a:latin typeface="Calibri"/>
                <a:ea typeface="Calibri"/>
                <a:cs typeface="Calibri"/>
              </a:rPr>
              <a:t>Current SOTA for DSS in space missions</a:t>
            </a:r>
            <a:endParaRPr lang="en-US" dirty="0"/>
          </a:p>
        </p:txBody>
      </p:sp>
      <p:sp>
        <p:nvSpPr>
          <p:cNvPr id="3" name="Rettangolo con angoli arrotondati 2">
            <a:extLst>
              <a:ext uri="{FF2B5EF4-FFF2-40B4-BE49-F238E27FC236}">
                <a16:creationId xmlns:a16="http://schemas.microsoft.com/office/drawing/2014/main" id="{CE6616CA-366A-4F42-8A3A-938A0B000489}"/>
              </a:ext>
            </a:extLst>
          </p:cNvPr>
          <p:cNvSpPr/>
          <p:nvPr/>
        </p:nvSpPr>
        <p:spPr>
          <a:xfrm>
            <a:off x="708843" y="835025"/>
            <a:ext cx="2139950" cy="1225550"/>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5" name="CasellaDiTesto 4">
            <a:extLst>
              <a:ext uri="{FF2B5EF4-FFF2-40B4-BE49-F238E27FC236}">
                <a16:creationId xmlns:a16="http://schemas.microsoft.com/office/drawing/2014/main" id="{24E49A34-0609-4488-8E05-49BE070187A0}"/>
              </a:ext>
            </a:extLst>
          </p:cNvPr>
          <p:cNvSpPr txBox="1"/>
          <p:nvPr/>
        </p:nvSpPr>
        <p:spPr>
          <a:xfrm>
            <a:off x="765993" y="909191"/>
            <a:ext cx="1962150" cy="1231106"/>
          </a:xfrm>
          <a:prstGeom prst="rect">
            <a:avLst/>
          </a:prstGeom>
          <a:noFill/>
        </p:spPr>
        <p:txBody>
          <a:bodyPr wrap="square" rtlCol="0">
            <a:spAutoFit/>
          </a:bodyPr>
          <a:lstStyle/>
          <a:p>
            <a:pPr algn="ctr">
              <a:spcAft>
                <a:spcPts val="300"/>
              </a:spcAft>
            </a:pPr>
            <a:r>
              <a:rPr lang="it-IT" sz="800" b="1" dirty="0" err="1">
                <a:solidFill>
                  <a:schemeClr val="tx1"/>
                </a:solidFill>
                <a:latin typeface="+mn-lt"/>
              </a:rPr>
              <a:t>Kaisheng</a:t>
            </a:r>
            <a:r>
              <a:rPr lang="it-IT" sz="800" b="1" dirty="0">
                <a:solidFill>
                  <a:schemeClr val="tx1"/>
                </a:solidFill>
                <a:latin typeface="+mn-lt"/>
              </a:rPr>
              <a:t> et al. | </a:t>
            </a:r>
            <a:r>
              <a:rPr lang="it-IT" sz="800" b="1" dirty="0" err="1">
                <a:solidFill>
                  <a:schemeClr val="tx1"/>
                </a:solidFill>
                <a:latin typeface="+mn-lt"/>
              </a:rPr>
              <a:t>Autonomous</a:t>
            </a:r>
            <a:r>
              <a:rPr lang="it-IT" sz="800" b="1" dirty="0">
                <a:solidFill>
                  <a:schemeClr val="tx1"/>
                </a:solidFill>
                <a:latin typeface="+mn-lt"/>
              </a:rPr>
              <a:t> EVA [2026] </a:t>
            </a:r>
          </a:p>
          <a:p>
            <a:pPr algn="ctr"/>
            <a:endParaRPr lang="it-IT" sz="800" dirty="0">
              <a:solidFill>
                <a:schemeClr val="tx1"/>
              </a:solidFill>
              <a:latin typeface="+mn-lt"/>
            </a:endParaRPr>
          </a:p>
          <a:p>
            <a:pPr marL="171450" indent="-171450" algn="ctr">
              <a:spcAft>
                <a:spcPts val="300"/>
              </a:spcAft>
              <a:buFont typeface="Arial" panose="020B0604020202020204" pitchFamily="34" charset="0"/>
              <a:buChar char="•"/>
            </a:pPr>
            <a:r>
              <a:rPr lang="it-IT" sz="800" dirty="0">
                <a:solidFill>
                  <a:schemeClr val="tx1"/>
                </a:solidFill>
                <a:latin typeface="+mn-lt"/>
              </a:rPr>
              <a:t>Earth-</a:t>
            </a:r>
            <a:r>
              <a:rPr lang="it-IT" sz="800" dirty="0" err="1">
                <a:solidFill>
                  <a:schemeClr val="tx1"/>
                </a:solidFill>
                <a:latin typeface="+mn-lt"/>
              </a:rPr>
              <a:t>independent</a:t>
            </a:r>
            <a:r>
              <a:rPr lang="it-IT" sz="800" dirty="0">
                <a:solidFill>
                  <a:schemeClr val="tx1"/>
                </a:solidFill>
                <a:latin typeface="+mn-lt"/>
              </a:rPr>
              <a:t> DSS for</a:t>
            </a:r>
            <a:r>
              <a:rPr lang="it-IT" sz="800" b="1" dirty="0">
                <a:solidFill>
                  <a:schemeClr val="tx1"/>
                </a:solidFill>
                <a:latin typeface="+mn-lt"/>
              </a:rPr>
              <a:t> deep </a:t>
            </a:r>
            <a:r>
              <a:rPr lang="it-IT" sz="800" b="1" dirty="0" err="1">
                <a:solidFill>
                  <a:schemeClr val="tx1"/>
                </a:solidFill>
                <a:latin typeface="+mn-lt"/>
              </a:rPr>
              <a:t>space</a:t>
            </a:r>
            <a:r>
              <a:rPr lang="it-IT" sz="800" b="1" dirty="0">
                <a:solidFill>
                  <a:schemeClr val="tx1"/>
                </a:solidFill>
                <a:latin typeface="+mn-lt"/>
              </a:rPr>
              <a:t> </a:t>
            </a:r>
            <a:r>
              <a:rPr lang="it-IT" sz="800" b="1" dirty="0" err="1">
                <a:solidFill>
                  <a:schemeClr val="tx1"/>
                </a:solidFill>
                <a:latin typeface="+mn-lt"/>
              </a:rPr>
              <a:t>operations</a:t>
            </a:r>
            <a:r>
              <a:rPr lang="it-IT" sz="800" dirty="0">
                <a:solidFill>
                  <a:schemeClr val="tx1"/>
                </a:solidFill>
                <a:latin typeface="+mn-lt"/>
              </a:rPr>
              <a:t>.</a:t>
            </a:r>
          </a:p>
          <a:p>
            <a:pPr marL="171450" indent="-171450" algn="ctr">
              <a:spcAft>
                <a:spcPts val="300"/>
              </a:spcAft>
              <a:buFont typeface="Arial" panose="020B0604020202020204" pitchFamily="34" charset="0"/>
              <a:buChar char="•"/>
            </a:pPr>
            <a:r>
              <a:rPr lang="it-IT" sz="800" dirty="0" err="1">
                <a:solidFill>
                  <a:schemeClr val="tx1"/>
                </a:solidFill>
                <a:latin typeface="+mn-lt"/>
              </a:rPr>
              <a:t>Agentic</a:t>
            </a:r>
            <a:r>
              <a:rPr lang="it-IT" sz="800" dirty="0">
                <a:solidFill>
                  <a:schemeClr val="tx1"/>
                </a:solidFill>
                <a:latin typeface="+mn-lt"/>
              </a:rPr>
              <a:t> AI </a:t>
            </a:r>
            <a:r>
              <a:rPr lang="it-IT" sz="800" dirty="0" err="1">
                <a:solidFill>
                  <a:schemeClr val="tx1"/>
                </a:solidFill>
                <a:latin typeface="+mn-lt"/>
              </a:rPr>
              <a:t>integrating</a:t>
            </a:r>
            <a:r>
              <a:rPr lang="it-IT" sz="800" dirty="0">
                <a:solidFill>
                  <a:schemeClr val="tx1"/>
                </a:solidFill>
                <a:latin typeface="+mn-lt"/>
              </a:rPr>
              <a:t> fine-</a:t>
            </a:r>
            <a:r>
              <a:rPr lang="it-IT" sz="800" dirty="0" err="1">
                <a:solidFill>
                  <a:schemeClr val="tx1"/>
                </a:solidFill>
                <a:latin typeface="+mn-lt"/>
              </a:rPr>
              <a:t>tuned</a:t>
            </a:r>
            <a:r>
              <a:rPr lang="it-IT" sz="800" dirty="0">
                <a:solidFill>
                  <a:schemeClr val="tx1"/>
                </a:solidFill>
                <a:latin typeface="+mn-lt"/>
              </a:rPr>
              <a:t> </a:t>
            </a:r>
            <a:r>
              <a:rPr lang="it-IT" sz="800" dirty="0" err="1">
                <a:solidFill>
                  <a:schemeClr val="tx1"/>
                </a:solidFill>
                <a:latin typeface="+mn-lt"/>
              </a:rPr>
              <a:t>LLMs</a:t>
            </a:r>
            <a:r>
              <a:rPr lang="it-IT" sz="800" dirty="0">
                <a:solidFill>
                  <a:schemeClr val="tx1"/>
                </a:solidFill>
                <a:latin typeface="+mn-lt"/>
              </a:rPr>
              <a:t>, RAG and </a:t>
            </a:r>
            <a:r>
              <a:rPr lang="it-IT" sz="800" dirty="0" err="1">
                <a:solidFill>
                  <a:schemeClr val="tx1"/>
                </a:solidFill>
                <a:latin typeface="+mn-lt"/>
              </a:rPr>
              <a:t>physics</a:t>
            </a:r>
            <a:r>
              <a:rPr lang="it-IT" sz="800" dirty="0">
                <a:solidFill>
                  <a:schemeClr val="tx1"/>
                </a:solidFill>
                <a:latin typeface="+mn-lt"/>
              </a:rPr>
              <a:t> </a:t>
            </a:r>
            <a:r>
              <a:rPr lang="it-IT" sz="800" dirty="0" err="1">
                <a:solidFill>
                  <a:schemeClr val="tx1"/>
                </a:solidFill>
                <a:latin typeface="+mn-lt"/>
              </a:rPr>
              <a:t>based</a:t>
            </a:r>
            <a:r>
              <a:rPr lang="it-IT" sz="800" dirty="0">
                <a:solidFill>
                  <a:schemeClr val="tx1"/>
                </a:solidFill>
                <a:latin typeface="+mn-lt"/>
              </a:rPr>
              <a:t> </a:t>
            </a:r>
            <a:r>
              <a:rPr lang="it-IT" sz="800" dirty="0" err="1">
                <a:solidFill>
                  <a:schemeClr val="tx1"/>
                </a:solidFill>
                <a:latin typeface="+mn-lt"/>
              </a:rPr>
              <a:t>simulations</a:t>
            </a:r>
            <a:r>
              <a:rPr lang="it-IT" sz="800" dirty="0">
                <a:solidFill>
                  <a:schemeClr val="tx1"/>
                </a:solidFill>
                <a:latin typeface="+mn-lt"/>
              </a:rPr>
              <a:t>. </a:t>
            </a:r>
          </a:p>
          <a:p>
            <a:endParaRPr lang="it-IT" sz="800" dirty="0">
              <a:latin typeface="+mn-lt"/>
            </a:endParaRPr>
          </a:p>
        </p:txBody>
      </p:sp>
      <p:sp>
        <p:nvSpPr>
          <p:cNvPr id="6" name="Rettangolo con angoli arrotondati 5">
            <a:extLst>
              <a:ext uri="{FF2B5EF4-FFF2-40B4-BE49-F238E27FC236}">
                <a16:creationId xmlns:a16="http://schemas.microsoft.com/office/drawing/2014/main" id="{4EE7423C-8018-496A-AF38-AD834FC6A18E}"/>
              </a:ext>
            </a:extLst>
          </p:cNvPr>
          <p:cNvSpPr/>
          <p:nvPr/>
        </p:nvSpPr>
        <p:spPr>
          <a:xfrm>
            <a:off x="3102793" y="835025"/>
            <a:ext cx="2139950" cy="1225550"/>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7" name="CasellaDiTesto 6">
            <a:extLst>
              <a:ext uri="{FF2B5EF4-FFF2-40B4-BE49-F238E27FC236}">
                <a16:creationId xmlns:a16="http://schemas.microsoft.com/office/drawing/2014/main" id="{34BEBD4D-2115-49E0-9137-8A1AFD73F5B0}"/>
              </a:ext>
            </a:extLst>
          </p:cNvPr>
          <p:cNvSpPr txBox="1"/>
          <p:nvPr/>
        </p:nvSpPr>
        <p:spPr>
          <a:xfrm>
            <a:off x="3159943" y="909191"/>
            <a:ext cx="1962150" cy="1315745"/>
          </a:xfrm>
          <a:prstGeom prst="rect">
            <a:avLst/>
          </a:prstGeom>
          <a:noFill/>
        </p:spPr>
        <p:txBody>
          <a:bodyPr wrap="square" rtlCol="0">
            <a:spAutoFit/>
          </a:bodyPr>
          <a:lstStyle/>
          <a:p>
            <a:pPr algn="ctr">
              <a:spcAft>
                <a:spcPts val="300"/>
              </a:spcAft>
            </a:pPr>
            <a:r>
              <a:rPr lang="it-IT" sz="800" b="1" dirty="0">
                <a:solidFill>
                  <a:schemeClr val="tx1"/>
                </a:solidFill>
                <a:latin typeface="+mn-lt"/>
              </a:rPr>
              <a:t>Maranto et al. | LLMSAT [2024]</a:t>
            </a:r>
          </a:p>
          <a:p>
            <a:pPr algn="ctr"/>
            <a:endParaRPr lang="it-IT" sz="800" dirty="0">
              <a:solidFill>
                <a:schemeClr val="tx1"/>
              </a:solidFill>
              <a:latin typeface="+mn-lt"/>
            </a:endParaRPr>
          </a:p>
          <a:p>
            <a:pPr marL="171450" indent="-171450" algn="ctr">
              <a:spcAft>
                <a:spcPts val="300"/>
              </a:spcAft>
              <a:buFont typeface="Arial" panose="020B0604020202020204" pitchFamily="34" charset="0"/>
              <a:buChar char="•"/>
            </a:pPr>
            <a:r>
              <a:rPr lang="it-IT" sz="800" dirty="0">
                <a:solidFill>
                  <a:schemeClr val="tx1"/>
                </a:solidFill>
                <a:latin typeface="+mn-lt"/>
              </a:rPr>
              <a:t>High-</a:t>
            </a:r>
            <a:r>
              <a:rPr lang="it-IT" sz="800" dirty="0" err="1">
                <a:solidFill>
                  <a:schemeClr val="tx1"/>
                </a:solidFill>
                <a:latin typeface="+mn-lt"/>
              </a:rPr>
              <a:t>level</a:t>
            </a:r>
            <a:r>
              <a:rPr lang="it-IT" sz="800" dirty="0">
                <a:solidFill>
                  <a:schemeClr val="tx1"/>
                </a:solidFill>
                <a:latin typeface="+mn-lt"/>
              </a:rPr>
              <a:t> mission planning and </a:t>
            </a:r>
            <a:r>
              <a:rPr lang="it-IT" sz="800" dirty="0" err="1">
                <a:solidFill>
                  <a:schemeClr val="tx1"/>
                </a:solidFill>
                <a:latin typeface="+mn-lt"/>
              </a:rPr>
              <a:t>decision</a:t>
            </a:r>
            <a:r>
              <a:rPr lang="it-IT" sz="800" dirty="0">
                <a:solidFill>
                  <a:schemeClr val="tx1"/>
                </a:solidFill>
                <a:latin typeface="+mn-lt"/>
              </a:rPr>
              <a:t> support for </a:t>
            </a:r>
            <a:r>
              <a:rPr lang="it-IT" sz="800" b="1" dirty="0" err="1">
                <a:solidFill>
                  <a:schemeClr val="tx1"/>
                </a:solidFill>
                <a:latin typeface="+mn-lt"/>
              </a:rPr>
              <a:t>space</a:t>
            </a:r>
            <a:r>
              <a:rPr lang="it-IT" sz="800" b="1" dirty="0">
                <a:solidFill>
                  <a:schemeClr val="tx1"/>
                </a:solidFill>
                <a:latin typeface="+mn-lt"/>
              </a:rPr>
              <a:t> </a:t>
            </a:r>
            <a:r>
              <a:rPr lang="it-IT" sz="800" b="1" dirty="0" err="1">
                <a:solidFill>
                  <a:schemeClr val="tx1"/>
                </a:solidFill>
                <a:latin typeface="+mn-lt"/>
              </a:rPr>
              <a:t>exploration</a:t>
            </a:r>
            <a:r>
              <a:rPr lang="it-IT" sz="800" dirty="0">
                <a:solidFill>
                  <a:schemeClr val="tx1"/>
                </a:solidFill>
                <a:latin typeface="+mn-lt"/>
              </a:rPr>
              <a:t>.</a:t>
            </a:r>
          </a:p>
          <a:p>
            <a:pPr marL="171450" indent="-171450" algn="ctr">
              <a:spcAft>
                <a:spcPts val="300"/>
              </a:spcAft>
              <a:buFont typeface="Arial" panose="020B0604020202020204" pitchFamily="34" charset="0"/>
              <a:buChar char="•"/>
            </a:pPr>
            <a:r>
              <a:rPr lang="it-IT" sz="800" dirty="0" err="1">
                <a:solidFill>
                  <a:schemeClr val="tx1"/>
                </a:solidFill>
                <a:latin typeface="+mn-lt"/>
              </a:rPr>
              <a:t>Hierarchical</a:t>
            </a:r>
            <a:r>
              <a:rPr lang="it-IT" sz="800" dirty="0">
                <a:solidFill>
                  <a:schemeClr val="tx1"/>
                </a:solidFill>
                <a:latin typeface="+mn-lt"/>
              </a:rPr>
              <a:t> LLM </a:t>
            </a:r>
            <a:r>
              <a:rPr lang="it-IT" sz="800" dirty="0" err="1">
                <a:solidFill>
                  <a:schemeClr val="tx1"/>
                </a:solidFill>
                <a:latin typeface="+mn-lt"/>
              </a:rPr>
              <a:t>integrating</a:t>
            </a:r>
            <a:r>
              <a:rPr lang="it-IT" sz="800" dirty="0">
                <a:solidFill>
                  <a:schemeClr val="tx1"/>
                </a:solidFill>
                <a:latin typeface="+mn-lt"/>
              </a:rPr>
              <a:t> RAG, </a:t>
            </a:r>
            <a:r>
              <a:rPr lang="it-IT" sz="800" dirty="0" err="1">
                <a:solidFill>
                  <a:schemeClr val="tx1"/>
                </a:solidFill>
                <a:latin typeface="+mn-lt"/>
              </a:rPr>
              <a:t>flight</a:t>
            </a:r>
            <a:r>
              <a:rPr lang="it-IT" sz="800" dirty="0">
                <a:solidFill>
                  <a:schemeClr val="tx1"/>
                </a:solidFill>
                <a:latin typeface="+mn-lt"/>
              </a:rPr>
              <a:t>-software </a:t>
            </a:r>
            <a:r>
              <a:rPr lang="it-IT" sz="800" dirty="0" err="1">
                <a:solidFill>
                  <a:schemeClr val="tx1"/>
                </a:solidFill>
                <a:latin typeface="+mn-lt"/>
              </a:rPr>
              <a:t>interfaces</a:t>
            </a:r>
            <a:r>
              <a:rPr lang="it-IT" sz="800" dirty="0">
                <a:solidFill>
                  <a:schemeClr val="tx1"/>
                </a:solidFill>
                <a:latin typeface="+mn-lt"/>
              </a:rPr>
              <a:t> and </a:t>
            </a:r>
            <a:r>
              <a:rPr lang="it-IT" sz="800" dirty="0" err="1">
                <a:solidFill>
                  <a:schemeClr val="tx1"/>
                </a:solidFill>
                <a:latin typeface="+mn-lt"/>
              </a:rPr>
              <a:t>simulation</a:t>
            </a:r>
            <a:r>
              <a:rPr lang="it-IT" sz="800" dirty="0">
                <a:solidFill>
                  <a:schemeClr val="tx1"/>
                </a:solidFill>
                <a:latin typeface="+mn-lt"/>
              </a:rPr>
              <a:t> </a:t>
            </a:r>
            <a:r>
              <a:rPr lang="it-IT" sz="800" dirty="0" err="1">
                <a:solidFill>
                  <a:schemeClr val="tx1"/>
                </a:solidFill>
                <a:latin typeface="+mn-lt"/>
              </a:rPr>
              <a:t>based</a:t>
            </a:r>
            <a:r>
              <a:rPr lang="it-IT" sz="800" dirty="0">
                <a:solidFill>
                  <a:schemeClr val="tx1"/>
                </a:solidFill>
                <a:latin typeface="+mn-lt"/>
              </a:rPr>
              <a:t> planning.</a:t>
            </a:r>
          </a:p>
          <a:p>
            <a:endParaRPr lang="it-IT" sz="800" dirty="0">
              <a:latin typeface="+mn-lt"/>
            </a:endParaRPr>
          </a:p>
        </p:txBody>
      </p:sp>
      <p:sp>
        <p:nvSpPr>
          <p:cNvPr id="8" name="Rettangolo con angoli arrotondati 7">
            <a:extLst>
              <a:ext uri="{FF2B5EF4-FFF2-40B4-BE49-F238E27FC236}">
                <a16:creationId xmlns:a16="http://schemas.microsoft.com/office/drawing/2014/main" id="{DFE8BEB6-FE51-45BB-8EFC-8A4C1B6A25AE}"/>
              </a:ext>
            </a:extLst>
          </p:cNvPr>
          <p:cNvSpPr/>
          <p:nvPr/>
        </p:nvSpPr>
        <p:spPr>
          <a:xfrm>
            <a:off x="708843" y="2181151"/>
            <a:ext cx="4530725" cy="605454"/>
          </a:xfrm>
          <a:prstGeom prst="roundRect">
            <a:avLst/>
          </a:prstGeom>
          <a:solidFill>
            <a:schemeClr val="accent3">
              <a:alpha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300"/>
              </a:spcAft>
            </a:pPr>
            <a:r>
              <a:rPr lang="it-IT" sz="800" b="1" dirty="0" err="1">
                <a:solidFill>
                  <a:schemeClr val="tx1"/>
                </a:solidFill>
              </a:rPr>
              <a:t>Research</a:t>
            </a:r>
            <a:r>
              <a:rPr lang="it-IT" sz="800" b="1" dirty="0">
                <a:solidFill>
                  <a:schemeClr val="tx1"/>
                </a:solidFill>
              </a:rPr>
              <a:t> GAP</a:t>
            </a:r>
          </a:p>
          <a:p>
            <a:pPr algn="ctr">
              <a:spcAft>
                <a:spcPts val="300"/>
              </a:spcAft>
            </a:pPr>
            <a:r>
              <a:rPr lang="it-IT" sz="800" dirty="0" err="1">
                <a:solidFill>
                  <a:schemeClr val="tx1"/>
                </a:solidFill>
              </a:rPr>
              <a:t>Existing</a:t>
            </a:r>
            <a:r>
              <a:rPr lang="it-IT" sz="800" dirty="0">
                <a:solidFill>
                  <a:schemeClr val="tx1"/>
                </a:solidFill>
              </a:rPr>
              <a:t> </a:t>
            </a:r>
            <a:r>
              <a:rPr lang="it-IT" sz="800" dirty="0" err="1">
                <a:solidFill>
                  <a:schemeClr val="tx1"/>
                </a:solidFill>
              </a:rPr>
              <a:t>solutions</a:t>
            </a:r>
            <a:r>
              <a:rPr lang="it-IT" sz="800" dirty="0">
                <a:solidFill>
                  <a:schemeClr val="tx1"/>
                </a:solidFill>
              </a:rPr>
              <a:t> </a:t>
            </a:r>
            <a:r>
              <a:rPr lang="it-IT" sz="800" dirty="0" err="1">
                <a:solidFill>
                  <a:schemeClr val="tx1"/>
                </a:solidFill>
              </a:rPr>
              <a:t>remain</a:t>
            </a:r>
            <a:r>
              <a:rPr lang="it-IT" sz="800" dirty="0">
                <a:solidFill>
                  <a:schemeClr val="tx1"/>
                </a:solidFill>
              </a:rPr>
              <a:t> </a:t>
            </a:r>
            <a:r>
              <a:rPr lang="it-IT" sz="800" b="1" dirty="0">
                <a:solidFill>
                  <a:schemeClr val="tx1"/>
                </a:solidFill>
              </a:rPr>
              <a:t>domain </a:t>
            </a:r>
            <a:r>
              <a:rPr lang="it-IT" sz="800" b="1" dirty="0" err="1">
                <a:solidFill>
                  <a:schemeClr val="tx1"/>
                </a:solidFill>
              </a:rPr>
              <a:t>specific</a:t>
            </a:r>
            <a:r>
              <a:rPr lang="it-IT" sz="800" b="1" dirty="0">
                <a:solidFill>
                  <a:schemeClr val="tx1"/>
                </a:solidFill>
              </a:rPr>
              <a:t> </a:t>
            </a:r>
            <a:r>
              <a:rPr lang="it-IT" sz="800" dirty="0">
                <a:solidFill>
                  <a:schemeClr val="tx1"/>
                </a:solidFill>
              </a:rPr>
              <a:t>and </a:t>
            </a:r>
            <a:r>
              <a:rPr lang="it-IT" sz="800" b="1" dirty="0" err="1">
                <a:solidFill>
                  <a:schemeClr val="tx1"/>
                </a:solidFill>
              </a:rPr>
              <a:t>prototype</a:t>
            </a:r>
            <a:r>
              <a:rPr lang="it-IT" sz="800" b="1" dirty="0">
                <a:solidFill>
                  <a:schemeClr val="tx1"/>
                </a:solidFill>
              </a:rPr>
              <a:t> </a:t>
            </a:r>
            <a:r>
              <a:rPr lang="it-IT" sz="800" b="1" dirty="0" err="1">
                <a:solidFill>
                  <a:schemeClr val="tx1"/>
                </a:solidFill>
              </a:rPr>
              <a:t>oriented</a:t>
            </a:r>
            <a:r>
              <a:rPr lang="it-IT" sz="800" dirty="0">
                <a:solidFill>
                  <a:schemeClr val="tx1"/>
                </a:solidFill>
              </a:rPr>
              <a:t>, with </a:t>
            </a:r>
            <a:r>
              <a:rPr lang="it-IT" sz="800" b="1" dirty="0">
                <a:solidFill>
                  <a:schemeClr val="tx1"/>
                </a:solidFill>
              </a:rPr>
              <a:t>limited </a:t>
            </a:r>
            <a:r>
              <a:rPr lang="it-IT" sz="800" b="1" dirty="0" err="1">
                <a:solidFill>
                  <a:schemeClr val="tx1"/>
                </a:solidFill>
              </a:rPr>
              <a:t>integration</a:t>
            </a:r>
            <a:r>
              <a:rPr lang="it-IT" sz="800" b="1" dirty="0">
                <a:solidFill>
                  <a:schemeClr val="tx1"/>
                </a:solidFill>
              </a:rPr>
              <a:t> </a:t>
            </a:r>
            <a:r>
              <a:rPr lang="it-IT" sz="800" dirty="0">
                <a:solidFill>
                  <a:schemeClr val="tx1"/>
                </a:solidFill>
              </a:rPr>
              <a:t>of </a:t>
            </a:r>
            <a:r>
              <a:rPr lang="it-IT" sz="800" dirty="0" err="1">
                <a:solidFill>
                  <a:schemeClr val="tx1"/>
                </a:solidFill>
              </a:rPr>
              <a:t>heterogeneous</a:t>
            </a:r>
            <a:r>
              <a:rPr lang="it-IT" sz="800" dirty="0">
                <a:solidFill>
                  <a:schemeClr val="tx1"/>
                </a:solidFill>
              </a:rPr>
              <a:t> </a:t>
            </a:r>
            <a:r>
              <a:rPr lang="it-IT" sz="800" dirty="0" err="1">
                <a:solidFill>
                  <a:schemeClr val="tx1"/>
                </a:solidFill>
              </a:rPr>
              <a:t>operational</a:t>
            </a:r>
            <a:r>
              <a:rPr lang="it-IT" sz="800" dirty="0">
                <a:solidFill>
                  <a:schemeClr val="tx1"/>
                </a:solidFill>
              </a:rPr>
              <a:t> data and knowledge.</a:t>
            </a:r>
          </a:p>
        </p:txBody>
      </p:sp>
      <p:cxnSp>
        <p:nvCxnSpPr>
          <p:cNvPr id="10" name="Connettore diritto 9">
            <a:extLst>
              <a:ext uri="{FF2B5EF4-FFF2-40B4-BE49-F238E27FC236}">
                <a16:creationId xmlns:a16="http://schemas.microsoft.com/office/drawing/2014/main" id="{5B787028-E50A-41CD-9526-7EDA67C66F88}"/>
              </a:ext>
            </a:extLst>
          </p:cNvPr>
          <p:cNvCxnSpPr/>
          <p:nvPr/>
        </p:nvCxnSpPr>
        <p:spPr>
          <a:xfrm>
            <a:off x="804093" y="1139825"/>
            <a:ext cx="1971675" cy="0"/>
          </a:xfrm>
          <a:prstGeom prst="line">
            <a:avLst/>
          </a:prstGeom>
        </p:spPr>
        <p:style>
          <a:lnRef idx="1">
            <a:schemeClr val="dk1"/>
          </a:lnRef>
          <a:fillRef idx="0">
            <a:schemeClr val="dk1"/>
          </a:fillRef>
          <a:effectRef idx="0">
            <a:schemeClr val="dk1"/>
          </a:effectRef>
          <a:fontRef idx="minor">
            <a:schemeClr val="tx1"/>
          </a:fontRef>
        </p:style>
      </p:cxnSp>
      <p:cxnSp>
        <p:nvCxnSpPr>
          <p:cNvPr id="11" name="Connettore diritto 10">
            <a:extLst>
              <a:ext uri="{FF2B5EF4-FFF2-40B4-BE49-F238E27FC236}">
                <a16:creationId xmlns:a16="http://schemas.microsoft.com/office/drawing/2014/main" id="{7DF9B02C-DD70-422B-9C4E-270F508E5067}"/>
              </a:ext>
            </a:extLst>
          </p:cNvPr>
          <p:cNvCxnSpPr/>
          <p:nvPr/>
        </p:nvCxnSpPr>
        <p:spPr>
          <a:xfrm>
            <a:off x="3185343" y="1139825"/>
            <a:ext cx="197167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5236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BDBAB-029E-5500-EB43-65EF0A615B5C}"/>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53D708FC-4FE0-4A53-7CD6-4A2294BCF336}"/>
              </a:ext>
            </a:extLst>
          </p:cNvPr>
          <p:cNvSpPr txBox="1"/>
          <p:nvPr/>
        </p:nvSpPr>
        <p:spPr>
          <a:xfrm>
            <a:off x="869002" y="114827"/>
            <a:ext cx="4833362" cy="307777"/>
          </a:xfrm>
          <a:prstGeom prst="rect">
            <a:avLst/>
          </a:prstGeom>
          <a:noFill/>
        </p:spPr>
        <p:txBody>
          <a:bodyPr wrap="square">
            <a:spAutoFit/>
          </a:bodyPr>
          <a:lstStyle/>
          <a:p>
            <a:r>
              <a:rPr lang="en-US" sz="1400" b="1" dirty="0">
                <a:solidFill>
                  <a:srgbClr val="953735"/>
                </a:solidFill>
                <a:latin typeface="Calibri"/>
                <a:ea typeface="Calibri"/>
                <a:cs typeface="Calibri"/>
              </a:rPr>
              <a:t>Proposed system</a:t>
            </a:r>
            <a:endParaRPr lang="en-US" sz="1400" dirty="0"/>
          </a:p>
        </p:txBody>
      </p:sp>
      <p:sp>
        <p:nvSpPr>
          <p:cNvPr id="50" name="Shape">
            <a:extLst>
              <a:ext uri="{FF2B5EF4-FFF2-40B4-BE49-F238E27FC236}">
                <a16:creationId xmlns:a16="http://schemas.microsoft.com/office/drawing/2014/main" id="{D63FAADA-CA51-461D-A739-147A84D30EBA}"/>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1" name="Shape">
            <a:extLst>
              <a:ext uri="{FF2B5EF4-FFF2-40B4-BE49-F238E27FC236}">
                <a16:creationId xmlns:a16="http://schemas.microsoft.com/office/drawing/2014/main" id="{C5A44A9B-B611-4C0F-8691-507EA1CCC007}"/>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2" name="Shape">
            <a:extLst>
              <a:ext uri="{FF2B5EF4-FFF2-40B4-BE49-F238E27FC236}">
                <a16:creationId xmlns:a16="http://schemas.microsoft.com/office/drawing/2014/main" id="{7F574058-D938-43EA-B61C-23DBAFEB2261}"/>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3" name="Shape">
            <a:extLst>
              <a:ext uri="{FF2B5EF4-FFF2-40B4-BE49-F238E27FC236}">
                <a16:creationId xmlns:a16="http://schemas.microsoft.com/office/drawing/2014/main" id="{C4504D77-F28A-44C7-881F-0D6134113B61}"/>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4" name="Shape">
            <a:extLst>
              <a:ext uri="{FF2B5EF4-FFF2-40B4-BE49-F238E27FC236}">
                <a16:creationId xmlns:a16="http://schemas.microsoft.com/office/drawing/2014/main" id="{C6940200-DF6C-480B-B240-CDCC62429EE8}"/>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5">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5" name="Shape">
            <a:extLst>
              <a:ext uri="{FF2B5EF4-FFF2-40B4-BE49-F238E27FC236}">
                <a16:creationId xmlns:a16="http://schemas.microsoft.com/office/drawing/2014/main" id="{CAF2043C-A1FC-4C38-B724-B35D15D7A12F}"/>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6" name="Shape">
            <a:extLst>
              <a:ext uri="{FF2B5EF4-FFF2-40B4-BE49-F238E27FC236}">
                <a16:creationId xmlns:a16="http://schemas.microsoft.com/office/drawing/2014/main" id="{76EF6A27-549E-40E4-838D-9148F7BFAD4B}"/>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7" name="Shape">
            <a:extLst>
              <a:ext uri="{FF2B5EF4-FFF2-40B4-BE49-F238E27FC236}">
                <a16:creationId xmlns:a16="http://schemas.microsoft.com/office/drawing/2014/main" id="{B5FD8CEC-39B5-46F5-97FD-C8EE8619952A}"/>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8" name="Shape">
            <a:extLst>
              <a:ext uri="{FF2B5EF4-FFF2-40B4-BE49-F238E27FC236}">
                <a16:creationId xmlns:a16="http://schemas.microsoft.com/office/drawing/2014/main" id="{9AEB08C6-7647-488F-BEF4-2427143D2CA1}"/>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9" name="Freeform: Shape 11">
            <a:extLst>
              <a:ext uri="{FF2B5EF4-FFF2-40B4-BE49-F238E27FC236}">
                <a16:creationId xmlns:a16="http://schemas.microsoft.com/office/drawing/2014/main" id="{3C88C559-D95E-4E1E-B14A-261372B8062A}"/>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0" name="Freeform: Shape 12">
            <a:extLst>
              <a:ext uri="{FF2B5EF4-FFF2-40B4-BE49-F238E27FC236}">
                <a16:creationId xmlns:a16="http://schemas.microsoft.com/office/drawing/2014/main" id="{A873E1EC-3683-4D5A-8CDD-3DDA4ADFAB98}"/>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1" name="Freeform: Shape 13">
            <a:extLst>
              <a:ext uri="{FF2B5EF4-FFF2-40B4-BE49-F238E27FC236}">
                <a16:creationId xmlns:a16="http://schemas.microsoft.com/office/drawing/2014/main" id="{B6922FAA-BD8B-4B52-AE9B-FC2A23D975C4}"/>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2" name="Freeform: Shape 14">
            <a:extLst>
              <a:ext uri="{FF2B5EF4-FFF2-40B4-BE49-F238E27FC236}">
                <a16:creationId xmlns:a16="http://schemas.microsoft.com/office/drawing/2014/main" id="{D3A39B89-1263-44BE-ACC6-15AE5220956C}"/>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3" name="Freeform: Shape 15">
            <a:extLst>
              <a:ext uri="{FF2B5EF4-FFF2-40B4-BE49-F238E27FC236}">
                <a16:creationId xmlns:a16="http://schemas.microsoft.com/office/drawing/2014/main" id="{8B4D5D00-B5A8-4E4C-AF88-55DB23EC2882}"/>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4" name="Shape">
            <a:extLst>
              <a:ext uri="{FF2B5EF4-FFF2-40B4-BE49-F238E27FC236}">
                <a16:creationId xmlns:a16="http://schemas.microsoft.com/office/drawing/2014/main" id="{15854ADD-0B0E-48F6-9914-4981FFDCB08E}"/>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5" name="Shape">
            <a:extLst>
              <a:ext uri="{FF2B5EF4-FFF2-40B4-BE49-F238E27FC236}">
                <a16:creationId xmlns:a16="http://schemas.microsoft.com/office/drawing/2014/main" id="{DD100861-9E1E-404B-8C6A-9C9FA5CEC44E}"/>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6" name="Shape">
            <a:extLst>
              <a:ext uri="{FF2B5EF4-FFF2-40B4-BE49-F238E27FC236}">
                <a16:creationId xmlns:a16="http://schemas.microsoft.com/office/drawing/2014/main" id="{2DDF2F81-3E5B-4D65-96BE-98B90A54CF1C}"/>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7" name="Shape">
            <a:extLst>
              <a:ext uri="{FF2B5EF4-FFF2-40B4-BE49-F238E27FC236}">
                <a16:creationId xmlns:a16="http://schemas.microsoft.com/office/drawing/2014/main" id="{9309A60F-0116-47FA-A362-B3EC6489AE6E}"/>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8" name="Shape">
            <a:extLst>
              <a:ext uri="{FF2B5EF4-FFF2-40B4-BE49-F238E27FC236}">
                <a16:creationId xmlns:a16="http://schemas.microsoft.com/office/drawing/2014/main" id="{89569F5E-3AFD-429F-9C1A-1E3C80C8579A}"/>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9" name="Shape">
            <a:extLst>
              <a:ext uri="{FF2B5EF4-FFF2-40B4-BE49-F238E27FC236}">
                <a16:creationId xmlns:a16="http://schemas.microsoft.com/office/drawing/2014/main" id="{CC9A9436-DABB-4C75-A891-EC246013C98E}"/>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0" name="Shape">
            <a:extLst>
              <a:ext uri="{FF2B5EF4-FFF2-40B4-BE49-F238E27FC236}">
                <a16:creationId xmlns:a16="http://schemas.microsoft.com/office/drawing/2014/main" id="{98F319FB-DF36-4F7C-B517-8DEF00A5DC1F}"/>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1" name="Shape">
            <a:extLst>
              <a:ext uri="{FF2B5EF4-FFF2-40B4-BE49-F238E27FC236}">
                <a16:creationId xmlns:a16="http://schemas.microsoft.com/office/drawing/2014/main" id="{F2096A87-D7DB-49D3-9B10-E8F5E5080FB7}"/>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2" name="Shape">
            <a:extLst>
              <a:ext uri="{FF2B5EF4-FFF2-40B4-BE49-F238E27FC236}">
                <a16:creationId xmlns:a16="http://schemas.microsoft.com/office/drawing/2014/main" id="{55F5B11E-C027-45A7-B3C9-54BC83C01605}"/>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3" name="Shape">
            <a:extLst>
              <a:ext uri="{FF2B5EF4-FFF2-40B4-BE49-F238E27FC236}">
                <a16:creationId xmlns:a16="http://schemas.microsoft.com/office/drawing/2014/main" id="{37470297-237C-46DF-BF60-1C06637EE0D9}"/>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4" name="Shape">
            <a:extLst>
              <a:ext uri="{FF2B5EF4-FFF2-40B4-BE49-F238E27FC236}">
                <a16:creationId xmlns:a16="http://schemas.microsoft.com/office/drawing/2014/main" id="{46559341-5BFC-4DCE-AE34-4567F7BD40CE}"/>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5" name="Shape">
            <a:extLst>
              <a:ext uri="{FF2B5EF4-FFF2-40B4-BE49-F238E27FC236}">
                <a16:creationId xmlns:a16="http://schemas.microsoft.com/office/drawing/2014/main" id="{3F22B2A2-0CBC-413F-B382-98FD30FF09FD}"/>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6" name="Shape">
            <a:extLst>
              <a:ext uri="{FF2B5EF4-FFF2-40B4-BE49-F238E27FC236}">
                <a16:creationId xmlns:a16="http://schemas.microsoft.com/office/drawing/2014/main" id="{FA693E53-A414-4BF0-9FE9-F1CFFD66A0A6}"/>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7" name="TextBox 29">
            <a:extLst>
              <a:ext uri="{FF2B5EF4-FFF2-40B4-BE49-F238E27FC236}">
                <a16:creationId xmlns:a16="http://schemas.microsoft.com/office/drawing/2014/main" id="{788BA6C4-3595-49AE-8E1F-8FE4423CE9E5}"/>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79" name="TextBox 31">
            <a:extLst>
              <a:ext uri="{FF2B5EF4-FFF2-40B4-BE49-F238E27FC236}">
                <a16:creationId xmlns:a16="http://schemas.microsoft.com/office/drawing/2014/main" id="{5193166C-4B86-4502-ACC6-A97220CC3D1C}"/>
              </a:ext>
            </a:extLst>
          </p:cNvPr>
          <p:cNvSpPr txBox="1"/>
          <p:nvPr/>
        </p:nvSpPr>
        <p:spPr>
          <a:xfrm>
            <a:off x="2576516" y="1785961"/>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grpSp>
        <p:nvGrpSpPr>
          <p:cNvPr id="81" name="Group 33">
            <a:extLst>
              <a:ext uri="{FF2B5EF4-FFF2-40B4-BE49-F238E27FC236}">
                <a16:creationId xmlns:a16="http://schemas.microsoft.com/office/drawing/2014/main" id="{1E1C450E-65F1-4BA8-A607-603E75E8CC0C}"/>
              </a:ext>
            </a:extLst>
          </p:cNvPr>
          <p:cNvGrpSpPr/>
          <p:nvPr/>
        </p:nvGrpSpPr>
        <p:grpSpPr>
          <a:xfrm>
            <a:off x="245275" y="2643365"/>
            <a:ext cx="1089430" cy="400403"/>
            <a:chOff x="332933" y="2620027"/>
            <a:chExt cx="2926083" cy="846667"/>
          </a:xfrm>
        </p:grpSpPr>
        <p:sp>
          <p:nvSpPr>
            <p:cNvPr id="82" name="TextBox 34">
              <a:extLst>
                <a:ext uri="{FF2B5EF4-FFF2-40B4-BE49-F238E27FC236}">
                  <a16:creationId xmlns:a16="http://schemas.microsoft.com/office/drawing/2014/main" id="{9151C725-96F0-4289-A08A-41B41052B996}"/>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Operative Context</a:t>
              </a:r>
            </a:p>
          </p:txBody>
        </p:sp>
        <p:sp>
          <p:nvSpPr>
            <p:cNvPr id="83" name="TextBox 35">
              <a:extLst>
                <a:ext uri="{FF2B5EF4-FFF2-40B4-BE49-F238E27FC236}">
                  <a16:creationId xmlns:a16="http://schemas.microsoft.com/office/drawing/2014/main" id="{59D73C24-C618-4606-BA3A-27F199293A86}"/>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4" name="TextBox 36">
            <a:extLst>
              <a:ext uri="{FF2B5EF4-FFF2-40B4-BE49-F238E27FC236}">
                <a16:creationId xmlns:a16="http://schemas.microsoft.com/office/drawing/2014/main" id="{B6AD38E7-2D3B-4048-B0E5-720CCD72D3AC}"/>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b="1" dirty="0">
                <a:solidFill>
                  <a:srgbClr val="3B3535"/>
                </a:solidFill>
                <a:ea typeface="Sora Semi Bold" pitchFamily="34" charset="-122"/>
                <a:cs typeface="Sora Semi Bold" pitchFamily="34" charset="-120"/>
              </a:rPr>
              <a:t>Proposed System</a:t>
            </a:r>
          </a:p>
        </p:txBody>
      </p:sp>
      <p:sp>
        <p:nvSpPr>
          <p:cNvPr id="85" name="TextBox 38">
            <a:extLst>
              <a:ext uri="{FF2B5EF4-FFF2-40B4-BE49-F238E27FC236}">
                <a16:creationId xmlns:a16="http://schemas.microsoft.com/office/drawing/2014/main" id="{BF060646-F392-40FE-9EE5-C994C1EC970A}"/>
              </a:ext>
            </a:extLst>
          </p:cNvPr>
          <p:cNvSpPr txBox="1"/>
          <p:nvPr/>
        </p:nvSpPr>
        <p:spPr>
          <a:xfrm>
            <a:off x="4245974" y="2716321"/>
            <a:ext cx="1089429" cy="35400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and Future Work</a:t>
            </a:r>
            <a:endParaRPr lang="en-US" sz="1100" dirty="0"/>
          </a:p>
        </p:txBody>
      </p:sp>
      <p:grpSp>
        <p:nvGrpSpPr>
          <p:cNvPr id="86" name="Group 40">
            <a:extLst>
              <a:ext uri="{FF2B5EF4-FFF2-40B4-BE49-F238E27FC236}">
                <a16:creationId xmlns:a16="http://schemas.microsoft.com/office/drawing/2014/main" id="{A92C83CC-50E1-40F4-A2A4-4D7F56D8474B}"/>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D035D648-B23C-45C9-A078-0786848454EB}"/>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88" name="TextBox 42">
              <a:extLst>
                <a:ext uri="{FF2B5EF4-FFF2-40B4-BE49-F238E27FC236}">
                  <a16:creationId xmlns:a16="http://schemas.microsoft.com/office/drawing/2014/main" id="{61D1E6F6-17EE-46E2-AC38-832A6CA95042}"/>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9" name="TextBox 43">
            <a:extLst>
              <a:ext uri="{FF2B5EF4-FFF2-40B4-BE49-F238E27FC236}">
                <a16:creationId xmlns:a16="http://schemas.microsoft.com/office/drawing/2014/main" id="{703F03B8-2BF8-4A12-97BB-EDC87664AA50}"/>
              </a:ext>
            </a:extLst>
          </p:cNvPr>
          <p:cNvSpPr txBox="1"/>
          <p:nvPr/>
        </p:nvSpPr>
        <p:spPr>
          <a:xfrm>
            <a:off x="3438475" y="1803604"/>
            <a:ext cx="362694"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0" name="Shape">
            <a:extLst>
              <a:ext uri="{FF2B5EF4-FFF2-40B4-BE49-F238E27FC236}">
                <a16:creationId xmlns:a16="http://schemas.microsoft.com/office/drawing/2014/main" id="{E608C453-6424-4559-8DE3-FC6C9DAE63FC}"/>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91" name="TextBox 45">
            <a:extLst>
              <a:ext uri="{FF2B5EF4-FFF2-40B4-BE49-F238E27FC236}">
                <a16:creationId xmlns:a16="http://schemas.microsoft.com/office/drawing/2014/main" id="{175485A2-CBFE-49FA-BDCF-51A3FE6B6001}"/>
              </a:ext>
            </a:extLst>
          </p:cNvPr>
          <p:cNvSpPr txBox="1"/>
          <p:nvPr/>
        </p:nvSpPr>
        <p:spPr>
          <a:xfrm>
            <a:off x="1687762" y="1811299"/>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92" name="TextBox 46">
            <a:extLst>
              <a:ext uri="{FF2B5EF4-FFF2-40B4-BE49-F238E27FC236}">
                <a16:creationId xmlns:a16="http://schemas.microsoft.com/office/drawing/2014/main" id="{D7FA9E16-1299-477B-9973-E5B607820A43}"/>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Tree>
    <p:extLst>
      <p:ext uri="{BB962C8B-B14F-4D97-AF65-F5344CB8AC3E}">
        <p14:creationId xmlns:p14="http://schemas.microsoft.com/office/powerpoint/2010/main" val="3106992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35DB-7A9F-DA9D-F47F-F915A8ECCEFF}"/>
              </a:ext>
            </a:extLst>
          </p:cNvPr>
          <p:cNvSpPr>
            <a:spLocks noGrp="1"/>
          </p:cNvSpPr>
          <p:nvPr>
            <p:ph type="title"/>
          </p:nvPr>
        </p:nvSpPr>
        <p:spPr>
          <a:xfrm>
            <a:off x="1060945" y="240230"/>
            <a:ext cx="4598710" cy="215444"/>
          </a:xfrm>
        </p:spPr>
        <p:txBody>
          <a:bodyPr wrap="square" lIns="0" tIns="0" rIns="0" bIns="0" anchor="t">
            <a:spAutoFit/>
          </a:bodyPr>
          <a:lstStyle/>
          <a:p>
            <a:r>
              <a:rPr lang="en-US" dirty="0">
                <a:ea typeface="Calibri"/>
              </a:rPr>
              <a:t>FUNES System</a:t>
            </a:r>
            <a:endParaRPr lang="en-US" dirty="0"/>
          </a:p>
        </p:txBody>
      </p:sp>
      <p:sp>
        <p:nvSpPr>
          <p:cNvPr id="5" name="CasellaDiTesto 4">
            <a:extLst>
              <a:ext uri="{FF2B5EF4-FFF2-40B4-BE49-F238E27FC236}">
                <a16:creationId xmlns:a16="http://schemas.microsoft.com/office/drawing/2014/main" id="{F9EC3A17-BB72-4A01-9667-F99C01ADBA9F}"/>
              </a:ext>
            </a:extLst>
          </p:cNvPr>
          <p:cNvSpPr txBox="1"/>
          <p:nvPr/>
        </p:nvSpPr>
        <p:spPr>
          <a:xfrm>
            <a:off x="283945" y="802822"/>
            <a:ext cx="2180122" cy="1692771"/>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it-IT" sz="900" dirty="0"/>
              <a:t>The </a:t>
            </a:r>
            <a:r>
              <a:rPr lang="it-IT" sz="900" dirty="0">
                <a:ea typeface="Calibri"/>
              </a:rPr>
              <a:t>FUNES </a:t>
            </a:r>
            <a:r>
              <a:rPr lang="it-IT" sz="900" dirty="0"/>
              <a:t>system </a:t>
            </a:r>
            <a:r>
              <a:rPr lang="it-IT" sz="900" dirty="0" err="1"/>
              <a:t>is</a:t>
            </a:r>
            <a:r>
              <a:rPr lang="it-IT" sz="900" dirty="0"/>
              <a:t> </a:t>
            </a:r>
            <a:r>
              <a:rPr lang="it-IT" sz="900" dirty="0" err="1"/>
              <a:t>designed</a:t>
            </a:r>
            <a:r>
              <a:rPr lang="it-IT" sz="900" dirty="0"/>
              <a:t> to</a:t>
            </a:r>
            <a:r>
              <a:rPr lang="en-US" sz="900" dirty="0"/>
              <a:t> be an </a:t>
            </a:r>
            <a:r>
              <a:rPr lang="en-US" sz="900" b="1" dirty="0"/>
              <a:t>intermediate layer </a:t>
            </a:r>
            <a:r>
              <a:rPr lang="en-US" sz="900" dirty="0"/>
              <a:t>between existing mission operational systems and human operators</a:t>
            </a:r>
            <a:r>
              <a:rPr lang="it-IT" sz="900" dirty="0"/>
              <a:t>.</a:t>
            </a:r>
          </a:p>
          <a:p>
            <a:pPr>
              <a:spcAft>
                <a:spcPts val="300"/>
              </a:spcAft>
            </a:pPr>
            <a:endParaRPr lang="it-IT" sz="900" dirty="0"/>
          </a:p>
          <a:p>
            <a:pPr marL="171450" indent="-171450">
              <a:spcAft>
                <a:spcPts val="300"/>
              </a:spcAft>
              <a:buFont typeface="Arial" panose="020B0604020202020204" pitchFamily="34" charset="0"/>
              <a:buChar char="•"/>
            </a:pPr>
            <a:r>
              <a:rPr lang="en-US" sz="900" dirty="0"/>
              <a:t>It does not replace mission operators, it </a:t>
            </a:r>
            <a:r>
              <a:rPr lang="en-US" sz="900" b="1" dirty="0"/>
              <a:t>supports </a:t>
            </a:r>
            <a:r>
              <a:rPr lang="en-US" sz="900" dirty="0"/>
              <a:t>human decision-making by </a:t>
            </a:r>
            <a:r>
              <a:rPr lang="en-US" sz="900" b="1" dirty="0"/>
              <a:t>improving</a:t>
            </a:r>
            <a:r>
              <a:rPr lang="en-US" sz="900" dirty="0"/>
              <a:t> situational awareness, reducing information fragmentation, and providing </a:t>
            </a:r>
            <a:r>
              <a:rPr lang="en-US" sz="900" b="1" dirty="0"/>
              <a:t>recommendations</a:t>
            </a:r>
            <a:r>
              <a:rPr lang="en-US" sz="900" dirty="0"/>
              <a:t>.</a:t>
            </a:r>
            <a:endParaRPr lang="it-IT" sz="900" dirty="0"/>
          </a:p>
        </p:txBody>
      </p:sp>
      <p:sp>
        <p:nvSpPr>
          <p:cNvPr id="3" name="CasellaDiTesto 2">
            <a:extLst>
              <a:ext uri="{FF2B5EF4-FFF2-40B4-BE49-F238E27FC236}">
                <a16:creationId xmlns:a16="http://schemas.microsoft.com/office/drawing/2014/main" id="{B06CEE30-A6A9-4154-BDA7-BAE54C5131F0}"/>
              </a:ext>
            </a:extLst>
          </p:cNvPr>
          <p:cNvSpPr txBox="1"/>
          <p:nvPr/>
        </p:nvSpPr>
        <p:spPr>
          <a:xfrm>
            <a:off x="4282819" y="347952"/>
            <a:ext cx="819455" cy="169277"/>
          </a:xfrm>
          <a:prstGeom prst="rect">
            <a:avLst/>
          </a:prstGeom>
          <a:noFill/>
          <a:ln>
            <a:solidFill>
              <a:srgbClr val="802B2A"/>
            </a:solidFill>
          </a:ln>
        </p:spPr>
        <p:txBody>
          <a:bodyPr wrap="none" rtlCol="0">
            <a:spAutoFit/>
          </a:bodyPr>
          <a:lstStyle/>
          <a:p>
            <a:r>
              <a:rPr lang="it-IT" sz="500" b="1" dirty="0"/>
              <a:t>Custom RAG system</a:t>
            </a:r>
          </a:p>
        </p:txBody>
      </p:sp>
      <p:cxnSp>
        <p:nvCxnSpPr>
          <p:cNvPr id="7" name="Connettore a gomito 6">
            <a:extLst>
              <a:ext uri="{FF2B5EF4-FFF2-40B4-BE49-F238E27FC236}">
                <a16:creationId xmlns:a16="http://schemas.microsoft.com/office/drawing/2014/main" id="{ECDB4C29-B2BA-433B-8D41-5240B331A959}"/>
              </a:ext>
            </a:extLst>
          </p:cNvPr>
          <p:cNvCxnSpPr>
            <a:stCxn id="3" idx="1"/>
          </p:cNvCxnSpPr>
          <p:nvPr/>
        </p:nvCxnSpPr>
        <p:spPr>
          <a:xfrm rot="10800000" flipV="1">
            <a:off x="4129911" y="432590"/>
            <a:ext cx="152909" cy="152711"/>
          </a:xfrm>
          <a:prstGeom prst="bentConnector3">
            <a:avLst>
              <a:gd name="adj1" fmla="val 100001"/>
            </a:avLst>
          </a:prstGeom>
          <a:ln>
            <a:solidFill>
              <a:srgbClr val="802B2B"/>
            </a:solidFill>
            <a:tailEnd type="triangle"/>
          </a:ln>
        </p:spPr>
        <p:style>
          <a:lnRef idx="1">
            <a:schemeClr val="accent1"/>
          </a:lnRef>
          <a:fillRef idx="0">
            <a:schemeClr val="accent1"/>
          </a:fillRef>
          <a:effectRef idx="0">
            <a:schemeClr val="accent1"/>
          </a:effectRef>
          <a:fontRef idx="minor">
            <a:schemeClr val="tx1"/>
          </a:fontRef>
        </p:style>
      </p:cxnSp>
      <p:sp>
        <p:nvSpPr>
          <p:cNvPr id="9" name="Rettangolo 8">
            <a:extLst>
              <a:ext uri="{FF2B5EF4-FFF2-40B4-BE49-F238E27FC236}">
                <a16:creationId xmlns:a16="http://schemas.microsoft.com/office/drawing/2014/main" id="{A34EE567-11C3-4BE3-A69A-5760D9834772}"/>
              </a:ext>
            </a:extLst>
          </p:cNvPr>
          <p:cNvSpPr/>
          <p:nvPr/>
        </p:nvSpPr>
        <p:spPr>
          <a:xfrm>
            <a:off x="3778218" y="1370071"/>
            <a:ext cx="703384" cy="379361"/>
          </a:xfrm>
          <a:prstGeom prst="rect">
            <a:avLst/>
          </a:prstGeom>
          <a:ln w="12700"/>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it-IT" sz="700" dirty="0"/>
              <a:t>CI-2 AI Module</a:t>
            </a:r>
          </a:p>
        </p:txBody>
      </p:sp>
      <p:sp>
        <p:nvSpPr>
          <p:cNvPr id="10" name="Rettangolo 9">
            <a:extLst>
              <a:ext uri="{FF2B5EF4-FFF2-40B4-BE49-F238E27FC236}">
                <a16:creationId xmlns:a16="http://schemas.microsoft.com/office/drawing/2014/main" id="{6E934243-CBFD-4C5B-8219-883BD0B6EA01}"/>
              </a:ext>
            </a:extLst>
          </p:cNvPr>
          <p:cNvSpPr/>
          <p:nvPr/>
        </p:nvSpPr>
        <p:spPr>
          <a:xfrm>
            <a:off x="2387065" y="1385362"/>
            <a:ext cx="683362" cy="356270"/>
          </a:xfrm>
          <a:prstGeom prst="rect">
            <a:avLst/>
          </a:prstGeom>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it-IT" sz="700" dirty="0"/>
              <a:t>CI-1 Data Processing</a:t>
            </a:r>
          </a:p>
        </p:txBody>
      </p:sp>
      <p:sp>
        <p:nvSpPr>
          <p:cNvPr id="11" name="Rettangolo 10">
            <a:extLst>
              <a:ext uri="{FF2B5EF4-FFF2-40B4-BE49-F238E27FC236}">
                <a16:creationId xmlns:a16="http://schemas.microsoft.com/office/drawing/2014/main" id="{B2437BC2-72F8-47B7-A4CF-5E4CA1250A8E}"/>
              </a:ext>
            </a:extLst>
          </p:cNvPr>
          <p:cNvSpPr/>
          <p:nvPr/>
        </p:nvSpPr>
        <p:spPr>
          <a:xfrm>
            <a:off x="3790451" y="585301"/>
            <a:ext cx="678919" cy="351692"/>
          </a:xfrm>
          <a:prstGeom prst="rect">
            <a:avLst/>
          </a:prstGeom>
          <a:ln w="1270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it-IT" sz="700" dirty="0"/>
              <a:t>CI-5 Storage </a:t>
            </a:r>
          </a:p>
        </p:txBody>
      </p:sp>
      <p:sp>
        <p:nvSpPr>
          <p:cNvPr id="13" name="Rettangolo 12">
            <a:extLst>
              <a:ext uri="{FF2B5EF4-FFF2-40B4-BE49-F238E27FC236}">
                <a16:creationId xmlns:a16="http://schemas.microsoft.com/office/drawing/2014/main" id="{D6FCC3E0-AF1D-40D3-86F4-2F5DDAA472B5}"/>
              </a:ext>
            </a:extLst>
          </p:cNvPr>
          <p:cNvSpPr/>
          <p:nvPr/>
        </p:nvSpPr>
        <p:spPr>
          <a:xfrm>
            <a:off x="3778218" y="2070396"/>
            <a:ext cx="691152" cy="379361"/>
          </a:xfrm>
          <a:prstGeom prst="rect">
            <a:avLst/>
          </a:prstGeom>
          <a:ln w="12700"/>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it-IT" sz="700" dirty="0"/>
              <a:t>CI-3 UI</a:t>
            </a:r>
          </a:p>
        </p:txBody>
      </p:sp>
      <p:sp>
        <p:nvSpPr>
          <p:cNvPr id="14" name="Rettangolo 13">
            <a:extLst>
              <a:ext uri="{FF2B5EF4-FFF2-40B4-BE49-F238E27FC236}">
                <a16:creationId xmlns:a16="http://schemas.microsoft.com/office/drawing/2014/main" id="{1E787124-5DC0-4C48-AB34-7C61462F70F8}"/>
              </a:ext>
            </a:extLst>
          </p:cNvPr>
          <p:cNvSpPr/>
          <p:nvPr/>
        </p:nvSpPr>
        <p:spPr>
          <a:xfrm>
            <a:off x="4845527" y="2070396"/>
            <a:ext cx="717189" cy="379361"/>
          </a:xfrm>
          <a:prstGeom prst="rec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700" dirty="0"/>
              <a:t>CI-4 </a:t>
            </a:r>
            <a:r>
              <a:rPr lang="it-IT" sz="700" dirty="0" err="1"/>
              <a:t>Config</a:t>
            </a:r>
            <a:r>
              <a:rPr lang="it-IT" sz="700" dirty="0"/>
              <a:t> &amp; Model Management</a:t>
            </a:r>
          </a:p>
        </p:txBody>
      </p:sp>
      <p:cxnSp>
        <p:nvCxnSpPr>
          <p:cNvPr id="16" name="Connettore 2 15">
            <a:extLst>
              <a:ext uri="{FF2B5EF4-FFF2-40B4-BE49-F238E27FC236}">
                <a16:creationId xmlns:a16="http://schemas.microsoft.com/office/drawing/2014/main" id="{196B3579-8F4F-46BB-BD85-7C27AA83C6FD}"/>
              </a:ext>
            </a:extLst>
          </p:cNvPr>
          <p:cNvCxnSpPr>
            <a:cxnSpLocks/>
            <a:stCxn id="10" idx="3"/>
            <a:endCxn id="9" idx="1"/>
          </p:cNvCxnSpPr>
          <p:nvPr/>
        </p:nvCxnSpPr>
        <p:spPr>
          <a:xfrm flipV="1">
            <a:off x="3070427" y="1559752"/>
            <a:ext cx="707791" cy="3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ttore 2 18">
            <a:extLst>
              <a:ext uri="{FF2B5EF4-FFF2-40B4-BE49-F238E27FC236}">
                <a16:creationId xmlns:a16="http://schemas.microsoft.com/office/drawing/2014/main" id="{358551B1-DF4A-4478-A411-27CE3053978E}"/>
              </a:ext>
            </a:extLst>
          </p:cNvPr>
          <p:cNvCxnSpPr/>
          <p:nvPr/>
        </p:nvCxnSpPr>
        <p:spPr>
          <a:xfrm>
            <a:off x="3935993" y="936993"/>
            <a:ext cx="0" cy="433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ttore 2 21">
            <a:extLst>
              <a:ext uri="{FF2B5EF4-FFF2-40B4-BE49-F238E27FC236}">
                <a16:creationId xmlns:a16="http://schemas.microsoft.com/office/drawing/2014/main" id="{D8B29E29-EEBD-4CE6-BDCC-80643E0D14DC}"/>
              </a:ext>
            </a:extLst>
          </p:cNvPr>
          <p:cNvCxnSpPr>
            <a:cxnSpLocks/>
          </p:cNvCxnSpPr>
          <p:nvPr/>
        </p:nvCxnSpPr>
        <p:spPr>
          <a:xfrm>
            <a:off x="3935993" y="1749432"/>
            <a:ext cx="0" cy="320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Connettore 2 23">
            <a:extLst>
              <a:ext uri="{FF2B5EF4-FFF2-40B4-BE49-F238E27FC236}">
                <a16:creationId xmlns:a16="http://schemas.microsoft.com/office/drawing/2014/main" id="{1E0BAEFD-E6F2-4FF8-BB1C-85B804DA5EA6}"/>
              </a:ext>
            </a:extLst>
          </p:cNvPr>
          <p:cNvCxnSpPr>
            <a:cxnSpLocks/>
          </p:cNvCxnSpPr>
          <p:nvPr/>
        </p:nvCxnSpPr>
        <p:spPr>
          <a:xfrm flipV="1">
            <a:off x="4282819" y="1749432"/>
            <a:ext cx="1" cy="320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Connettore 2 26">
            <a:extLst>
              <a:ext uri="{FF2B5EF4-FFF2-40B4-BE49-F238E27FC236}">
                <a16:creationId xmlns:a16="http://schemas.microsoft.com/office/drawing/2014/main" id="{D23F5BEE-0A11-4927-9A45-14E2B8005B7F}"/>
              </a:ext>
            </a:extLst>
          </p:cNvPr>
          <p:cNvCxnSpPr>
            <a:cxnSpLocks/>
            <a:stCxn id="13" idx="3"/>
            <a:endCxn id="14" idx="1"/>
          </p:cNvCxnSpPr>
          <p:nvPr/>
        </p:nvCxnSpPr>
        <p:spPr>
          <a:xfrm>
            <a:off x="4469370" y="2260077"/>
            <a:ext cx="3761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ttore 2 29">
            <a:extLst>
              <a:ext uri="{FF2B5EF4-FFF2-40B4-BE49-F238E27FC236}">
                <a16:creationId xmlns:a16="http://schemas.microsoft.com/office/drawing/2014/main" id="{016C5D55-4E1C-4638-9834-B0DFA6AEC766}"/>
              </a:ext>
            </a:extLst>
          </p:cNvPr>
          <p:cNvCxnSpPr>
            <a:cxnSpLocks/>
          </p:cNvCxnSpPr>
          <p:nvPr/>
        </p:nvCxnSpPr>
        <p:spPr>
          <a:xfrm flipV="1">
            <a:off x="4282819" y="922885"/>
            <a:ext cx="0" cy="451660"/>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33" name="Connettore a gomito 32">
            <a:extLst>
              <a:ext uri="{FF2B5EF4-FFF2-40B4-BE49-F238E27FC236}">
                <a16:creationId xmlns:a16="http://schemas.microsoft.com/office/drawing/2014/main" id="{C53CA2DA-BC4E-44E0-A109-643FC62A32C3}"/>
              </a:ext>
            </a:extLst>
          </p:cNvPr>
          <p:cNvCxnSpPr>
            <a:cxnSpLocks/>
          </p:cNvCxnSpPr>
          <p:nvPr/>
        </p:nvCxnSpPr>
        <p:spPr>
          <a:xfrm rot="16200000" flipH="1">
            <a:off x="3223119" y="1664548"/>
            <a:ext cx="700326" cy="40987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5" name="Connettore a gomito 34">
            <a:extLst>
              <a:ext uri="{FF2B5EF4-FFF2-40B4-BE49-F238E27FC236}">
                <a16:creationId xmlns:a16="http://schemas.microsoft.com/office/drawing/2014/main" id="{53CC80B3-D0A0-4243-94B0-B7CB88613A97}"/>
              </a:ext>
            </a:extLst>
          </p:cNvPr>
          <p:cNvCxnSpPr>
            <a:cxnSpLocks/>
          </p:cNvCxnSpPr>
          <p:nvPr/>
        </p:nvCxnSpPr>
        <p:spPr>
          <a:xfrm rot="5400000" flipH="1" flipV="1">
            <a:off x="3154703" y="930555"/>
            <a:ext cx="842840" cy="415551"/>
          </a:xfrm>
          <a:prstGeom prst="bentConnector3">
            <a:avLst>
              <a:gd name="adj1" fmla="val 99817"/>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37" name="Connettore a gomito 36">
            <a:extLst>
              <a:ext uri="{FF2B5EF4-FFF2-40B4-BE49-F238E27FC236}">
                <a16:creationId xmlns:a16="http://schemas.microsoft.com/office/drawing/2014/main" id="{D602F56D-A425-476C-9CCE-FAFAD17C489E}"/>
              </a:ext>
            </a:extLst>
          </p:cNvPr>
          <p:cNvCxnSpPr>
            <a:cxnSpLocks/>
          </p:cNvCxnSpPr>
          <p:nvPr/>
        </p:nvCxnSpPr>
        <p:spPr>
          <a:xfrm rot="10800000" flipH="1">
            <a:off x="3778218" y="844970"/>
            <a:ext cx="12233" cy="1498930"/>
          </a:xfrm>
          <a:prstGeom prst="bentConnector3">
            <a:avLst>
              <a:gd name="adj1" fmla="val -1868716"/>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43" name="Connettore a gomito 42">
            <a:extLst>
              <a:ext uri="{FF2B5EF4-FFF2-40B4-BE49-F238E27FC236}">
                <a16:creationId xmlns:a16="http://schemas.microsoft.com/office/drawing/2014/main" id="{63362B8B-1155-43E3-B9E7-BA99E733DCC1}"/>
              </a:ext>
            </a:extLst>
          </p:cNvPr>
          <p:cNvCxnSpPr>
            <a:stCxn id="14" idx="0"/>
            <a:endCxn id="9" idx="3"/>
          </p:cNvCxnSpPr>
          <p:nvPr/>
        </p:nvCxnSpPr>
        <p:spPr>
          <a:xfrm rot="16200000" flipV="1">
            <a:off x="4587540" y="1453814"/>
            <a:ext cx="510644" cy="7225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4" name="Connettore a gomito 43">
            <a:extLst>
              <a:ext uri="{FF2B5EF4-FFF2-40B4-BE49-F238E27FC236}">
                <a16:creationId xmlns:a16="http://schemas.microsoft.com/office/drawing/2014/main" id="{AC2475DD-E9EC-4FAD-9000-FFAB773FE92C}"/>
              </a:ext>
            </a:extLst>
          </p:cNvPr>
          <p:cNvCxnSpPr>
            <a:cxnSpLocks/>
            <a:stCxn id="14" idx="0"/>
            <a:endCxn id="11" idx="3"/>
          </p:cNvCxnSpPr>
          <p:nvPr/>
        </p:nvCxnSpPr>
        <p:spPr>
          <a:xfrm rot="16200000" flipV="1">
            <a:off x="4182122" y="1048396"/>
            <a:ext cx="1309249" cy="734752"/>
          </a:xfrm>
          <a:prstGeom prst="bentConnector2">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48" name="Connettore a gomito 47">
            <a:extLst>
              <a:ext uri="{FF2B5EF4-FFF2-40B4-BE49-F238E27FC236}">
                <a16:creationId xmlns:a16="http://schemas.microsoft.com/office/drawing/2014/main" id="{6990C6C9-FF8A-4D8B-811B-781D1BD0CDCC}"/>
              </a:ext>
            </a:extLst>
          </p:cNvPr>
          <p:cNvCxnSpPr>
            <a:stCxn id="14" idx="2"/>
            <a:endCxn id="10" idx="2"/>
          </p:cNvCxnSpPr>
          <p:nvPr/>
        </p:nvCxnSpPr>
        <p:spPr>
          <a:xfrm rot="5400000" flipH="1">
            <a:off x="3612371" y="858007"/>
            <a:ext cx="708125" cy="2475376"/>
          </a:xfrm>
          <a:prstGeom prst="bentConnector3">
            <a:avLst>
              <a:gd name="adj1" fmla="val -32282"/>
            </a:avLst>
          </a:prstGeom>
          <a:ln>
            <a:tailEnd type="triangle"/>
          </a:ln>
        </p:spPr>
        <p:style>
          <a:lnRef idx="1">
            <a:schemeClr val="dk1"/>
          </a:lnRef>
          <a:fillRef idx="0">
            <a:schemeClr val="dk1"/>
          </a:fillRef>
          <a:effectRef idx="0">
            <a:schemeClr val="dk1"/>
          </a:effectRef>
          <a:fontRef idx="minor">
            <a:schemeClr val="tx1"/>
          </a:fontRef>
        </p:style>
      </p:cxnSp>
      <p:sp>
        <p:nvSpPr>
          <p:cNvPr id="49" name="CasellaDiTesto 48">
            <a:extLst>
              <a:ext uri="{FF2B5EF4-FFF2-40B4-BE49-F238E27FC236}">
                <a16:creationId xmlns:a16="http://schemas.microsoft.com/office/drawing/2014/main" id="{E5A9194C-0973-45FE-9DF6-495C266FA018}"/>
              </a:ext>
            </a:extLst>
          </p:cNvPr>
          <p:cNvSpPr txBox="1"/>
          <p:nvPr/>
        </p:nvSpPr>
        <p:spPr>
          <a:xfrm>
            <a:off x="4612225" y="1369933"/>
            <a:ext cx="575718" cy="169277"/>
          </a:xfrm>
          <a:prstGeom prst="rect">
            <a:avLst/>
          </a:prstGeom>
          <a:noFill/>
        </p:spPr>
        <p:txBody>
          <a:bodyPr wrap="square" rtlCol="0">
            <a:spAutoFit/>
          </a:bodyPr>
          <a:lstStyle/>
          <a:p>
            <a:r>
              <a:rPr lang="it-IT" sz="500" dirty="0"/>
              <a:t>AI </a:t>
            </a:r>
            <a:r>
              <a:rPr lang="it-IT" sz="500" dirty="0" err="1"/>
              <a:t>config</a:t>
            </a:r>
            <a:endParaRPr lang="it-IT" sz="500" dirty="0"/>
          </a:p>
        </p:txBody>
      </p:sp>
      <p:sp>
        <p:nvSpPr>
          <p:cNvPr id="50" name="CasellaDiTesto 49">
            <a:extLst>
              <a:ext uri="{FF2B5EF4-FFF2-40B4-BE49-F238E27FC236}">
                <a16:creationId xmlns:a16="http://schemas.microsoft.com/office/drawing/2014/main" id="{707A5043-ECE3-4B0D-A281-D879E6A773E1}"/>
              </a:ext>
            </a:extLst>
          </p:cNvPr>
          <p:cNvSpPr txBox="1"/>
          <p:nvPr/>
        </p:nvSpPr>
        <p:spPr>
          <a:xfrm>
            <a:off x="4636221" y="607259"/>
            <a:ext cx="575718" cy="169277"/>
          </a:xfrm>
          <a:prstGeom prst="rect">
            <a:avLst/>
          </a:prstGeom>
          <a:noFill/>
        </p:spPr>
        <p:txBody>
          <a:bodyPr wrap="square" rtlCol="0">
            <a:spAutoFit/>
          </a:bodyPr>
          <a:lstStyle/>
          <a:p>
            <a:r>
              <a:rPr lang="it-IT" sz="500" dirty="0"/>
              <a:t>SM </a:t>
            </a:r>
            <a:r>
              <a:rPr lang="it-IT" sz="500" dirty="0" err="1"/>
              <a:t>config</a:t>
            </a:r>
            <a:endParaRPr lang="it-IT" sz="500" dirty="0"/>
          </a:p>
        </p:txBody>
      </p:sp>
      <p:sp>
        <p:nvSpPr>
          <p:cNvPr id="51" name="CasellaDiTesto 50">
            <a:extLst>
              <a:ext uri="{FF2B5EF4-FFF2-40B4-BE49-F238E27FC236}">
                <a16:creationId xmlns:a16="http://schemas.microsoft.com/office/drawing/2014/main" id="{FB605540-A55A-4D58-85C0-FE27C5C44937}"/>
              </a:ext>
            </a:extLst>
          </p:cNvPr>
          <p:cNvSpPr txBox="1"/>
          <p:nvPr/>
        </p:nvSpPr>
        <p:spPr>
          <a:xfrm>
            <a:off x="4446190" y="2126731"/>
            <a:ext cx="575718" cy="246221"/>
          </a:xfrm>
          <a:prstGeom prst="rect">
            <a:avLst/>
          </a:prstGeom>
          <a:noFill/>
        </p:spPr>
        <p:txBody>
          <a:bodyPr wrap="square" rtlCol="0">
            <a:spAutoFit/>
          </a:bodyPr>
          <a:lstStyle/>
          <a:p>
            <a:r>
              <a:rPr lang="it-IT" sz="500" dirty="0" err="1"/>
              <a:t>Config</a:t>
            </a:r>
            <a:r>
              <a:rPr lang="it-IT" sz="500" dirty="0"/>
              <a:t> settings</a:t>
            </a:r>
          </a:p>
        </p:txBody>
      </p:sp>
      <p:sp>
        <p:nvSpPr>
          <p:cNvPr id="52" name="CasellaDiTesto 51">
            <a:extLst>
              <a:ext uri="{FF2B5EF4-FFF2-40B4-BE49-F238E27FC236}">
                <a16:creationId xmlns:a16="http://schemas.microsoft.com/office/drawing/2014/main" id="{9141898E-A64D-46C8-AFF1-D410FBF9FF96}"/>
              </a:ext>
            </a:extLst>
          </p:cNvPr>
          <p:cNvSpPr txBox="1"/>
          <p:nvPr/>
        </p:nvSpPr>
        <p:spPr>
          <a:xfrm>
            <a:off x="3825022" y="2533571"/>
            <a:ext cx="656781" cy="169277"/>
          </a:xfrm>
          <a:prstGeom prst="rect">
            <a:avLst/>
          </a:prstGeom>
          <a:noFill/>
        </p:spPr>
        <p:txBody>
          <a:bodyPr wrap="square" rtlCol="0">
            <a:spAutoFit/>
          </a:bodyPr>
          <a:lstStyle/>
          <a:p>
            <a:r>
              <a:rPr lang="it-IT" sz="500" dirty="0"/>
              <a:t>DPM </a:t>
            </a:r>
            <a:r>
              <a:rPr lang="it-IT" sz="500" dirty="0" err="1"/>
              <a:t>config</a:t>
            </a:r>
            <a:endParaRPr lang="it-IT" sz="500" dirty="0"/>
          </a:p>
        </p:txBody>
      </p:sp>
      <p:sp>
        <p:nvSpPr>
          <p:cNvPr id="53" name="CasellaDiTesto 52">
            <a:extLst>
              <a:ext uri="{FF2B5EF4-FFF2-40B4-BE49-F238E27FC236}">
                <a16:creationId xmlns:a16="http://schemas.microsoft.com/office/drawing/2014/main" id="{2F6B068E-9FB1-4209-8A2F-13B3A4B4B22B}"/>
              </a:ext>
            </a:extLst>
          </p:cNvPr>
          <p:cNvSpPr txBox="1"/>
          <p:nvPr/>
        </p:nvSpPr>
        <p:spPr>
          <a:xfrm>
            <a:off x="4245161" y="1827271"/>
            <a:ext cx="575718" cy="169277"/>
          </a:xfrm>
          <a:prstGeom prst="rect">
            <a:avLst/>
          </a:prstGeom>
          <a:noFill/>
        </p:spPr>
        <p:txBody>
          <a:bodyPr wrap="square" rtlCol="0">
            <a:spAutoFit/>
          </a:bodyPr>
          <a:lstStyle/>
          <a:p>
            <a:r>
              <a:rPr lang="it-IT" sz="500" dirty="0"/>
              <a:t>Queries</a:t>
            </a:r>
          </a:p>
        </p:txBody>
      </p:sp>
      <p:sp>
        <p:nvSpPr>
          <p:cNvPr id="54" name="CasellaDiTesto 53">
            <a:extLst>
              <a:ext uri="{FF2B5EF4-FFF2-40B4-BE49-F238E27FC236}">
                <a16:creationId xmlns:a16="http://schemas.microsoft.com/office/drawing/2014/main" id="{1C927BF8-F710-4204-AC45-89487CA6F8AC}"/>
              </a:ext>
            </a:extLst>
          </p:cNvPr>
          <p:cNvSpPr txBox="1"/>
          <p:nvPr/>
        </p:nvSpPr>
        <p:spPr>
          <a:xfrm>
            <a:off x="3860666" y="1749431"/>
            <a:ext cx="575718" cy="246221"/>
          </a:xfrm>
          <a:prstGeom prst="rect">
            <a:avLst/>
          </a:prstGeom>
          <a:noFill/>
        </p:spPr>
        <p:txBody>
          <a:bodyPr wrap="square" rtlCol="0">
            <a:spAutoFit/>
          </a:bodyPr>
          <a:lstStyle/>
          <a:p>
            <a:r>
              <a:rPr lang="it-IT" sz="500" dirty="0" err="1"/>
              <a:t>Inference</a:t>
            </a:r>
            <a:r>
              <a:rPr lang="it-IT" sz="500" dirty="0"/>
              <a:t> </a:t>
            </a:r>
            <a:r>
              <a:rPr lang="it-IT" sz="500" dirty="0" err="1"/>
              <a:t>results</a:t>
            </a:r>
            <a:endParaRPr lang="it-IT" sz="500" dirty="0"/>
          </a:p>
        </p:txBody>
      </p:sp>
      <p:sp>
        <p:nvSpPr>
          <p:cNvPr id="55" name="CasellaDiTesto 54">
            <a:extLst>
              <a:ext uri="{FF2B5EF4-FFF2-40B4-BE49-F238E27FC236}">
                <a16:creationId xmlns:a16="http://schemas.microsoft.com/office/drawing/2014/main" id="{74F4E444-48D6-47BD-AF64-FDBFA4478873}"/>
              </a:ext>
            </a:extLst>
          </p:cNvPr>
          <p:cNvSpPr txBox="1"/>
          <p:nvPr/>
        </p:nvSpPr>
        <p:spPr>
          <a:xfrm>
            <a:off x="4230983" y="1024323"/>
            <a:ext cx="575718" cy="246221"/>
          </a:xfrm>
          <a:prstGeom prst="rect">
            <a:avLst/>
          </a:prstGeom>
          <a:noFill/>
        </p:spPr>
        <p:txBody>
          <a:bodyPr wrap="square" rtlCol="0">
            <a:spAutoFit/>
          </a:bodyPr>
          <a:lstStyle/>
          <a:p>
            <a:r>
              <a:rPr lang="it-IT" sz="500" dirty="0" err="1"/>
              <a:t>Inference</a:t>
            </a:r>
            <a:r>
              <a:rPr lang="it-IT" sz="500" dirty="0"/>
              <a:t> </a:t>
            </a:r>
            <a:r>
              <a:rPr lang="it-IT" sz="500" dirty="0" err="1"/>
              <a:t>results</a:t>
            </a:r>
            <a:endParaRPr lang="it-IT" sz="500" dirty="0"/>
          </a:p>
        </p:txBody>
      </p:sp>
      <p:sp>
        <p:nvSpPr>
          <p:cNvPr id="56" name="CasellaDiTesto 55">
            <a:extLst>
              <a:ext uri="{FF2B5EF4-FFF2-40B4-BE49-F238E27FC236}">
                <a16:creationId xmlns:a16="http://schemas.microsoft.com/office/drawing/2014/main" id="{15E61EF5-028F-4B7E-A9AE-28930A46F1A1}"/>
              </a:ext>
            </a:extLst>
          </p:cNvPr>
          <p:cNvSpPr txBox="1"/>
          <p:nvPr/>
        </p:nvSpPr>
        <p:spPr>
          <a:xfrm>
            <a:off x="3855021" y="991091"/>
            <a:ext cx="477904" cy="169277"/>
          </a:xfrm>
          <a:prstGeom prst="rect">
            <a:avLst/>
          </a:prstGeom>
          <a:noFill/>
        </p:spPr>
        <p:txBody>
          <a:bodyPr wrap="square" rtlCol="0">
            <a:spAutoFit/>
          </a:bodyPr>
          <a:lstStyle/>
          <a:p>
            <a:r>
              <a:rPr lang="it-IT" sz="500" dirty="0"/>
              <a:t>RAG data</a:t>
            </a:r>
          </a:p>
        </p:txBody>
      </p:sp>
      <p:sp>
        <p:nvSpPr>
          <p:cNvPr id="57" name="CasellaDiTesto 56">
            <a:extLst>
              <a:ext uri="{FF2B5EF4-FFF2-40B4-BE49-F238E27FC236}">
                <a16:creationId xmlns:a16="http://schemas.microsoft.com/office/drawing/2014/main" id="{3749F3AB-029B-409F-BBAA-9D34B07E4B8B}"/>
              </a:ext>
            </a:extLst>
          </p:cNvPr>
          <p:cNvSpPr txBox="1"/>
          <p:nvPr/>
        </p:nvSpPr>
        <p:spPr>
          <a:xfrm>
            <a:off x="3482956" y="1831390"/>
            <a:ext cx="634543" cy="246221"/>
          </a:xfrm>
          <a:prstGeom prst="rect">
            <a:avLst/>
          </a:prstGeom>
          <a:noFill/>
        </p:spPr>
        <p:txBody>
          <a:bodyPr wrap="square" rtlCol="0">
            <a:spAutoFit/>
          </a:bodyPr>
          <a:lstStyle/>
          <a:p>
            <a:r>
              <a:rPr lang="it-IT" sz="500" dirty="0" err="1"/>
              <a:t>Operators</a:t>
            </a:r>
            <a:endParaRPr lang="it-IT" sz="500" dirty="0"/>
          </a:p>
          <a:p>
            <a:r>
              <a:rPr lang="it-IT" sz="500" dirty="0"/>
              <a:t>interactions</a:t>
            </a:r>
          </a:p>
        </p:txBody>
      </p:sp>
      <p:sp>
        <p:nvSpPr>
          <p:cNvPr id="58" name="CasellaDiTesto 57">
            <a:extLst>
              <a:ext uri="{FF2B5EF4-FFF2-40B4-BE49-F238E27FC236}">
                <a16:creationId xmlns:a16="http://schemas.microsoft.com/office/drawing/2014/main" id="{30E4CC19-A5B0-4597-B702-344622C8BBF9}"/>
              </a:ext>
            </a:extLst>
          </p:cNvPr>
          <p:cNvSpPr txBox="1"/>
          <p:nvPr/>
        </p:nvSpPr>
        <p:spPr>
          <a:xfrm>
            <a:off x="2995869" y="1442376"/>
            <a:ext cx="634543" cy="215444"/>
          </a:xfrm>
          <a:prstGeom prst="rect">
            <a:avLst/>
          </a:prstGeom>
          <a:noFill/>
        </p:spPr>
        <p:txBody>
          <a:bodyPr wrap="square" rtlCol="0">
            <a:spAutoFit/>
          </a:bodyPr>
          <a:lstStyle/>
          <a:p>
            <a:r>
              <a:rPr lang="it-IT" sz="400" dirty="0" err="1"/>
              <a:t>Normalized</a:t>
            </a:r>
            <a:r>
              <a:rPr lang="it-IT" sz="400" dirty="0"/>
              <a:t> </a:t>
            </a:r>
          </a:p>
          <a:p>
            <a:r>
              <a:rPr lang="it-IT" sz="400" dirty="0"/>
              <a:t>data</a:t>
            </a:r>
          </a:p>
        </p:txBody>
      </p:sp>
      <p:cxnSp>
        <p:nvCxnSpPr>
          <p:cNvPr id="64" name="Connettore 2 63">
            <a:extLst>
              <a:ext uri="{FF2B5EF4-FFF2-40B4-BE49-F238E27FC236}">
                <a16:creationId xmlns:a16="http://schemas.microsoft.com/office/drawing/2014/main" id="{6BD6B0DD-708E-444E-B9AC-E9139F898622}"/>
              </a:ext>
            </a:extLst>
          </p:cNvPr>
          <p:cNvCxnSpPr>
            <a:cxnSpLocks/>
          </p:cNvCxnSpPr>
          <p:nvPr/>
        </p:nvCxnSpPr>
        <p:spPr>
          <a:xfrm flipH="1">
            <a:off x="2727220" y="1067310"/>
            <a:ext cx="1525" cy="3216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CasellaDiTesto 65">
            <a:extLst>
              <a:ext uri="{FF2B5EF4-FFF2-40B4-BE49-F238E27FC236}">
                <a16:creationId xmlns:a16="http://schemas.microsoft.com/office/drawing/2014/main" id="{9EFBA908-73E8-4E63-9F77-502C23C9F802}"/>
              </a:ext>
            </a:extLst>
          </p:cNvPr>
          <p:cNvSpPr txBox="1"/>
          <p:nvPr/>
        </p:nvSpPr>
        <p:spPr>
          <a:xfrm>
            <a:off x="2413943" y="738219"/>
            <a:ext cx="625274" cy="369332"/>
          </a:xfrm>
          <a:prstGeom prst="rect">
            <a:avLst/>
          </a:prstGeom>
          <a:noFill/>
        </p:spPr>
        <p:txBody>
          <a:bodyPr wrap="square" rtlCol="0">
            <a:spAutoFit/>
          </a:bodyPr>
          <a:lstStyle/>
          <a:p>
            <a:pPr algn="ctr"/>
            <a:r>
              <a:rPr lang="it-IT" sz="600" b="1" dirty="0" err="1"/>
              <a:t>External</a:t>
            </a:r>
            <a:r>
              <a:rPr lang="it-IT" sz="600" b="1" dirty="0"/>
              <a:t> data sources</a:t>
            </a:r>
          </a:p>
        </p:txBody>
      </p:sp>
    </p:spTree>
    <p:extLst>
      <p:ext uri="{BB962C8B-B14F-4D97-AF65-F5344CB8AC3E}">
        <p14:creationId xmlns:p14="http://schemas.microsoft.com/office/powerpoint/2010/main" val="4120668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35DB-7A9F-DA9D-F47F-F915A8ECCEFF}"/>
              </a:ext>
            </a:extLst>
          </p:cNvPr>
          <p:cNvSpPr>
            <a:spLocks noGrp="1"/>
          </p:cNvSpPr>
          <p:nvPr>
            <p:ph type="title"/>
          </p:nvPr>
        </p:nvSpPr>
        <p:spPr>
          <a:xfrm>
            <a:off x="1060945" y="240230"/>
            <a:ext cx="4598710" cy="215444"/>
          </a:xfrm>
        </p:spPr>
        <p:txBody>
          <a:bodyPr wrap="square" lIns="0" tIns="0" rIns="0" bIns="0" anchor="t">
            <a:spAutoFit/>
          </a:bodyPr>
          <a:lstStyle/>
          <a:p>
            <a:r>
              <a:rPr lang="en-US" dirty="0">
                <a:ea typeface="Calibri"/>
              </a:rPr>
              <a:t>FUNES System – PoC Chat capability</a:t>
            </a:r>
            <a:endParaRPr lang="en-US" dirty="0"/>
          </a:p>
        </p:txBody>
      </p:sp>
      <p:pic>
        <p:nvPicPr>
          <p:cNvPr id="1026" name="Picture 2">
            <a:extLst>
              <a:ext uri="{FF2B5EF4-FFF2-40B4-BE49-F238E27FC236}">
                <a16:creationId xmlns:a16="http://schemas.microsoft.com/office/drawing/2014/main" id="{9681C3AE-344A-4E07-8693-CF2B69FF3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945" y="606389"/>
            <a:ext cx="4022398" cy="2431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80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35DB-7A9F-DA9D-F47F-F915A8ECCEFF}"/>
              </a:ext>
            </a:extLst>
          </p:cNvPr>
          <p:cNvSpPr>
            <a:spLocks noGrp="1"/>
          </p:cNvSpPr>
          <p:nvPr>
            <p:ph type="title"/>
          </p:nvPr>
        </p:nvSpPr>
        <p:spPr>
          <a:xfrm>
            <a:off x="1060945" y="240230"/>
            <a:ext cx="4297826" cy="215444"/>
          </a:xfrm>
        </p:spPr>
        <p:txBody>
          <a:bodyPr wrap="square" lIns="0" tIns="0" rIns="0" bIns="0" anchor="t">
            <a:spAutoFit/>
          </a:bodyPr>
          <a:lstStyle/>
          <a:p>
            <a:r>
              <a:rPr lang="en-US" dirty="0">
                <a:ea typeface="Calibri"/>
              </a:rPr>
              <a:t>FUNES PoC - AI Module</a:t>
            </a:r>
            <a:endParaRPr lang="en-US" dirty="0"/>
          </a:p>
        </p:txBody>
      </p:sp>
      <p:pic>
        <p:nvPicPr>
          <p:cNvPr id="4" name="Immagine 3">
            <a:extLst>
              <a:ext uri="{FF2B5EF4-FFF2-40B4-BE49-F238E27FC236}">
                <a16:creationId xmlns:a16="http://schemas.microsoft.com/office/drawing/2014/main" id="{B0395179-CCC3-4D40-8E64-EC8F0D1EC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5789" y="630455"/>
            <a:ext cx="2730298" cy="2066777"/>
          </a:xfrm>
          <a:prstGeom prst="rect">
            <a:avLst/>
          </a:prstGeom>
        </p:spPr>
      </p:pic>
      <p:sp>
        <p:nvSpPr>
          <p:cNvPr id="5" name="CasellaDiTesto 4">
            <a:extLst>
              <a:ext uri="{FF2B5EF4-FFF2-40B4-BE49-F238E27FC236}">
                <a16:creationId xmlns:a16="http://schemas.microsoft.com/office/drawing/2014/main" id="{38CEDCAD-175F-4CEE-AE11-C75F26B18933}"/>
              </a:ext>
            </a:extLst>
          </p:cNvPr>
          <p:cNvSpPr txBox="1"/>
          <p:nvPr/>
        </p:nvSpPr>
        <p:spPr>
          <a:xfrm>
            <a:off x="336885" y="837398"/>
            <a:ext cx="1891364" cy="1731243"/>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800" b="1" dirty="0"/>
              <a:t>Multi-Agent Graph-Based Architecture (</a:t>
            </a:r>
            <a:r>
              <a:rPr lang="en-US" sz="800" b="1" dirty="0" err="1"/>
              <a:t>LangGraph</a:t>
            </a:r>
            <a:r>
              <a:rPr lang="en-US" sz="800" b="1" dirty="0"/>
              <a:t>):</a:t>
            </a:r>
            <a:r>
              <a:rPr lang="en-US" sz="800" dirty="0"/>
              <a:t> The system decomposes the decision-making process into specialized LLM components, coordinated through a shared execution state.</a:t>
            </a:r>
          </a:p>
          <a:p>
            <a:pPr marL="171450" indent="-171450">
              <a:spcAft>
                <a:spcPts val="300"/>
              </a:spcAft>
              <a:buFont typeface="Arial" panose="020B0604020202020204" pitchFamily="34" charset="0"/>
              <a:buChar char="•"/>
            </a:pPr>
            <a:r>
              <a:rPr lang="en-US" sz="800" b="1" dirty="0"/>
              <a:t>Role Specialization and Separation:</a:t>
            </a:r>
            <a:r>
              <a:rPr lang="en-US" sz="800" dirty="0"/>
              <a:t> Agents are divided into core-orchestration roles and tool-support agents, ensuring </a:t>
            </a:r>
            <a:r>
              <a:rPr lang="en-US" sz="800" u="sng" dirty="0"/>
              <a:t>evidence-grounded</a:t>
            </a:r>
            <a:r>
              <a:rPr lang="en-US" sz="800" dirty="0"/>
              <a:t> assessments with structured JSON outputs.</a:t>
            </a:r>
            <a:endParaRPr lang="it-IT" sz="800" dirty="0"/>
          </a:p>
        </p:txBody>
      </p:sp>
      <p:pic>
        <p:nvPicPr>
          <p:cNvPr id="7" name="Immagine 6">
            <a:extLst>
              <a:ext uri="{FF2B5EF4-FFF2-40B4-BE49-F238E27FC236}">
                <a16:creationId xmlns:a16="http://schemas.microsoft.com/office/drawing/2014/main" id="{0ECD526D-428C-4219-98EB-9700D5590C85}"/>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723836" y="796470"/>
            <a:ext cx="416315" cy="416315"/>
          </a:xfrm>
          <a:prstGeom prst="rect">
            <a:avLst/>
          </a:prstGeom>
        </p:spPr>
      </p:pic>
      <p:sp>
        <p:nvSpPr>
          <p:cNvPr id="3" name="CasellaDiTesto 2">
            <a:extLst>
              <a:ext uri="{FF2B5EF4-FFF2-40B4-BE49-F238E27FC236}">
                <a16:creationId xmlns:a16="http://schemas.microsoft.com/office/drawing/2014/main" id="{A0CB99A1-6994-42EF-8717-ADF97A089450}"/>
              </a:ext>
            </a:extLst>
          </p:cNvPr>
          <p:cNvSpPr txBox="1"/>
          <p:nvPr/>
        </p:nvSpPr>
        <p:spPr>
          <a:xfrm>
            <a:off x="2984029" y="2751157"/>
            <a:ext cx="2340641" cy="307777"/>
          </a:xfrm>
          <a:prstGeom prst="rect">
            <a:avLst/>
          </a:prstGeom>
          <a:noFill/>
        </p:spPr>
        <p:txBody>
          <a:bodyPr wrap="square" rtlCol="0">
            <a:spAutoFit/>
          </a:bodyPr>
          <a:lstStyle/>
          <a:p>
            <a:pPr algn="ctr"/>
            <a:r>
              <a:rPr lang="it-IT" sz="700" dirty="0" err="1"/>
              <a:t>Every</a:t>
            </a:r>
            <a:r>
              <a:rPr lang="it-IT" sz="700" dirty="0"/>
              <a:t> LLM </a:t>
            </a:r>
            <a:r>
              <a:rPr lang="it-IT" sz="700" dirty="0" err="1"/>
              <a:t>is</a:t>
            </a:r>
            <a:r>
              <a:rPr lang="it-IT" sz="700" dirty="0"/>
              <a:t> </a:t>
            </a:r>
            <a:r>
              <a:rPr lang="it-IT" sz="700" dirty="0" err="1"/>
              <a:t>constrained</a:t>
            </a:r>
            <a:r>
              <a:rPr lang="it-IT" sz="700" dirty="0"/>
              <a:t> to follow a </a:t>
            </a:r>
            <a:r>
              <a:rPr lang="it-IT" sz="700" dirty="0" err="1"/>
              <a:t>specific</a:t>
            </a:r>
            <a:r>
              <a:rPr lang="it-IT" sz="700" dirty="0"/>
              <a:t> JSON </a:t>
            </a:r>
            <a:r>
              <a:rPr lang="it-IT" sz="700" dirty="0" err="1"/>
              <a:t>answer</a:t>
            </a:r>
            <a:r>
              <a:rPr lang="it-IT" sz="700" dirty="0"/>
              <a:t> model.</a:t>
            </a:r>
          </a:p>
        </p:txBody>
      </p:sp>
    </p:spTree>
    <p:extLst>
      <p:ext uri="{BB962C8B-B14F-4D97-AF65-F5344CB8AC3E}">
        <p14:creationId xmlns:p14="http://schemas.microsoft.com/office/powerpoint/2010/main" val="3802344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D1B18-96C0-B4EE-C81F-033F8F5704D9}"/>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6EC5769F-5883-E614-255B-EB03D91030AB}"/>
              </a:ext>
            </a:extLst>
          </p:cNvPr>
          <p:cNvSpPr txBox="1"/>
          <p:nvPr/>
        </p:nvSpPr>
        <p:spPr>
          <a:xfrm>
            <a:off x="245275" y="2643365"/>
            <a:ext cx="1089429" cy="266996"/>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Introduction</a:t>
            </a:r>
          </a:p>
        </p:txBody>
      </p:sp>
      <p:sp>
        <p:nvSpPr>
          <p:cNvPr id="36" name="TextBox 35">
            <a:extLst>
              <a:ext uri="{FF2B5EF4-FFF2-40B4-BE49-F238E27FC236}">
                <a16:creationId xmlns:a16="http://schemas.microsoft.com/office/drawing/2014/main" id="{F1AEB3F5-2171-33DF-EC72-F4BA6120FBE1}"/>
              </a:ext>
            </a:extLst>
          </p:cNvPr>
          <p:cNvSpPr txBox="1"/>
          <p:nvPr/>
        </p:nvSpPr>
        <p:spPr>
          <a:xfrm>
            <a:off x="245276" y="2864167"/>
            <a:ext cx="1089429" cy="179601"/>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nvGrpSpPr>
          <p:cNvPr id="41" name="Group 40">
            <a:extLst>
              <a:ext uri="{FF2B5EF4-FFF2-40B4-BE49-F238E27FC236}">
                <a16:creationId xmlns:a16="http://schemas.microsoft.com/office/drawing/2014/main" id="{C54DFA91-37A0-F850-2C73-53011ACD183C}"/>
              </a:ext>
            </a:extLst>
          </p:cNvPr>
          <p:cNvGrpSpPr/>
          <p:nvPr/>
        </p:nvGrpSpPr>
        <p:grpSpPr>
          <a:xfrm>
            <a:off x="1482835" y="722003"/>
            <a:ext cx="1376480" cy="640848"/>
            <a:chOff x="332936" y="2111597"/>
            <a:chExt cx="3697066" cy="1355097"/>
          </a:xfrm>
        </p:grpSpPr>
        <p:sp>
          <p:nvSpPr>
            <p:cNvPr id="42" name="TextBox 41">
              <a:extLst>
                <a:ext uri="{FF2B5EF4-FFF2-40B4-BE49-F238E27FC236}">
                  <a16:creationId xmlns:a16="http://schemas.microsoft.com/office/drawing/2014/main" id="{63781F1F-34CD-AA46-05D0-054AA433947A}"/>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a:ea typeface="Calibri"/>
                  <a:cs typeface="Calibri"/>
                </a:rPr>
                <a:t>Foundation and Existing Approaches</a:t>
              </a:r>
              <a:endParaRPr lang="en-US" sz="1100"/>
            </a:p>
          </p:txBody>
        </p:sp>
        <p:sp>
          <p:nvSpPr>
            <p:cNvPr id="43" name="TextBox 42">
              <a:extLst>
                <a:ext uri="{FF2B5EF4-FFF2-40B4-BE49-F238E27FC236}">
                  <a16:creationId xmlns:a16="http://schemas.microsoft.com/office/drawing/2014/main" id="{D8676406-3203-6F63-3E57-523FE79024A0}"/>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49" name="TextBox 48">
            <a:extLst>
              <a:ext uri="{FF2B5EF4-FFF2-40B4-BE49-F238E27FC236}">
                <a16:creationId xmlns:a16="http://schemas.microsoft.com/office/drawing/2014/main" id="{7518B78C-AE0E-91F3-13CA-984D5EB5F4B6}"/>
              </a:ext>
            </a:extLst>
          </p:cNvPr>
          <p:cNvSpPr txBox="1"/>
          <p:nvPr/>
        </p:nvSpPr>
        <p:spPr>
          <a:xfrm>
            <a:off x="869002" y="114827"/>
            <a:ext cx="3238906" cy="307777"/>
          </a:xfrm>
          <a:prstGeom prst="rect">
            <a:avLst/>
          </a:prstGeom>
          <a:noFill/>
        </p:spPr>
        <p:txBody>
          <a:bodyPr wrap="square">
            <a:spAutoFit/>
          </a:bodyPr>
          <a:lstStyle/>
          <a:p>
            <a:r>
              <a:rPr lang="en-US" sz="1400" b="1" dirty="0">
                <a:solidFill>
                  <a:srgbClr val="953735"/>
                </a:solidFill>
                <a:latin typeface="Calibri"/>
                <a:ea typeface="Calibri"/>
                <a:cs typeface="Calibri"/>
              </a:rPr>
              <a:t>System Evaluation</a:t>
            </a:r>
            <a:endParaRPr lang="en-US" sz="1400" dirty="0"/>
          </a:p>
        </p:txBody>
      </p:sp>
      <p:sp>
        <p:nvSpPr>
          <p:cNvPr id="83" name="TextBox 35">
            <a:extLst>
              <a:ext uri="{FF2B5EF4-FFF2-40B4-BE49-F238E27FC236}">
                <a16:creationId xmlns:a16="http://schemas.microsoft.com/office/drawing/2014/main" id="{4619040B-CF8A-4011-B2FB-FEB37BF0C14C}"/>
              </a:ext>
            </a:extLst>
          </p:cNvPr>
          <p:cNvSpPr txBox="1"/>
          <p:nvPr/>
        </p:nvSpPr>
        <p:spPr>
          <a:xfrm>
            <a:off x="245276" y="2864167"/>
            <a:ext cx="1089429" cy="179601"/>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sp>
        <p:nvSpPr>
          <p:cNvPr id="85" name="TextBox 38">
            <a:extLst>
              <a:ext uri="{FF2B5EF4-FFF2-40B4-BE49-F238E27FC236}">
                <a16:creationId xmlns:a16="http://schemas.microsoft.com/office/drawing/2014/main" id="{DD36EBF4-A377-423F-98E9-1EE2DFE24415}"/>
              </a:ext>
            </a:extLst>
          </p:cNvPr>
          <p:cNvSpPr txBox="1"/>
          <p:nvPr/>
        </p:nvSpPr>
        <p:spPr>
          <a:xfrm>
            <a:off x="4169419" y="2684593"/>
            <a:ext cx="1089429" cy="35400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and Future Work</a:t>
            </a:r>
            <a:endParaRPr lang="en-US" sz="1100" dirty="0"/>
          </a:p>
        </p:txBody>
      </p:sp>
      <p:grpSp>
        <p:nvGrpSpPr>
          <p:cNvPr id="86" name="Group 40">
            <a:extLst>
              <a:ext uri="{FF2B5EF4-FFF2-40B4-BE49-F238E27FC236}">
                <a16:creationId xmlns:a16="http://schemas.microsoft.com/office/drawing/2014/main" id="{5F091013-CDCB-497B-910E-EB1C165AF600}"/>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81A7D411-3BF1-455C-8471-FE1FF84806ED}"/>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88" name="TextBox 42">
              <a:extLst>
                <a:ext uri="{FF2B5EF4-FFF2-40B4-BE49-F238E27FC236}">
                  <a16:creationId xmlns:a16="http://schemas.microsoft.com/office/drawing/2014/main" id="{FD29E8BF-A0D8-421B-8AA6-2BF93A9C0428}"/>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92" name="TextBox 46">
            <a:extLst>
              <a:ext uri="{FF2B5EF4-FFF2-40B4-BE49-F238E27FC236}">
                <a16:creationId xmlns:a16="http://schemas.microsoft.com/office/drawing/2014/main" id="{C6003E6B-15F2-4D08-8504-C7938680FB19}"/>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b="1" dirty="0">
                <a:solidFill>
                  <a:srgbClr val="3B3535"/>
                </a:solidFill>
                <a:latin typeface="+mn-lt"/>
                <a:ea typeface="Sora Semi Bold" pitchFamily="34" charset="-122"/>
                <a:cs typeface="Sora Semi Bold" pitchFamily="34" charset="-120"/>
              </a:rPr>
              <a:t>System Evaluation</a:t>
            </a:r>
            <a:endParaRPr lang="en-US" sz="1100" b="1" dirty="0">
              <a:latin typeface="+mn-lt"/>
            </a:endParaRPr>
          </a:p>
        </p:txBody>
      </p:sp>
      <p:sp>
        <p:nvSpPr>
          <p:cNvPr id="94" name="Shape">
            <a:extLst>
              <a:ext uri="{FF2B5EF4-FFF2-40B4-BE49-F238E27FC236}">
                <a16:creationId xmlns:a16="http://schemas.microsoft.com/office/drawing/2014/main" id="{2A4CE568-5AF2-4CA6-94E7-9BA4790E1EE8}"/>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5" name="Shape">
            <a:extLst>
              <a:ext uri="{FF2B5EF4-FFF2-40B4-BE49-F238E27FC236}">
                <a16:creationId xmlns:a16="http://schemas.microsoft.com/office/drawing/2014/main" id="{ABFBB2A3-0A50-46E5-BFCA-753BD4619F54}"/>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6" name="Shape">
            <a:extLst>
              <a:ext uri="{FF2B5EF4-FFF2-40B4-BE49-F238E27FC236}">
                <a16:creationId xmlns:a16="http://schemas.microsoft.com/office/drawing/2014/main" id="{FC662A30-6576-4836-9A3A-A2E00D6B4712}"/>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7" name="Shape">
            <a:extLst>
              <a:ext uri="{FF2B5EF4-FFF2-40B4-BE49-F238E27FC236}">
                <a16:creationId xmlns:a16="http://schemas.microsoft.com/office/drawing/2014/main" id="{FB99FFA8-4DC8-491E-8A03-91BEDA3D8132}"/>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8" name="Shape">
            <a:extLst>
              <a:ext uri="{FF2B5EF4-FFF2-40B4-BE49-F238E27FC236}">
                <a16:creationId xmlns:a16="http://schemas.microsoft.com/office/drawing/2014/main" id="{52C600D1-BC20-451F-B9CA-B36E1ED7A406}"/>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9" name="Shape">
            <a:extLst>
              <a:ext uri="{FF2B5EF4-FFF2-40B4-BE49-F238E27FC236}">
                <a16:creationId xmlns:a16="http://schemas.microsoft.com/office/drawing/2014/main" id="{240866BA-8813-42E0-B494-1F2EC690E4A9}"/>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0" name="Shape">
            <a:extLst>
              <a:ext uri="{FF2B5EF4-FFF2-40B4-BE49-F238E27FC236}">
                <a16:creationId xmlns:a16="http://schemas.microsoft.com/office/drawing/2014/main" id="{4BB52A43-1ECF-435E-9777-3C38C6823F81}"/>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3">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1" name="Shape">
            <a:extLst>
              <a:ext uri="{FF2B5EF4-FFF2-40B4-BE49-F238E27FC236}">
                <a16:creationId xmlns:a16="http://schemas.microsoft.com/office/drawing/2014/main" id="{9F4D4BD1-9CDB-4899-B537-BC8317A331BB}"/>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2" name="Shape">
            <a:extLst>
              <a:ext uri="{FF2B5EF4-FFF2-40B4-BE49-F238E27FC236}">
                <a16:creationId xmlns:a16="http://schemas.microsoft.com/office/drawing/2014/main" id="{DB56E515-3F89-4823-8C16-759888BE49A4}"/>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3" name="Freeform: Shape 11">
            <a:extLst>
              <a:ext uri="{FF2B5EF4-FFF2-40B4-BE49-F238E27FC236}">
                <a16:creationId xmlns:a16="http://schemas.microsoft.com/office/drawing/2014/main" id="{2216FE47-ACE2-41DA-AEF3-4C21E91DD037}"/>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4" name="Freeform: Shape 12">
            <a:extLst>
              <a:ext uri="{FF2B5EF4-FFF2-40B4-BE49-F238E27FC236}">
                <a16:creationId xmlns:a16="http://schemas.microsoft.com/office/drawing/2014/main" id="{2E19BC26-7FD0-4519-B609-E09EFCF5EC63}"/>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5" name="Freeform: Shape 13">
            <a:extLst>
              <a:ext uri="{FF2B5EF4-FFF2-40B4-BE49-F238E27FC236}">
                <a16:creationId xmlns:a16="http://schemas.microsoft.com/office/drawing/2014/main" id="{04E9AA76-F5E5-4CDF-B9D6-00AFEE6BCA38}"/>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6" name="Freeform: Shape 14">
            <a:extLst>
              <a:ext uri="{FF2B5EF4-FFF2-40B4-BE49-F238E27FC236}">
                <a16:creationId xmlns:a16="http://schemas.microsoft.com/office/drawing/2014/main" id="{5B4342D4-6CAF-4B9A-918C-E5B1CC6C6D87}"/>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7" name="Freeform: Shape 15">
            <a:extLst>
              <a:ext uri="{FF2B5EF4-FFF2-40B4-BE49-F238E27FC236}">
                <a16:creationId xmlns:a16="http://schemas.microsoft.com/office/drawing/2014/main" id="{1C571149-7758-4BCB-85C2-90ABDD53E478}"/>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8" name="Shape">
            <a:extLst>
              <a:ext uri="{FF2B5EF4-FFF2-40B4-BE49-F238E27FC236}">
                <a16:creationId xmlns:a16="http://schemas.microsoft.com/office/drawing/2014/main" id="{5F6EBB60-B81F-4416-8BFC-5944E151CD44}"/>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9" name="Shape">
            <a:extLst>
              <a:ext uri="{FF2B5EF4-FFF2-40B4-BE49-F238E27FC236}">
                <a16:creationId xmlns:a16="http://schemas.microsoft.com/office/drawing/2014/main" id="{5FEAF7BC-545B-46C8-A356-1E9DE5066834}"/>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0" name="Shape">
            <a:extLst>
              <a:ext uri="{FF2B5EF4-FFF2-40B4-BE49-F238E27FC236}">
                <a16:creationId xmlns:a16="http://schemas.microsoft.com/office/drawing/2014/main" id="{C1075DF1-0986-4944-A7D2-4792575403D8}"/>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1" name="Shape">
            <a:extLst>
              <a:ext uri="{FF2B5EF4-FFF2-40B4-BE49-F238E27FC236}">
                <a16:creationId xmlns:a16="http://schemas.microsoft.com/office/drawing/2014/main" id="{B079F367-D370-4DB0-971F-01082EC742E0}"/>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2" name="Shape">
            <a:extLst>
              <a:ext uri="{FF2B5EF4-FFF2-40B4-BE49-F238E27FC236}">
                <a16:creationId xmlns:a16="http://schemas.microsoft.com/office/drawing/2014/main" id="{D331D4B2-D230-4483-873E-BF3E4D526406}"/>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3" name="Shape">
            <a:extLst>
              <a:ext uri="{FF2B5EF4-FFF2-40B4-BE49-F238E27FC236}">
                <a16:creationId xmlns:a16="http://schemas.microsoft.com/office/drawing/2014/main" id="{156CED4F-D6A1-4A4F-A814-0E7C23CAE700}"/>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4" name="Shape">
            <a:extLst>
              <a:ext uri="{FF2B5EF4-FFF2-40B4-BE49-F238E27FC236}">
                <a16:creationId xmlns:a16="http://schemas.microsoft.com/office/drawing/2014/main" id="{FF905577-9B1D-4FC3-BADD-4196255D2D8B}"/>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5" name="Shape">
            <a:extLst>
              <a:ext uri="{FF2B5EF4-FFF2-40B4-BE49-F238E27FC236}">
                <a16:creationId xmlns:a16="http://schemas.microsoft.com/office/drawing/2014/main" id="{5046A3FF-43EA-44CD-9E6E-1209EC3561DF}"/>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6" name="Shape">
            <a:extLst>
              <a:ext uri="{FF2B5EF4-FFF2-40B4-BE49-F238E27FC236}">
                <a16:creationId xmlns:a16="http://schemas.microsoft.com/office/drawing/2014/main" id="{73780784-0E76-41C2-8E47-39232E6CDB98}"/>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7" name="Shape">
            <a:extLst>
              <a:ext uri="{FF2B5EF4-FFF2-40B4-BE49-F238E27FC236}">
                <a16:creationId xmlns:a16="http://schemas.microsoft.com/office/drawing/2014/main" id="{849DA10E-6283-43F7-96DE-E2634A75B752}"/>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8" name="Shape">
            <a:extLst>
              <a:ext uri="{FF2B5EF4-FFF2-40B4-BE49-F238E27FC236}">
                <a16:creationId xmlns:a16="http://schemas.microsoft.com/office/drawing/2014/main" id="{C5C94019-F0FD-463C-9B50-FCDE1C045961}"/>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9" name="Shape">
            <a:extLst>
              <a:ext uri="{FF2B5EF4-FFF2-40B4-BE49-F238E27FC236}">
                <a16:creationId xmlns:a16="http://schemas.microsoft.com/office/drawing/2014/main" id="{BE0C5F79-E227-45C3-B65B-3767E655FB25}"/>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20" name="Shape">
            <a:extLst>
              <a:ext uri="{FF2B5EF4-FFF2-40B4-BE49-F238E27FC236}">
                <a16:creationId xmlns:a16="http://schemas.microsoft.com/office/drawing/2014/main" id="{E38EA571-196F-42E8-B6F7-CB34280ECF08}"/>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21" name="TextBox 29">
            <a:extLst>
              <a:ext uri="{FF2B5EF4-FFF2-40B4-BE49-F238E27FC236}">
                <a16:creationId xmlns:a16="http://schemas.microsoft.com/office/drawing/2014/main" id="{783EBC7D-5156-460C-85B8-6F1892BFEC48}"/>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123" name="TextBox 31">
            <a:extLst>
              <a:ext uri="{FF2B5EF4-FFF2-40B4-BE49-F238E27FC236}">
                <a16:creationId xmlns:a16="http://schemas.microsoft.com/office/drawing/2014/main" id="{79964D2E-5E89-4527-8E71-C5033569929D}"/>
              </a:ext>
            </a:extLst>
          </p:cNvPr>
          <p:cNvSpPr txBox="1"/>
          <p:nvPr/>
        </p:nvSpPr>
        <p:spPr>
          <a:xfrm>
            <a:off x="2576516" y="1785961"/>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sp>
        <p:nvSpPr>
          <p:cNvPr id="125" name="TextBox 36">
            <a:extLst>
              <a:ext uri="{FF2B5EF4-FFF2-40B4-BE49-F238E27FC236}">
                <a16:creationId xmlns:a16="http://schemas.microsoft.com/office/drawing/2014/main" id="{290B483B-8EED-40F0-ABCD-4DD423A39E5D}"/>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126" name="TextBox 43">
            <a:extLst>
              <a:ext uri="{FF2B5EF4-FFF2-40B4-BE49-F238E27FC236}">
                <a16:creationId xmlns:a16="http://schemas.microsoft.com/office/drawing/2014/main" id="{8C71013D-CAE2-4E75-BA24-1BB07163EE8B}"/>
              </a:ext>
            </a:extLst>
          </p:cNvPr>
          <p:cNvSpPr txBox="1"/>
          <p:nvPr/>
        </p:nvSpPr>
        <p:spPr>
          <a:xfrm>
            <a:off x="3438475" y="1803604"/>
            <a:ext cx="362694"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127" name="Shape">
            <a:extLst>
              <a:ext uri="{FF2B5EF4-FFF2-40B4-BE49-F238E27FC236}">
                <a16:creationId xmlns:a16="http://schemas.microsoft.com/office/drawing/2014/main" id="{08E6EF0F-C533-42DF-9C6A-B547BCC6FB7A}"/>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128" name="TextBox 45">
            <a:extLst>
              <a:ext uri="{FF2B5EF4-FFF2-40B4-BE49-F238E27FC236}">
                <a16:creationId xmlns:a16="http://schemas.microsoft.com/office/drawing/2014/main" id="{1DE57D37-FF24-49AE-B992-E798B9847F01}"/>
              </a:ext>
            </a:extLst>
          </p:cNvPr>
          <p:cNvSpPr txBox="1"/>
          <p:nvPr/>
        </p:nvSpPr>
        <p:spPr>
          <a:xfrm>
            <a:off x="1687762" y="1811299"/>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Tree>
    <p:extLst>
      <p:ext uri="{BB962C8B-B14F-4D97-AF65-F5344CB8AC3E}">
        <p14:creationId xmlns:p14="http://schemas.microsoft.com/office/powerpoint/2010/main" val="346796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41B5-4EF5-0F3F-4E27-8D04D83894C7}"/>
              </a:ext>
            </a:extLst>
          </p:cNvPr>
          <p:cNvSpPr>
            <a:spLocks noGrp="1"/>
          </p:cNvSpPr>
          <p:nvPr>
            <p:ph type="title"/>
          </p:nvPr>
        </p:nvSpPr>
        <p:spPr>
          <a:xfrm>
            <a:off x="1067295" y="252930"/>
            <a:ext cx="2432685" cy="215444"/>
          </a:xfrm>
        </p:spPr>
        <p:txBody>
          <a:bodyPr wrap="square" lIns="0" tIns="0" rIns="0" bIns="0" anchor="t">
            <a:spAutoFit/>
          </a:bodyPr>
          <a:lstStyle/>
          <a:p>
            <a:r>
              <a:rPr lang="en-US" dirty="0">
                <a:ea typeface="Calibri"/>
              </a:rPr>
              <a:t>Proposed Scenario</a:t>
            </a:r>
            <a:endParaRPr lang="en-US" dirty="0"/>
          </a:p>
        </p:txBody>
      </p:sp>
      <p:pic>
        <p:nvPicPr>
          <p:cNvPr id="4" name="Immagine 3">
            <a:extLst>
              <a:ext uri="{FF2B5EF4-FFF2-40B4-BE49-F238E27FC236}">
                <a16:creationId xmlns:a16="http://schemas.microsoft.com/office/drawing/2014/main" id="{ED1465F2-06CD-41A9-8019-4BF3500B8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18738" y="445168"/>
            <a:ext cx="2358304" cy="2354513"/>
          </a:xfrm>
          <a:prstGeom prst="rect">
            <a:avLst/>
          </a:prstGeom>
        </p:spPr>
      </p:pic>
      <p:sp>
        <p:nvSpPr>
          <p:cNvPr id="6" name="CasellaDiTesto 5">
            <a:extLst>
              <a:ext uri="{FF2B5EF4-FFF2-40B4-BE49-F238E27FC236}">
                <a16:creationId xmlns:a16="http://schemas.microsoft.com/office/drawing/2014/main" id="{6AAE4779-900A-41FF-A163-42DF5921F833}"/>
              </a:ext>
            </a:extLst>
          </p:cNvPr>
          <p:cNvSpPr txBox="1"/>
          <p:nvPr/>
        </p:nvSpPr>
        <p:spPr>
          <a:xfrm>
            <a:off x="288758" y="736092"/>
            <a:ext cx="2727866" cy="2062103"/>
          </a:xfrm>
          <a:prstGeom prst="rect">
            <a:avLst/>
          </a:prstGeom>
          <a:noFill/>
        </p:spPr>
        <p:txBody>
          <a:bodyPr wrap="square" rtlCol="0">
            <a:spAutoFit/>
          </a:bodyPr>
          <a:lstStyle/>
          <a:p>
            <a:pPr rtl="0" fontAlgn="base"/>
            <a:r>
              <a:rPr lang="en-US" sz="800" b="1" dirty="0"/>
              <a:t>Planning:</a:t>
            </a:r>
            <a:r>
              <a:rPr lang="en-US" sz="800" dirty="0"/>
              <a:t> 32 </a:t>
            </a:r>
            <a:r>
              <a:rPr lang="en-US" sz="800" dirty="0" err="1"/>
              <a:t>hrs</a:t>
            </a:r>
            <a:r>
              <a:rPr lang="en-US" sz="800" dirty="0"/>
              <a:t> of planning data for each satellite</a:t>
            </a:r>
          </a:p>
          <a:p>
            <a:pPr rtl="0" fontAlgn="base"/>
            <a:endParaRPr lang="en-US" sz="800" b="1" dirty="0"/>
          </a:p>
          <a:p>
            <a:pPr rtl="0" fontAlgn="base"/>
            <a:r>
              <a:rPr lang="en-US" sz="800" b="1" dirty="0"/>
              <a:t>Network State: </a:t>
            </a:r>
          </a:p>
          <a:p>
            <a:pPr marL="171450" lvl="3" indent="-171450" rtl="0" fontAlgn="base">
              <a:buFont typeface="Arial" panose="020B0604020202020204" pitchFamily="34" charset="0"/>
              <a:buChar char="•"/>
            </a:pPr>
            <a:r>
              <a:rPr lang="en-US" sz="800" dirty="0"/>
              <a:t>GS-01 is degraded: ANT-02 offline, ANT-03 exhibits latency and packet loss.</a:t>
            </a:r>
          </a:p>
          <a:p>
            <a:pPr marL="171450" lvl="3" indent="-171450" rtl="0" fontAlgn="base">
              <a:buFont typeface="Arial" panose="020B0604020202020204" pitchFamily="34" charset="0"/>
              <a:buChar char="•"/>
            </a:pPr>
            <a:r>
              <a:rPr lang="en-US" sz="800" dirty="0"/>
              <a:t>GS-01 </a:t>
            </a:r>
            <a:r>
              <a:rPr lang="it-IT" sz="800" dirty="0"/>
              <a:t>↔</a:t>
            </a:r>
            <a:r>
              <a:rPr lang="en-US" sz="800" dirty="0"/>
              <a:t> GS-02 degraded</a:t>
            </a:r>
          </a:p>
          <a:p>
            <a:pPr lvl="3" rtl="0" fontAlgn="base"/>
            <a:endParaRPr lang="en-US" sz="800" dirty="0"/>
          </a:p>
          <a:p>
            <a:r>
              <a:rPr lang="en-US" sz="800" b="1" dirty="0"/>
              <a:t>32 operational tickets</a:t>
            </a:r>
            <a:r>
              <a:rPr lang="en-US" sz="800" dirty="0"/>
              <a:t>: </a:t>
            </a:r>
          </a:p>
          <a:p>
            <a:pPr marL="171450" indent="-171450">
              <a:buFont typeface="Arial" panose="020B0604020202020204" pitchFamily="34" charset="0"/>
              <a:buChar char="•"/>
            </a:pPr>
            <a:r>
              <a:rPr lang="en-US" sz="800" dirty="0"/>
              <a:t>3 are related to the malfunctions</a:t>
            </a:r>
          </a:p>
          <a:p>
            <a:pPr marL="171450" indent="-171450">
              <a:buFont typeface="Arial" panose="020B0604020202020204" pitchFamily="34" charset="0"/>
              <a:buChar char="•"/>
            </a:pPr>
            <a:r>
              <a:rPr lang="en-US" sz="800" dirty="0"/>
              <a:t>1 is for preventive maintenance on GS-02/ANT-02 that requires </a:t>
            </a:r>
            <a:r>
              <a:rPr lang="en-US" sz="800" dirty="0" err="1"/>
              <a:t>replanning</a:t>
            </a:r>
            <a:endParaRPr lang="en-US" sz="800" dirty="0"/>
          </a:p>
          <a:p>
            <a:pPr marL="171450" indent="-171450">
              <a:buFont typeface="Arial" panose="020B0604020202020204" pitchFamily="34" charset="0"/>
              <a:buChar char="•"/>
            </a:pPr>
            <a:r>
              <a:rPr lang="en-US" sz="800" dirty="0"/>
              <a:t>1 is about an urgent acquisition that requires </a:t>
            </a:r>
            <a:r>
              <a:rPr lang="en-US" sz="800" dirty="0" err="1"/>
              <a:t>replanning</a:t>
            </a:r>
            <a:r>
              <a:rPr lang="en-US" sz="800" dirty="0"/>
              <a:t> of activities</a:t>
            </a:r>
          </a:p>
          <a:p>
            <a:endParaRPr lang="en-US" sz="800" dirty="0"/>
          </a:p>
          <a:p>
            <a:r>
              <a:rPr lang="en-US" sz="800" b="1" dirty="0"/>
              <a:t>Knowledge base</a:t>
            </a:r>
            <a:r>
              <a:rPr lang="en-US" sz="800" dirty="0"/>
              <a:t>: 20 documents in the RAG system</a:t>
            </a:r>
          </a:p>
          <a:p>
            <a:pPr marL="171450" lvl="3" indent="-171450" rtl="0" fontAlgn="base">
              <a:buFont typeface="Arial" panose="020B0604020202020204" pitchFamily="34" charset="0"/>
              <a:buChar char="•"/>
            </a:pPr>
            <a:endParaRPr lang="en-US" sz="800" dirty="0"/>
          </a:p>
        </p:txBody>
      </p:sp>
    </p:spTree>
    <p:extLst>
      <p:ext uri="{BB962C8B-B14F-4D97-AF65-F5344CB8AC3E}">
        <p14:creationId xmlns:p14="http://schemas.microsoft.com/office/powerpoint/2010/main" val="1371118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Benchmark</a:t>
            </a:r>
          </a:p>
        </p:txBody>
      </p:sp>
      <p:pic>
        <p:nvPicPr>
          <p:cNvPr id="5" name="Immagine 4">
            <a:extLst>
              <a:ext uri="{FF2B5EF4-FFF2-40B4-BE49-F238E27FC236}">
                <a16:creationId xmlns:a16="http://schemas.microsoft.com/office/drawing/2014/main" id="{E80453EE-5981-47E7-B714-D09033DADF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30188" y="492280"/>
            <a:ext cx="3466827" cy="2674025"/>
          </a:xfrm>
          <a:prstGeom prst="rect">
            <a:avLst/>
          </a:prstGeom>
        </p:spPr>
      </p:pic>
      <p:sp>
        <p:nvSpPr>
          <p:cNvPr id="6" name="Parentesi graffa aperta 5">
            <a:extLst>
              <a:ext uri="{FF2B5EF4-FFF2-40B4-BE49-F238E27FC236}">
                <a16:creationId xmlns:a16="http://schemas.microsoft.com/office/drawing/2014/main" id="{59FD414C-22E1-4582-B003-4CBEEF22BDA7}"/>
              </a:ext>
            </a:extLst>
          </p:cNvPr>
          <p:cNvSpPr/>
          <p:nvPr/>
        </p:nvSpPr>
        <p:spPr>
          <a:xfrm>
            <a:off x="1578720" y="708212"/>
            <a:ext cx="97680" cy="1241612"/>
          </a:xfrm>
          <a:prstGeom prst="leftBrace">
            <a:avLst/>
          </a:prstGeom>
          <a:ln w="12700">
            <a:solidFill>
              <a:schemeClr val="accent3">
                <a:lumMod val="5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a:p>
        </p:txBody>
      </p:sp>
      <p:sp>
        <p:nvSpPr>
          <p:cNvPr id="9" name="Parentesi graffa aperta 8">
            <a:extLst>
              <a:ext uri="{FF2B5EF4-FFF2-40B4-BE49-F238E27FC236}">
                <a16:creationId xmlns:a16="http://schemas.microsoft.com/office/drawing/2014/main" id="{A2A4B7EE-9D04-48A4-A4BF-59EE21DD5817}"/>
              </a:ext>
            </a:extLst>
          </p:cNvPr>
          <p:cNvSpPr/>
          <p:nvPr/>
        </p:nvSpPr>
        <p:spPr>
          <a:xfrm>
            <a:off x="1566456" y="2003612"/>
            <a:ext cx="112311" cy="578224"/>
          </a:xfrm>
          <a:prstGeom prst="leftBrace">
            <a:avLst/>
          </a:prstGeom>
          <a:ln w="12700">
            <a:solidFill>
              <a:schemeClr val="accent6">
                <a:lumMod val="75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a:p>
        </p:txBody>
      </p:sp>
      <p:sp>
        <p:nvSpPr>
          <p:cNvPr id="10" name="Parentesi graffa aperta 9">
            <a:extLst>
              <a:ext uri="{FF2B5EF4-FFF2-40B4-BE49-F238E27FC236}">
                <a16:creationId xmlns:a16="http://schemas.microsoft.com/office/drawing/2014/main" id="{E6F7CDB6-E4FA-45AC-98EE-AD7FDE375838}"/>
              </a:ext>
            </a:extLst>
          </p:cNvPr>
          <p:cNvSpPr/>
          <p:nvPr/>
        </p:nvSpPr>
        <p:spPr>
          <a:xfrm>
            <a:off x="1578720" y="2649476"/>
            <a:ext cx="87784" cy="424723"/>
          </a:xfrm>
          <a:prstGeom prst="leftBrace">
            <a:avLst/>
          </a:prstGeom>
          <a:ln w="12700">
            <a:solidFill>
              <a:srgbClr val="FF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a:p>
        </p:txBody>
      </p:sp>
      <p:sp>
        <p:nvSpPr>
          <p:cNvPr id="7" name="CasellaDiTesto 6">
            <a:extLst>
              <a:ext uri="{FF2B5EF4-FFF2-40B4-BE49-F238E27FC236}">
                <a16:creationId xmlns:a16="http://schemas.microsoft.com/office/drawing/2014/main" id="{E1F5ECB7-82D0-4AA3-94DC-DC5AFFA012D2}"/>
              </a:ext>
            </a:extLst>
          </p:cNvPr>
          <p:cNvSpPr txBox="1"/>
          <p:nvPr/>
        </p:nvSpPr>
        <p:spPr>
          <a:xfrm>
            <a:off x="866104" y="1205907"/>
            <a:ext cx="644728" cy="246221"/>
          </a:xfrm>
          <a:prstGeom prst="rect">
            <a:avLst/>
          </a:prstGeom>
          <a:noFill/>
        </p:spPr>
        <p:txBody>
          <a:bodyPr wrap="none" rtlCol="0">
            <a:spAutoFit/>
          </a:bodyPr>
          <a:lstStyle/>
          <a:p>
            <a:r>
              <a:rPr lang="it-IT" sz="1000" dirty="0">
                <a:solidFill>
                  <a:schemeClr val="accent3">
                    <a:lumMod val="50000"/>
                  </a:schemeClr>
                </a:solidFill>
              </a:rPr>
              <a:t>10 Easy</a:t>
            </a:r>
          </a:p>
        </p:txBody>
      </p:sp>
      <p:sp>
        <p:nvSpPr>
          <p:cNvPr id="11" name="CasellaDiTesto 10">
            <a:extLst>
              <a:ext uri="{FF2B5EF4-FFF2-40B4-BE49-F238E27FC236}">
                <a16:creationId xmlns:a16="http://schemas.microsoft.com/office/drawing/2014/main" id="{071FF2B0-C7C8-42B8-9B92-BE37579C165C}"/>
              </a:ext>
            </a:extLst>
          </p:cNvPr>
          <p:cNvSpPr txBox="1"/>
          <p:nvPr/>
        </p:nvSpPr>
        <p:spPr>
          <a:xfrm>
            <a:off x="769318" y="2165755"/>
            <a:ext cx="745717" cy="246221"/>
          </a:xfrm>
          <a:prstGeom prst="rect">
            <a:avLst/>
          </a:prstGeom>
          <a:noFill/>
        </p:spPr>
        <p:txBody>
          <a:bodyPr wrap="none" rtlCol="0">
            <a:spAutoFit/>
          </a:bodyPr>
          <a:lstStyle/>
          <a:p>
            <a:r>
              <a:rPr lang="it-IT" sz="1000" dirty="0">
                <a:solidFill>
                  <a:schemeClr val="accent6">
                    <a:lumMod val="75000"/>
                  </a:schemeClr>
                </a:solidFill>
              </a:rPr>
              <a:t>6 Medium</a:t>
            </a:r>
          </a:p>
        </p:txBody>
      </p:sp>
      <p:sp>
        <p:nvSpPr>
          <p:cNvPr id="12" name="CasellaDiTesto 11">
            <a:extLst>
              <a:ext uri="{FF2B5EF4-FFF2-40B4-BE49-F238E27FC236}">
                <a16:creationId xmlns:a16="http://schemas.microsoft.com/office/drawing/2014/main" id="{9420D578-2A1C-479D-B56A-095062039C41}"/>
              </a:ext>
            </a:extLst>
          </p:cNvPr>
          <p:cNvSpPr txBox="1"/>
          <p:nvPr/>
        </p:nvSpPr>
        <p:spPr>
          <a:xfrm>
            <a:off x="933064" y="2738726"/>
            <a:ext cx="567784" cy="246221"/>
          </a:xfrm>
          <a:prstGeom prst="rect">
            <a:avLst/>
          </a:prstGeom>
          <a:noFill/>
        </p:spPr>
        <p:txBody>
          <a:bodyPr wrap="none" rtlCol="0">
            <a:spAutoFit/>
          </a:bodyPr>
          <a:lstStyle/>
          <a:p>
            <a:r>
              <a:rPr lang="it-IT" sz="1000" dirty="0">
                <a:solidFill>
                  <a:srgbClr val="FF0000"/>
                </a:solidFill>
              </a:rPr>
              <a:t>4 Hard</a:t>
            </a:r>
          </a:p>
        </p:txBody>
      </p:sp>
    </p:spTree>
    <p:extLst>
      <p:ext uri="{BB962C8B-B14F-4D97-AF65-F5344CB8AC3E}">
        <p14:creationId xmlns:p14="http://schemas.microsoft.com/office/powerpoint/2010/main" val="572085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Benchmark – Some examples</a:t>
            </a:r>
          </a:p>
        </p:txBody>
      </p:sp>
      <p:graphicFrame>
        <p:nvGraphicFramePr>
          <p:cNvPr id="2" name="Tabella 2">
            <a:extLst>
              <a:ext uri="{FF2B5EF4-FFF2-40B4-BE49-F238E27FC236}">
                <a16:creationId xmlns:a16="http://schemas.microsoft.com/office/drawing/2014/main" id="{035C0BFD-3FFC-42EC-932A-A3C88D608C01}"/>
              </a:ext>
            </a:extLst>
          </p:cNvPr>
          <p:cNvGraphicFramePr>
            <a:graphicFrameLocks noGrp="1"/>
          </p:cNvGraphicFramePr>
          <p:nvPr>
            <p:extLst>
              <p:ext uri="{D42A27DB-BD31-4B8C-83A1-F6EECF244321}">
                <p14:modId xmlns:p14="http://schemas.microsoft.com/office/powerpoint/2010/main" val="1219599671"/>
              </p:ext>
            </p:extLst>
          </p:nvPr>
        </p:nvGraphicFramePr>
        <p:xfrm>
          <a:off x="382274" y="654494"/>
          <a:ext cx="5192813" cy="2243421"/>
        </p:xfrm>
        <a:graphic>
          <a:graphicData uri="http://schemas.openxmlformats.org/drawingml/2006/table">
            <a:tbl>
              <a:tblPr firstRow="1" bandRow="1">
                <a:tableStyleId>{5C22544A-7EE6-4342-B048-85BDC9FD1C3A}</a:tableStyleId>
              </a:tblPr>
              <a:tblGrid>
                <a:gridCol w="565766">
                  <a:extLst>
                    <a:ext uri="{9D8B030D-6E8A-4147-A177-3AD203B41FA5}">
                      <a16:colId xmlns:a16="http://schemas.microsoft.com/office/drawing/2014/main" val="2317430589"/>
                    </a:ext>
                  </a:extLst>
                </a:gridCol>
                <a:gridCol w="3461883">
                  <a:extLst>
                    <a:ext uri="{9D8B030D-6E8A-4147-A177-3AD203B41FA5}">
                      <a16:colId xmlns:a16="http://schemas.microsoft.com/office/drawing/2014/main" val="919910079"/>
                    </a:ext>
                  </a:extLst>
                </a:gridCol>
                <a:gridCol w="1165164">
                  <a:extLst>
                    <a:ext uri="{9D8B030D-6E8A-4147-A177-3AD203B41FA5}">
                      <a16:colId xmlns:a16="http://schemas.microsoft.com/office/drawing/2014/main" val="87143718"/>
                    </a:ext>
                  </a:extLst>
                </a:gridCol>
              </a:tblGrid>
              <a:tr h="190149">
                <a:tc>
                  <a:txBody>
                    <a:bodyPr/>
                    <a:lstStyle/>
                    <a:p>
                      <a:pPr algn="ctr"/>
                      <a:r>
                        <a:rPr lang="it-IT" sz="800" dirty="0" err="1"/>
                        <a:t>Difficulty</a:t>
                      </a:r>
                      <a:endParaRPr lang="it-IT" sz="800" dirty="0"/>
                    </a:p>
                  </a:txBody>
                  <a:tcPr>
                    <a:solidFill>
                      <a:srgbClr val="8F3432"/>
                    </a:solidFill>
                  </a:tcPr>
                </a:tc>
                <a:tc>
                  <a:txBody>
                    <a:bodyPr/>
                    <a:lstStyle/>
                    <a:p>
                      <a:pPr algn="ctr"/>
                      <a:r>
                        <a:rPr lang="it-IT" sz="800" dirty="0" err="1"/>
                        <a:t>Question</a:t>
                      </a:r>
                      <a:endParaRPr lang="it-IT" sz="800" dirty="0"/>
                    </a:p>
                  </a:txBody>
                  <a:tcPr>
                    <a:solidFill>
                      <a:srgbClr val="8F3432"/>
                    </a:solidFill>
                  </a:tcPr>
                </a:tc>
                <a:tc>
                  <a:txBody>
                    <a:bodyPr/>
                    <a:lstStyle/>
                    <a:p>
                      <a:pPr algn="ctr"/>
                      <a:r>
                        <a:rPr lang="it-IT" sz="800" dirty="0" err="1"/>
                        <a:t>Required</a:t>
                      </a:r>
                      <a:r>
                        <a:rPr lang="it-IT" sz="800" dirty="0"/>
                        <a:t> </a:t>
                      </a:r>
                      <a:r>
                        <a:rPr lang="it-IT" sz="800" dirty="0" err="1"/>
                        <a:t>Ability</a:t>
                      </a:r>
                      <a:endParaRPr lang="it-IT" sz="800" dirty="0"/>
                    </a:p>
                  </a:txBody>
                  <a:tcPr>
                    <a:solidFill>
                      <a:srgbClr val="8F3432"/>
                    </a:solidFill>
                  </a:tcPr>
                </a:tc>
                <a:extLst>
                  <a:ext uri="{0D108BD9-81ED-4DB2-BD59-A6C34878D82A}">
                    <a16:rowId xmlns:a16="http://schemas.microsoft.com/office/drawing/2014/main" val="1928562605"/>
                  </a:ext>
                </a:extLst>
              </a:tr>
              <a:tr h="261246">
                <a:tc rowSpan="2">
                  <a:txBody>
                    <a:bodyPr/>
                    <a:lstStyle/>
                    <a:p>
                      <a:pPr algn="l"/>
                      <a:r>
                        <a:rPr lang="it-IT" sz="700" dirty="0"/>
                        <a:t>Easy</a:t>
                      </a:r>
                    </a:p>
                  </a:txBody>
                  <a:tcPr anchor="ctr">
                    <a:solidFill>
                      <a:schemeClr val="accent3">
                        <a:lumMod val="20000"/>
                        <a:lumOff val="80000"/>
                      </a:schemeClr>
                    </a:solidFill>
                  </a:tcPr>
                </a:tc>
                <a:tc>
                  <a:txBody>
                    <a:bodyPr/>
                    <a:lstStyle/>
                    <a:p>
                      <a:pPr algn="l"/>
                      <a:r>
                        <a:rPr lang="en-US" sz="700" dirty="0"/>
                        <a:t>What are the requirements for software validation according to ECSS?</a:t>
                      </a:r>
                      <a:endParaRPr lang="it-IT" sz="700" dirty="0"/>
                    </a:p>
                  </a:txBody>
                  <a:tcPr anchor="ctr">
                    <a:solidFill>
                      <a:schemeClr val="accent3">
                        <a:lumMod val="20000"/>
                        <a:lumOff val="80000"/>
                      </a:schemeClr>
                    </a:solidFill>
                  </a:tcPr>
                </a:tc>
                <a:tc>
                  <a:txBody>
                    <a:bodyPr/>
                    <a:lstStyle/>
                    <a:p>
                      <a:pPr marL="171450" indent="-171450" algn="l">
                        <a:buFont typeface="Arial" panose="020B0604020202020204" pitchFamily="34" charset="0"/>
                        <a:buChar char="•"/>
                      </a:pPr>
                      <a:r>
                        <a:rPr lang="it-IT" sz="700" b="1" i="1" dirty="0"/>
                        <a:t>RAG </a:t>
                      </a:r>
                      <a:r>
                        <a:rPr lang="it-IT" sz="700" b="1" i="1" dirty="0" err="1"/>
                        <a:t>search</a:t>
                      </a:r>
                      <a:endParaRPr lang="it-IT" sz="700" b="1" i="1" dirty="0"/>
                    </a:p>
                  </a:txBody>
                  <a:tcPr anchor="ctr">
                    <a:solidFill>
                      <a:schemeClr val="accent3">
                        <a:lumMod val="20000"/>
                        <a:lumOff val="80000"/>
                      </a:schemeClr>
                    </a:solidFill>
                  </a:tcPr>
                </a:tc>
                <a:extLst>
                  <a:ext uri="{0D108BD9-81ED-4DB2-BD59-A6C34878D82A}">
                    <a16:rowId xmlns:a16="http://schemas.microsoft.com/office/drawing/2014/main" val="4197941189"/>
                  </a:ext>
                </a:extLst>
              </a:tr>
              <a:tr h="255548">
                <a:tc vMerge="1">
                  <a:txBody>
                    <a:bodyPr/>
                    <a:lstStyle/>
                    <a:p>
                      <a:pPr algn="l"/>
                      <a:r>
                        <a:rPr lang="it-IT" sz="700" dirty="0"/>
                        <a:t>Easy</a:t>
                      </a:r>
                    </a:p>
                  </a:txBody>
                  <a:tcPr anchor="ctr">
                    <a:solidFill>
                      <a:schemeClr val="accent3">
                        <a:lumMod val="20000"/>
                        <a:lumOff val="80000"/>
                      </a:schemeClr>
                    </a:solidFill>
                  </a:tcPr>
                </a:tc>
                <a:tc>
                  <a:txBody>
                    <a:bodyPr/>
                    <a:lstStyle/>
                    <a:p>
                      <a:pPr algn="l"/>
                      <a:r>
                        <a:rPr lang="en-US" sz="700" dirty="0"/>
                        <a:t>When is satellite SAT-01 next pass on GS-01?</a:t>
                      </a:r>
                      <a:endParaRPr lang="it-IT" sz="700" dirty="0"/>
                    </a:p>
                  </a:txBody>
                  <a:tcPr anchor="ctr">
                    <a:solidFill>
                      <a:schemeClr val="accent3">
                        <a:lumMod val="20000"/>
                        <a:lumOff val="80000"/>
                      </a:schemeClr>
                    </a:solidFill>
                  </a:tcPr>
                </a:tc>
                <a:tc>
                  <a:txBody>
                    <a:bodyPr/>
                    <a:lstStyle/>
                    <a:p>
                      <a:pPr marL="171450" indent="-171450" algn="l">
                        <a:buFont typeface="Arial" panose="020B0604020202020204" pitchFamily="34" charset="0"/>
                        <a:buChar char="•"/>
                      </a:pPr>
                      <a:r>
                        <a:rPr lang="it-IT" sz="700" b="1" i="1" dirty="0"/>
                        <a:t>Tool </a:t>
                      </a:r>
                      <a:r>
                        <a:rPr lang="it-IT" sz="700" b="1" i="1" dirty="0" err="1"/>
                        <a:t>calling</a:t>
                      </a:r>
                      <a:endParaRPr lang="it-IT" sz="700" b="1" i="1" dirty="0"/>
                    </a:p>
                  </a:txBody>
                  <a:tcPr anchor="ctr">
                    <a:solidFill>
                      <a:schemeClr val="accent3">
                        <a:lumMod val="20000"/>
                        <a:lumOff val="80000"/>
                      </a:schemeClr>
                    </a:solidFill>
                  </a:tcPr>
                </a:tc>
                <a:extLst>
                  <a:ext uri="{0D108BD9-81ED-4DB2-BD59-A6C34878D82A}">
                    <a16:rowId xmlns:a16="http://schemas.microsoft.com/office/drawing/2014/main" val="1178735050"/>
                  </a:ext>
                </a:extLst>
              </a:tr>
              <a:tr h="352682">
                <a:tc rowSpan="2">
                  <a:txBody>
                    <a:bodyPr/>
                    <a:lstStyle/>
                    <a:p>
                      <a:pPr algn="l"/>
                      <a:r>
                        <a:rPr lang="it-IT" sz="700" dirty="0"/>
                        <a:t>Medium</a:t>
                      </a:r>
                    </a:p>
                  </a:txBody>
                  <a:tcPr anchor="ctr">
                    <a:solidFill>
                      <a:schemeClr val="accent6">
                        <a:lumMod val="60000"/>
                        <a:lumOff val="40000"/>
                      </a:schemeClr>
                    </a:solidFill>
                  </a:tcPr>
                </a:tc>
                <a:tc>
                  <a:txBody>
                    <a:bodyPr/>
                    <a:lstStyle/>
                    <a:p>
                      <a:pPr algn="l"/>
                      <a:r>
                        <a:rPr lang="en-US" sz="700" dirty="0"/>
                        <a:t>How many acquisitions do we lose if ANT-01 is unavailable from 10:00 to 12:00?</a:t>
                      </a:r>
                      <a:endParaRPr lang="it-IT" sz="700" dirty="0"/>
                    </a:p>
                  </a:txBody>
                  <a:tcPr anchor="ctr">
                    <a:solidFill>
                      <a:schemeClr val="accent6">
                        <a:lumMod val="60000"/>
                        <a:lumOff val="40000"/>
                      </a:schemeClr>
                    </a:solidFill>
                  </a:tcPr>
                </a:tc>
                <a:tc>
                  <a:txBody>
                    <a:bodyPr/>
                    <a:lstStyle/>
                    <a:p>
                      <a:pPr marL="171450" indent="-171450" algn="l">
                        <a:buFont typeface="Arial" panose="020B0604020202020204" pitchFamily="34" charset="0"/>
                        <a:buChar char="•"/>
                      </a:pPr>
                      <a:r>
                        <a:rPr lang="it-IT" sz="700" b="1" i="1" dirty="0"/>
                        <a:t>Multi-source </a:t>
                      </a:r>
                      <a:r>
                        <a:rPr lang="it-IT" sz="700" b="1" i="1" dirty="0" err="1"/>
                        <a:t>corr</a:t>
                      </a:r>
                      <a:r>
                        <a:rPr lang="it-IT" sz="700" b="1" i="1" dirty="0"/>
                        <a:t>.</a:t>
                      </a:r>
                    </a:p>
                    <a:p>
                      <a:pPr marL="171450" indent="-171450" algn="l">
                        <a:buFont typeface="Arial" panose="020B0604020202020204" pitchFamily="34" charset="0"/>
                        <a:buChar char="•"/>
                      </a:pPr>
                      <a:r>
                        <a:rPr lang="it-IT" sz="700" b="1" i="1" dirty="0" err="1"/>
                        <a:t>Predictive</a:t>
                      </a:r>
                      <a:r>
                        <a:rPr lang="it-IT" sz="700" b="1" i="1" dirty="0"/>
                        <a:t> </a:t>
                      </a:r>
                      <a:r>
                        <a:rPr lang="it-IT" sz="700" b="1" i="1" dirty="0" err="1"/>
                        <a:t>reasoning</a:t>
                      </a:r>
                      <a:endParaRPr lang="it-IT" sz="700" b="1" i="1" dirty="0"/>
                    </a:p>
                  </a:txBody>
                  <a:tcPr anchor="ctr">
                    <a:solidFill>
                      <a:schemeClr val="accent6">
                        <a:lumMod val="60000"/>
                        <a:lumOff val="40000"/>
                      </a:schemeClr>
                    </a:solidFill>
                  </a:tcPr>
                </a:tc>
                <a:extLst>
                  <a:ext uri="{0D108BD9-81ED-4DB2-BD59-A6C34878D82A}">
                    <a16:rowId xmlns:a16="http://schemas.microsoft.com/office/drawing/2014/main" val="1231571920"/>
                  </a:ext>
                </a:extLst>
              </a:tr>
              <a:tr h="272349">
                <a:tc vMerge="1">
                  <a:txBody>
                    <a:bodyPr/>
                    <a:lstStyle/>
                    <a:p>
                      <a:pPr algn="l"/>
                      <a:r>
                        <a:rPr lang="it-IT" sz="700" dirty="0"/>
                        <a:t>Medium</a:t>
                      </a:r>
                    </a:p>
                  </a:txBody>
                  <a:tcPr anchor="ctr">
                    <a:solidFill>
                      <a:schemeClr val="accent6">
                        <a:lumMod val="60000"/>
                        <a:lumOff val="40000"/>
                      </a:schemeClr>
                    </a:solidFill>
                  </a:tcPr>
                </a:tc>
                <a:tc>
                  <a:txBody>
                    <a:bodyPr/>
                    <a:lstStyle/>
                    <a:p>
                      <a:pPr algn="l"/>
                      <a:r>
                        <a:rPr lang="en-US" sz="700" dirty="0"/>
                        <a:t>Why is GS-01 degraded?</a:t>
                      </a:r>
                      <a:endParaRPr lang="it-IT" sz="700" dirty="0"/>
                    </a:p>
                  </a:txBody>
                  <a:tcPr anchor="ctr">
                    <a:solidFill>
                      <a:schemeClr val="accent6">
                        <a:lumMod val="60000"/>
                        <a:lumOff val="40000"/>
                      </a:schemeClr>
                    </a:solidFill>
                  </a:tcPr>
                </a:tc>
                <a:tc>
                  <a:txBody>
                    <a:bodyPr/>
                    <a:lstStyle/>
                    <a:p>
                      <a:pPr marL="171450" indent="-171450" algn="l">
                        <a:buFont typeface="Arial" panose="020B0604020202020204" pitchFamily="34" charset="0"/>
                        <a:buChar char="•"/>
                      </a:pPr>
                      <a:r>
                        <a:rPr lang="it-IT" sz="700" b="1" i="1" dirty="0"/>
                        <a:t>Multi-source </a:t>
                      </a:r>
                      <a:r>
                        <a:rPr lang="it-IT" sz="700" b="1" i="1" dirty="0" err="1"/>
                        <a:t>corr</a:t>
                      </a:r>
                      <a:r>
                        <a:rPr lang="it-IT" sz="700" b="1" i="1" dirty="0"/>
                        <a:t>.</a:t>
                      </a:r>
                    </a:p>
                  </a:txBody>
                  <a:tcPr anchor="ctr">
                    <a:solidFill>
                      <a:schemeClr val="accent6">
                        <a:lumMod val="60000"/>
                        <a:lumOff val="40000"/>
                      </a:schemeClr>
                    </a:solidFill>
                  </a:tcPr>
                </a:tc>
                <a:extLst>
                  <a:ext uri="{0D108BD9-81ED-4DB2-BD59-A6C34878D82A}">
                    <a16:rowId xmlns:a16="http://schemas.microsoft.com/office/drawing/2014/main" val="1431304589"/>
                  </a:ext>
                </a:extLst>
              </a:tr>
              <a:tr h="444118">
                <a:tc rowSpan="2">
                  <a:txBody>
                    <a:bodyPr/>
                    <a:lstStyle/>
                    <a:p>
                      <a:pPr algn="l"/>
                      <a:r>
                        <a:rPr lang="it-IT" sz="700" dirty="0"/>
                        <a:t>Hard</a:t>
                      </a:r>
                    </a:p>
                  </a:txBody>
                  <a:tcPr anchor="ctr">
                    <a:solidFill>
                      <a:schemeClr val="accent2">
                        <a:lumMod val="60000"/>
                        <a:lumOff val="40000"/>
                      </a:schemeClr>
                    </a:solidFill>
                  </a:tcPr>
                </a:tc>
                <a:tc>
                  <a:txBody>
                    <a:bodyPr/>
                    <a:lstStyle/>
                    <a:p>
                      <a:pPr algn="l"/>
                      <a:r>
                        <a:rPr lang="en-US" sz="700" dirty="0"/>
                        <a:t>What operational issues require immediate attention and what mitigation</a:t>
                      </a:r>
                    </a:p>
                    <a:p>
                      <a:pPr algn="l"/>
                      <a:r>
                        <a:rPr lang="en-US" sz="700" dirty="0"/>
                        <a:t>actions should be applied?</a:t>
                      </a:r>
                      <a:endParaRPr lang="it-IT" sz="700" dirty="0"/>
                    </a:p>
                  </a:txBody>
                  <a:tcPr anchor="ctr">
                    <a:solidFill>
                      <a:schemeClr val="accent2">
                        <a:lumMod val="60000"/>
                        <a:lumOff val="40000"/>
                      </a:schemeClr>
                    </a:solidFill>
                  </a:tcPr>
                </a:tc>
                <a:tc>
                  <a:txBody>
                    <a:bodyPr/>
                    <a:lstStyle/>
                    <a:p>
                      <a:pPr marL="171450" indent="-171450" algn="l">
                        <a:buFont typeface="Arial" panose="020B0604020202020204" pitchFamily="34" charset="0"/>
                        <a:buChar char="•"/>
                      </a:pPr>
                      <a:r>
                        <a:rPr lang="it-IT" sz="700" b="1" i="1" dirty="0"/>
                        <a:t>Multi-source </a:t>
                      </a:r>
                      <a:r>
                        <a:rPr lang="it-IT" sz="700" b="1" i="1" dirty="0" err="1"/>
                        <a:t>corr</a:t>
                      </a:r>
                      <a:r>
                        <a:rPr lang="it-IT" sz="700" b="1" i="1" dirty="0"/>
                        <a:t>.</a:t>
                      </a:r>
                    </a:p>
                    <a:p>
                      <a:pPr marL="171450" indent="-171450" algn="l">
                        <a:buFont typeface="Arial" panose="020B0604020202020204" pitchFamily="34" charset="0"/>
                        <a:buChar char="•"/>
                      </a:pPr>
                      <a:r>
                        <a:rPr lang="it-IT" sz="700" b="1" i="1" dirty="0"/>
                        <a:t>Impact Analysis</a:t>
                      </a:r>
                    </a:p>
                    <a:p>
                      <a:pPr marL="171450" indent="-171450" algn="l">
                        <a:buFont typeface="Arial" panose="020B0604020202020204" pitchFamily="34" charset="0"/>
                        <a:buChar char="•"/>
                      </a:pPr>
                      <a:r>
                        <a:rPr lang="it-IT" sz="700" b="1" i="1" dirty="0" err="1"/>
                        <a:t>Decision</a:t>
                      </a:r>
                      <a:r>
                        <a:rPr lang="it-IT" sz="700" b="1" i="1" dirty="0"/>
                        <a:t> Support</a:t>
                      </a:r>
                    </a:p>
                  </a:txBody>
                  <a:tcPr anchor="ctr">
                    <a:solidFill>
                      <a:schemeClr val="accent2">
                        <a:lumMod val="60000"/>
                        <a:lumOff val="40000"/>
                      </a:schemeClr>
                    </a:solidFill>
                  </a:tcPr>
                </a:tc>
                <a:extLst>
                  <a:ext uri="{0D108BD9-81ED-4DB2-BD59-A6C34878D82A}">
                    <a16:rowId xmlns:a16="http://schemas.microsoft.com/office/drawing/2014/main" val="3956482269"/>
                  </a:ext>
                </a:extLst>
              </a:tr>
              <a:tr h="444118">
                <a:tc vMerge="1">
                  <a:txBody>
                    <a:bodyPr/>
                    <a:lstStyle/>
                    <a:p>
                      <a:pPr algn="l"/>
                      <a:r>
                        <a:rPr lang="it-IT" sz="700" dirty="0"/>
                        <a:t>Hard</a:t>
                      </a:r>
                    </a:p>
                  </a:txBody>
                  <a:tcPr anchor="ctr">
                    <a:solidFill>
                      <a:schemeClr val="accent2">
                        <a:lumMod val="60000"/>
                        <a:lumOff val="40000"/>
                      </a:schemeClr>
                    </a:solidFill>
                  </a:tcPr>
                </a:tc>
                <a:tc>
                  <a:txBody>
                    <a:bodyPr/>
                    <a:lstStyle/>
                    <a:p>
                      <a:pPr algn="l"/>
                      <a:r>
                        <a:rPr lang="en-US" sz="700" dirty="0"/>
                        <a:t>Summarize current anomalies, explain operational impact and recommend next actions.</a:t>
                      </a:r>
                      <a:endParaRPr lang="it-IT" sz="700" dirty="0"/>
                    </a:p>
                  </a:txBody>
                  <a:tcPr anchor="ctr">
                    <a:solidFill>
                      <a:schemeClr val="accent2">
                        <a:lumMod val="60000"/>
                        <a:lumOff val="40000"/>
                      </a:schemeClr>
                    </a:solidFill>
                  </a:tcPr>
                </a:tc>
                <a:tc>
                  <a:txBody>
                    <a:bodyPr/>
                    <a:lstStyle/>
                    <a:p>
                      <a:pPr marL="171450" indent="-171450" algn="l">
                        <a:buFont typeface="Arial" panose="020B0604020202020204" pitchFamily="34" charset="0"/>
                        <a:buChar char="•"/>
                      </a:pPr>
                      <a:r>
                        <a:rPr lang="it-IT" sz="700" b="1" i="1" dirty="0"/>
                        <a:t>Multi-source </a:t>
                      </a:r>
                      <a:r>
                        <a:rPr lang="it-IT" sz="700" b="1" i="1" dirty="0" err="1"/>
                        <a:t>corr</a:t>
                      </a:r>
                      <a:r>
                        <a:rPr lang="it-IT" sz="700" b="1" i="1" dirty="0"/>
                        <a:t>.</a:t>
                      </a:r>
                    </a:p>
                    <a:p>
                      <a:pPr marL="171450" indent="-171450" algn="l">
                        <a:buFont typeface="Arial" panose="020B0604020202020204" pitchFamily="34" charset="0"/>
                        <a:buChar char="•"/>
                      </a:pPr>
                      <a:r>
                        <a:rPr lang="it-IT" sz="700" b="1" i="1" dirty="0"/>
                        <a:t>Impact Analysis</a:t>
                      </a:r>
                    </a:p>
                    <a:p>
                      <a:pPr marL="171450" indent="-171450" algn="l">
                        <a:buFont typeface="Arial" panose="020B0604020202020204" pitchFamily="34" charset="0"/>
                        <a:buChar char="•"/>
                      </a:pPr>
                      <a:r>
                        <a:rPr lang="it-IT" sz="700" b="1" i="1" dirty="0" err="1"/>
                        <a:t>Decision</a:t>
                      </a:r>
                      <a:r>
                        <a:rPr lang="it-IT" sz="700" b="1" i="1" dirty="0"/>
                        <a:t> Support</a:t>
                      </a:r>
                    </a:p>
                  </a:txBody>
                  <a:tcPr anchor="ctr">
                    <a:solidFill>
                      <a:schemeClr val="accent2">
                        <a:lumMod val="60000"/>
                        <a:lumOff val="40000"/>
                      </a:schemeClr>
                    </a:solidFill>
                  </a:tcPr>
                </a:tc>
                <a:extLst>
                  <a:ext uri="{0D108BD9-81ED-4DB2-BD59-A6C34878D82A}">
                    <a16:rowId xmlns:a16="http://schemas.microsoft.com/office/drawing/2014/main" val="2511338553"/>
                  </a:ext>
                </a:extLst>
              </a:tr>
            </a:tbl>
          </a:graphicData>
        </a:graphic>
      </p:graphicFrame>
    </p:spTree>
    <p:extLst>
      <p:ext uri="{BB962C8B-B14F-4D97-AF65-F5344CB8AC3E}">
        <p14:creationId xmlns:p14="http://schemas.microsoft.com/office/powerpoint/2010/main" val="199461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Methodology</a:t>
            </a:r>
          </a:p>
        </p:txBody>
      </p:sp>
      <p:sp>
        <p:nvSpPr>
          <p:cNvPr id="2" name="Rettangolo 1">
            <a:extLst>
              <a:ext uri="{FF2B5EF4-FFF2-40B4-BE49-F238E27FC236}">
                <a16:creationId xmlns:a16="http://schemas.microsoft.com/office/drawing/2014/main" id="{472EA985-A8C4-453F-93C6-C78EF370D5C6}"/>
              </a:ext>
            </a:extLst>
          </p:cNvPr>
          <p:cNvSpPr/>
          <p:nvPr/>
        </p:nvSpPr>
        <p:spPr>
          <a:xfrm>
            <a:off x="659219" y="1003742"/>
            <a:ext cx="1385362" cy="1882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b="1" dirty="0">
                <a:solidFill>
                  <a:schemeClr val="tx1"/>
                </a:solidFill>
              </a:rPr>
              <a:t>FUNES</a:t>
            </a:r>
          </a:p>
        </p:txBody>
      </p:sp>
      <p:sp>
        <p:nvSpPr>
          <p:cNvPr id="52" name="Rettangolo 51">
            <a:extLst>
              <a:ext uri="{FF2B5EF4-FFF2-40B4-BE49-F238E27FC236}">
                <a16:creationId xmlns:a16="http://schemas.microsoft.com/office/drawing/2014/main" id="{9A55732E-A5EF-4041-9E9F-AA842053BDCC}"/>
              </a:ext>
            </a:extLst>
          </p:cNvPr>
          <p:cNvSpPr/>
          <p:nvPr/>
        </p:nvSpPr>
        <p:spPr>
          <a:xfrm>
            <a:off x="659219" y="1211698"/>
            <a:ext cx="1385362" cy="519238"/>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it-IT" sz="700" dirty="0">
                <a:solidFill>
                  <a:schemeClr val="tx1"/>
                </a:solidFill>
              </a:rPr>
              <a:t>Query</a:t>
            </a:r>
          </a:p>
          <a:p>
            <a:pPr marL="171450" indent="-171450" algn="l">
              <a:buFont typeface="Arial" panose="020B0604020202020204" pitchFamily="34" charset="0"/>
              <a:buChar char="•"/>
            </a:pPr>
            <a:r>
              <a:rPr lang="it-IT" sz="700" dirty="0" err="1">
                <a:solidFill>
                  <a:schemeClr val="tx1"/>
                </a:solidFill>
              </a:rPr>
              <a:t>Retrieved</a:t>
            </a:r>
            <a:r>
              <a:rPr lang="it-IT" sz="700" dirty="0">
                <a:solidFill>
                  <a:schemeClr val="tx1"/>
                </a:solidFill>
              </a:rPr>
              <a:t> </a:t>
            </a:r>
            <a:r>
              <a:rPr lang="it-IT" sz="700" dirty="0" err="1">
                <a:solidFill>
                  <a:schemeClr val="tx1"/>
                </a:solidFill>
              </a:rPr>
              <a:t>useful</a:t>
            </a:r>
            <a:r>
              <a:rPr lang="it-IT" sz="700" dirty="0">
                <a:solidFill>
                  <a:schemeClr val="tx1"/>
                </a:solidFill>
              </a:rPr>
              <a:t> </a:t>
            </a:r>
            <a:r>
              <a:rPr lang="it-IT" sz="700" dirty="0" err="1">
                <a:solidFill>
                  <a:schemeClr val="tx1"/>
                </a:solidFill>
              </a:rPr>
              <a:t>context</a:t>
            </a:r>
            <a:endParaRPr lang="it-IT" sz="700" dirty="0">
              <a:solidFill>
                <a:schemeClr val="tx1"/>
              </a:solidFill>
            </a:endParaRPr>
          </a:p>
        </p:txBody>
      </p:sp>
      <p:sp>
        <p:nvSpPr>
          <p:cNvPr id="53" name="Rettangolo 52">
            <a:extLst>
              <a:ext uri="{FF2B5EF4-FFF2-40B4-BE49-F238E27FC236}">
                <a16:creationId xmlns:a16="http://schemas.microsoft.com/office/drawing/2014/main" id="{560EC6C3-3683-4BF9-90B5-8B36A3163CBD}"/>
              </a:ext>
            </a:extLst>
          </p:cNvPr>
          <p:cNvSpPr/>
          <p:nvPr/>
        </p:nvSpPr>
        <p:spPr>
          <a:xfrm>
            <a:off x="3793359" y="1003741"/>
            <a:ext cx="1385362" cy="188292"/>
          </a:xfrm>
          <a:prstGeom prst="rect">
            <a:avLst/>
          </a:prstGeom>
          <a:solidFill>
            <a:schemeClr val="accent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b="1" dirty="0" err="1">
                <a:solidFill>
                  <a:schemeClr val="tx1"/>
                </a:solidFill>
              </a:rPr>
              <a:t>Llama</a:t>
            </a:r>
            <a:r>
              <a:rPr lang="it-IT" sz="800" b="1" dirty="0">
                <a:solidFill>
                  <a:schemeClr val="tx1"/>
                </a:solidFill>
              </a:rPr>
              <a:t> 3.3 70B</a:t>
            </a:r>
          </a:p>
        </p:txBody>
      </p:sp>
      <p:sp>
        <p:nvSpPr>
          <p:cNvPr id="54" name="Rettangolo 53">
            <a:extLst>
              <a:ext uri="{FF2B5EF4-FFF2-40B4-BE49-F238E27FC236}">
                <a16:creationId xmlns:a16="http://schemas.microsoft.com/office/drawing/2014/main" id="{3F801AE9-DA59-4430-BE31-41C9FEB8B460}"/>
              </a:ext>
            </a:extLst>
          </p:cNvPr>
          <p:cNvSpPr/>
          <p:nvPr/>
        </p:nvSpPr>
        <p:spPr>
          <a:xfrm>
            <a:off x="3793359" y="1211696"/>
            <a:ext cx="1385362" cy="519240"/>
          </a:xfrm>
          <a:prstGeom prst="rect">
            <a:avLst/>
          </a:prstGeom>
          <a:solidFill>
            <a:schemeClr val="accent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it-IT" sz="700" dirty="0">
                <a:solidFill>
                  <a:schemeClr val="tx1"/>
                </a:solidFill>
              </a:rPr>
              <a:t>Query </a:t>
            </a:r>
          </a:p>
          <a:p>
            <a:pPr marL="171450" indent="-171450" algn="l">
              <a:buFont typeface="Arial" panose="020B0604020202020204" pitchFamily="34" charset="0"/>
              <a:buChar char="•"/>
            </a:pPr>
            <a:r>
              <a:rPr lang="it-IT" sz="700" dirty="0">
                <a:solidFill>
                  <a:schemeClr val="tx1"/>
                </a:solidFill>
              </a:rPr>
              <a:t>Full </a:t>
            </a:r>
            <a:r>
              <a:rPr lang="it-IT" sz="700" dirty="0" err="1">
                <a:solidFill>
                  <a:schemeClr val="tx1"/>
                </a:solidFill>
              </a:rPr>
              <a:t>context</a:t>
            </a:r>
            <a:r>
              <a:rPr lang="it-IT" sz="700" dirty="0">
                <a:solidFill>
                  <a:schemeClr val="tx1"/>
                </a:solidFill>
              </a:rPr>
              <a:t> of 24K tokens</a:t>
            </a:r>
          </a:p>
        </p:txBody>
      </p:sp>
      <p:sp>
        <p:nvSpPr>
          <p:cNvPr id="55" name="Rombo 54">
            <a:extLst>
              <a:ext uri="{FF2B5EF4-FFF2-40B4-BE49-F238E27FC236}">
                <a16:creationId xmlns:a16="http://schemas.microsoft.com/office/drawing/2014/main" id="{BEA5C20E-B63F-439E-A7CD-095046DDDA7D}"/>
              </a:ext>
            </a:extLst>
          </p:cNvPr>
          <p:cNvSpPr/>
          <p:nvPr/>
        </p:nvSpPr>
        <p:spPr>
          <a:xfrm>
            <a:off x="2286542" y="627549"/>
            <a:ext cx="1259467" cy="307777"/>
          </a:xfrm>
          <a:prstGeom prst="diamond">
            <a:avLst/>
          </a:prstGeom>
          <a:solidFill>
            <a:schemeClr val="bg1"/>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i="1" dirty="0">
                <a:solidFill>
                  <a:schemeClr val="tx1"/>
                </a:solidFill>
                <a:latin typeface="+mj-lt"/>
                <a:ea typeface="Yu Gothic UI" panose="020B0500000000000000" pitchFamily="34" charset="-128"/>
              </a:rPr>
              <a:t>VS</a:t>
            </a:r>
          </a:p>
        </p:txBody>
      </p:sp>
      <p:sp>
        <p:nvSpPr>
          <p:cNvPr id="58" name="Rettangolo 57">
            <a:extLst>
              <a:ext uri="{FF2B5EF4-FFF2-40B4-BE49-F238E27FC236}">
                <a16:creationId xmlns:a16="http://schemas.microsoft.com/office/drawing/2014/main" id="{36B8FD0F-7763-49C8-A15A-BE983F42A5E2}"/>
              </a:ext>
            </a:extLst>
          </p:cNvPr>
          <p:cNvSpPr/>
          <p:nvPr/>
        </p:nvSpPr>
        <p:spPr>
          <a:xfrm>
            <a:off x="2236187" y="1003740"/>
            <a:ext cx="1385362" cy="188292"/>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b="1" dirty="0">
                <a:solidFill>
                  <a:schemeClr val="tx1"/>
                </a:solidFill>
              </a:rPr>
              <a:t>LLM </a:t>
            </a:r>
            <a:r>
              <a:rPr lang="it-IT" sz="800" b="1" dirty="0" err="1">
                <a:solidFill>
                  <a:schemeClr val="tx1"/>
                </a:solidFill>
              </a:rPr>
              <a:t>as</a:t>
            </a:r>
            <a:r>
              <a:rPr lang="it-IT" sz="800" b="1" dirty="0">
                <a:solidFill>
                  <a:schemeClr val="tx1"/>
                </a:solidFill>
              </a:rPr>
              <a:t> a </a:t>
            </a:r>
            <a:r>
              <a:rPr lang="it-IT" sz="800" b="1" dirty="0" err="1">
                <a:solidFill>
                  <a:schemeClr val="tx1"/>
                </a:solidFill>
              </a:rPr>
              <a:t>judge</a:t>
            </a:r>
            <a:endParaRPr lang="it-IT" sz="800" b="1" dirty="0">
              <a:solidFill>
                <a:schemeClr val="tx1"/>
              </a:solidFill>
            </a:endParaRPr>
          </a:p>
        </p:txBody>
      </p:sp>
      <p:sp>
        <p:nvSpPr>
          <p:cNvPr id="59" name="Rettangolo 58">
            <a:extLst>
              <a:ext uri="{FF2B5EF4-FFF2-40B4-BE49-F238E27FC236}">
                <a16:creationId xmlns:a16="http://schemas.microsoft.com/office/drawing/2014/main" id="{9A8E99C0-25E0-445C-A62A-32995BD28A6C}"/>
              </a:ext>
            </a:extLst>
          </p:cNvPr>
          <p:cNvSpPr/>
          <p:nvPr/>
        </p:nvSpPr>
        <p:spPr>
          <a:xfrm>
            <a:off x="2236187" y="1211695"/>
            <a:ext cx="1385362" cy="519241"/>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it-IT" sz="700" dirty="0">
                <a:solidFill>
                  <a:schemeClr val="tx1"/>
                </a:solidFill>
              </a:rPr>
              <a:t>Query</a:t>
            </a:r>
          </a:p>
          <a:p>
            <a:pPr marL="171450" indent="-171450" algn="l">
              <a:buFont typeface="Arial" panose="020B0604020202020204" pitchFamily="34" charset="0"/>
              <a:buChar char="•"/>
            </a:pPr>
            <a:r>
              <a:rPr lang="it-IT" sz="700" dirty="0">
                <a:solidFill>
                  <a:schemeClr val="tx1"/>
                </a:solidFill>
              </a:rPr>
              <a:t>Scenario </a:t>
            </a:r>
            <a:r>
              <a:rPr lang="it-IT" sz="700" dirty="0" err="1">
                <a:solidFill>
                  <a:schemeClr val="tx1"/>
                </a:solidFill>
              </a:rPr>
              <a:t>description</a:t>
            </a:r>
            <a:endParaRPr lang="it-IT" sz="700" dirty="0">
              <a:solidFill>
                <a:schemeClr val="tx1"/>
              </a:solidFill>
            </a:endParaRPr>
          </a:p>
          <a:p>
            <a:pPr marL="171450" indent="-171450" algn="l">
              <a:buFont typeface="Arial" panose="020B0604020202020204" pitchFamily="34" charset="0"/>
              <a:buChar char="•"/>
            </a:pPr>
            <a:r>
              <a:rPr lang="it-IT" sz="700" dirty="0">
                <a:solidFill>
                  <a:schemeClr val="tx1"/>
                </a:solidFill>
              </a:rPr>
              <a:t>Evaluation </a:t>
            </a:r>
            <a:r>
              <a:rPr lang="it-IT" sz="700" dirty="0" err="1">
                <a:solidFill>
                  <a:schemeClr val="tx1"/>
                </a:solidFill>
              </a:rPr>
              <a:t>instructions</a:t>
            </a:r>
            <a:endParaRPr lang="it-IT" sz="700" dirty="0">
              <a:solidFill>
                <a:schemeClr val="tx1"/>
              </a:solidFill>
            </a:endParaRPr>
          </a:p>
          <a:p>
            <a:pPr marL="171450" indent="-171450" algn="l">
              <a:buFont typeface="Arial" panose="020B0604020202020204" pitchFamily="34" charset="0"/>
              <a:buChar char="•"/>
            </a:pPr>
            <a:r>
              <a:rPr lang="it-IT" sz="700" dirty="0" err="1">
                <a:solidFill>
                  <a:schemeClr val="tx1"/>
                </a:solidFill>
              </a:rPr>
              <a:t>Answers</a:t>
            </a:r>
            <a:endParaRPr lang="it-IT" sz="700" dirty="0">
              <a:solidFill>
                <a:schemeClr val="tx1"/>
              </a:solidFill>
            </a:endParaRPr>
          </a:p>
        </p:txBody>
      </p:sp>
      <p:sp>
        <p:nvSpPr>
          <p:cNvPr id="60" name="Rettangolo con angoli arrotondati 59">
            <a:extLst>
              <a:ext uri="{FF2B5EF4-FFF2-40B4-BE49-F238E27FC236}">
                <a16:creationId xmlns:a16="http://schemas.microsoft.com/office/drawing/2014/main" id="{D5A17998-62D5-4379-8486-75635F6E4E28}"/>
              </a:ext>
            </a:extLst>
          </p:cNvPr>
          <p:cNvSpPr/>
          <p:nvPr/>
        </p:nvSpPr>
        <p:spPr>
          <a:xfrm>
            <a:off x="629988" y="1864817"/>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61" name="CasellaDiTesto 60">
            <a:extLst>
              <a:ext uri="{FF2B5EF4-FFF2-40B4-BE49-F238E27FC236}">
                <a16:creationId xmlns:a16="http://schemas.microsoft.com/office/drawing/2014/main" id="{288836B2-5514-4156-9CC4-D767CCF36B1F}"/>
              </a:ext>
            </a:extLst>
          </p:cNvPr>
          <p:cNvSpPr txBox="1"/>
          <p:nvPr/>
        </p:nvSpPr>
        <p:spPr>
          <a:xfrm>
            <a:off x="721734" y="1861759"/>
            <a:ext cx="1210683" cy="200055"/>
          </a:xfrm>
          <a:prstGeom prst="rect">
            <a:avLst/>
          </a:prstGeom>
          <a:noFill/>
        </p:spPr>
        <p:txBody>
          <a:bodyPr wrap="square" rtlCol="0">
            <a:spAutoFit/>
          </a:bodyPr>
          <a:lstStyle/>
          <a:p>
            <a:pPr algn="ctr"/>
            <a:r>
              <a:rPr lang="it-IT" sz="700" b="1" dirty="0" err="1">
                <a:solidFill>
                  <a:schemeClr val="tx1"/>
                </a:solidFill>
                <a:latin typeface="+mn-lt"/>
              </a:rPr>
              <a:t>Answer</a:t>
            </a:r>
            <a:r>
              <a:rPr lang="it-IT" sz="700" b="1" dirty="0">
                <a:solidFill>
                  <a:schemeClr val="tx1"/>
                </a:solidFill>
                <a:latin typeface="+mn-lt"/>
              </a:rPr>
              <a:t> </a:t>
            </a:r>
            <a:r>
              <a:rPr lang="it-IT" sz="700" b="1" dirty="0" err="1">
                <a:solidFill>
                  <a:schemeClr val="tx1"/>
                </a:solidFill>
                <a:latin typeface="+mn-lt"/>
              </a:rPr>
              <a:t>correctness</a:t>
            </a:r>
            <a:endParaRPr lang="it-IT" sz="700" b="1" dirty="0">
              <a:solidFill>
                <a:schemeClr val="tx1"/>
              </a:solidFill>
              <a:latin typeface="+mn-lt"/>
            </a:endParaRPr>
          </a:p>
        </p:txBody>
      </p:sp>
      <p:cxnSp>
        <p:nvCxnSpPr>
          <p:cNvPr id="63" name="Connettore diritto 62">
            <a:extLst>
              <a:ext uri="{FF2B5EF4-FFF2-40B4-BE49-F238E27FC236}">
                <a16:creationId xmlns:a16="http://schemas.microsoft.com/office/drawing/2014/main" id="{0294E768-A14B-451B-94DE-730AF9C51A50}"/>
              </a:ext>
            </a:extLst>
          </p:cNvPr>
          <p:cNvCxnSpPr>
            <a:cxnSpLocks/>
          </p:cNvCxnSpPr>
          <p:nvPr/>
        </p:nvCxnSpPr>
        <p:spPr>
          <a:xfrm>
            <a:off x="775251" y="2031331"/>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68" name="CasellaDiTesto 67">
            <a:extLst>
              <a:ext uri="{FF2B5EF4-FFF2-40B4-BE49-F238E27FC236}">
                <a16:creationId xmlns:a16="http://schemas.microsoft.com/office/drawing/2014/main" id="{26318903-2C4B-40B2-9351-66AC7100130B}"/>
              </a:ext>
            </a:extLst>
          </p:cNvPr>
          <p:cNvSpPr txBox="1"/>
          <p:nvPr/>
        </p:nvSpPr>
        <p:spPr>
          <a:xfrm>
            <a:off x="941921" y="2642283"/>
            <a:ext cx="184731" cy="369332"/>
          </a:xfrm>
          <a:prstGeom prst="rect">
            <a:avLst/>
          </a:prstGeom>
          <a:noFill/>
        </p:spPr>
        <p:txBody>
          <a:bodyPr wrap="none" rtlCol="0">
            <a:spAutoFit/>
          </a:bodyPr>
          <a:lstStyle/>
          <a:p>
            <a:endParaRPr lang="it-IT" dirty="0"/>
          </a:p>
        </p:txBody>
      </p:sp>
      <p:sp>
        <p:nvSpPr>
          <p:cNvPr id="69" name="CasellaDiTesto 68">
            <a:extLst>
              <a:ext uri="{FF2B5EF4-FFF2-40B4-BE49-F238E27FC236}">
                <a16:creationId xmlns:a16="http://schemas.microsoft.com/office/drawing/2014/main" id="{2CA9AC68-CF7D-46C1-9250-75299E3BD39B}"/>
              </a:ext>
            </a:extLst>
          </p:cNvPr>
          <p:cNvSpPr txBox="1"/>
          <p:nvPr/>
        </p:nvSpPr>
        <p:spPr>
          <a:xfrm>
            <a:off x="686563" y="2019721"/>
            <a:ext cx="1294056" cy="415498"/>
          </a:xfrm>
          <a:prstGeom prst="rect">
            <a:avLst/>
          </a:prstGeom>
          <a:noFill/>
        </p:spPr>
        <p:txBody>
          <a:bodyPr wrap="square" rtlCol="0">
            <a:spAutoFit/>
          </a:bodyPr>
          <a:lstStyle/>
          <a:p>
            <a:pPr algn="ctr"/>
            <a:r>
              <a:rPr lang="it-IT" sz="700" dirty="0" err="1">
                <a:solidFill>
                  <a:schemeClr val="tx1"/>
                </a:solidFill>
                <a:latin typeface="+mn-lt"/>
              </a:rPr>
              <a:t>Correctly</a:t>
            </a:r>
            <a:r>
              <a:rPr lang="it-IT" sz="700" dirty="0">
                <a:solidFill>
                  <a:schemeClr val="tx1"/>
                </a:solidFill>
                <a:latin typeface="+mn-lt"/>
              </a:rPr>
              <a:t> </a:t>
            </a:r>
            <a:r>
              <a:rPr lang="it-IT" sz="700" dirty="0" err="1">
                <a:solidFill>
                  <a:schemeClr val="tx1"/>
                </a:solidFill>
                <a:latin typeface="+mn-lt"/>
              </a:rPr>
              <a:t>addressing</a:t>
            </a:r>
            <a:r>
              <a:rPr lang="it-IT" sz="700" dirty="0">
                <a:solidFill>
                  <a:schemeClr val="tx1"/>
                </a:solidFill>
                <a:latin typeface="+mn-lt"/>
              </a:rPr>
              <a:t> of the </a:t>
            </a:r>
            <a:r>
              <a:rPr lang="it-IT" sz="700" dirty="0" err="1">
                <a:solidFill>
                  <a:schemeClr val="tx1"/>
                </a:solidFill>
                <a:latin typeface="+mn-lt"/>
              </a:rPr>
              <a:t>question</a:t>
            </a:r>
            <a:r>
              <a:rPr lang="it-IT" sz="700" dirty="0">
                <a:solidFill>
                  <a:schemeClr val="tx1"/>
                </a:solidFill>
                <a:latin typeface="+mn-lt"/>
              </a:rPr>
              <a:t> </a:t>
            </a:r>
            <a:r>
              <a:rPr lang="it-IT" sz="700" dirty="0" err="1">
                <a:solidFill>
                  <a:schemeClr val="tx1"/>
                </a:solidFill>
                <a:latin typeface="+mn-lt"/>
              </a:rPr>
              <a:t>given</a:t>
            </a:r>
            <a:r>
              <a:rPr lang="it-IT" sz="700" dirty="0">
                <a:solidFill>
                  <a:schemeClr val="tx1"/>
                </a:solidFill>
                <a:latin typeface="+mn-lt"/>
              </a:rPr>
              <a:t> the </a:t>
            </a:r>
            <a:r>
              <a:rPr lang="it-IT" sz="700" dirty="0" err="1">
                <a:solidFill>
                  <a:schemeClr val="tx1"/>
                </a:solidFill>
                <a:latin typeface="+mn-lt"/>
              </a:rPr>
              <a:t>operational</a:t>
            </a:r>
            <a:r>
              <a:rPr lang="it-IT" sz="700" dirty="0">
                <a:solidFill>
                  <a:schemeClr val="tx1"/>
                </a:solidFill>
                <a:latin typeface="+mn-lt"/>
              </a:rPr>
              <a:t> knowledge.</a:t>
            </a:r>
          </a:p>
        </p:txBody>
      </p:sp>
      <p:sp>
        <p:nvSpPr>
          <p:cNvPr id="83" name="Rettangolo con angoli arrotondati 82">
            <a:extLst>
              <a:ext uri="{FF2B5EF4-FFF2-40B4-BE49-F238E27FC236}">
                <a16:creationId xmlns:a16="http://schemas.microsoft.com/office/drawing/2014/main" id="{8A946CEA-E729-4E76-B6F0-A07B380B0C9E}"/>
              </a:ext>
            </a:extLst>
          </p:cNvPr>
          <p:cNvSpPr/>
          <p:nvPr/>
        </p:nvSpPr>
        <p:spPr>
          <a:xfrm>
            <a:off x="629988" y="2508515"/>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84" name="CasellaDiTesto 83">
            <a:extLst>
              <a:ext uri="{FF2B5EF4-FFF2-40B4-BE49-F238E27FC236}">
                <a16:creationId xmlns:a16="http://schemas.microsoft.com/office/drawing/2014/main" id="{EE9535BC-EBB7-4184-A259-108C8D642793}"/>
              </a:ext>
            </a:extLst>
          </p:cNvPr>
          <p:cNvSpPr txBox="1"/>
          <p:nvPr/>
        </p:nvSpPr>
        <p:spPr>
          <a:xfrm>
            <a:off x="721734" y="2505457"/>
            <a:ext cx="1210683" cy="200055"/>
          </a:xfrm>
          <a:prstGeom prst="rect">
            <a:avLst/>
          </a:prstGeom>
          <a:noFill/>
        </p:spPr>
        <p:txBody>
          <a:bodyPr wrap="square" rtlCol="0">
            <a:spAutoFit/>
          </a:bodyPr>
          <a:lstStyle/>
          <a:p>
            <a:pPr algn="ctr"/>
            <a:r>
              <a:rPr lang="it-IT" sz="700" b="1" dirty="0" err="1">
                <a:solidFill>
                  <a:schemeClr val="tx1"/>
                </a:solidFill>
                <a:latin typeface="+mn-lt"/>
              </a:rPr>
              <a:t>Noise</a:t>
            </a:r>
            <a:r>
              <a:rPr lang="it-IT" sz="700" b="1" dirty="0">
                <a:solidFill>
                  <a:schemeClr val="tx1"/>
                </a:solidFill>
                <a:latin typeface="+mn-lt"/>
              </a:rPr>
              <a:t> Filtering</a:t>
            </a:r>
          </a:p>
        </p:txBody>
      </p:sp>
      <p:cxnSp>
        <p:nvCxnSpPr>
          <p:cNvPr id="85" name="Connettore diritto 84">
            <a:extLst>
              <a:ext uri="{FF2B5EF4-FFF2-40B4-BE49-F238E27FC236}">
                <a16:creationId xmlns:a16="http://schemas.microsoft.com/office/drawing/2014/main" id="{0EE77943-013B-44BF-AC2F-2FAE79F9CBCF}"/>
              </a:ext>
            </a:extLst>
          </p:cNvPr>
          <p:cNvCxnSpPr>
            <a:cxnSpLocks/>
          </p:cNvCxnSpPr>
          <p:nvPr/>
        </p:nvCxnSpPr>
        <p:spPr>
          <a:xfrm>
            <a:off x="775251" y="2675029"/>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86" name="CasellaDiTesto 85">
            <a:extLst>
              <a:ext uri="{FF2B5EF4-FFF2-40B4-BE49-F238E27FC236}">
                <a16:creationId xmlns:a16="http://schemas.microsoft.com/office/drawing/2014/main" id="{5BFE74DB-435C-4050-8D21-FB7EC699FF26}"/>
              </a:ext>
            </a:extLst>
          </p:cNvPr>
          <p:cNvSpPr txBox="1"/>
          <p:nvPr/>
        </p:nvSpPr>
        <p:spPr>
          <a:xfrm>
            <a:off x="686563" y="2680783"/>
            <a:ext cx="1294056" cy="307777"/>
          </a:xfrm>
          <a:prstGeom prst="rect">
            <a:avLst/>
          </a:prstGeom>
          <a:noFill/>
        </p:spPr>
        <p:txBody>
          <a:bodyPr wrap="square" rtlCol="0">
            <a:spAutoFit/>
          </a:bodyPr>
          <a:lstStyle/>
          <a:p>
            <a:pPr algn="ctr"/>
            <a:r>
              <a:rPr lang="it-IT" sz="700" dirty="0" err="1">
                <a:solidFill>
                  <a:schemeClr val="tx1"/>
                </a:solidFill>
                <a:latin typeface="+mn-lt"/>
              </a:rPr>
              <a:t>Distinguish</a:t>
            </a:r>
            <a:r>
              <a:rPr lang="it-IT" sz="700" dirty="0">
                <a:solidFill>
                  <a:schemeClr val="tx1"/>
                </a:solidFill>
                <a:latin typeface="+mn-lt"/>
              </a:rPr>
              <a:t> </a:t>
            </a:r>
            <a:r>
              <a:rPr lang="it-IT" sz="700" dirty="0" err="1">
                <a:solidFill>
                  <a:schemeClr val="tx1"/>
                </a:solidFill>
                <a:latin typeface="+mn-lt"/>
              </a:rPr>
              <a:t>relevant</a:t>
            </a:r>
            <a:r>
              <a:rPr lang="it-IT" sz="700" dirty="0">
                <a:solidFill>
                  <a:schemeClr val="tx1"/>
                </a:solidFill>
                <a:latin typeface="+mn-lt"/>
              </a:rPr>
              <a:t> from </a:t>
            </a:r>
            <a:r>
              <a:rPr lang="it-IT" sz="700" dirty="0" err="1">
                <a:solidFill>
                  <a:schemeClr val="tx1"/>
                </a:solidFill>
                <a:latin typeface="+mn-lt"/>
              </a:rPr>
              <a:t>unrelated</a:t>
            </a:r>
            <a:r>
              <a:rPr lang="it-IT" sz="700" dirty="0">
                <a:solidFill>
                  <a:schemeClr val="tx1"/>
                </a:solidFill>
                <a:latin typeface="+mn-lt"/>
              </a:rPr>
              <a:t> </a:t>
            </a:r>
            <a:r>
              <a:rPr lang="it-IT" sz="700" dirty="0" err="1">
                <a:solidFill>
                  <a:schemeClr val="tx1"/>
                </a:solidFill>
                <a:latin typeface="+mn-lt"/>
              </a:rPr>
              <a:t>informations</a:t>
            </a:r>
            <a:r>
              <a:rPr lang="it-IT" sz="700" dirty="0">
                <a:solidFill>
                  <a:schemeClr val="tx1"/>
                </a:solidFill>
                <a:latin typeface="+mn-lt"/>
              </a:rPr>
              <a:t>.</a:t>
            </a:r>
          </a:p>
        </p:txBody>
      </p:sp>
      <p:sp>
        <p:nvSpPr>
          <p:cNvPr id="87" name="Rettangolo con angoli arrotondati 86">
            <a:extLst>
              <a:ext uri="{FF2B5EF4-FFF2-40B4-BE49-F238E27FC236}">
                <a16:creationId xmlns:a16="http://schemas.microsoft.com/office/drawing/2014/main" id="{072FC586-EAFD-4AE3-8618-F192209F8F36}"/>
              </a:ext>
            </a:extLst>
          </p:cNvPr>
          <p:cNvSpPr/>
          <p:nvPr/>
        </p:nvSpPr>
        <p:spPr>
          <a:xfrm>
            <a:off x="2216131" y="1861759"/>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88" name="CasellaDiTesto 87">
            <a:extLst>
              <a:ext uri="{FF2B5EF4-FFF2-40B4-BE49-F238E27FC236}">
                <a16:creationId xmlns:a16="http://schemas.microsoft.com/office/drawing/2014/main" id="{DC20FF97-A7B7-4EF8-8AF2-FA8DBF1E0F44}"/>
              </a:ext>
            </a:extLst>
          </p:cNvPr>
          <p:cNvSpPr txBox="1"/>
          <p:nvPr/>
        </p:nvSpPr>
        <p:spPr>
          <a:xfrm>
            <a:off x="2307877" y="1861759"/>
            <a:ext cx="1210683" cy="200055"/>
          </a:xfrm>
          <a:prstGeom prst="rect">
            <a:avLst/>
          </a:prstGeom>
          <a:noFill/>
        </p:spPr>
        <p:txBody>
          <a:bodyPr wrap="square" rtlCol="0">
            <a:spAutoFit/>
          </a:bodyPr>
          <a:lstStyle/>
          <a:p>
            <a:pPr algn="ctr"/>
            <a:r>
              <a:rPr lang="it-IT" sz="700" b="1" dirty="0" err="1">
                <a:solidFill>
                  <a:schemeClr val="tx1"/>
                </a:solidFill>
                <a:latin typeface="+mn-lt"/>
              </a:rPr>
              <a:t>Anomaly</a:t>
            </a:r>
            <a:r>
              <a:rPr lang="it-IT" sz="700" b="1" dirty="0">
                <a:solidFill>
                  <a:schemeClr val="tx1"/>
                </a:solidFill>
                <a:latin typeface="+mn-lt"/>
              </a:rPr>
              <a:t> </a:t>
            </a:r>
            <a:r>
              <a:rPr lang="it-IT" sz="700" b="1" dirty="0" err="1">
                <a:solidFill>
                  <a:schemeClr val="tx1"/>
                </a:solidFill>
                <a:latin typeface="+mn-lt"/>
              </a:rPr>
              <a:t>Identification</a:t>
            </a:r>
            <a:endParaRPr lang="it-IT" sz="700" b="1" dirty="0">
              <a:solidFill>
                <a:schemeClr val="tx1"/>
              </a:solidFill>
              <a:latin typeface="+mn-lt"/>
            </a:endParaRPr>
          </a:p>
        </p:txBody>
      </p:sp>
      <p:cxnSp>
        <p:nvCxnSpPr>
          <p:cNvPr id="89" name="Connettore diritto 88">
            <a:extLst>
              <a:ext uri="{FF2B5EF4-FFF2-40B4-BE49-F238E27FC236}">
                <a16:creationId xmlns:a16="http://schemas.microsoft.com/office/drawing/2014/main" id="{75795B96-6E08-48C8-979D-4CB3153D833F}"/>
              </a:ext>
            </a:extLst>
          </p:cNvPr>
          <p:cNvCxnSpPr>
            <a:cxnSpLocks/>
          </p:cNvCxnSpPr>
          <p:nvPr/>
        </p:nvCxnSpPr>
        <p:spPr>
          <a:xfrm>
            <a:off x="2361394" y="2028273"/>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90" name="CasellaDiTesto 89">
            <a:extLst>
              <a:ext uri="{FF2B5EF4-FFF2-40B4-BE49-F238E27FC236}">
                <a16:creationId xmlns:a16="http://schemas.microsoft.com/office/drawing/2014/main" id="{96596802-512B-4BFA-9FEB-9E462A8CD513}"/>
              </a:ext>
            </a:extLst>
          </p:cNvPr>
          <p:cNvSpPr txBox="1"/>
          <p:nvPr/>
        </p:nvSpPr>
        <p:spPr>
          <a:xfrm>
            <a:off x="2528064" y="2639225"/>
            <a:ext cx="184731" cy="369332"/>
          </a:xfrm>
          <a:prstGeom prst="rect">
            <a:avLst/>
          </a:prstGeom>
          <a:noFill/>
        </p:spPr>
        <p:txBody>
          <a:bodyPr wrap="none" rtlCol="0">
            <a:spAutoFit/>
          </a:bodyPr>
          <a:lstStyle/>
          <a:p>
            <a:endParaRPr lang="it-IT" dirty="0"/>
          </a:p>
        </p:txBody>
      </p:sp>
      <p:sp>
        <p:nvSpPr>
          <p:cNvPr id="91" name="CasellaDiTesto 90">
            <a:extLst>
              <a:ext uri="{FF2B5EF4-FFF2-40B4-BE49-F238E27FC236}">
                <a16:creationId xmlns:a16="http://schemas.microsoft.com/office/drawing/2014/main" id="{6915BEA7-E946-449F-B082-A0F97BFDF43B}"/>
              </a:ext>
            </a:extLst>
          </p:cNvPr>
          <p:cNvSpPr txBox="1"/>
          <p:nvPr/>
        </p:nvSpPr>
        <p:spPr>
          <a:xfrm>
            <a:off x="2272706" y="2034027"/>
            <a:ext cx="1294056" cy="307777"/>
          </a:xfrm>
          <a:prstGeom prst="rect">
            <a:avLst/>
          </a:prstGeom>
          <a:noFill/>
        </p:spPr>
        <p:txBody>
          <a:bodyPr wrap="square" rtlCol="0">
            <a:spAutoFit/>
          </a:bodyPr>
          <a:lstStyle/>
          <a:p>
            <a:pPr algn="ctr"/>
            <a:r>
              <a:rPr lang="it-IT" sz="700" dirty="0" err="1">
                <a:solidFill>
                  <a:schemeClr val="tx1"/>
                </a:solidFill>
                <a:latin typeface="+mn-lt"/>
              </a:rPr>
              <a:t>Identify</a:t>
            </a:r>
            <a:r>
              <a:rPr lang="it-IT" sz="700" dirty="0">
                <a:solidFill>
                  <a:schemeClr val="tx1"/>
                </a:solidFill>
                <a:latin typeface="+mn-lt"/>
              </a:rPr>
              <a:t> and </a:t>
            </a:r>
            <a:r>
              <a:rPr lang="it-IT" sz="700" dirty="0" err="1">
                <a:solidFill>
                  <a:schemeClr val="tx1"/>
                </a:solidFill>
                <a:latin typeface="+mn-lt"/>
              </a:rPr>
              <a:t>characterize</a:t>
            </a:r>
            <a:r>
              <a:rPr lang="it-IT" sz="700" dirty="0">
                <a:solidFill>
                  <a:schemeClr val="tx1"/>
                </a:solidFill>
                <a:latin typeface="+mn-lt"/>
              </a:rPr>
              <a:t> </a:t>
            </a:r>
            <a:r>
              <a:rPr lang="it-IT" sz="700" dirty="0" err="1">
                <a:solidFill>
                  <a:schemeClr val="tx1"/>
                </a:solidFill>
                <a:latin typeface="+mn-lt"/>
              </a:rPr>
              <a:t>operational</a:t>
            </a:r>
            <a:r>
              <a:rPr lang="it-IT" sz="700" dirty="0">
                <a:solidFill>
                  <a:schemeClr val="tx1"/>
                </a:solidFill>
                <a:latin typeface="+mn-lt"/>
              </a:rPr>
              <a:t> </a:t>
            </a:r>
            <a:r>
              <a:rPr lang="it-IT" sz="700" dirty="0" err="1">
                <a:solidFill>
                  <a:schemeClr val="tx1"/>
                </a:solidFill>
                <a:latin typeface="+mn-lt"/>
              </a:rPr>
              <a:t>anomalies</a:t>
            </a:r>
            <a:r>
              <a:rPr lang="it-IT" sz="700" dirty="0">
                <a:solidFill>
                  <a:schemeClr val="tx1"/>
                </a:solidFill>
                <a:latin typeface="+mn-lt"/>
              </a:rPr>
              <a:t>.</a:t>
            </a:r>
          </a:p>
        </p:txBody>
      </p:sp>
      <p:sp>
        <p:nvSpPr>
          <p:cNvPr id="92" name="Rettangolo con angoli arrotondati 91">
            <a:extLst>
              <a:ext uri="{FF2B5EF4-FFF2-40B4-BE49-F238E27FC236}">
                <a16:creationId xmlns:a16="http://schemas.microsoft.com/office/drawing/2014/main" id="{6CB6C9DF-7DC7-4490-84F8-A6289950B53F}"/>
              </a:ext>
            </a:extLst>
          </p:cNvPr>
          <p:cNvSpPr/>
          <p:nvPr/>
        </p:nvSpPr>
        <p:spPr>
          <a:xfrm>
            <a:off x="2216131" y="2505457"/>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93" name="CasellaDiTesto 92">
            <a:extLst>
              <a:ext uri="{FF2B5EF4-FFF2-40B4-BE49-F238E27FC236}">
                <a16:creationId xmlns:a16="http://schemas.microsoft.com/office/drawing/2014/main" id="{C80CDDB7-4DCC-4F49-9B46-A1BD87243AD6}"/>
              </a:ext>
            </a:extLst>
          </p:cNvPr>
          <p:cNvSpPr txBox="1"/>
          <p:nvPr/>
        </p:nvSpPr>
        <p:spPr>
          <a:xfrm>
            <a:off x="2307877" y="2502399"/>
            <a:ext cx="1210683" cy="200055"/>
          </a:xfrm>
          <a:prstGeom prst="rect">
            <a:avLst/>
          </a:prstGeom>
          <a:noFill/>
        </p:spPr>
        <p:txBody>
          <a:bodyPr wrap="square" rtlCol="0">
            <a:spAutoFit/>
          </a:bodyPr>
          <a:lstStyle/>
          <a:p>
            <a:pPr algn="ctr"/>
            <a:r>
              <a:rPr lang="it-IT" sz="700" b="1" dirty="0">
                <a:solidFill>
                  <a:schemeClr val="tx1"/>
                </a:solidFill>
                <a:latin typeface="+mn-lt"/>
              </a:rPr>
              <a:t>DSS </a:t>
            </a:r>
            <a:r>
              <a:rPr lang="it-IT" sz="700" b="1" dirty="0" err="1">
                <a:solidFill>
                  <a:schemeClr val="tx1"/>
                </a:solidFill>
                <a:latin typeface="+mn-lt"/>
              </a:rPr>
              <a:t>Role</a:t>
            </a:r>
            <a:r>
              <a:rPr lang="it-IT" sz="700" b="1" dirty="0">
                <a:solidFill>
                  <a:schemeClr val="tx1"/>
                </a:solidFill>
                <a:latin typeface="+mn-lt"/>
              </a:rPr>
              <a:t> </a:t>
            </a:r>
            <a:r>
              <a:rPr lang="it-IT" sz="700" b="1" dirty="0" err="1">
                <a:solidFill>
                  <a:schemeClr val="tx1"/>
                </a:solidFill>
                <a:latin typeface="+mn-lt"/>
              </a:rPr>
              <a:t>Adherence</a:t>
            </a:r>
            <a:endParaRPr lang="it-IT" sz="700" b="1" dirty="0">
              <a:solidFill>
                <a:schemeClr val="tx1"/>
              </a:solidFill>
              <a:latin typeface="+mn-lt"/>
            </a:endParaRPr>
          </a:p>
        </p:txBody>
      </p:sp>
      <p:cxnSp>
        <p:nvCxnSpPr>
          <p:cNvPr id="94" name="Connettore diritto 93">
            <a:extLst>
              <a:ext uri="{FF2B5EF4-FFF2-40B4-BE49-F238E27FC236}">
                <a16:creationId xmlns:a16="http://schemas.microsoft.com/office/drawing/2014/main" id="{9B429E92-C849-45E8-AFDD-66EDB46401D3}"/>
              </a:ext>
            </a:extLst>
          </p:cNvPr>
          <p:cNvCxnSpPr>
            <a:cxnSpLocks/>
          </p:cNvCxnSpPr>
          <p:nvPr/>
        </p:nvCxnSpPr>
        <p:spPr>
          <a:xfrm>
            <a:off x="2361394" y="2671971"/>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95" name="CasellaDiTesto 94">
            <a:extLst>
              <a:ext uri="{FF2B5EF4-FFF2-40B4-BE49-F238E27FC236}">
                <a16:creationId xmlns:a16="http://schemas.microsoft.com/office/drawing/2014/main" id="{AC4294C1-CCE2-4DA4-A7AA-1AF7187374D8}"/>
              </a:ext>
            </a:extLst>
          </p:cNvPr>
          <p:cNvSpPr txBox="1"/>
          <p:nvPr/>
        </p:nvSpPr>
        <p:spPr>
          <a:xfrm>
            <a:off x="2272706" y="2663255"/>
            <a:ext cx="1294056" cy="307777"/>
          </a:xfrm>
          <a:prstGeom prst="rect">
            <a:avLst/>
          </a:prstGeom>
          <a:noFill/>
        </p:spPr>
        <p:txBody>
          <a:bodyPr wrap="square" rtlCol="0">
            <a:spAutoFit/>
          </a:bodyPr>
          <a:lstStyle/>
          <a:p>
            <a:pPr algn="ctr"/>
            <a:endParaRPr lang="it-IT" sz="700" dirty="0">
              <a:solidFill>
                <a:schemeClr val="tx1"/>
              </a:solidFill>
              <a:latin typeface="+mn-lt"/>
            </a:endParaRPr>
          </a:p>
          <a:p>
            <a:pPr algn="ctr"/>
            <a:r>
              <a:rPr lang="it-IT" sz="700" dirty="0" err="1">
                <a:solidFill>
                  <a:schemeClr val="tx1"/>
                </a:solidFill>
                <a:latin typeface="+mn-lt"/>
              </a:rPr>
              <a:t>Correct</a:t>
            </a:r>
            <a:r>
              <a:rPr lang="it-IT" sz="700" dirty="0">
                <a:solidFill>
                  <a:schemeClr val="tx1"/>
                </a:solidFill>
                <a:latin typeface="+mn-lt"/>
              </a:rPr>
              <a:t> </a:t>
            </a:r>
            <a:r>
              <a:rPr lang="it-IT" sz="700" dirty="0" err="1">
                <a:solidFill>
                  <a:schemeClr val="tx1"/>
                </a:solidFill>
                <a:latin typeface="+mn-lt"/>
              </a:rPr>
              <a:t>answer</a:t>
            </a:r>
            <a:r>
              <a:rPr lang="it-IT" sz="700" dirty="0">
                <a:solidFill>
                  <a:schemeClr val="tx1"/>
                </a:solidFill>
                <a:latin typeface="+mn-lt"/>
              </a:rPr>
              <a:t> </a:t>
            </a:r>
            <a:r>
              <a:rPr lang="it-IT" sz="700" dirty="0" err="1">
                <a:solidFill>
                  <a:schemeClr val="tx1"/>
                </a:solidFill>
                <a:latin typeface="+mn-lt"/>
              </a:rPr>
              <a:t>behaviour</a:t>
            </a:r>
            <a:r>
              <a:rPr lang="it-IT" sz="700" dirty="0">
                <a:solidFill>
                  <a:schemeClr val="tx1"/>
                </a:solidFill>
                <a:latin typeface="+mn-lt"/>
              </a:rPr>
              <a:t>.</a:t>
            </a:r>
          </a:p>
        </p:txBody>
      </p:sp>
      <p:sp>
        <p:nvSpPr>
          <p:cNvPr id="96" name="Rettangolo con angoli arrotondati 95">
            <a:extLst>
              <a:ext uri="{FF2B5EF4-FFF2-40B4-BE49-F238E27FC236}">
                <a16:creationId xmlns:a16="http://schemas.microsoft.com/office/drawing/2014/main" id="{0EAD771C-5DF3-4F92-9588-4C1163A6B232}"/>
              </a:ext>
            </a:extLst>
          </p:cNvPr>
          <p:cNvSpPr/>
          <p:nvPr/>
        </p:nvSpPr>
        <p:spPr>
          <a:xfrm>
            <a:off x="3793625" y="1855643"/>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97" name="CasellaDiTesto 96">
            <a:extLst>
              <a:ext uri="{FF2B5EF4-FFF2-40B4-BE49-F238E27FC236}">
                <a16:creationId xmlns:a16="http://schemas.microsoft.com/office/drawing/2014/main" id="{D35E2260-7DC8-4759-BB23-5A6F0414728E}"/>
              </a:ext>
            </a:extLst>
          </p:cNvPr>
          <p:cNvSpPr txBox="1"/>
          <p:nvPr/>
        </p:nvSpPr>
        <p:spPr>
          <a:xfrm>
            <a:off x="3876197" y="1852585"/>
            <a:ext cx="1210683" cy="200055"/>
          </a:xfrm>
          <a:prstGeom prst="rect">
            <a:avLst/>
          </a:prstGeom>
          <a:noFill/>
        </p:spPr>
        <p:txBody>
          <a:bodyPr wrap="square" rtlCol="0">
            <a:spAutoFit/>
          </a:bodyPr>
          <a:lstStyle/>
          <a:p>
            <a:pPr algn="ctr"/>
            <a:r>
              <a:rPr lang="it-IT" sz="700" b="1" dirty="0" err="1">
                <a:solidFill>
                  <a:schemeClr val="tx1"/>
                </a:solidFill>
                <a:latin typeface="+mn-lt"/>
              </a:rPr>
              <a:t>Evidence</a:t>
            </a:r>
            <a:r>
              <a:rPr lang="it-IT" sz="700" b="1" dirty="0">
                <a:solidFill>
                  <a:schemeClr val="tx1"/>
                </a:solidFill>
                <a:latin typeface="+mn-lt"/>
              </a:rPr>
              <a:t> </a:t>
            </a:r>
            <a:r>
              <a:rPr lang="it-IT" sz="700" b="1" dirty="0" err="1">
                <a:solidFill>
                  <a:schemeClr val="tx1"/>
                </a:solidFill>
                <a:latin typeface="+mn-lt"/>
              </a:rPr>
              <a:t>Correlation</a:t>
            </a:r>
            <a:endParaRPr lang="it-IT" sz="700" b="1" dirty="0">
              <a:solidFill>
                <a:schemeClr val="tx1"/>
              </a:solidFill>
              <a:latin typeface="+mn-lt"/>
            </a:endParaRPr>
          </a:p>
        </p:txBody>
      </p:sp>
      <p:cxnSp>
        <p:nvCxnSpPr>
          <p:cNvPr id="98" name="Connettore diritto 97">
            <a:extLst>
              <a:ext uri="{FF2B5EF4-FFF2-40B4-BE49-F238E27FC236}">
                <a16:creationId xmlns:a16="http://schemas.microsoft.com/office/drawing/2014/main" id="{F6DDBE32-251F-4F4B-ADAD-964E90C51276}"/>
              </a:ext>
            </a:extLst>
          </p:cNvPr>
          <p:cNvCxnSpPr>
            <a:cxnSpLocks/>
          </p:cNvCxnSpPr>
          <p:nvPr/>
        </p:nvCxnSpPr>
        <p:spPr>
          <a:xfrm>
            <a:off x="3929714" y="2022157"/>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99" name="CasellaDiTesto 98">
            <a:extLst>
              <a:ext uri="{FF2B5EF4-FFF2-40B4-BE49-F238E27FC236}">
                <a16:creationId xmlns:a16="http://schemas.microsoft.com/office/drawing/2014/main" id="{DCD7B5EE-04D4-4451-835B-A17DEB312CB5}"/>
              </a:ext>
            </a:extLst>
          </p:cNvPr>
          <p:cNvSpPr txBox="1"/>
          <p:nvPr/>
        </p:nvSpPr>
        <p:spPr>
          <a:xfrm>
            <a:off x="4096384" y="2633109"/>
            <a:ext cx="184731" cy="369332"/>
          </a:xfrm>
          <a:prstGeom prst="rect">
            <a:avLst/>
          </a:prstGeom>
          <a:noFill/>
        </p:spPr>
        <p:txBody>
          <a:bodyPr wrap="none" rtlCol="0">
            <a:spAutoFit/>
          </a:bodyPr>
          <a:lstStyle/>
          <a:p>
            <a:endParaRPr lang="it-IT" dirty="0"/>
          </a:p>
        </p:txBody>
      </p:sp>
      <p:sp>
        <p:nvSpPr>
          <p:cNvPr id="100" name="CasellaDiTesto 99">
            <a:extLst>
              <a:ext uri="{FF2B5EF4-FFF2-40B4-BE49-F238E27FC236}">
                <a16:creationId xmlns:a16="http://schemas.microsoft.com/office/drawing/2014/main" id="{F86ACA88-167F-46B2-98B0-7E6DD1A4010A}"/>
              </a:ext>
            </a:extLst>
          </p:cNvPr>
          <p:cNvSpPr txBox="1"/>
          <p:nvPr/>
        </p:nvSpPr>
        <p:spPr>
          <a:xfrm>
            <a:off x="3841026" y="2007817"/>
            <a:ext cx="1294056" cy="415498"/>
          </a:xfrm>
          <a:prstGeom prst="rect">
            <a:avLst/>
          </a:prstGeom>
          <a:noFill/>
        </p:spPr>
        <p:txBody>
          <a:bodyPr wrap="square" rtlCol="0">
            <a:spAutoFit/>
          </a:bodyPr>
          <a:lstStyle/>
          <a:p>
            <a:pPr algn="ctr"/>
            <a:r>
              <a:rPr lang="it-IT" sz="700" dirty="0" err="1">
                <a:solidFill>
                  <a:schemeClr val="tx1"/>
                </a:solidFill>
                <a:latin typeface="+mn-lt"/>
              </a:rPr>
              <a:t>Establish</a:t>
            </a:r>
            <a:r>
              <a:rPr lang="it-IT" sz="700" dirty="0">
                <a:solidFill>
                  <a:schemeClr val="tx1"/>
                </a:solidFill>
                <a:latin typeface="+mn-lt"/>
              </a:rPr>
              <a:t> </a:t>
            </a:r>
            <a:r>
              <a:rPr lang="it-IT" sz="700" dirty="0" err="1">
                <a:solidFill>
                  <a:schemeClr val="tx1"/>
                </a:solidFill>
                <a:latin typeface="+mn-lt"/>
              </a:rPr>
              <a:t>correct</a:t>
            </a:r>
            <a:r>
              <a:rPr lang="it-IT" sz="700" dirty="0">
                <a:solidFill>
                  <a:schemeClr val="tx1"/>
                </a:solidFill>
                <a:latin typeface="+mn-lt"/>
              </a:rPr>
              <a:t> </a:t>
            </a:r>
            <a:r>
              <a:rPr lang="it-IT" sz="700" dirty="0" err="1">
                <a:solidFill>
                  <a:schemeClr val="tx1"/>
                </a:solidFill>
                <a:latin typeface="+mn-lt"/>
              </a:rPr>
              <a:t>correlations</a:t>
            </a:r>
            <a:r>
              <a:rPr lang="it-IT" sz="700" dirty="0">
                <a:solidFill>
                  <a:schemeClr val="tx1"/>
                </a:solidFill>
                <a:latin typeface="+mn-lt"/>
              </a:rPr>
              <a:t> </a:t>
            </a:r>
            <a:r>
              <a:rPr lang="it-IT" sz="700" dirty="0" err="1">
                <a:solidFill>
                  <a:schemeClr val="tx1"/>
                </a:solidFill>
                <a:latin typeface="+mn-lt"/>
              </a:rPr>
              <a:t>between</a:t>
            </a:r>
            <a:r>
              <a:rPr lang="it-IT" sz="700" dirty="0">
                <a:solidFill>
                  <a:schemeClr val="tx1"/>
                </a:solidFill>
                <a:latin typeface="+mn-lt"/>
              </a:rPr>
              <a:t> </a:t>
            </a:r>
            <a:r>
              <a:rPr lang="it-IT" sz="700" dirty="0" err="1">
                <a:solidFill>
                  <a:schemeClr val="tx1"/>
                </a:solidFill>
                <a:latin typeface="+mn-lt"/>
              </a:rPr>
              <a:t>evidences</a:t>
            </a:r>
            <a:r>
              <a:rPr lang="it-IT" sz="700" dirty="0">
                <a:solidFill>
                  <a:schemeClr val="tx1"/>
                </a:solidFill>
                <a:latin typeface="+mn-lt"/>
              </a:rPr>
              <a:t> from </a:t>
            </a:r>
            <a:r>
              <a:rPr lang="it-IT" sz="700" dirty="0" err="1">
                <a:solidFill>
                  <a:schemeClr val="tx1"/>
                </a:solidFill>
                <a:latin typeface="+mn-lt"/>
              </a:rPr>
              <a:t>different</a:t>
            </a:r>
            <a:r>
              <a:rPr lang="it-IT" sz="700" dirty="0">
                <a:solidFill>
                  <a:schemeClr val="tx1"/>
                </a:solidFill>
                <a:latin typeface="+mn-lt"/>
              </a:rPr>
              <a:t> sources.</a:t>
            </a:r>
          </a:p>
        </p:txBody>
      </p:sp>
      <p:sp>
        <p:nvSpPr>
          <p:cNvPr id="101" name="Rettangolo con angoli arrotondati 100">
            <a:extLst>
              <a:ext uri="{FF2B5EF4-FFF2-40B4-BE49-F238E27FC236}">
                <a16:creationId xmlns:a16="http://schemas.microsoft.com/office/drawing/2014/main" id="{2BB75DFB-8713-4976-91D4-84CE045BEE0D}"/>
              </a:ext>
            </a:extLst>
          </p:cNvPr>
          <p:cNvSpPr/>
          <p:nvPr/>
        </p:nvSpPr>
        <p:spPr>
          <a:xfrm>
            <a:off x="3793625" y="2499341"/>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102" name="CasellaDiTesto 101">
            <a:extLst>
              <a:ext uri="{FF2B5EF4-FFF2-40B4-BE49-F238E27FC236}">
                <a16:creationId xmlns:a16="http://schemas.microsoft.com/office/drawing/2014/main" id="{0D884F86-2BCD-46E3-B224-E7ED52DF2B4C}"/>
              </a:ext>
            </a:extLst>
          </p:cNvPr>
          <p:cNvSpPr txBox="1"/>
          <p:nvPr/>
        </p:nvSpPr>
        <p:spPr>
          <a:xfrm>
            <a:off x="3876197" y="2496283"/>
            <a:ext cx="1210683" cy="200055"/>
          </a:xfrm>
          <a:prstGeom prst="rect">
            <a:avLst/>
          </a:prstGeom>
          <a:noFill/>
        </p:spPr>
        <p:txBody>
          <a:bodyPr wrap="square" rtlCol="0">
            <a:spAutoFit/>
          </a:bodyPr>
          <a:lstStyle/>
          <a:p>
            <a:pPr algn="ctr"/>
            <a:r>
              <a:rPr lang="it-IT" sz="700" b="1" dirty="0">
                <a:solidFill>
                  <a:schemeClr val="tx1"/>
                </a:solidFill>
                <a:latin typeface="+mn-lt"/>
              </a:rPr>
              <a:t>Op. </a:t>
            </a:r>
            <a:r>
              <a:rPr lang="it-IT" sz="700" b="1" dirty="0" err="1">
                <a:solidFill>
                  <a:schemeClr val="tx1"/>
                </a:solidFill>
                <a:latin typeface="+mn-lt"/>
              </a:rPr>
              <a:t>Reccom</a:t>
            </a:r>
            <a:r>
              <a:rPr lang="it-IT" sz="700" b="1" dirty="0">
                <a:solidFill>
                  <a:schemeClr val="tx1"/>
                </a:solidFill>
                <a:latin typeface="+mn-lt"/>
              </a:rPr>
              <a:t>. Quality</a:t>
            </a:r>
          </a:p>
        </p:txBody>
      </p:sp>
      <p:cxnSp>
        <p:nvCxnSpPr>
          <p:cNvPr id="103" name="Connettore diritto 102">
            <a:extLst>
              <a:ext uri="{FF2B5EF4-FFF2-40B4-BE49-F238E27FC236}">
                <a16:creationId xmlns:a16="http://schemas.microsoft.com/office/drawing/2014/main" id="{7D7172F8-5A8E-407E-869A-F27C11AB8E35}"/>
              </a:ext>
            </a:extLst>
          </p:cNvPr>
          <p:cNvCxnSpPr>
            <a:cxnSpLocks/>
          </p:cNvCxnSpPr>
          <p:nvPr/>
        </p:nvCxnSpPr>
        <p:spPr>
          <a:xfrm>
            <a:off x="3929714" y="2665855"/>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104" name="CasellaDiTesto 103">
            <a:extLst>
              <a:ext uri="{FF2B5EF4-FFF2-40B4-BE49-F238E27FC236}">
                <a16:creationId xmlns:a16="http://schemas.microsoft.com/office/drawing/2014/main" id="{29C2C4ED-1F1E-489F-B853-4863F42671DD}"/>
              </a:ext>
            </a:extLst>
          </p:cNvPr>
          <p:cNvSpPr txBox="1"/>
          <p:nvPr/>
        </p:nvSpPr>
        <p:spPr>
          <a:xfrm>
            <a:off x="3841026" y="2671609"/>
            <a:ext cx="1294056" cy="307777"/>
          </a:xfrm>
          <a:prstGeom prst="rect">
            <a:avLst/>
          </a:prstGeom>
          <a:noFill/>
        </p:spPr>
        <p:txBody>
          <a:bodyPr wrap="square" rtlCol="0">
            <a:spAutoFit/>
          </a:bodyPr>
          <a:lstStyle/>
          <a:p>
            <a:pPr algn="ctr"/>
            <a:r>
              <a:rPr lang="it-IT" sz="700" dirty="0">
                <a:solidFill>
                  <a:schemeClr val="tx1"/>
                </a:solidFill>
                <a:latin typeface="+mn-lt"/>
              </a:rPr>
              <a:t>Quality of </a:t>
            </a:r>
            <a:r>
              <a:rPr lang="it-IT" sz="700" dirty="0" err="1">
                <a:solidFill>
                  <a:schemeClr val="tx1"/>
                </a:solidFill>
                <a:latin typeface="+mn-lt"/>
              </a:rPr>
              <a:t>reccomendations</a:t>
            </a:r>
            <a:r>
              <a:rPr lang="it-IT" sz="700" dirty="0">
                <a:solidFill>
                  <a:schemeClr val="tx1"/>
                </a:solidFill>
                <a:latin typeface="+mn-lt"/>
              </a:rPr>
              <a:t> </a:t>
            </a:r>
            <a:r>
              <a:rPr lang="it-IT" sz="700" dirty="0" err="1">
                <a:solidFill>
                  <a:schemeClr val="tx1"/>
                </a:solidFill>
                <a:latin typeface="+mn-lt"/>
              </a:rPr>
              <a:t>when</a:t>
            </a:r>
            <a:r>
              <a:rPr lang="it-IT" sz="700" dirty="0">
                <a:solidFill>
                  <a:schemeClr val="tx1"/>
                </a:solidFill>
                <a:latin typeface="+mn-lt"/>
              </a:rPr>
              <a:t> actions are </a:t>
            </a:r>
            <a:r>
              <a:rPr lang="it-IT" sz="700" dirty="0" err="1">
                <a:solidFill>
                  <a:schemeClr val="tx1"/>
                </a:solidFill>
                <a:latin typeface="+mn-lt"/>
              </a:rPr>
              <a:t>required</a:t>
            </a:r>
            <a:r>
              <a:rPr lang="it-IT" sz="700" dirty="0">
                <a:solidFill>
                  <a:schemeClr val="tx1"/>
                </a:solidFill>
                <a:latin typeface="+mn-lt"/>
              </a:rPr>
              <a:t>.</a:t>
            </a:r>
          </a:p>
        </p:txBody>
      </p:sp>
      <p:cxnSp>
        <p:nvCxnSpPr>
          <p:cNvPr id="108" name="Connettore diritto 107">
            <a:extLst>
              <a:ext uri="{FF2B5EF4-FFF2-40B4-BE49-F238E27FC236}">
                <a16:creationId xmlns:a16="http://schemas.microsoft.com/office/drawing/2014/main" id="{27E7043A-8846-47D9-98A3-CC89558BC033}"/>
              </a:ext>
            </a:extLst>
          </p:cNvPr>
          <p:cNvCxnSpPr>
            <a:cxnSpLocks/>
            <a:stCxn id="2" idx="0"/>
          </p:cNvCxnSpPr>
          <p:nvPr/>
        </p:nvCxnSpPr>
        <p:spPr>
          <a:xfrm flipV="1">
            <a:off x="1351900" y="781438"/>
            <a:ext cx="0" cy="222304"/>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cxnSp>
        <p:nvCxnSpPr>
          <p:cNvPr id="110" name="Connettore diritto 109">
            <a:extLst>
              <a:ext uri="{FF2B5EF4-FFF2-40B4-BE49-F238E27FC236}">
                <a16:creationId xmlns:a16="http://schemas.microsoft.com/office/drawing/2014/main" id="{4D07D7EF-1393-4DEE-8DB0-78AD379A4E2B}"/>
              </a:ext>
            </a:extLst>
          </p:cNvPr>
          <p:cNvCxnSpPr>
            <a:cxnSpLocks/>
            <a:stCxn id="55" idx="1"/>
          </p:cNvCxnSpPr>
          <p:nvPr/>
        </p:nvCxnSpPr>
        <p:spPr>
          <a:xfrm flipH="1" flipV="1">
            <a:off x="1351900" y="781436"/>
            <a:ext cx="934642" cy="2"/>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cxnSp>
        <p:nvCxnSpPr>
          <p:cNvPr id="119" name="Connettore diritto 118">
            <a:extLst>
              <a:ext uri="{FF2B5EF4-FFF2-40B4-BE49-F238E27FC236}">
                <a16:creationId xmlns:a16="http://schemas.microsoft.com/office/drawing/2014/main" id="{603DF251-EC1B-4362-AB07-64B00F1D5C4C}"/>
              </a:ext>
            </a:extLst>
          </p:cNvPr>
          <p:cNvCxnSpPr>
            <a:cxnSpLocks/>
          </p:cNvCxnSpPr>
          <p:nvPr/>
        </p:nvCxnSpPr>
        <p:spPr>
          <a:xfrm flipV="1">
            <a:off x="4483248" y="781435"/>
            <a:ext cx="0" cy="222304"/>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cxnSp>
        <p:nvCxnSpPr>
          <p:cNvPr id="120" name="Connettore diritto 119">
            <a:extLst>
              <a:ext uri="{FF2B5EF4-FFF2-40B4-BE49-F238E27FC236}">
                <a16:creationId xmlns:a16="http://schemas.microsoft.com/office/drawing/2014/main" id="{17A1E367-37E0-48B1-A6D9-025FA1066726}"/>
              </a:ext>
            </a:extLst>
          </p:cNvPr>
          <p:cNvCxnSpPr>
            <a:cxnSpLocks/>
          </p:cNvCxnSpPr>
          <p:nvPr/>
        </p:nvCxnSpPr>
        <p:spPr>
          <a:xfrm flipH="1" flipV="1">
            <a:off x="3546009" y="780751"/>
            <a:ext cx="934642" cy="2"/>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946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Methodology – Scoring Instructions</a:t>
            </a:r>
          </a:p>
        </p:txBody>
      </p:sp>
      <p:sp>
        <p:nvSpPr>
          <p:cNvPr id="68" name="CasellaDiTesto 67">
            <a:extLst>
              <a:ext uri="{FF2B5EF4-FFF2-40B4-BE49-F238E27FC236}">
                <a16:creationId xmlns:a16="http://schemas.microsoft.com/office/drawing/2014/main" id="{26318903-2C4B-40B2-9351-66AC7100130B}"/>
              </a:ext>
            </a:extLst>
          </p:cNvPr>
          <p:cNvSpPr txBox="1"/>
          <p:nvPr/>
        </p:nvSpPr>
        <p:spPr>
          <a:xfrm>
            <a:off x="1165873" y="893048"/>
            <a:ext cx="181024" cy="362866"/>
          </a:xfrm>
          <a:prstGeom prst="rect">
            <a:avLst/>
          </a:prstGeom>
          <a:noFill/>
        </p:spPr>
        <p:txBody>
          <a:bodyPr wrap="square" rtlCol="0">
            <a:spAutoFit/>
          </a:bodyPr>
          <a:lstStyle/>
          <a:p>
            <a:endParaRPr lang="it-IT" dirty="0"/>
          </a:p>
        </p:txBody>
      </p:sp>
      <p:sp>
        <p:nvSpPr>
          <p:cNvPr id="83" name="Rettangolo con angoli arrotondati 82">
            <a:extLst>
              <a:ext uri="{FF2B5EF4-FFF2-40B4-BE49-F238E27FC236}">
                <a16:creationId xmlns:a16="http://schemas.microsoft.com/office/drawing/2014/main" id="{8A946CEA-E729-4E76-B6F0-A07B380B0C9E}"/>
              </a:ext>
            </a:extLst>
          </p:cNvPr>
          <p:cNvSpPr/>
          <p:nvPr/>
        </p:nvSpPr>
        <p:spPr>
          <a:xfrm>
            <a:off x="858179" y="756223"/>
            <a:ext cx="1428175" cy="1603428"/>
          </a:xfrm>
          <a:prstGeom prst="roundRect">
            <a:avLst/>
          </a:prstGeom>
          <a:solidFill>
            <a:schemeClr val="accent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84" name="CasellaDiTesto 83">
            <a:extLst>
              <a:ext uri="{FF2B5EF4-FFF2-40B4-BE49-F238E27FC236}">
                <a16:creationId xmlns:a16="http://schemas.microsoft.com/office/drawing/2014/main" id="{EE9535BC-EBB7-4184-A259-108C8D642793}"/>
              </a:ext>
            </a:extLst>
          </p:cNvPr>
          <p:cNvSpPr txBox="1"/>
          <p:nvPr/>
        </p:nvSpPr>
        <p:spPr>
          <a:xfrm>
            <a:off x="945685" y="756222"/>
            <a:ext cx="1186389" cy="200055"/>
          </a:xfrm>
          <a:prstGeom prst="rect">
            <a:avLst/>
          </a:prstGeom>
          <a:noFill/>
        </p:spPr>
        <p:txBody>
          <a:bodyPr wrap="square" rtlCol="0">
            <a:spAutoFit/>
          </a:bodyPr>
          <a:lstStyle/>
          <a:p>
            <a:pPr algn="ctr"/>
            <a:r>
              <a:rPr lang="en-US" sz="700" b="1" dirty="0"/>
              <a:t>Score 0 - Incorrect</a:t>
            </a:r>
            <a:endParaRPr lang="it-IT" sz="700" b="1" dirty="0">
              <a:solidFill>
                <a:schemeClr val="tx1"/>
              </a:solidFill>
              <a:latin typeface="+mn-lt"/>
            </a:endParaRPr>
          </a:p>
        </p:txBody>
      </p:sp>
      <p:cxnSp>
        <p:nvCxnSpPr>
          <p:cNvPr id="85" name="Connettore diritto 84">
            <a:extLst>
              <a:ext uri="{FF2B5EF4-FFF2-40B4-BE49-F238E27FC236}">
                <a16:creationId xmlns:a16="http://schemas.microsoft.com/office/drawing/2014/main" id="{0EE77943-013B-44BF-AC2F-2FAE79F9CBCF}"/>
              </a:ext>
            </a:extLst>
          </p:cNvPr>
          <p:cNvCxnSpPr>
            <a:cxnSpLocks/>
          </p:cNvCxnSpPr>
          <p:nvPr/>
        </p:nvCxnSpPr>
        <p:spPr>
          <a:xfrm>
            <a:off x="999202" y="925794"/>
            <a:ext cx="1062069"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86" name="CasellaDiTesto 85">
            <a:extLst>
              <a:ext uri="{FF2B5EF4-FFF2-40B4-BE49-F238E27FC236}">
                <a16:creationId xmlns:a16="http://schemas.microsoft.com/office/drawing/2014/main" id="{5BFE74DB-435C-4050-8D21-FB7EC699FF26}"/>
              </a:ext>
            </a:extLst>
          </p:cNvPr>
          <p:cNvSpPr txBox="1"/>
          <p:nvPr/>
        </p:nvSpPr>
        <p:spPr>
          <a:xfrm>
            <a:off x="910513" y="931548"/>
            <a:ext cx="1323529" cy="1384995"/>
          </a:xfrm>
          <a:prstGeom prst="rect">
            <a:avLst/>
          </a:prstGeom>
          <a:noFill/>
        </p:spPr>
        <p:txBody>
          <a:bodyPr wrap="square" rtlCol="0">
            <a:spAutoFit/>
          </a:bodyPr>
          <a:lstStyle/>
          <a:p>
            <a:r>
              <a:rPr lang="en-US" sz="700" dirty="0"/>
              <a:t>Assigned for </a:t>
            </a:r>
            <a:r>
              <a:rPr lang="en-US" sz="700" b="1" dirty="0"/>
              <a:t>material</a:t>
            </a:r>
            <a:r>
              <a:rPr lang="en-US" sz="700" dirty="0"/>
              <a:t>, </a:t>
            </a:r>
            <a:r>
              <a:rPr lang="en-US" sz="700" b="1" dirty="0"/>
              <a:t>factual</a:t>
            </a:r>
            <a:r>
              <a:rPr lang="en-US" sz="700" dirty="0"/>
              <a:t> or </a:t>
            </a:r>
            <a:r>
              <a:rPr lang="en-US" sz="700" b="1" dirty="0"/>
              <a:t>operational</a:t>
            </a:r>
            <a:r>
              <a:rPr lang="en-US" sz="700" dirty="0"/>
              <a:t> </a:t>
            </a:r>
            <a:r>
              <a:rPr lang="en-US" sz="700" b="1" dirty="0"/>
              <a:t>errors</a:t>
            </a:r>
            <a:r>
              <a:rPr lang="en-US" sz="700" dirty="0"/>
              <a:t> affecting the criterion (e.g., false statements, operational contradictions, incorrect correlations, or incompatible recommendations).</a:t>
            </a:r>
          </a:p>
          <a:p>
            <a:r>
              <a:rPr lang="en-US" sz="700" dirty="0"/>
              <a:t>Minor imprecisions or isolated omissions were not sufficient to warrant a score of 0.</a:t>
            </a:r>
            <a:endParaRPr lang="en-US" sz="700" dirty="0">
              <a:latin typeface="+mn-lt"/>
            </a:endParaRPr>
          </a:p>
        </p:txBody>
      </p:sp>
      <p:sp>
        <p:nvSpPr>
          <p:cNvPr id="41" name="CasellaDiTesto 40">
            <a:extLst>
              <a:ext uri="{FF2B5EF4-FFF2-40B4-BE49-F238E27FC236}">
                <a16:creationId xmlns:a16="http://schemas.microsoft.com/office/drawing/2014/main" id="{3991A80E-8853-42B3-AC9B-DAAF8FD710A3}"/>
              </a:ext>
            </a:extLst>
          </p:cNvPr>
          <p:cNvSpPr txBox="1"/>
          <p:nvPr/>
        </p:nvSpPr>
        <p:spPr>
          <a:xfrm>
            <a:off x="2736691" y="893048"/>
            <a:ext cx="181024" cy="362866"/>
          </a:xfrm>
          <a:prstGeom prst="rect">
            <a:avLst/>
          </a:prstGeom>
          <a:noFill/>
        </p:spPr>
        <p:txBody>
          <a:bodyPr wrap="square" rtlCol="0">
            <a:spAutoFit/>
          </a:bodyPr>
          <a:lstStyle/>
          <a:p>
            <a:endParaRPr lang="it-IT" dirty="0"/>
          </a:p>
        </p:txBody>
      </p:sp>
      <p:sp>
        <p:nvSpPr>
          <p:cNvPr id="42" name="Rettangolo con angoli arrotondati 41">
            <a:extLst>
              <a:ext uri="{FF2B5EF4-FFF2-40B4-BE49-F238E27FC236}">
                <a16:creationId xmlns:a16="http://schemas.microsoft.com/office/drawing/2014/main" id="{C6399080-FEA1-44EF-8580-A83B743D1E87}"/>
              </a:ext>
            </a:extLst>
          </p:cNvPr>
          <p:cNvSpPr/>
          <p:nvPr/>
        </p:nvSpPr>
        <p:spPr>
          <a:xfrm>
            <a:off x="2424757" y="759279"/>
            <a:ext cx="1399517" cy="1600371"/>
          </a:xfrm>
          <a:prstGeom prst="roundRect">
            <a:avLst/>
          </a:prstGeom>
          <a:solidFill>
            <a:schemeClr val="accent6">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43" name="CasellaDiTesto 42">
            <a:extLst>
              <a:ext uri="{FF2B5EF4-FFF2-40B4-BE49-F238E27FC236}">
                <a16:creationId xmlns:a16="http://schemas.microsoft.com/office/drawing/2014/main" id="{2FBD4D88-E9A1-4DFC-B43F-65C5AD086F0F}"/>
              </a:ext>
            </a:extLst>
          </p:cNvPr>
          <p:cNvSpPr txBox="1"/>
          <p:nvPr/>
        </p:nvSpPr>
        <p:spPr>
          <a:xfrm>
            <a:off x="2426128" y="756222"/>
            <a:ext cx="1344077" cy="200055"/>
          </a:xfrm>
          <a:prstGeom prst="rect">
            <a:avLst/>
          </a:prstGeom>
          <a:noFill/>
        </p:spPr>
        <p:txBody>
          <a:bodyPr wrap="square" rtlCol="0">
            <a:spAutoFit/>
          </a:bodyPr>
          <a:lstStyle/>
          <a:p>
            <a:pPr algn="ctr"/>
            <a:r>
              <a:rPr lang="en-US" sz="700" b="1" dirty="0"/>
              <a:t>Score 1 - Partially correct</a:t>
            </a:r>
            <a:endParaRPr lang="it-IT" sz="700" b="1" dirty="0">
              <a:solidFill>
                <a:schemeClr val="tx1"/>
              </a:solidFill>
              <a:latin typeface="+mn-lt"/>
            </a:endParaRPr>
          </a:p>
        </p:txBody>
      </p:sp>
      <p:cxnSp>
        <p:nvCxnSpPr>
          <p:cNvPr id="44" name="Connettore diritto 43">
            <a:extLst>
              <a:ext uri="{FF2B5EF4-FFF2-40B4-BE49-F238E27FC236}">
                <a16:creationId xmlns:a16="http://schemas.microsoft.com/office/drawing/2014/main" id="{7FA7B976-D105-4B8B-A46D-0C72B7CD994F}"/>
              </a:ext>
            </a:extLst>
          </p:cNvPr>
          <p:cNvCxnSpPr>
            <a:cxnSpLocks/>
          </p:cNvCxnSpPr>
          <p:nvPr/>
        </p:nvCxnSpPr>
        <p:spPr>
          <a:xfrm>
            <a:off x="2570020" y="925794"/>
            <a:ext cx="1062069"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45" name="CasellaDiTesto 44">
            <a:extLst>
              <a:ext uri="{FF2B5EF4-FFF2-40B4-BE49-F238E27FC236}">
                <a16:creationId xmlns:a16="http://schemas.microsoft.com/office/drawing/2014/main" id="{0494A601-F5C1-4C8E-8B59-76A5DD86C6A8}"/>
              </a:ext>
            </a:extLst>
          </p:cNvPr>
          <p:cNvSpPr txBox="1"/>
          <p:nvPr/>
        </p:nvSpPr>
        <p:spPr>
          <a:xfrm>
            <a:off x="2481332" y="931548"/>
            <a:ext cx="1342424" cy="1169551"/>
          </a:xfrm>
          <a:prstGeom prst="rect">
            <a:avLst/>
          </a:prstGeom>
          <a:noFill/>
        </p:spPr>
        <p:txBody>
          <a:bodyPr wrap="square" rtlCol="0">
            <a:spAutoFit/>
          </a:bodyPr>
          <a:lstStyle/>
          <a:p>
            <a:r>
              <a:rPr lang="en-US" sz="700" dirty="0"/>
              <a:t>Assigned when the answer was </a:t>
            </a:r>
            <a:r>
              <a:rPr lang="en-US" sz="700" b="1" dirty="0"/>
              <a:t>substantially correct </a:t>
            </a:r>
            <a:r>
              <a:rPr lang="en-US" sz="700" dirty="0"/>
              <a:t>but had </a:t>
            </a:r>
            <a:r>
              <a:rPr lang="en-US" sz="700" b="1" dirty="0"/>
              <a:t>significant limitations</a:t>
            </a:r>
            <a:r>
              <a:rPr lang="en-US" sz="700" dirty="0"/>
              <a:t>... (e.g., omission of relevant info, partial correlations, generic recommendations).</a:t>
            </a:r>
          </a:p>
          <a:p>
            <a:r>
              <a:rPr lang="en-US" sz="700" dirty="0"/>
              <a:t>It indicated the answer was useful but did not fully meet the requirements.</a:t>
            </a:r>
            <a:endParaRPr lang="en-US" sz="700" dirty="0">
              <a:latin typeface="+mn-lt"/>
            </a:endParaRPr>
          </a:p>
        </p:txBody>
      </p:sp>
      <p:sp>
        <p:nvSpPr>
          <p:cNvPr id="46" name="CasellaDiTesto 45">
            <a:extLst>
              <a:ext uri="{FF2B5EF4-FFF2-40B4-BE49-F238E27FC236}">
                <a16:creationId xmlns:a16="http://schemas.microsoft.com/office/drawing/2014/main" id="{4AAAD64C-A882-46C3-AB65-83EF7D3D7B2E}"/>
              </a:ext>
            </a:extLst>
          </p:cNvPr>
          <p:cNvSpPr txBox="1"/>
          <p:nvPr/>
        </p:nvSpPr>
        <p:spPr>
          <a:xfrm>
            <a:off x="4328478" y="893048"/>
            <a:ext cx="181024" cy="362866"/>
          </a:xfrm>
          <a:prstGeom prst="rect">
            <a:avLst/>
          </a:prstGeom>
          <a:noFill/>
        </p:spPr>
        <p:txBody>
          <a:bodyPr wrap="square" rtlCol="0">
            <a:spAutoFit/>
          </a:bodyPr>
          <a:lstStyle/>
          <a:p>
            <a:endParaRPr lang="it-IT" dirty="0"/>
          </a:p>
        </p:txBody>
      </p:sp>
      <p:sp>
        <p:nvSpPr>
          <p:cNvPr id="47" name="Rettangolo con angoli arrotondati 46">
            <a:extLst>
              <a:ext uri="{FF2B5EF4-FFF2-40B4-BE49-F238E27FC236}">
                <a16:creationId xmlns:a16="http://schemas.microsoft.com/office/drawing/2014/main" id="{6E164D75-B5BF-43B7-9F4C-B9CDD8B99299}"/>
              </a:ext>
            </a:extLst>
          </p:cNvPr>
          <p:cNvSpPr/>
          <p:nvPr/>
        </p:nvSpPr>
        <p:spPr>
          <a:xfrm>
            <a:off x="4016544" y="759279"/>
            <a:ext cx="1399517" cy="1600371"/>
          </a:xfrm>
          <a:prstGeom prst="roundRect">
            <a:avLst/>
          </a:prstGeom>
          <a:solidFill>
            <a:schemeClr val="accent3">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48" name="CasellaDiTesto 47">
            <a:extLst>
              <a:ext uri="{FF2B5EF4-FFF2-40B4-BE49-F238E27FC236}">
                <a16:creationId xmlns:a16="http://schemas.microsoft.com/office/drawing/2014/main" id="{8BE70AAA-B889-4710-ABF0-82792FE060B3}"/>
              </a:ext>
            </a:extLst>
          </p:cNvPr>
          <p:cNvSpPr txBox="1"/>
          <p:nvPr/>
        </p:nvSpPr>
        <p:spPr>
          <a:xfrm>
            <a:off x="4108290" y="756222"/>
            <a:ext cx="1186389" cy="200055"/>
          </a:xfrm>
          <a:prstGeom prst="rect">
            <a:avLst/>
          </a:prstGeom>
          <a:noFill/>
        </p:spPr>
        <p:txBody>
          <a:bodyPr wrap="square" rtlCol="0">
            <a:spAutoFit/>
          </a:bodyPr>
          <a:lstStyle/>
          <a:p>
            <a:pPr algn="ctr"/>
            <a:r>
              <a:rPr lang="en-US" sz="700" b="1" dirty="0"/>
              <a:t>Score 2 - Fully correct</a:t>
            </a:r>
            <a:endParaRPr lang="it-IT" sz="700" b="1" dirty="0">
              <a:solidFill>
                <a:schemeClr val="tx1"/>
              </a:solidFill>
              <a:latin typeface="+mn-lt"/>
            </a:endParaRPr>
          </a:p>
        </p:txBody>
      </p:sp>
      <p:cxnSp>
        <p:nvCxnSpPr>
          <p:cNvPr id="49" name="Connettore diritto 48">
            <a:extLst>
              <a:ext uri="{FF2B5EF4-FFF2-40B4-BE49-F238E27FC236}">
                <a16:creationId xmlns:a16="http://schemas.microsoft.com/office/drawing/2014/main" id="{76760E63-BBC9-4C1B-959F-8644EB39A8C9}"/>
              </a:ext>
            </a:extLst>
          </p:cNvPr>
          <p:cNvCxnSpPr>
            <a:cxnSpLocks/>
          </p:cNvCxnSpPr>
          <p:nvPr/>
        </p:nvCxnSpPr>
        <p:spPr>
          <a:xfrm>
            <a:off x="4161807" y="925794"/>
            <a:ext cx="1062069"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50" name="CasellaDiTesto 49">
            <a:extLst>
              <a:ext uri="{FF2B5EF4-FFF2-40B4-BE49-F238E27FC236}">
                <a16:creationId xmlns:a16="http://schemas.microsoft.com/office/drawing/2014/main" id="{685A5D42-9159-4A91-A079-426CC5E7C0AF}"/>
              </a:ext>
            </a:extLst>
          </p:cNvPr>
          <p:cNvSpPr txBox="1"/>
          <p:nvPr/>
        </p:nvSpPr>
        <p:spPr>
          <a:xfrm>
            <a:off x="4073119" y="931548"/>
            <a:ext cx="1344077" cy="1169551"/>
          </a:xfrm>
          <a:prstGeom prst="rect">
            <a:avLst/>
          </a:prstGeom>
          <a:noFill/>
        </p:spPr>
        <p:txBody>
          <a:bodyPr wrap="square" rtlCol="0">
            <a:spAutoFit/>
          </a:bodyPr>
          <a:lstStyle/>
          <a:p>
            <a:r>
              <a:rPr lang="en-US" sz="700" dirty="0"/>
              <a:t>Assigned when the answer </a:t>
            </a:r>
            <a:r>
              <a:rPr lang="en-US" sz="700" b="1" dirty="0"/>
              <a:t>fully satisfied </a:t>
            </a:r>
            <a:r>
              <a:rPr lang="en-US" sz="700" dirty="0"/>
              <a:t>the criterion... by providing </a:t>
            </a:r>
            <a:r>
              <a:rPr lang="en-US" sz="700" b="1" dirty="0"/>
              <a:t>all requested info</a:t>
            </a:r>
            <a:r>
              <a:rPr lang="en-US" sz="700" dirty="0"/>
              <a:t>, correctly incorporating operational evidence, </a:t>
            </a:r>
            <a:r>
              <a:rPr lang="en-US" sz="700" b="1" dirty="0"/>
              <a:t>establishing supported correlations</a:t>
            </a:r>
            <a:r>
              <a:rPr lang="en-US" sz="700" dirty="0"/>
              <a:t>, and giving </a:t>
            </a:r>
            <a:r>
              <a:rPr lang="en-US" sz="700" b="1" dirty="0"/>
              <a:t>appropriate</a:t>
            </a:r>
            <a:r>
              <a:rPr lang="en-US" sz="700" dirty="0"/>
              <a:t>, evidence-consistent </a:t>
            </a:r>
            <a:r>
              <a:rPr lang="en-US" sz="700" b="1" dirty="0"/>
              <a:t>recommendations</a:t>
            </a:r>
            <a:r>
              <a:rPr lang="en-US" sz="700" dirty="0"/>
              <a:t>.</a:t>
            </a:r>
            <a:endParaRPr lang="en-US" sz="700" dirty="0">
              <a:latin typeface="+mn-lt"/>
            </a:endParaRPr>
          </a:p>
        </p:txBody>
      </p:sp>
      <p:sp>
        <p:nvSpPr>
          <p:cNvPr id="5" name="CasellaDiTesto 4">
            <a:extLst>
              <a:ext uri="{FF2B5EF4-FFF2-40B4-BE49-F238E27FC236}">
                <a16:creationId xmlns:a16="http://schemas.microsoft.com/office/drawing/2014/main" id="{A8734D7D-E7F5-448D-8FBC-CBFF1AC6C0C2}"/>
              </a:ext>
            </a:extLst>
          </p:cNvPr>
          <p:cNvSpPr txBox="1"/>
          <p:nvPr/>
        </p:nvSpPr>
        <p:spPr>
          <a:xfrm>
            <a:off x="1821712" y="2623594"/>
            <a:ext cx="2768707" cy="246221"/>
          </a:xfrm>
          <a:prstGeom prst="rect">
            <a:avLst/>
          </a:prstGeom>
          <a:noFill/>
        </p:spPr>
        <p:txBody>
          <a:bodyPr wrap="none" rtlCol="0">
            <a:spAutoFit/>
          </a:bodyPr>
          <a:lstStyle/>
          <a:p>
            <a:r>
              <a:rPr lang="it-IT" sz="1000" b="1" dirty="0"/>
              <a:t>The </a:t>
            </a:r>
            <a:r>
              <a:rPr lang="it-IT" sz="1000" b="1" dirty="0" err="1"/>
              <a:t>judge</a:t>
            </a:r>
            <a:r>
              <a:rPr lang="it-IT" sz="1000" b="1" dirty="0"/>
              <a:t> </a:t>
            </a:r>
            <a:r>
              <a:rPr lang="it-IT" sz="1000" b="1" dirty="0" err="1"/>
              <a:t>is</a:t>
            </a:r>
            <a:r>
              <a:rPr lang="it-IT" sz="1000" b="1" dirty="0"/>
              <a:t> </a:t>
            </a:r>
            <a:r>
              <a:rPr lang="it-IT" sz="1000" b="1" dirty="0" err="1"/>
              <a:t>not</a:t>
            </a:r>
            <a:r>
              <a:rPr lang="it-IT" sz="1000" b="1" dirty="0"/>
              <a:t> </a:t>
            </a:r>
            <a:r>
              <a:rPr lang="it-IT" sz="1000" b="1" dirty="0" err="1"/>
              <a:t>blindly</a:t>
            </a:r>
            <a:r>
              <a:rPr lang="it-IT" sz="1000" b="1" dirty="0"/>
              <a:t> </a:t>
            </a:r>
            <a:r>
              <a:rPr lang="it-IT" sz="1000" b="1" dirty="0" err="1"/>
              <a:t>assigning</a:t>
            </a:r>
            <a:r>
              <a:rPr lang="it-IT" sz="1000" b="1" dirty="0"/>
              <a:t> a score!</a:t>
            </a:r>
          </a:p>
        </p:txBody>
      </p:sp>
    </p:spTree>
    <p:extLst>
      <p:ext uri="{BB962C8B-B14F-4D97-AF65-F5344CB8AC3E}">
        <p14:creationId xmlns:p14="http://schemas.microsoft.com/office/powerpoint/2010/main" val="1805441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1028217" y="153921"/>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Results</a:t>
            </a:r>
          </a:p>
        </p:txBody>
      </p:sp>
      <p:graphicFrame>
        <p:nvGraphicFramePr>
          <p:cNvPr id="4" name="Grafico 3">
            <a:extLst>
              <a:ext uri="{FF2B5EF4-FFF2-40B4-BE49-F238E27FC236}">
                <a16:creationId xmlns:a16="http://schemas.microsoft.com/office/drawing/2014/main" id="{3D6177CF-9712-4A0F-9ACD-B076EE346CC6}"/>
              </a:ext>
            </a:extLst>
          </p:cNvPr>
          <p:cNvGraphicFramePr/>
          <p:nvPr>
            <p:extLst>
              <p:ext uri="{D42A27DB-BD31-4B8C-83A1-F6EECF244321}">
                <p14:modId xmlns:p14="http://schemas.microsoft.com/office/powerpoint/2010/main" val="2945045439"/>
              </p:ext>
            </p:extLst>
          </p:nvPr>
        </p:nvGraphicFramePr>
        <p:xfrm>
          <a:off x="2164977" y="694765"/>
          <a:ext cx="3464608" cy="21327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Grafico 6">
            <a:extLst>
              <a:ext uri="{FF2B5EF4-FFF2-40B4-BE49-F238E27FC236}">
                <a16:creationId xmlns:a16="http://schemas.microsoft.com/office/drawing/2014/main" id="{76CF4995-98AB-4418-86F2-3B31E6E4EDFC}"/>
              </a:ext>
            </a:extLst>
          </p:cNvPr>
          <p:cNvGraphicFramePr/>
          <p:nvPr>
            <p:extLst>
              <p:ext uri="{D42A27DB-BD31-4B8C-83A1-F6EECF244321}">
                <p14:modId xmlns:p14="http://schemas.microsoft.com/office/powerpoint/2010/main" val="442963134"/>
              </p:ext>
            </p:extLst>
          </p:nvPr>
        </p:nvGraphicFramePr>
        <p:xfrm>
          <a:off x="512730" y="542365"/>
          <a:ext cx="1768787" cy="2061032"/>
        </p:xfrm>
        <a:graphic>
          <a:graphicData uri="http://schemas.openxmlformats.org/drawingml/2006/chart">
            <c:chart xmlns:c="http://schemas.openxmlformats.org/drawingml/2006/chart" xmlns:r="http://schemas.openxmlformats.org/officeDocument/2006/relationships" r:id="rId4"/>
          </a:graphicData>
        </a:graphic>
      </p:graphicFrame>
      <p:sp>
        <p:nvSpPr>
          <p:cNvPr id="2" name="CasellaDiTesto 1">
            <a:extLst>
              <a:ext uri="{FF2B5EF4-FFF2-40B4-BE49-F238E27FC236}">
                <a16:creationId xmlns:a16="http://schemas.microsoft.com/office/drawing/2014/main" id="{842B63A4-B780-40A7-882E-B9765C3D9174}"/>
              </a:ext>
            </a:extLst>
          </p:cNvPr>
          <p:cNvSpPr txBox="1"/>
          <p:nvPr/>
        </p:nvSpPr>
        <p:spPr>
          <a:xfrm>
            <a:off x="1234484" y="2427253"/>
            <a:ext cx="450764" cy="215444"/>
          </a:xfrm>
          <a:prstGeom prst="rect">
            <a:avLst/>
          </a:prstGeom>
          <a:noFill/>
        </p:spPr>
        <p:txBody>
          <a:bodyPr wrap="none" rtlCol="0">
            <a:spAutoFit/>
          </a:bodyPr>
          <a:lstStyle/>
          <a:p>
            <a:r>
              <a:rPr lang="it-IT" sz="800" i="1" dirty="0">
                <a:solidFill>
                  <a:schemeClr val="tx1">
                    <a:lumMod val="75000"/>
                    <a:lumOff val="25000"/>
                  </a:schemeClr>
                </a:solidFill>
              </a:rPr>
              <a:t>+27%</a:t>
            </a:r>
          </a:p>
        </p:txBody>
      </p:sp>
      <p:sp>
        <p:nvSpPr>
          <p:cNvPr id="6" name="CasellaDiTesto 5">
            <a:extLst>
              <a:ext uri="{FF2B5EF4-FFF2-40B4-BE49-F238E27FC236}">
                <a16:creationId xmlns:a16="http://schemas.microsoft.com/office/drawing/2014/main" id="{D5144FA5-B116-42BE-BAB0-B9B5FEE8D67C}"/>
              </a:ext>
            </a:extLst>
          </p:cNvPr>
          <p:cNvSpPr txBox="1"/>
          <p:nvPr/>
        </p:nvSpPr>
        <p:spPr>
          <a:xfrm>
            <a:off x="3184425" y="2334641"/>
            <a:ext cx="518091" cy="215444"/>
          </a:xfrm>
          <a:prstGeom prst="rect">
            <a:avLst/>
          </a:prstGeom>
          <a:noFill/>
        </p:spPr>
        <p:txBody>
          <a:bodyPr wrap="none" rtlCol="0">
            <a:spAutoFit/>
          </a:bodyPr>
          <a:lstStyle/>
          <a:p>
            <a:r>
              <a:rPr lang="it-IT" sz="800" i="1" dirty="0">
                <a:solidFill>
                  <a:schemeClr val="tx1">
                    <a:lumMod val="75000"/>
                    <a:lumOff val="25000"/>
                  </a:schemeClr>
                </a:solidFill>
              </a:rPr>
              <a:t>(+50%)</a:t>
            </a:r>
          </a:p>
        </p:txBody>
      </p:sp>
      <p:sp>
        <p:nvSpPr>
          <p:cNvPr id="9" name="CasellaDiTesto 8">
            <a:extLst>
              <a:ext uri="{FF2B5EF4-FFF2-40B4-BE49-F238E27FC236}">
                <a16:creationId xmlns:a16="http://schemas.microsoft.com/office/drawing/2014/main" id="{D5D83FAB-E181-443C-9DDD-F5A290A8843D}"/>
              </a:ext>
            </a:extLst>
          </p:cNvPr>
          <p:cNvSpPr txBox="1"/>
          <p:nvPr/>
        </p:nvSpPr>
        <p:spPr>
          <a:xfrm>
            <a:off x="4277049" y="2325557"/>
            <a:ext cx="518091" cy="215444"/>
          </a:xfrm>
          <a:prstGeom prst="rect">
            <a:avLst/>
          </a:prstGeom>
          <a:noFill/>
        </p:spPr>
        <p:txBody>
          <a:bodyPr wrap="none" rtlCol="0">
            <a:spAutoFit/>
          </a:bodyPr>
          <a:lstStyle/>
          <a:p>
            <a:r>
              <a:rPr lang="it-IT" sz="800" i="1" dirty="0">
                <a:solidFill>
                  <a:schemeClr val="tx1">
                    <a:lumMod val="75000"/>
                    <a:lumOff val="25000"/>
                  </a:schemeClr>
                </a:solidFill>
              </a:rPr>
              <a:t>(+15%)</a:t>
            </a:r>
          </a:p>
        </p:txBody>
      </p:sp>
      <p:sp>
        <p:nvSpPr>
          <p:cNvPr id="10" name="CasellaDiTesto 9">
            <a:extLst>
              <a:ext uri="{FF2B5EF4-FFF2-40B4-BE49-F238E27FC236}">
                <a16:creationId xmlns:a16="http://schemas.microsoft.com/office/drawing/2014/main" id="{2FB25C0F-8E13-4D56-BA9A-23B9D167B410}"/>
              </a:ext>
            </a:extLst>
          </p:cNvPr>
          <p:cNvSpPr txBox="1"/>
          <p:nvPr/>
        </p:nvSpPr>
        <p:spPr>
          <a:xfrm>
            <a:off x="5145572" y="2319531"/>
            <a:ext cx="518091" cy="215444"/>
          </a:xfrm>
          <a:prstGeom prst="rect">
            <a:avLst/>
          </a:prstGeom>
          <a:noFill/>
        </p:spPr>
        <p:txBody>
          <a:bodyPr wrap="none" rtlCol="0">
            <a:spAutoFit/>
          </a:bodyPr>
          <a:lstStyle/>
          <a:p>
            <a:r>
              <a:rPr lang="it-IT" sz="800" i="1" dirty="0">
                <a:solidFill>
                  <a:schemeClr val="tx1">
                    <a:lumMod val="75000"/>
                    <a:lumOff val="25000"/>
                  </a:schemeClr>
                </a:solidFill>
              </a:rPr>
              <a:t>(+12%)</a:t>
            </a:r>
          </a:p>
        </p:txBody>
      </p:sp>
    </p:spTree>
    <p:extLst>
      <p:ext uri="{BB962C8B-B14F-4D97-AF65-F5344CB8AC3E}">
        <p14:creationId xmlns:p14="http://schemas.microsoft.com/office/powerpoint/2010/main" val="440664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6B17E-0935-8A13-568F-AD132AC876F0}"/>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B50CBBB4-A13F-C2CE-42DE-AB03E2F0DC50}"/>
              </a:ext>
            </a:extLst>
          </p:cNvPr>
          <p:cNvSpPr txBox="1"/>
          <p:nvPr/>
        </p:nvSpPr>
        <p:spPr>
          <a:xfrm>
            <a:off x="869001" y="114827"/>
            <a:ext cx="4229007" cy="369332"/>
          </a:xfrm>
          <a:prstGeom prst="rect">
            <a:avLst/>
          </a:prstGeom>
          <a:noFill/>
        </p:spPr>
        <p:txBody>
          <a:bodyPr wrap="square">
            <a:spAutoFit/>
          </a:bodyPr>
          <a:lstStyle/>
          <a:p>
            <a:r>
              <a:rPr lang="en-US" sz="1800" b="1" dirty="0">
                <a:solidFill>
                  <a:srgbClr val="953735"/>
                </a:solidFill>
                <a:latin typeface="Calibri"/>
                <a:ea typeface="Calibri"/>
                <a:cs typeface="Calibri"/>
              </a:rPr>
              <a:t>Conclusions, Limitations and Future Work</a:t>
            </a:r>
            <a:endParaRPr lang="en-US" dirty="0"/>
          </a:p>
        </p:txBody>
      </p:sp>
      <p:sp>
        <p:nvSpPr>
          <p:cNvPr id="50" name="Shape">
            <a:extLst>
              <a:ext uri="{FF2B5EF4-FFF2-40B4-BE49-F238E27FC236}">
                <a16:creationId xmlns:a16="http://schemas.microsoft.com/office/drawing/2014/main" id="{AD734EF3-A6CA-420E-ACA5-A1644EF6EEAB}"/>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1" name="Shape">
            <a:extLst>
              <a:ext uri="{FF2B5EF4-FFF2-40B4-BE49-F238E27FC236}">
                <a16:creationId xmlns:a16="http://schemas.microsoft.com/office/drawing/2014/main" id="{F9A68588-2C64-4B33-9CB4-E8F53BDD81BB}"/>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2" name="Shape">
            <a:extLst>
              <a:ext uri="{FF2B5EF4-FFF2-40B4-BE49-F238E27FC236}">
                <a16:creationId xmlns:a16="http://schemas.microsoft.com/office/drawing/2014/main" id="{4237950C-D3EB-4CFF-9B52-B294D2EDDACA}"/>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3" name="Shape">
            <a:extLst>
              <a:ext uri="{FF2B5EF4-FFF2-40B4-BE49-F238E27FC236}">
                <a16:creationId xmlns:a16="http://schemas.microsoft.com/office/drawing/2014/main" id="{96C3EC0B-AAB1-4363-BE39-988C4C5EE4C5}"/>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4" name="Shape">
            <a:extLst>
              <a:ext uri="{FF2B5EF4-FFF2-40B4-BE49-F238E27FC236}">
                <a16:creationId xmlns:a16="http://schemas.microsoft.com/office/drawing/2014/main" id="{2A3B3226-3131-4F75-9B67-E6F0D6050817}"/>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5" name="Shape">
            <a:extLst>
              <a:ext uri="{FF2B5EF4-FFF2-40B4-BE49-F238E27FC236}">
                <a16:creationId xmlns:a16="http://schemas.microsoft.com/office/drawing/2014/main" id="{BD35ECA9-4B34-47A3-B389-CF0B83EFBBB5}"/>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6" name="Shape">
            <a:extLst>
              <a:ext uri="{FF2B5EF4-FFF2-40B4-BE49-F238E27FC236}">
                <a16:creationId xmlns:a16="http://schemas.microsoft.com/office/drawing/2014/main" id="{42F51974-1707-4BDD-9E44-F9A55FD7335D}"/>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7" name="Shape">
            <a:extLst>
              <a:ext uri="{FF2B5EF4-FFF2-40B4-BE49-F238E27FC236}">
                <a16:creationId xmlns:a16="http://schemas.microsoft.com/office/drawing/2014/main" id="{04EAECB5-AE61-4593-BCD3-80134C3BA980}"/>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8" name="Shape">
            <a:extLst>
              <a:ext uri="{FF2B5EF4-FFF2-40B4-BE49-F238E27FC236}">
                <a16:creationId xmlns:a16="http://schemas.microsoft.com/office/drawing/2014/main" id="{9EAD5779-5E9C-4DF2-B14C-C320DB34C9DF}"/>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9" name="Freeform: Shape 11">
            <a:extLst>
              <a:ext uri="{FF2B5EF4-FFF2-40B4-BE49-F238E27FC236}">
                <a16:creationId xmlns:a16="http://schemas.microsoft.com/office/drawing/2014/main" id="{2E170DD1-BD73-4522-9492-4A88AFBD9570}"/>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0" name="Freeform: Shape 12">
            <a:extLst>
              <a:ext uri="{FF2B5EF4-FFF2-40B4-BE49-F238E27FC236}">
                <a16:creationId xmlns:a16="http://schemas.microsoft.com/office/drawing/2014/main" id="{7A7BFE90-7E80-4260-956E-AD7143AD4780}"/>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1" name="Freeform: Shape 13">
            <a:extLst>
              <a:ext uri="{FF2B5EF4-FFF2-40B4-BE49-F238E27FC236}">
                <a16:creationId xmlns:a16="http://schemas.microsoft.com/office/drawing/2014/main" id="{B5F7AE4E-396F-4528-92C0-9CDE1394166E}"/>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2" name="Freeform: Shape 14">
            <a:extLst>
              <a:ext uri="{FF2B5EF4-FFF2-40B4-BE49-F238E27FC236}">
                <a16:creationId xmlns:a16="http://schemas.microsoft.com/office/drawing/2014/main" id="{BDA6D1CE-2087-4BE6-8389-223BBA11F876}"/>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3" name="Freeform: Shape 15">
            <a:extLst>
              <a:ext uri="{FF2B5EF4-FFF2-40B4-BE49-F238E27FC236}">
                <a16:creationId xmlns:a16="http://schemas.microsoft.com/office/drawing/2014/main" id="{23585F9E-FD1E-4B82-A8FB-450B8FB09CCD}"/>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4" name="Shape">
            <a:extLst>
              <a:ext uri="{FF2B5EF4-FFF2-40B4-BE49-F238E27FC236}">
                <a16:creationId xmlns:a16="http://schemas.microsoft.com/office/drawing/2014/main" id="{C91C132F-6D17-48E3-A24B-C8749AA0D1DC}"/>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5" name="Shape">
            <a:extLst>
              <a:ext uri="{FF2B5EF4-FFF2-40B4-BE49-F238E27FC236}">
                <a16:creationId xmlns:a16="http://schemas.microsoft.com/office/drawing/2014/main" id="{808A24AA-D792-4758-BDD1-744C2584943C}"/>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6" name="Shape">
            <a:extLst>
              <a:ext uri="{FF2B5EF4-FFF2-40B4-BE49-F238E27FC236}">
                <a16:creationId xmlns:a16="http://schemas.microsoft.com/office/drawing/2014/main" id="{443E6ACA-A9AA-4B43-8775-2B5705F97CE8}"/>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7" name="Shape">
            <a:extLst>
              <a:ext uri="{FF2B5EF4-FFF2-40B4-BE49-F238E27FC236}">
                <a16:creationId xmlns:a16="http://schemas.microsoft.com/office/drawing/2014/main" id="{75D0A903-23EF-4783-A048-E8FB691489E0}"/>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8" name="Shape">
            <a:extLst>
              <a:ext uri="{FF2B5EF4-FFF2-40B4-BE49-F238E27FC236}">
                <a16:creationId xmlns:a16="http://schemas.microsoft.com/office/drawing/2014/main" id="{88736D9D-96F5-4298-95A5-09DC68706129}"/>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9" name="Shape">
            <a:extLst>
              <a:ext uri="{FF2B5EF4-FFF2-40B4-BE49-F238E27FC236}">
                <a16:creationId xmlns:a16="http://schemas.microsoft.com/office/drawing/2014/main" id="{FC1B6971-2241-456B-90B7-251E65B19DE8}"/>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0" name="Shape">
            <a:extLst>
              <a:ext uri="{FF2B5EF4-FFF2-40B4-BE49-F238E27FC236}">
                <a16:creationId xmlns:a16="http://schemas.microsoft.com/office/drawing/2014/main" id="{45B58B32-19F2-4B0B-8A79-9E29234AFD1E}"/>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1" name="Shape">
            <a:extLst>
              <a:ext uri="{FF2B5EF4-FFF2-40B4-BE49-F238E27FC236}">
                <a16:creationId xmlns:a16="http://schemas.microsoft.com/office/drawing/2014/main" id="{B2DC019C-FF64-4938-8DAD-501F394050E4}"/>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2" name="Shape">
            <a:extLst>
              <a:ext uri="{FF2B5EF4-FFF2-40B4-BE49-F238E27FC236}">
                <a16:creationId xmlns:a16="http://schemas.microsoft.com/office/drawing/2014/main" id="{8C9BE5F0-8953-4CC5-94D8-693BAC7BFA74}"/>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3" name="Shape">
            <a:extLst>
              <a:ext uri="{FF2B5EF4-FFF2-40B4-BE49-F238E27FC236}">
                <a16:creationId xmlns:a16="http://schemas.microsoft.com/office/drawing/2014/main" id="{AD34BF70-DB80-4CC6-AB1C-4E5E944062A3}"/>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4" name="Shape">
            <a:extLst>
              <a:ext uri="{FF2B5EF4-FFF2-40B4-BE49-F238E27FC236}">
                <a16:creationId xmlns:a16="http://schemas.microsoft.com/office/drawing/2014/main" id="{7D24C5A5-98D3-4EBE-82B7-A4087D05D912}"/>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5" name="Shape">
            <a:extLst>
              <a:ext uri="{FF2B5EF4-FFF2-40B4-BE49-F238E27FC236}">
                <a16:creationId xmlns:a16="http://schemas.microsoft.com/office/drawing/2014/main" id="{5D4B2222-BE7F-461D-A972-AF34EB379FC1}"/>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6" name="Shape">
            <a:extLst>
              <a:ext uri="{FF2B5EF4-FFF2-40B4-BE49-F238E27FC236}">
                <a16:creationId xmlns:a16="http://schemas.microsoft.com/office/drawing/2014/main" id="{079FD2A6-2736-4F63-A8AF-A598FC48C104}"/>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7" name="TextBox 29">
            <a:extLst>
              <a:ext uri="{FF2B5EF4-FFF2-40B4-BE49-F238E27FC236}">
                <a16:creationId xmlns:a16="http://schemas.microsoft.com/office/drawing/2014/main" id="{7011DA63-FACA-49B8-B1EC-59014C6C2808}"/>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79" name="TextBox 31">
            <a:extLst>
              <a:ext uri="{FF2B5EF4-FFF2-40B4-BE49-F238E27FC236}">
                <a16:creationId xmlns:a16="http://schemas.microsoft.com/office/drawing/2014/main" id="{948F074E-BF90-4D71-A4C1-1128C4B42553}"/>
              </a:ext>
            </a:extLst>
          </p:cNvPr>
          <p:cNvSpPr txBox="1"/>
          <p:nvPr/>
        </p:nvSpPr>
        <p:spPr>
          <a:xfrm>
            <a:off x="2576516" y="1785961"/>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sp>
        <p:nvSpPr>
          <p:cNvPr id="80" name="TextBox 32">
            <a:extLst>
              <a:ext uri="{FF2B5EF4-FFF2-40B4-BE49-F238E27FC236}">
                <a16:creationId xmlns:a16="http://schemas.microsoft.com/office/drawing/2014/main" id="{004A3330-B5B2-4DCB-ABCF-6065EEB725FB}"/>
              </a:ext>
            </a:extLst>
          </p:cNvPr>
          <p:cNvSpPr txBox="1"/>
          <p:nvPr/>
        </p:nvSpPr>
        <p:spPr>
          <a:xfrm>
            <a:off x="4463847" y="1325076"/>
            <a:ext cx="370656"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grpSp>
        <p:nvGrpSpPr>
          <p:cNvPr id="81" name="Group 33">
            <a:extLst>
              <a:ext uri="{FF2B5EF4-FFF2-40B4-BE49-F238E27FC236}">
                <a16:creationId xmlns:a16="http://schemas.microsoft.com/office/drawing/2014/main" id="{7EEA0960-EF54-4FA8-8A2D-834016195719}"/>
              </a:ext>
            </a:extLst>
          </p:cNvPr>
          <p:cNvGrpSpPr/>
          <p:nvPr/>
        </p:nvGrpSpPr>
        <p:grpSpPr>
          <a:xfrm>
            <a:off x="245275" y="2643365"/>
            <a:ext cx="1089430" cy="400403"/>
            <a:chOff x="332933" y="2620027"/>
            <a:chExt cx="2926083" cy="846667"/>
          </a:xfrm>
        </p:grpSpPr>
        <p:sp>
          <p:nvSpPr>
            <p:cNvPr id="82" name="TextBox 34">
              <a:extLst>
                <a:ext uri="{FF2B5EF4-FFF2-40B4-BE49-F238E27FC236}">
                  <a16:creationId xmlns:a16="http://schemas.microsoft.com/office/drawing/2014/main" id="{99866BB6-E63D-4397-B4A6-C3881E7ACABA}"/>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Operative Context</a:t>
              </a:r>
            </a:p>
          </p:txBody>
        </p:sp>
        <p:sp>
          <p:nvSpPr>
            <p:cNvPr id="83" name="TextBox 35">
              <a:extLst>
                <a:ext uri="{FF2B5EF4-FFF2-40B4-BE49-F238E27FC236}">
                  <a16:creationId xmlns:a16="http://schemas.microsoft.com/office/drawing/2014/main" id="{1F21F5B6-4CE9-4331-AC2B-65E098007B29}"/>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4" name="TextBox 36">
            <a:extLst>
              <a:ext uri="{FF2B5EF4-FFF2-40B4-BE49-F238E27FC236}">
                <a16:creationId xmlns:a16="http://schemas.microsoft.com/office/drawing/2014/main" id="{F245064A-3922-4B9E-AD5F-2BA27FA5060F}"/>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85" name="TextBox 38">
            <a:extLst>
              <a:ext uri="{FF2B5EF4-FFF2-40B4-BE49-F238E27FC236}">
                <a16:creationId xmlns:a16="http://schemas.microsoft.com/office/drawing/2014/main" id="{8C58C64F-9C17-42FA-BA25-3240332857A0}"/>
              </a:ext>
            </a:extLst>
          </p:cNvPr>
          <p:cNvSpPr txBox="1"/>
          <p:nvPr/>
        </p:nvSpPr>
        <p:spPr>
          <a:xfrm>
            <a:off x="4245974" y="2716321"/>
            <a:ext cx="1089429" cy="35400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b="1" dirty="0">
                <a:solidFill>
                  <a:srgbClr val="3B3535"/>
                </a:solidFill>
                <a:ea typeface="Sora Semi Bold" pitchFamily="34" charset="-122"/>
                <a:cs typeface="Sora Semi Bold" pitchFamily="34" charset="-120"/>
              </a:rPr>
              <a:t>Conclusions and Future Work</a:t>
            </a:r>
            <a:endParaRPr lang="en-US" sz="1100" b="1" dirty="0"/>
          </a:p>
        </p:txBody>
      </p:sp>
      <p:grpSp>
        <p:nvGrpSpPr>
          <p:cNvPr id="86" name="Group 40">
            <a:extLst>
              <a:ext uri="{FF2B5EF4-FFF2-40B4-BE49-F238E27FC236}">
                <a16:creationId xmlns:a16="http://schemas.microsoft.com/office/drawing/2014/main" id="{036EA2D6-7D2B-4BD5-BFFE-815965A35B99}"/>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B2D7BC7B-6293-48A4-BD3A-3A393DCFA6DE}"/>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88" name="TextBox 42">
              <a:extLst>
                <a:ext uri="{FF2B5EF4-FFF2-40B4-BE49-F238E27FC236}">
                  <a16:creationId xmlns:a16="http://schemas.microsoft.com/office/drawing/2014/main" id="{500D2EEF-5D13-4501-8F4F-A25005E58A36}"/>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9" name="TextBox 43">
            <a:extLst>
              <a:ext uri="{FF2B5EF4-FFF2-40B4-BE49-F238E27FC236}">
                <a16:creationId xmlns:a16="http://schemas.microsoft.com/office/drawing/2014/main" id="{C891E03C-2AC1-4F68-A472-6D7AAE72D747}"/>
              </a:ext>
            </a:extLst>
          </p:cNvPr>
          <p:cNvSpPr txBox="1"/>
          <p:nvPr/>
        </p:nvSpPr>
        <p:spPr>
          <a:xfrm>
            <a:off x="3438475" y="1803604"/>
            <a:ext cx="362694"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0" name="Shape">
            <a:extLst>
              <a:ext uri="{FF2B5EF4-FFF2-40B4-BE49-F238E27FC236}">
                <a16:creationId xmlns:a16="http://schemas.microsoft.com/office/drawing/2014/main" id="{11037EE7-CE57-42F0-9FB5-81CA29300359}"/>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dirty="0">
                <a:solidFill>
                  <a:schemeClr val="tx1">
                    <a:lumMod val="85000"/>
                    <a:lumOff val="15000"/>
                  </a:schemeClr>
                </a:solidFill>
              </a:rPr>
              <a:t>05</a:t>
            </a:r>
          </a:p>
        </p:txBody>
      </p:sp>
      <p:sp>
        <p:nvSpPr>
          <p:cNvPr id="91" name="TextBox 45">
            <a:extLst>
              <a:ext uri="{FF2B5EF4-FFF2-40B4-BE49-F238E27FC236}">
                <a16:creationId xmlns:a16="http://schemas.microsoft.com/office/drawing/2014/main" id="{9AD44760-4DBF-45AE-A7CF-FA64612FF966}"/>
              </a:ext>
            </a:extLst>
          </p:cNvPr>
          <p:cNvSpPr txBox="1"/>
          <p:nvPr/>
        </p:nvSpPr>
        <p:spPr>
          <a:xfrm>
            <a:off x="1687762" y="1811299"/>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92" name="TextBox 46">
            <a:extLst>
              <a:ext uri="{FF2B5EF4-FFF2-40B4-BE49-F238E27FC236}">
                <a16:creationId xmlns:a16="http://schemas.microsoft.com/office/drawing/2014/main" id="{D6CBE640-961C-440F-BD93-7A1BD0E5018B}"/>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Tree>
    <p:extLst>
      <p:ext uri="{BB962C8B-B14F-4D97-AF65-F5344CB8AC3E}">
        <p14:creationId xmlns:p14="http://schemas.microsoft.com/office/powerpoint/2010/main" val="136994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Conclusions</a:t>
            </a:r>
          </a:p>
        </p:txBody>
      </p:sp>
      <p:sp>
        <p:nvSpPr>
          <p:cNvPr id="6" name="CasellaDiTesto 5">
            <a:extLst>
              <a:ext uri="{FF2B5EF4-FFF2-40B4-BE49-F238E27FC236}">
                <a16:creationId xmlns:a16="http://schemas.microsoft.com/office/drawing/2014/main" id="{EC4B9F7B-8F6C-4C19-963D-EF17160B9B08}"/>
              </a:ext>
            </a:extLst>
          </p:cNvPr>
          <p:cNvSpPr txBox="1"/>
          <p:nvPr/>
        </p:nvSpPr>
        <p:spPr>
          <a:xfrm>
            <a:off x="994577" y="2591945"/>
            <a:ext cx="3995004" cy="338554"/>
          </a:xfrm>
          <a:prstGeom prst="rect">
            <a:avLst/>
          </a:prstGeom>
          <a:noFill/>
        </p:spPr>
        <p:txBody>
          <a:bodyPr wrap="none" rtlCol="0">
            <a:spAutoFit/>
          </a:bodyPr>
          <a:lstStyle/>
          <a:p>
            <a:pPr algn="ctr"/>
            <a:r>
              <a:rPr lang="it-IT" sz="800" dirty="0"/>
              <a:t>The </a:t>
            </a:r>
            <a:r>
              <a:rPr lang="it-IT" sz="800" dirty="0" err="1"/>
              <a:t>observations</a:t>
            </a:r>
            <a:r>
              <a:rPr lang="it-IT" sz="800" dirty="0"/>
              <a:t> must be </a:t>
            </a:r>
            <a:r>
              <a:rPr lang="it-IT" sz="800" dirty="0" err="1"/>
              <a:t>interpreted</a:t>
            </a:r>
            <a:r>
              <a:rPr lang="it-IT" sz="800" dirty="0"/>
              <a:t> </a:t>
            </a:r>
            <a:r>
              <a:rPr lang="it-IT" sz="800" dirty="0" err="1"/>
              <a:t>within</a:t>
            </a:r>
            <a:r>
              <a:rPr lang="it-IT" sz="800" dirty="0"/>
              <a:t> the </a:t>
            </a:r>
            <a:r>
              <a:rPr lang="it-IT" sz="800" dirty="0" err="1"/>
              <a:t>limits</a:t>
            </a:r>
            <a:r>
              <a:rPr lang="it-IT" sz="800" dirty="0"/>
              <a:t> of the </a:t>
            </a:r>
            <a:r>
              <a:rPr lang="it-IT" sz="800" dirty="0" err="1"/>
              <a:t>proposed</a:t>
            </a:r>
            <a:r>
              <a:rPr lang="it-IT" sz="800" dirty="0"/>
              <a:t> benchmark. </a:t>
            </a:r>
          </a:p>
          <a:p>
            <a:pPr algn="ctr"/>
            <a:r>
              <a:rPr lang="it-IT" sz="800" dirty="0" err="1"/>
              <a:t>They</a:t>
            </a:r>
            <a:r>
              <a:rPr lang="it-IT" sz="800" dirty="0"/>
              <a:t> </a:t>
            </a:r>
            <a:r>
              <a:rPr lang="it-IT" sz="800" b="1" u="sng" dirty="0"/>
              <a:t>do </a:t>
            </a:r>
            <a:r>
              <a:rPr lang="it-IT" sz="800" b="1" u="sng" dirty="0" err="1"/>
              <a:t>not</a:t>
            </a:r>
            <a:r>
              <a:rPr lang="it-IT" sz="800" b="1" u="sng" dirty="0"/>
              <a:t> </a:t>
            </a:r>
            <a:r>
              <a:rPr lang="it-IT" sz="800" b="1" u="sng" dirty="0" err="1"/>
              <a:t>establish</a:t>
            </a:r>
            <a:r>
              <a:rPr lang="it-IT" sz="800" b="1" u="sng" dirty="0"/>
              <a:t> a general rule </a:t>
            </a:r>
            <a:r>
              <a:rPr lang="it-IT" sz="800" dirty="0"/>
              <a:t>for task-</a:t>
            </a:r>
            <a:r>
              <a:rPr lang="it-IT" sz="800" dirty="0" err="1"/>
              <a:t>dependent</a:t>
            </a:r>
            <a:r>
              <a:rPr lang="it-IT" sz="800" dirty="0"/>
              <a:t> performances.</a:t>
            </a:r>
          </a:p>
        </p:txBody>
      </p:sp>
      <p:sp>
        <p:nvSpPr>
          <p:cNvPr id="9" name="Rettangolo con angoli arrotondati 8">
            <a:extLst>
              <a:ext uri="{FF2B5EF4-FFF2-40B4-BE49-F238E27FC236}">
                <a16:creationId xmlns:a16="http://schemas.microsoft.com/office/drawing/2014/main" id="{318772E8-B392-4B05-BA45-F151B301D691}"/>
              </a:ext>
            </a:extLst>
          </p:cNvPr>
          <p:cNvSpPr/>
          <p:nvPr/>
        </p:nvSpPr>
        <p:spPr>
          <a:xfrm>
            <a:off x="1042281" y="680340"/>
            <a:ext cx="1780432" cy="820524"/>
          </a:xfrm>
          <a:prstGeom prst="roundRect">
            <a:avLst/>
          </a:prstGeom>
          <a:solidFill>
            <a:srgbClr val="92D050">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dirty="0">
                <a:solidFill>
                  <a:schemeClr val="tx1"/>
                </a:solidFill>
              </a:rPr>
              <a:t>The system </a:t>
            </a:r>
            <a:r>
              <a:rPr lang="it-IT" sz="800" b="1" dirty="0" err="1">
                <a:solidFill>
                  <a:schemeClr val="tx1"/>
                </a:solidFill>
              </a:rPr>
              <a:t>successfully</a:t>
            </a:r>
            <a:r>
              <a:rPr lang="it-IT" sz="800" dirty="0">
                <a:solidFill>
                  <a:schemeClr val="tx1"/>
                </a:solidFill>
              </a:rPr>
              <a:t> </a:t>
            </a:r>
            <a:r>
              <a:rPr lang="it-IT" sz="800" dirty="0" err="1">
                <a:solidFill>
                  <a:schemeClr val="tx1"/>
                </a:solidFill>
              </a:rPr>
              <a:t>validated</a:t>
            </a:r>
            <a:r>
              <a:rPr lang="it-IT" sz="800" dirty="0">
                <a:solidFill>
                  <a:schemeClr val="tx1"/>
                </a:solidFill>
              </a:rPr>
              <a:t> </a:t>
            </a:r>
            <a:r>
              <a:rPr lang="it-IT" sz="800" dirty="0" err="1">
                <a:solidFill>
                  <a:schemeClr val="tx1"/>
                </a:solidFill>
              </a:rPr>
              <a:t>our</a:t>
            </a:r>
            <a:r>
              <a:rPr lang="it-IT" sz="800" dirty="0">
                <a:solidFill>
                  <a:schemeClr val="tx1"/>
                </a:solidFill>
              </a:rPr>
              <a:t> core </a:t>
            </a:r>
            <a:r>
              <a:rPr lang="it-IT" sz="800" dirty="0" err="1">
                <a:solidFill>
                  <a:schemeClr val="tx1"/>
                </a:solidFill>
              </a:rPr>
              <a:t>research</a:t>
            </a:r>
            <a:r>
              <a:rPr lang="it-IT" sz="800" dirty="0">
                <a:solidFill>
                  <a:schemeClr val="tx1"/>
                </a:solidFill>
              </a:rPr>
              <a:t>, </a:t>
            </a:r>
            <a:r>
              <a:rPr lang="it-IT" sz="800" dirty="0" err="1">
                <a:solidFill>
                  <a:schemeClr val="tx1"/>
                </a:solidFill>
              </a:rPr>
              <a:t>surpassing</a:t>
            </a:r>
            <a:r>
              <a:rPr lang="it-IT" sz="800" dirty="0">
                <a:solidFill>
                  <a:schemeClr val="tx1"/>
                </a:solidFill>
              </a:rPr>
              <a:t> the baseline by </a:t>
            </a:r>
            <a:r>
              <a:rPr lang="it-IT" sz="800" b="1" dirty="0">
                <a:solidFill>
                  <a:schemeClr val="tx1"/>
                </a:solidFill>
              </a:rPr>
              <a:t>+27% </a:t>
            </a:r>
            <a:r>
              <a:rPr lang="it-IT" sz="800" dirty="0">
                <a:solidFill>
                  <a:schemeClr val="tx1"/>
                </a:solidFill>
              </a:rPr>
              <a:t>points on </a:t>
            </a:r>
            <a:r>
              <a:rPr lang="it-IT" sz="800" dirty="0" err="1">
                <a:solidFill>
                  <a:schemeClr val="tx1"/>
                </a:solidFill>
              </a:rPr>
              <a:t>our</a:t>
            </a:r>
            <a:r>
              <a:rPr lang="it-IT" sz="800" dirty="0">
                <a:solidFill>
                  <a:schemeClr val="tx1"/>
                </a:solidFill>
              </a:rPr>
              <a:t> benchmark.</a:t>
            </a:r>
          </a:p>
        </p:txBody>
      </p:sp>
      <p:sp>
        <p:nvSpPr>
          <p:cNvPr id="10" name="Rettangolo con angoli arrotondati 9">
            <a:extLst>
              <a:ext uri="{FF2B5EF4-FFF2-40B4-BE49-F238E27FC236}">
                <a16:creationId xmlns:a16="http://schemas.microsoft.com/office/drawing/2014/main" id="{096EE2F0-830F-43F5-AF40-9AFC64028D9C}"/>
              </a:ext>
            </a:extLst>
          </p:cNvPr>
          <p:cNvSpPr/>
          <p:nvPr/>
        </p:nvSpPr>
        <p:spPr>
          <a:xfrm>
            <a:off x="2943087" y="680340"/>
            <a:ext cx="1780432" cy="820524"/>
          </a:xfrm>
          <a:prstGeom prst="roundRect">
            <a:avLst/>
          </a:prstGeom>
          <a:solidFill>
            <a:schemeClr val="accent2">
              <a:lumMod val="60000"/>
              <a:lumOff val="40000"/>
              <a:alpha val="2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dirty="0">
                <a:solidFill>
                  <a:schemeClr val="tx1"/>
                </a:solidFill>
              </a:rPr>
              <a:t>The performance gap </a:t>
            </a:r>
            <a:r>
              <a:rPr lang="it-IT" sz="800" b="1" dirty="0" err="1">
                <a:solidFill>
                  <a:schemeClr val="tx1"/>
                </a:solidFill>
              </a:rPr>
              <a:t>diminishes</a:t>
            </a:r>
            <a:r>
              <a:rPr lang="it-IT" sz="800" dirty="0">
                <a:solidFill>
                  <a:schemeClr val="tx1"/>
                </a:solidFill>
              </a:rPr>
              <a:t> on complex </a:t>
            </a:r>
            <a:r>
              <a:rPr lang="it-IT" sz="800" dirty="0" err="1">
                <a:solidFill>
                  <a:schemeClr val="tx1"/>
                </a:solidFill>
              </a:rPr>
              <a:t>questions</a:t>
            </a:r>
            <a:r>
              <a:rPr lang="it-IT" sz="800" dirty="0">
                <a:solidFill>
                  <a:schemeClr val="tx1"/>
                </a:solidFill>
              </a:rPr>
              <a:t> </a:t>
            </a:r>
            <a:r>
              <a:rPr lang="it-IT" sz="800" dirty="0" err="1">
                <a:solidFill>
                  <a:schemeClr val="tx1"/>
                </a:solidFill>
              </a:rPr>
              <a:t>that</a:t>
            </a:r>
            <a:r>
              <a:rPr lang="it-IT" sz="800" dirty="0">
                <a:solidFill>
                  <a:schemeClr val="tx1"/>
                </a:solidFill>
              </a:rPr>
              <a:t> </a:t>
            </a:r>
            <a:r>
              <a:rPr lang="it-IT" sz="800" dirty="0" err="1">
                <a:solidFill>
                  <a:schemeClr val="tx1"/>
                </a:solidFill>
              </a:rPr>
              <a:t>require</a:t>
            </a:r>
            <a:r>
              <a:rPr lang="it-IT" sz="800" dirty="0">
                <a:solidFill>
                  <a:schemeClr val="tx1"/>
                </a:solidFill>
              </a:rPr>
              <a:t> more </a:t>
            </a:r>
            <a:r>
              <a:rPr lang="it-IT" sz="800" dirty="0" err="1">
                <a:solidFill>
                  <a:schemeClr val="tx1"/>
                </a:solidFill>
              </a:rPr>
              <a:t>informations</a:t>
            </a:r>
            <a:r>
              <a:rPr lang="it-IT" sz="800" dirty="0">
                <a:solidFill>
                  <a:schemeClr val="tx1"/>
                </a:solidFill>
              </a:rPr>
              <a:t> and context.</a:t>
            </a:r>
          </a:p>
        </p:txBody>
      </p:sp>
      <p:pic>
        <p:nvPicPr>
          <p:cNvPr id="3" name="Immagine 2">
            <a:extLst>
              <a:ext uri="{FF2B5EF4-FFF2-40B4-BE49-F238E27FC236}">
                <a16:creationId xmlns:a16="http://schemas.microsoft.com/office/drawing/2014/main" id="{6A3F6119-351A-4425-9D9A-052A1B5224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7202" b="17825"/>
          <a:stretch/>
        </p:blipFill>
        <p:spPr>
          <a:xfrm>
            <a:off x="1715632" y="1622425"/>
            <a:ext cx="2552894" cy="904745"/>
          </a:xfrm>
          <a:prstGeom prst="rect">
            <a:avLst/>
          </a:prstGeom>
        </p:spPr>
      </p:pic>
    </p:spTree>
    <p:extLst>
      <p:ext uri="{BB962C8B-B14F-4D97-AF65-F5344CB8AC3E}">
        <p14:creationId xmlns:p14="http://schemas.microsoft.com/office/powerpoint/2010/main" val="1858635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Future Work</a:t>
            </a:r>
          </a:p>
        </p:txBody>
      </p:sp>
      <p:sp>
        <p:nvSpPr>
          <p:cNvPr id="6" name="Rettangolo con angoli arrotondati 5">
            <a:extLst>
              <a:ext uri="{FF2B5EF4-FFF2-40B4-BE49-F238E27FC236}">
                <a16:creationId xmlns:a16="http://schemas.microsoft.com/office/drawing/2014/main" id="{CBB7E483-3380-46EE-885A-32115515353F}"/>
              </a:ext>
            </a:extLst>
          </p:cNvPr>
          <p:cNvSpPr/>
          <p:nvPr/>
        </p:nvSpPr>
        <p:spPr>
          <a:xfrm>
            <a:off x="3060241" y="1407455"/>
            <a:ext cx="1895006" cy="797456"/>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7" name="CasellaDiTesto 6">
            <a:extLst>
              <a:ext uri="{FF2B5EF4-FFF2-40B4-BE49-F238E27FC236}">
                <a16:creationId xmlns:a16="http://schemas.microsoft.com/office/drawing/2014/main" id="{52D91C1C-4A3D-4F35-96CE-612E7831BCA8}"/>
              </a:ext>
            </a:extLst>
          </p:cNvPr>
          <p:cNvSpPr txBox="1"/>
          <p:nvPr/>
        </p:nvSpPr>
        <p:spPr>
          <a:xfrm>
            <a:off x="3138965" y="1466644"/>
            <a:ext cx="1737557" cy="623248"/>
          </a:xfrm>
          <a:prstGeom prst="rect">
            <a:avLst/>
          </a:prstGeom>
          <a:noFill/>
        </p:spPr>
        <p:txBody>
          <a:bodyPr wrap="square" rtlCol="0">
            <a:spAutoFit/>
          </a:bodyPr>
          <a:lstStyle/>
          <a:p>
            <a:pPr algn="ctr">
              <a:spcAft>
                <a:spcPts val="300"/>
              </a:spcAft>
            </a:pPr>
            <a:r>
              <a:rPr lang="it-IT" sz="800" b="1" dirty="0" err="1">
                <a:solidFill>
                  <a:schemeClr val="tx1"/>
                </a:solidFill>
                <a:latin typeface="+mn-lt"/>
              </a:rPr>
              <a:t>Synthesis</a:t>
            </a:r>
            <a:r>
              <a:rPr lang="it-IT" sz="800" b="1" dirty="0">
                <a:solidFill>
                  <a:schemeClr val="tx1"/>
                </a:solidFill>
                <a:latin typeface="+mn-lt"/>
              </a:rPr>
              <a:t> &amp; </a:t>
            </a:r>
            <a:r>
              <a:rPr lang="it-IT" sz="800" b="1" dirty="0" err="1">
                <a:solidFill>
                  <a:schemeClr val="tx1"/>
                </a:solidFill>
                <a:latin typeface="+mn-lt"/>
              </a:rPr>
              <a:t>Validation</a:t>
            </a:r>
            <a:endParaRPr lang="it-IT" sz="800" dirty="0">
              <a:solidFill>
                <a:schemeClr val="tx1"/>
              </a:solidFill>
              <a:latin typeface="+mn-lt"/>
            </a:endParaRPr>
          </a:p>
          <a:p>
            <a:pPr algn="ctr"/>
            <a:endParaRPr lang="it-IT" sz="800" dirty="0">
              <a:latin typeface="+mn-lt"/>
            </a:endParaRPr>
          </a:p>
          <a:p>
            <a:pPr algn="ctr"/>
            <a:r>
              <a:rPr lang="it-IT" sz="800" dirty="0" err="1">
                <a:latin typeface="+mn-lt"/>
              </a:rPr>
              <a:t>Extend</a:t>
            </a:r>
            <a:r>
              <a:rPr lang="it-IT" sz="800" dirty="0">
                <a:latin typeface="+mn-lt"/>
              </a:rPr>
              <a:t> the </a:t>
            </a:r>
            <a:r>
              <a:rPr lang="it-IT" sz="800" dirty="0" err="1">
                <a:latin typeface="+mn-lt"/>
              </a:rPr>
              <a:t>critic</a:t>
            </a:r>
            <a:r>
              <a:rPr lang="it-IT" sz="800" dirty="0">
                <a:latin typeface="+mn-lt"/>
              </a:rPr>
              <a:t> agent to check the </a:t>
            </a:r>
            <a:r>
              <a:rPr lang="it-IT" sz="800" dirty="0" err="1">
                <a:latin typeface="+mn-lt"/>
              </a:rPr>
              <a:t>synthesizer</a:t>
            </a:r>
            <a:r>
              <a:rPr lang="it-IT" sz="800" dirty="0">
                <a:latin typeface="+mn-lt"/>
              </a:rPr>
              <a:t> </a:t>
            </a:r>
            <a:r>
              <a:rPr lang="it-IT" sz="800" dirty="0" err="1">
                <a:latin typeface="+mn-lt"/>
              </a:rPr>
              <a:t>answer</a:t>
            </a:r>
            <a:r>
              <a:rPr lang="it-IT" sz="800" dirty="0">
                <a:latin typeface="+mn-lt"/>
              </a:rPr>
              <a:t>.</a:t>
            </a:r>
          </a:p>
        </p:txBody>
      </p:sp>
      <p:cxnSp>
        <p:nvCxnSpPr>
          <p:cNvPr id="9" name="Connettore diritto 8">
            <a:extLst>
              <a:ext uri="{FF2B5EF4-FFF2-40B4-BE49-F238E27FC236}">
                <a16:creationId xmlns:a16="http://schemas.microsoft.com/office/drawing/2014/main" id="{6B87EEFA-9BD2-462C-9E36-5709B9F86AE4}"/>
              </a:ext>
            </a:extLst>
          </p:cNvPr>
          <p:cNvCxnSpPr>
            <a:cxnSpLocks/>
          </p:cNvCxnSpPr>
          <p:nvPr/>
        </p:nvCxnSpPr>
        <p:spPr>
          <a:xfrm>
            <a:off x="3149961" y="1655031"/>
            <a:ext cx="1745992" cy="0"/>
          </a:xfrm>
          <a:prstGeom prst="line">
            <a:avLst/>
          </a:prstGeom>
        </p:spPr>
        <p:style>
          <a:lnRef idx="1">
            <a:schemeClr val="dk1"/>
          </a:lnRef>
          <a:fillRef idx="0">
            <a:schemeClr val="dk1"/>
          </a:fillRef>
          <a:effectRef idx="0">
            <a:schemeClr val="dk1"/>
          </a:effectRef>
          <a:fontRef idx="minor">
            <a:schemeClr val="tx1"/>
          </a:fontRef>
        </p:style>
      </p:cxnSp>
      <p:sp>
        <p:nvSpPr>
          <p:cNvPr id="10" name="Rettangolo con angoli arrotondati 9">
            <a:extLst>
              <a:ext uri="{FF2B5EF4-FFF2-40B4-BE49-F238E27FC236}">
                <a16:creationId xmlns:a16="http://schemas.microsoft.com/office/drawing/2014/main" id="{0E1D6714-B4FE-4F44-9672-AA07E7DE6169}"/>
              </a:ext>
            </a:extLst>
          </p:cNvPr>
          <p:cNvSpPr/>
          <p:nvPr/>
        </p:nvSpPr>
        <p:spPr>
          <a:xfrm>
            <a:off x="848039" y="1412287"/>
            <a:ext cx="1895006" cy="797456"/>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11" name="CasellaDiTesto 10">
            <a:extLst>
              <a:ext uri="{FF2B5EF4-FFF2-40B4-BE49-F238E27FC236}">
                <a16:creationId xmlns:a16="http://schemas.microsoft.com/office/drawing/2014/main" id="{FB8777A7-53CD-42E8-8709-02C28642C00F}"/>
              </a:ext>
            </a:extLst>
          </p:cNvPr>
          <p:cNvSpPr txBox="1"/>
          <p:nvPr/>
        </p:nvSpPr>
        <p:spPr>
          <a:xfrm>
            <a:off x="926763" y="1471476"/>
            <a:ext cx="1737557" cy="623248"/>
          </a:xfrm>
          <a:prstGeom prst="rect">
            <a:avLst/>
          </a:prstGeom>
          <a:noFill/>
        </p:spPr>
        <p:txBody>
          <a:bodyPr wrap="square" rtlCol="0">
            <a:spAutoFit/>
          </a:bodyPr>
          <a:lstStyle/>
          <a:p>
            <a:pPr algn="ctr">
              <a:spcAft>
                <a:spcPts val="300"/>
              </a:spcAft>
            </a:pPr>
            <a:r>
              <a:rPr lang="it-IT" sz="800" b="1" dirty="0">
                <a:solidFill>
                  <a:schemeClr val="tx1"/>
                </a:solidFill>
                <a:latin typeface="+mn-lt"/>
              </a:rPr>
              <a:t>LLM </a:t>
            </a:r>
            <a:r>
              <a:rPr lang="it-IT" sz="800" b="1" dirty="0" err="1">
                <a:solidFill>
                  <a:schemeClr val="tx1"/>
                </a:solidFill>
                <a:latin typeface="+mn-lt"/>
              </a:rPr>
              <a:t>Efficiency</a:t>
            </a:r>
            <a:endParaRPr lang="it-IT" sz="800" dirty="0">
              <a:solidFill>
                <a:schemeClr val="tx1"/>
              </a:solidFill>
              <a:latin typeface="+mn-lt"/>
            </a:endParaRPr>
          </a:p>
          <a:p>
            <a:pPr algn="ctr"/>
            <a:endParaRPr lang="it-IT" sz="800" dirty="0">
              <a:latin typeface="+mn-lt"/>
            </a:endParaRPr>
          </a:p>
          <a:p>
            <a:pPr algn="ctr"/>
            <a:r>
              <a:rPr lang="it-IT" sz="800" dirty="0" err="1">
                <a:latin typeface="+mn-lt"/>
              </a:rPr>
              <a:t>Evaluate</a:t>
            </a:r>
            <a:r>
              <a:rPr lang="it-IT" sz="800" dirty="0">
                <a:latin typeface="+mn-lt"/>
              </a:rPr>
              <a:t> FUNES </a:t>
            </a:r>
            <a:r>
              <a:rPr lang="it-IT" sz="800" dirty="0" err="1">
                <a:latin typeface="+mn-lt"/>
              </a:rPr>
              <a:t>across</a:t>
            </a:r>
            <a:r>
              <a:rPr lang="it-IT" sz="800" dirty="0">
                <a:latin typeface="+mn-lt"/>
              </a:rPr>
              <a:t> diverse model sizes and families. </a:t>
            </a:r>
          </a:p>
        </p:txBody>
      </p:sp>
      <p:cxnSp>
        <p:nvCxnSpPr>
          <p:cNvPr id="12" name="Connettore diritto 11">
            <a:extLst>
              <a:ext uri="{FF2B5EF4-FFF2-40B4-BE49-F238E27FC236}">
                <a16:creationId xmlns:a16="http://schemas.microsoft.com/office/drawing/2014/main" id="{376735C1-AA23-4E6D-B56E-823AFA179185}"/>
              </a:ext>
            </a:extLst>
          </p:cNvPr>
          <p:cNvCxnSpPr>
            <a:cxnSpLocks/>
          </p:cNvCxnSpPr>
          <p:nvPr/>
        </p:nvCxnSpPr>
        <p:spPr>
          <a:xfrm>
            <a:off x="934854" y="1659863"/>
            <a:ext cx="1745992" cy="0"/>
          </a:xfrm>
          <a:prstGeom prst="line">
            <a:avLst/>
          </a:prstGeom>
        </p:spPr>
        <p:style>
          <a:lnRef idx="1">
            <a:schemeClr val="dk1"/>
          </a:lnRef>
          <a:fillRef idx="0">
            <a:schemeClr val="dk1"/>
          </a:fillRef>
          <a:effectRef idx="0">
            <a:schemeClr val="dk1"/>
          </a:effectRef>
          <a:fontRef idx="minor">
            <a:schemeClr val="tx1"/>
          </a:fontRef>
        </p:style>
      </p:cxnSp>
      <p:sp>
        <p:nvSpPr>
          <p:cNvPr id="17" name="Rettangolo con angoli arrotondati 16">
            <a:extLst>
              <a:ext uri="{FF2B5EF4-FFF2-40B4-BE49-F238E27FC236}">
                <a16:creationId xmlns:a16="http://schemas.microsoft.com/office/drawing/2014/main" id="{2308EEE6-AE7E-40F3-9BF5-87DF4956ECF5}"/>
              </a:ext>
            </a:extLst>
          </p:cNvPr>
          <p:cNvSpPr/>
          <p:nvPr/>
        </p:nvSpPr>
        <p:spPr>
          <a:xfrm>
            <a:off x="848039" y="614470"/>
            <a:ext cx="1895006" cy="682437"/>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18" name="CasellaDiTesto 17">
            <a:extLst>
              <a:ext uri="{FF2B5EF4-FFF2-40B4-BE49-F238E27FC236}">
                <a16:creationId xmlns:a16="http://schemas.microsoft.com/office/drawing/2014/main" id="{54659245-39F4-48BD-B0D5-ECCF9B058D7F}"/>
              </a:ext>
            </a:extLst>
          </p:cNvPr>
          <p:cNvSpPr txBox="1"/>
          <p:nvPr/>
        </p:nvSpPr>
        <p:spPr>
          <a:xfrm>
            <a:off x="926763" y="673659"/>
            <a:ext cx="1737557" cy="623248"/>
          </a:xfrm>
          <a:prstGeom prst="rect">
            <a:avLst/>
          </a:prstGeom>
          <a:noFill/>
        </p:spPr>
        <p:txBody>
          <a:bodyPr wrap="square" rtlCol="0">
            <a:spAutoFit/>
          </a:bodyPr>
          <a:lstStyle/>
          <a:p>
            <a:pPr algn="ctr">
              <a:spcAft>
                <a:spcPts val="300"/>
              </a:spcAft>
            </a:pPr>
            <a:r>
              <a:rPr lang="it-IT" sz="800" b="1" dirty="0">
                <a:latin typeface="+mn-lt"/>
              </a:rPr>
              <a:t>Benchmark Scaling</a:t>
            </a:r>
          </a:p>
          <a:p>
            <a:pPr algn="ctr"/>
            <a:r>
              <a:rPr lang="it-IT" sz="800" dirty="0" err="1">
                <a:latin typeface="+mn-lt"/>
              </a:rPr>
              <a:t>Expand</a:t>
            </a:r>
            <a:r>
              <a:rPr lang="it-IT" sz="800" dirty="0">
                <a:latin typeface="+mn-lt"/>
              </a:rPr>
              <a:t> the benchmark with </a:t>
            </a:r>
            <a:r>
              <a:rPr lang="it-IT" sz="800" dirty="0" err="1">
                <a:latin typeface="+mn-lt"/>
              </a:rPr>
              <a:t>larger</a:t>
            </a:r>
            <a:r>
              <a:rPr lang="it-IT" sz="800" dirty="0">
                <a:latin typeface="+mn-lt"/>
              </a:rPr>
              <a:t> datasets, </a:t>
            </a:r>
            <a:r>
              <a:rPr lang="it-IT" sz="800" dirty="0" err="1">
                <a:latin typeface="+mn-lt"/>
              </a:rPr>
              <a:t>complex</a:t>
            </a:r>
            <a:r>
              <a:rPr lang="it-IT" sz="800" dirty="0">
                <a:latin typeface="+mn-lt"/>
              </a:rPr>
              <a:t> </a:t>
            </a:r>
            <a:r>
              <a:rPr lang="it-IT" sz="800" dirty="0" err="1">
                <a:latin typeface="+mn-lt"/>
              </a:rPr>
              <a:t>temporal</a:t>
            </a:r>
            <a:r>
              <a:rPr lang="it-IT" sz="800" dirty="0">
                <a:latin typeface="+mn-lt"/>
              </a:rPr>
              <a:t> </a:t>
            </a:r>
            <a:r>
              <a:rPr lang="it-IT" sz="800" dirty="0" err="1">
                <a:latin typeface="+mn-lt"/>
              </a:rPr>
              <a:t>dependencies</a:t>
            </a:r>
            <a:r>
              <a:rPr lang="it-IT" sz="800" dirty="0">
                <a:latin typeface="+mn-lt"/>
              </a:rPr>
              <a:t> and </a:t>
            </a:r>
            <a:r>
              <a:rPr lang="it-IT" sz="800" dirty="0" err="1">
                <a:latin typeface="+mn-lt"/>
              </a:rPr>
              <a:t>ambiguities</a:t>
            </a:r>
            <a:endParaRPr lang="it-IT" sz="800" dirty="0">
              <a:latin typeface="+mn-lt"/>
            </a:endParaRPr>
          </a:p>
        </p:txBody>
      </p:sp>
      <p:cxnSp>
        <p:nvCxnSpPr>
          <p:cNvPr id="19" name="Connettore diritto 18">
            <a:extLst>
              <a:ext uri="{FF2B5EF4-FFF2-40B4-BE49-F238E27FC236}">
                <a16:creationId xmlns:a16="http://schemas.microsoft.com/office/drawing/2014/main" id="{07EBE778-9D2B-4FA4-9323-E92AED734519}"/>
              </a:ext>
            </a:extLst>
          </p:cNvPr>
          <p:cNvCxnSpPr>
            <a:cxnSpLocks/>
          </p:cNvCxnSpPr>
          <p:nvPr/>
        </p:nvCxnSpPr>
        <p:spPr>
          <a:xfrm>
            <a:off x="937759" y="862046"/>
            <a:ext cx="1745992" cy="0"/>
          </a:xfrm>
          <a:prstGeom prst="line">
            <a:avLst/>
          </a:prstGeom>
        </p:spPr>
        <p:style>
          <a:lnRef idx="1">
            <a:schemeClr val="dk1"/>
          </a:lnRef>
          <a:fillRef idx="0">
            <a:schemeClr val="dk1"/>
          </a:fillRef>
          <a:effectRef idx="0">
            <a:schemeClr val="dk1"/>
          </a:effectRef>
          <a:fontRef idx="minor">
            <a:schemeClr val="tx1"/>
          </a:fontRef>
        </p:style>
      </p:cxnSp>
      <p:sp>
        <p:nvSpPr>
          <p:cNvPr id="20" name="Rettangolo con angoli arrotondati 19">
            <a:extLst>
              <a:ext uri="{FF2B5EF4-FFF2-40B4-BE49-F238E27FC236}">
                <a16:creationId xmlns:a16="http://schemas.microsoft.com/office/drawing/2014/main" id="{485975AD-56AE-4C9C-B860-1977FA633B39}"/>
              </a:ext>
            </a:extLst>
          </p:cNvPr>
          <p:cNvSpPr/>
          <p:nvPr/>
        </p:nvSpPr>
        <p:spPr>
          <a:xfrm>
            <a:off x="3086637" y="614470"/>
            <a:ext cx="1895006" cy="682437"/>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21" name="CasellaDiTesto 20">
            <a:extLst>
              <a:ext uri="{FF2B5EF4-FFF2-40B4-BE49-F238E27FC236}">
                <a16:creationId xmlns:a16="http://schemas.microsoft.com/office/drawing/2014/main" id="{F5E403FA-708D-4FFC-BD8C-6B92717F5BE8}"/>
              </a:ext>
            </a:extLst>
          </p:cNvPr>
          <p:cNvSpPr txBox="1"/>
          <p:nvPr/>
        </p:nvSpPr>
        <p:spPr>
          <a:xfrm>
            <a:off x="3165361" y="673659"/>
            <a:ext cx="1737557" cy="623248"/>
          </a:xfrm>
          <a:prstGeom prst="rect">
            <a:avLst/>
          </a:prstGeom>
          <a:noFill/>
        </p:spPr>
        <p:txBody>
          <a:bodyPr wrap="square" rtlCol="0">
            <a:spAutoFit/>
          </a:bodyPr>
          <a:lstStyle/>
          <a:p>
            <a:pPr algn="ctr">
              <a:spcAft>
                <a:spcPts val="300"/>
              </a:spcAft>
            </a:pPr>
            <a:r>
              <a:rPr lang="it-IT" sz="800" b="1" dirty="0">
                <a:solidFill>
                  <a:schemeClr val="tx1"/>
                </a:solidFill>
                <a:latin typeface="+mn-lt"/>
              </a:rPr>
              <a:t>Human in the Loop</a:t>
            </a:r>
            <a:endParaRPr lang="it-IT" sz="800" dirty="0">
              <a:solidFill>
                <a:schemeClr val="tx1"/>
              </a:solidFill>
              <a:latin typeface="+mn-lt"/>
            </a:endParaRPr>
          </a:p>
          <a:p>
            <a:pPr algn="ctr"/>
            <a:r>
              <a:rPr lang="it-IT" sz="800" dirty="0" err="1">
                <a:latin typeface="+mn-lt"/>
              </a:rPr>
              <a:t>Evaluate</a:t>
            </a:r>
            <a:r>
              <a:rPr lang="it-IT" sz="800" dirty="0">
                <a:latin typeface="+mn-lt"/>
              </a:rPr>
              <a:t> </a:t>
            </a:r>
            <a:r>
              <a:rPr lang="it-IT" sz="800" dirty="0" err="1">
                <a:latin typeface="+mn-lt"/>
              </a:rPr>
              <a:t>real</a:t>
            </a:r>
            <a:r>
              <a:rPr lang="it-IT" sz="800" dirty="0">
                <a:latin typeface="+mn-lt"/>
              </a:rPr>
              <a:t>-world </a:t>
            </a:r>
            <a:r>
              <a:rPr lang="it-IT" sz="800" dirty="0" err="1">
                <a:latin typeface="+mn-lt"/>
              </a:rPr>
              <a:t>usability</a:t>
            </a:r>
            <a:r>
              <a:rPr lang="it-IT" sz="800" dirty="0">
                <a:latin typeface="+mn-lt"/>
              </a:rPr>
              <a:t>, </a:t>
            </a:r>
            <a:r>
              <a:rPr lang="it-IT" sz="800" dirty="0" err="1">
                <a:latin typeface="+mn-lt"/>
              </a:rPr>
              <a:t>operational</a:t>
            </a:r>
            <a:r>
              <a:rPr lang="it-IT" sz="800" dirty="0">
                <a:latin typeface="+mn-lt"/>
              </a:rPr>
              <a:t> trust and impact </a:t>
            </a:r>
            <a:r>
              <a:rPr lang="it-IT" sz="800" dirty="0" err="1">
                <a:latin typeface="+mn-lt"/>
              </a:rPr>
              <a:t>metrics</a:t>
            </a:r>
            <a:r>
              <a:rPr lang="it-IT" sz="800" dirty="0">
                <a:latin typeface="+mn-lt"/>
              </a:rPr>
              <a:t> like time-to-</a:t>
            </a:r>
            <a:r>
              <a:rPr lang="it-IT" sz="800" dirty="0" err="1">
                <a:latin typeface="+mn-lt"/>
              </a:rPr>
              <a:t>decision</a:t>
            </a:r>
            <a:r>
              <a:rPr lang="it-IT" sz="800" dirty="0">
                <a:latin typeface="+mn-lt"/>
              </a:rPr>
              <a:t>.</a:t>
            </a:r>
          </a:p>
        </p:txBody>
      </p:sp>
      <p:cxnSp>
        <p:nvCxnSpPr>
          <p:cNvPr id="22" name="Connettore diritto 21">
            <a:extLst>
              <a:ext uri="{FF2B5EF4-FFF2-40B4-BE49-F238E27FC236}">
                <a16:creationId xmlns:a16="http://schemas.microsoft.com/office/drawing/2014/main" id="{CCC57727-467D-42D2-8B41-2EF37EA9A066}"/>
              </a:ext>
            </a:extLst>
          </p:cNvPr>
          <p:cNvCxnSpPr>
            <a:cxnSpLocks/>
          </p:cNvCxnSpPr>
          <p:nvPr/>
        </p:nvCxnSpPr>
        <p:spPr>
          <a:xfrm>
            <a:off x="3176357" y="862046"/>
            <a:ext cx="1745992" cy="0"/>
          </a:xfrm>
          <a:prstGeom prst="line">
            <a:avLst/>
          </a:prstGeom>
        </p:spPr>
        <p:style>
          <a:lnRef idx="1">
            <a:schemeClr val="dk1"/>
          </a:lnRef>
          <a:fillRef idx="0">
            <a:schemeClr val="dk1"/>
          </a:fillRef>
          <a:effectRef idx="0">
            <a:schemeClr val="dk1"/>
          </a:effectRef>
          <a:fontRef idx="minor">
            <a:schemeClr val="tx1"/>
          </a:fontRef>
        </p:style>
      </p:cxnSp>
      <p:sp>
        <p:nvSpPr>
          <p:cNvPr id="23" name="Rettangolo con angoli arrotondati 22">
            <a:extLst>
              <a:ext uri="{FF2B5EF4-FFF2-40B4-BE49-F238E27FC236}">
                <a16:creationId xmlns:a16="http://schemas.microsoft.com/office/drawing/2014/main" id="{16663FCB-4D70-4922-AB87-7C069F09DFBA}"/>
              </a:ext>
            </a:extLst>
          </p:cNvPr>
          <p:cNvSpPr/>
          <p:nvPr/>
        </p:nvSpPr>
        <p:spPr>
          <a:xfrm>
            <a:off x="1978211" y="2315459"/>
            <a:ext cx="1895006" cy="682437"/>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24" name="CasellaDiTesto 23">
            <a:extLst>
              <a:ext uri="{FF2B5EF4-FFF2-40B4-BE49-F238E27FC236}">
                <a16:creationId xmlns:a16="http://schemas.microsoft.com/office/drawing/2014/main" id="{107881B8-7F68-4FFC-8A5C-0C38292D2A82}"/>
              </a:ext>
            </a:extLst>
          </p:cNvPr>
          <p:cNvSpPr txBox="1"/>
          <p:nvPr/>
        </p:nvSpPr>
        <p:spPr>
          <a:xfrm>
            <a:off x="2056935" y="2374648"/>
            <a:ext cx="1737557" cy="623248"/>
          </a:xfrm>
          <a:prstGeom prst="rect">
            <a:avLst/>
          </a:prstGeom>
          <a:noFill/>
        </p:spPr>
        <p:txBody>
          <a:bodyPr wrap="square" rtlCol="0">
            <a:spAutoFit/>
          </a:bodyPr>
          <a:lstStyle/>
          <a:p>
            <a:pPr algn="ctr">
              <a:spcAft>
                <a:spcPts val="300"/>
              </a:spcAft>
            </a:pPr>
            <a:r>
              <a:rPr lang="it-IT" sz="800" b="1" dirty="0" err="1">
                <a:latin typeface="+mn-lt"/>
              </a:rPr>
              <a:t>Evidence</a:t>
            </a:r>
            <a:r>
              <a:rPr lang="it-IT" sz="800" b="1" dirty="0">
                <a:latin typeface="+mn-lt"/>
              </a:rPr>
              <a:t> Grounding</a:t>
            </a:r>
          </a:p>
          <a:p>
            <a:pPr algn="ctr"/>
            <a:r>
              <a:rPr lang="it-IT" sz="800" dirty="0">
                <a:latin typeface="+mn-lt"/>
              </a:rPr>
              <a:t>Introduce </a:t>
            </a:r>
            <a:r>
              <a:rPr lang="it-IT" sz="800" dirty="0" err="1">
                <a:latin typeface="+mn-lt"/>
              </a:rPr>
              <a:t>evidence</a:t>
            </a:r>
            <a:r>
              <a:rPr lang="it-IT" sz="800" dirty="0">
                <a:latin typeface="+mn-lt"/>
              </a:rPr>
              <a:t> </a:t>
            </a:r>
            <a:r>
              <a:rPr lang="it-IT" sz="800" dirty="0" err="1">
                <a:latin typeface="+mn-lt"/>
              </a:rPr>
              <a:t>graphs</a:t>
            </a:r>
            <a:r>
              <a:rPr lang="it-IT" sz="800" dirty="0">
                <a:latin typeface="+mn-lt"/>
              </a:rPr>
              <a:t> for full end-to-end </a:t>
            </a:r>
            <a:r>
              <a:rPr lang="it-IT" sz="800" dirty="0" err="1">
                <a:latin typeface="+mn-lt"/>
              </a:rPr>
              <a:t>treceability</a:t>
            </a:r>
            <a:r>
              <a:rPr lang="it-IT" sz="800" dirty="0">
                <a:latin typeface="+mn-lt"/>
              </a:rPr>
              <a:t> of the </a:t>
            </a:r>
            <a:r>
              <a:rPr lang="it-IT" sz="800" dirty="0" err="1">
                <a:latin typeface="+mn-lt"/>
              </a:rPr>
              <a:t>whole</a:t>
            </a:r>
            <a:r>
              <a:rPr lang="it-IT" sz="800" dirty="0">
                <a:latin typeface="+mn-lt"/>
              </a:rPr>
              <a:t> system </a:t>
            </a:r>
            <a:r>
              <a:rPr lang="it-IT" sz="800" dirty="0" err="1">
                <a:latin typeface="+mn-lt"/>
              </a:rPr>
              <a:t>reasoning</a:t>
            </a:r>
            <a:r>
              <a:rPr lang="it-IT" sz="800" dirty="0">
                <a:latin typeface="+mn-lt"/>
              </a:rPr>
              <a:t> steps.</a:t>
            </a:r>
          </a:p>
        </p:txBody>
      </p:sp>
      <p:cxnSp>
        <p:nvCxnSpPr>
          <p:cNvPr id="25" name="Connettore diritto 24">
            <a:extLst>
              <a:ext uri="{FF2B5EF4-FFF2-40B4-BE49-F238E27FC236}">
                <a16:creationId xmlns:a16="http://schemas.microsoft.com/office/drawing/2014/main" id="{43312EDF-97A2-4BB3-8399-DFC74590DF54}"/>
              </a:ext>
            </a:extLst>
          </p:cNvPr>
          <p:cNvCxnSpPr>
            <a:cxnSpLocks/>
          </p:cNvCxnSpPr>
          <p:nvPr/>
        </p:nvCxnSpPr>
        <p:spPr>
          <a:xfrm>
            <a:off x="2067931" y="2563035"/>
            <a:ext cx="174599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3133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934F94-9817-7D20-FF6B-AA29BE8CA3E5}"/>
              </a:ext>
            </a:extLst>
          </p:cNvPr>
          <p:cNvSpPr/>
          <p:nvPr/>
        </p:nvSpPr>
        <p:spPr>
          <a:xfrm>
            <a:off x="721475" y="1206926"/>
            <a:ext cx="4403771" cy="830997"/>
          </a:xfrm>
          <a:prstGeom prst="rect">
            <a:avLst/>
          </a:prstGeom>
          <a:noFill/>
        </p:spPr>
        <p:txBody>
          <a:bodyPr wrap="none" lIns="91440" tIns="45720" rIns="91440" bIns="45720" anchor="t">
            <a:spAutoFit/>
          </a:bodyPr>
          <a:lstStyle/>
          <a:p>
            <a:pPr algn="ctr"/>
            <a:r>
              <a:rPr lang="en-US" sz="2400" b="1" cap="none" spc="0">
                <a:ln w="6600">
                  <a:solidFill>
                    <a:schemeClr val="accent2"/>
                  </a:solidFill>
                  <a:prstDash val="solid"/>
                </a:ln>
                <a:solidFill>
                  <a:srgbClr val="FFFFFF"/>
                </a:solidFill>
                <a:effectLst>
                  <a:outerShdw dist="38100" dir="2700000" algn="tl" rotWithShape="0">
                    <a:schemeClr val="accent2"/>
                  </a:outerShdw>
                </a:effectLst>
              </a:rPr>
              <a:t>Thank you for your Attention</a:t>
            </a:r>
            <a:endParaRPr lang="en-US" sz="2400" b="1">
              <a:ln w="6600">
                <a:solidFill>
                  <a:schemeClr val="accent2"/>
                </a:solidFill>
                <a:prstDash val="solid"/>
              </a:ln>
              <a:solidFill>
                <a:srgbClr val="FFFFFF"/>
              </a:solidFill>
              <a:effectLst>
                <a:outerShdw dist="38100" dir="2700000" algn="tl" rotWithShape="0">
                  <a:schemeClr val="accent2"/>
                </a:outerShdw>
              </a:effectLst>
            </a:endParaRPr>
          </a:p>
          <a:p>
            <a:pPr algn="ctr"/>
            <a:r>
              <a:rPr lang="en-US" sz="2400" b="1">
                <a:ln w="6600">
                  <a:solidFill>
                    <a:schemeClr val="accent2"/>
                  </a:solidFill>
                  <a:prstDash val="solid"/>
                </a:ln>
                <a:solidFill>
                  <a:srgbClr val="FFFFFF"/>
                </a:solidFill>
                <a:effectLst>
                  <a:outerShdw dist="38100" dir="2700000" algn="tl" rotWithShape="0">
                    <a:schemeClr val="accent2"/>
                  </a:outerShdw>
                </a:effectLst>
              </a:rPr>
              <a:t>Any Questions?</a:t>
            </a:r>
            <a:endParaRPr lang="en-US" sz="2400" b="1" cap="none" spc="0">
              <a:ln w="6600">
                <a:solidFill>
                  <a:srgbClr val="C0504D"/>
                </a:solidFill>
                <a:prstDash val="solid"/>
              </a:ln>
              <a:solidFill>
                <a:srgbClr val="FFFFFF"/>
              </a:solidFill>
              <a:effectLst>
                <a:outerShdw dist="38100" dir="2700000" algn="tl" rotWithShape="0">
                  <a:srgbClr val="C0504D"/>
                </a:outerShdw>
              </a:effectLst>
            </a:endParaRPr>
          </a:p>
        </p:txBody>
      </p:sp>
      <p:pic>
        <p:nvPicPr>
          <p:cNvPr id="11" name="Picture 10">
            <a:extLst>
              <a:ext uri="{FF2B5EF4-FFF2-40B4-BE49-F238E27FC236}">
                <a16:creationId xmlns:a16="http://schemas.microsoft.com/office/drawing/2014/main" id="{CD5774BA-2CC2-4B17-E8B4-A922C5B7F3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83889" y="1713925"/>
            <a:ext cx="1082715" cy="1443620"/>
          </a:xfrm>
          <a:prstGeom prst="rect">
            <a:avLst/>
          </a:prstGeom>
        </p:spPr>
      </p:pic>
    </p:spTree>
    <p:extLst>
      <p:ext uri="{BB962C8B-B14F-4D97-AF65-F5344CB8AC3E}">
        <p14:creationId xmlns:p14="http://schemas.microsoft.com/office/powerpoint/2010/main" val="329344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11381</TotalTime>
  <Words>1673</Words>
  <Application>Microsoft Office PowerPoint</Application>
  <PresentationFormat>Personalizzato</PresentationFormat>
  <Paragraphs>266</Paragraphs>
  <Slides>22</Slides>
  <Notes>6</Notes>
  <HiddenSlides>1</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22</vt:i4>
      </vt:variant>
    </vt:vector>
  </HeadingPairs>
  <TitlesOfParts>
    <vt:vector size="28" baseType="lpstr">
      <vt:lpstr>Arial</vt:lpstr>
      <vt:lpstr>Calibri</vt:lpstr>
      <vt:lpstr>Tomorrow</vt:lpstr>
      <vt:lpstr>Tomorrow Light</vt:lpstr>
      <vt:lpstr>Tomorrow Semi Bold</vt:lpstr>
      <vt:lpstr>Office Theme</vt:lpstr>
      <vt:lpstr>Multi-Agent Decision Support System for Space Mission Operations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FUNES System</vt:lpstr>
      <vt:lpstr>FUNES System – PoC Chat capability</vt:lpstr>
      <vt:lpstr>FUNES PoC - AI Module</vt:lpstr>
      <vt:lpstr>Presentazione standard di PowerPoint</vt:lpstr>
      <vt:lpstr>Proposed Scenario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Framework for Automated Penetration Testing with LLM Integration - Master's Thesis Defense</dc:title>
  <dc:creator>Wendy Rosettini</dc:creator>
  <cp:lastModifiedBy>Antonio Lissa Lattanzio</cp:lastModifiedBy>
  <cp:revision>295</cp:revision>
  <dcterms:created xsi:type="dcterms:W3CDTF">2025-09-12T10:37:12Z</dcterms:created>
  <dcterms:modified xsi:type="dcterms:W3CDTF">2026-10-28T15:44:37Z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LaTeX with Beamer class</vt:lpwstr>
  </property>
  <property fmtid="{D5CDD505-2E9C-101B-9397-08002B2CF9AE}" pid="4" name="LastSaved">
    <vt:filetime>2025-09-12T00:00:00Z</vt:filetime>
  </property>
  <property fmtid="{D5CDD505-2E9C-101B-9397-08002B2CF9AE}" pid="5" name="PTEX.Fullbanner">
    <vt:lpwstr>This is pdfTeX, Version 3.141592653-2.6-1.40.26 (TeX Live 2024) kpathsea version 6.4.0</vt:lpwstr>
  </property>
  <property fmtid="{D5CDD505-2E9C-101B-9397-08002B2CF9AE}" pid="6" name="Producer">
    <vt:lpwstr>3-Heights(TM) PDF Security Shell 4.8.25.2 (http://www.pdf-tools.com)</vt:lpwstr>
  </property>
</Properties>
</file>